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4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559" r:id="rId3"/>
    <p:sldId id="562" r:id="rId5"/>
    <p:sldId id="527" r:id="rId6"/>
    <p:sldId id="588" r:id="rId31"/>
    <p:sldId id="583" r:id="rId7"/>
    <p:sldId id="533" r:id="rId8"/>
    <p:sldId id="532" r:id="rId9"/>
    <p:sldId id="564" r:id="rId10"/>
    <p:sldId id="584" r:id="rId11"/>
    <p:sldId id="587" r:id="rId12"/>
    <p:sldId id="585" r:id="rId13"/>
    <p:sldId id="561" r:id="rId14"/>
    <p:sldId id="518" r:id="rId15"/>
    <p:sldId id="523" r:id="rId16"/>
    <p:sldId id="524" r:id="rId17"/>
    <p:sldId id="525" r:id="rId18"/>
    <p:sldId id="565" r:id="rId19"/>
    <p:sldId id="566" r:id="rId20"/>
    <p:sldId id="350" r:id="rId21"/>
  </p:sldIdLst>
  <p:sldSz cx="12192000" cy="6858000"/>
  <p:notesSz cx="6858000" cy="9144000"/>
  <p:embeddedFontLst>
    <p:embeddedFont>
      <p:font typeface="微软雅黑" panose="020B0503020204020204" charset="-122"/>
      <p:regular r:id="rId27"/>
      <p:bold r:id="rId28"/>
    </p:embeddedFont>
    <p:embeddedFont>
      <p:font typeface="微软雅黑 Light" panose="020B0502040204020203" charset="-122"/>
      <p:regular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3" userDrawn="1">
          <p15:clr>
            <a:srgbClr val="A4A3A4"/>
          </p15:clr>
        </p15:guide>
        <p15:guide id="2" pos="33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8FD"/>
    <a:srgbClr val="FFF6F0"/>
    <a:srgbClr val="FEF0E7"/>
    <a:srgbClr val="F9D5BE"/>
    <a:srgbClr val="D1DFFC"/>
    <a:srgbClr val="E0F5F2"/>
    <a:srgbClr val="59CDBE"/>
    <a:srgbClr val="2258DA"/>
    <a:srgbClr val="24CEBC"/>
    <a:srgbClr val="9A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703"/>
        <p:guide pos="33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commentAuthors" Target="commentAuthor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tags" Target="tags/tag49.xml"/><Relationship Id="rId31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本页作用：开场定调。这版是"给伙伴讲"的渠道版，不是直客版。</a:t>
            </a:r>
          </a:p>
          <a:p>
            <a:r>
              <a:t>■ 讲解要点：只讲三件事——①伙伴能从端木拿到哪些政策和资源；②端木能替他承担哪些售前、交付、运维；③会后怎么落地：报名周三赋能、提交伙伴申请、报备首个商机。</a:t>
            </a:r>
          </a:p>
          <a:p>
            <a:r>
              <a:t>■ 对内提醒：不要逐页念字。每讲一个能力，都要落一句"这对伙伴意味着什么"，销售才带得走。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本页作用：建立信任，让伙伴判断端木是不是值得长期合作的代理。</a:t>
            </a:r>
          </a:p>
          <a:p>
            <a:r>
              <a:t>■ 讲解要点：定位一句话——阿里云官方合作伙伴，火山引擎、华为云渠道伙伴，深耕云与行业信息化10年。数字只讲三个：3000+企业客户（有人验证）、150+人云服务团队（有人交付）、16大本地化服务中心（异地也能接）。</a:t>
            </a:r>
          </a:p>
          <a:p>
            <a:r>
              <a:t>■ 对内提醒：初次拜访就停在这页，先让对方认可"你靠得住"，再谈政策；"10年"指公司深耕行业，不要说成"阿里云合作10年"。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本页作用：进入伙伴最关心的板块——政策、收益、支持。</a:t>
            </a:r>
          </a:p>
          <a:p>
            <a:r>
              <a:t>■ 讲解要点：一句话过渡：接下来这部分，是大家去谈伙伴时最直接的"弹药"。</a:t>
            </a:r>
          </a:p>
          <a:p>
            <a:r>
              <a:t>■ 对内提醒：30秒带过，不在分节页停留。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本页作用：讲清火山引擎这条线能给伙伴带来什么生意。</a:t>
            </a:r>
          </a:p>
          <a:p>
            <a:r>
              <a:t>■ 讲解要点：五块——产品全（云服务器到安全）、AI能落地（豆包大模型、Agent平台、AI工具）、政策直达（阶梯折扣、报备保护、专项激励）、联合拓展（一起跑客户）、返佣结算（按月/季）。</a:t>
            </a:r>
          </a:p>
          <a:p>
            <a:r>
              <a:t>■ 对伙伴话术："你有AI需求但没人交付，我们一起接：产品我们供，方案和交付我们兜。"</a:t>
            </a:r>
          </a:p>
          <a:p>
            <a:r>
              <a:t>■ 对内提醒：对外统一说"火山引擎渠道合作伙伴"，不要自行升级成"官方认证/独家授权"，除非能当场出示授权文件。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本页作用：回答伙伴最核心的疑问——为什么找端木，而不是直接签原厂。</a:t>
            </a:r>
          </a:p>
          <a:p>
            <a:r>
              <a:t>■ 讲解要点：四条理由按对象讲：刚起步的听"政策直达、门槛低"；有客户没交付的听"150人团队+16个服务中心"；想做长期收入的听"赋能+MSP"。</a:t>
            </a:r>
          </a:p>
          <a:p>
            <a:r>
              <a:t>■ 对伙伴话术："原厂给政策，不给本地售前和交付；跨阿里云、火山引擎的项目，我们一个接口帮你协调。"</a:t>
            </a:r>
          </a:p>
          <a:p>
            <a:r>
              <a:t>■ 对内提醒：这是全篇最关键的一页，宁可多花两分钟，也不要一句"我们服务好"带过。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本页作用：政策清单，让伙伴知道自己能拿到什么。</a:t>
            </a:r>
          </a:p>
          <a:p>
            <a:r>
              <a:t>■ 讲解要点：六项归四类——折扣和返佣是利润；报备保护是不被抢单；市场活动和MDF是资源；周三赋能和MSP授权是能力与长期收入。</a:t>
            </a:r>
          </a:p>
          <a:p>
            <a:r>
              <a:t>■ 对内提醒：只讲框架，不报数字。明确告诉伙伴"具体折扣和返佣以签约政策为准"，否则对方会拿你的口头承诺去比价。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本页作用：帮伙伴算账，讲收益结构，不讲收益数字。</a:t>
            </a:r>
          </a:p>
          <a:p>
            <a:r>
              <a:t>■ 讲解要点：三层收益——产品返佣带来现金流；增值服务（迁移、安全、运维、MSP）毛利更高；市场激励叠加。重点讲第二层：只卖资源永远在拼价格，带上服务才有利润和客户粘性。</a:t>
            </a:r>
          </a:p>
          <a:p>
            <a:r>
              <a:t>■ 对内提醒：见面先问"你现在服务收入占多少"，低于两成就是MSP和增值服务的切入点。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本页作用：让伙伴相信"我不会的，端木能兜"。</a:t>
            </a:r>
          </a:p>
          <a:p>
            <a:r>
              <a:t>■ 讲解要点：重点讲三个抓手——售前陪访出方案、报备后价格保护、交付运维兜底；培训和MSP一句带过，后面有专页。</a:t>
            </a:r>
          </a:p>
          <a:p>
            <a:r>
              <a:t>■ 对伙伴话术："方案我们一起写，交付我们一起上，出问题我们第一时间到现场。"</a:t>
            </a:r>
          </a:p>
          <a:p>
            <a:r>
              <a:t>■ 对内提醒：报备保护有前提，必须先报备再报价，顺序反了保护不了。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本页作用：MSP是把"一单一结"变成"长期收入"的关键，也是端木和普通代理的区别。</a:t>
            </a:r>
          </a:p>
          <a:p>
            <a:r>
              <a:t>■ 讲解要点：三块能力——运维托管、安全合规、成本优化。商业逻辑只讲一句：客户上云后一定有人要管，这笔预算每年都有，谁管谁有续费。</a:t>
            </a:r>
          </a:p>
          <a:p>
            <a:r>
              <a:t>■ 对内提醒：切入场景是存量客户续费、没有专职运维、等保复测、账单突然变高；先确认伙伴有服务意愿和基本人力，再谈授权。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本页作用：给销售一个低成本触达伙伴的理由。</a:t>
            </a:r>
          </a:p>
          <a:p>
            <a:r>
              <a:t>■ 讲解要点：每周三固定直播，四大课程，原厂架构师、端木技术专家、一线销售联合讲，有回放、认证和答疑群。</a:t>
            </a:r>
          </a:p>
          <a:p>
            <a:r>
              <a:t>■ 对内提醒：把周三直播当约访借口——"周三下午有场火山AI专场，一起来听，听完我帮你对接"，比问"有没有项目"更容易约到人；答应的回放和课件要真的发。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本页作用：转入公司实力，回答"端木接不接得住"。</a:t>
            </a:r>
          </a:p>
          <a:p>
            <a:r>
              <a:t>■ 讲解要点：一句话过渡：政策讲完了，接下来用五分钟证明我们有能力交付。</a:t>
            </a:r>
          </a:p>
          <a:p>
            <a:r>
              <a:t>■ 对内提醒：不停留，直接翻页。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本页作用：证明公司跑得长、跑得稳，伙伴不用担心合作两年公司没了。</a:t>
            </a:r>
          </a:p>
          <a:p>
            <a:r>
              <a:t>■ 讲解要点：只讲三个节点——2015年成立、2024年销售额3.7亿、全国16省布局；中间阶段一句"每年一个台阶"带过。</a:t>
            </a:r>
          </a:p>
          <a:p>
            <a:r>
              <a:t>■ 对内提醒：2025年5亿是预计数，必须说"预计"，不能说"已达"。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本页作用：回答伙伴"你们交付靠不靠谱"。</a:t>
            </a:r>
          </a:p>
          <a:p>
            <a:r>
              <a:t>■ 讲解要点：两个数字就够——78%技术人才占比、12项发明专利和88项软著；资质点一下高新、CMMI3、专精特新、瞪羚。</a:t>
            </a:r>
          </a:p>
          <a:p>
            <a:r>
              <a:t>■ 对内提醒：技术型伙伴会追问资质，这页用来兜底；非技术型伙伴30秒带过，别陷进参数。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本页作用：本地化服务能力，决定伙伴敢不敢接异地单。</a:t>
            </a:r>
          </a:p>
          <a:p>
            <a:r>
              <a:t>■ 讲解要点：16大服务中心覆盖16城，2小时上门、24小时响应。对伙伴的价值一句话：你在本地拿单，异地交付我们来。</a:t>
            </a:r>
          </a:p>
          <a:p>
            <a:r>
              <a:t>■ 对内提醒："2小时上门"有城市范围，不要承诺全国所有地区。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本页作用：说明端木不只卖云资源，还能做软件服务和自研产品，项目更深、复购更多。</a:t>
            </a:r>
          </a:p>
          <a:p>
            <a:r>
              <a:t>■ 讲解要点：三层——云底座、软件服务（业务/经营/生产/ToC应用）、自研产品（AI知识库、MES、CaseCrafter）；挑伙伴熟悉的行业举一个例子就够。</a:t>
            </a:r>
          </a:p>
          <a:p>
            <a:r>
              <a:t>■ 对内提醒：自研产品是加分项，不要每单都堆上去，避免伙伴觉得合作复杂。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本页作用：进入"可售清单"，让伙伴知道跟着端木能卖什么。</a:t>
            </a:r>
          </a:p>
          <a:p>
            <a:r>
              <a:t>■ 讲解要点：一句话——这九个行业方案都是已交付项目沉淀的，不是纸上方案。</a:t>
            </a:r>
          </a:p>
          <a:p>
            <a:r>
              <a:t>■ 对内提醒：不停留，直接进案例矩阵。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本页作用：这是给伙伴看的菜单，不是让我们逐个念的名单。</a:t>
            </a:r>
          </a:p>
          <a:p>
            <a:r>
              <a:t>■ 讲解要点：先问伙伴主攻哪个行业，再挑对应的一到两个案例讲；对方没方向，就讲政务、零售、医疗三个最常见场景。</a:t>
            </a:r>
          </a:p>
          <a:p>
            <a:r>
              <a:t>■ 对伙伴话术："这个行业我们做过，方案、报价、交付流程都是现成的，你只管拿客户。"</a:t>
            </a:r>
          </a:p>
          <a:p>
            <a:r>
              <a:t>■ 对内提醒：客户名称和成果按已公开口径讲，不要临时加码。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■ 本页作用：收尾必须落到动作，不要只说感谢。</a:t>
            </a:r>
          </a:p>
          <a:p>
            <a:r>
              <a:t>■ 讲解要点：三件事——①会后把伙伴名单发我，按行业排优先级；②本周三线上赋能，邀请2-3家伙伴一起听，作为第一次触达；③有意向的伙伴先提交资料做伙伴申请，同时报备第一个商机，报备后我们一起出方案。</a:t>
            </a:r>
          </a:p>
          <a:p>
            <a:r>
              <a:t>■ 收尾话术："政策我们给到位，方案和交付我们来兜，商机我们一起跑——欢迎加入端木渠道伙伴计划。"</a:t>
            </a:r>
          </a:p>
          <a:p>
            <a:r>
              <a:t>■ 对内提醒：这页讲完就散会，一定要当场确认名单提交时间。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■ 本页作用：一页交代阿里云这条线，不展开产品细节。</a:t>
            </a:r>
          </a:p>
          <a:p>
            <a:r>
              <a:t>■ 讲解要点：只讲三件事——官方合作身份、全系产品可售、政策与返佣同享；产品参数和方案细节留到具体项目再讲。</a:t>
            </a:r>
          </a:p>
          <a:p>
            <a:r>
              <a:t>■ 对伙伴话术："阿里云的单子你照常报，政策、报备、返佣走端木，交付我们兜。"</a:t>
            </a:r>
          </a:p>
          <a:p>
            <a:r>
              <a:t>■ 对内提醒：本页控制在1分钟，不要讲成阿里云产品培训；伙伴追问参数，记下来交给售前。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tags" Target="../tags/tag10.xml"/><Relationship Id="rId6" Type="http://schemas.openxmlformats.org/officeDocument/2006/relationships/tags" Target="../tags/tag1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2687613_日出山顶的美丽景色(非企业商用)"/>
          <p:cNvPicPr>
            <a:picLocks noChangeAspect="1"/>
          </p:cNvPicPr>
          <p:nvPr userDrawn="1"/>
        </p:nvPicPr>
        <p:blipFill>
          <a:blip r:embed="rId2">
            <a:grayscl/>
          </a:blip>
          <a:srcRect t="15546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0">
                <a:srgbClr val="2461F5">
                  <a:alpha val="80000"/>
                </a:srgbClr>
              </a:gs>
              <a:gs pos="100000">
                <a:srgbClr val="2461F5">
                  <a:alpha val="9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15BAB1"/>
                  </a:gs>
                </a:gsLst>
                <a:lin ang="5400000" scaled="0"/>
              </a:gradFill>
            </a:endParaRPr>
          </a:p>
        </p:txBody>
      </p:sp>
      <p:sp>
        <p:nvSpPr>
          <p:cNvPr id="7" name="任意多边形: 形状 11"/>
          <p:cNvSpPr/>
          <p:nvPr userDrawn="1"/>
        </p:nvSpPr>
        <p:spPr>
          <a:xfrm>
            <a:off x="9900058" y="1096840"/>
            <a:ext cx="1256633" cy="723251"/>
          </a:xfrm>
          <a:custGeom>
            <a:avLst/>
            <a:gdLst>
              <a:gd name="connsiteX0" fmla="*/ 24239 w 1256633"/>
              <a:gd name="connsiteY0" fmla="*/ -99 h 723251"/>
              <a:gd name="connsiteX1" fmla="*/ 49380 w 1256633"/>
              <a:gd name="connsiteY1" fmla="*/ 25116 h 723251"/>
              <a:gd name="connsiteX2" fmla="*/ 24166 w 1256633"/>
              <a:gd name="connsiteY2" fmla="*/ 50258 h 723251"/>
              <a:gd name="connsiteX3" fmla="*/ -976 w 1256633"/>
              <a:gd name="connsiteY3" fmla="*/ 25073 h 723251"/>
              <a:gd name="connsiteX4" fmla="*/ 24185 w 1256633"/>
              <a:gd name="connsiteY4" fmla="*/ -99 h 723251"/>
              <a:gd name="connsiteX5" fmla="*/ 24240 w 1256633"/>
              <a:gd name="connsiteY5" fmla="*/ -99 h 723251"/>
              <a:gd name="connsiteX6" fmla="*/ 158231 w 1256633"/>
              <a:gd name="connsiteY6" fmla="*/ -99 h 723251"/>
              <a:gd name="connsiteX7" fmla="*/ 183434 w 1256633"/>
              <a:gd name="connsiteY7" fmla="*/ 25055 h 723251"/>
              <a:gd name="connsiteX8" fmla="*/ 158281 w 1256633"/>
              <a:gd name="connsiteY8" fmla="*/ 50258 h 723251"/>
              <a:gd name="connsiteX9" fmla="*/ 133078 w 1256633"/>
              <a:gd name="connsiteY9" fmla="*/ 25104 h 723251"/>
              <a:gd name="connsiteX10" fmla="*/ 133078 w 1256633"/>
              <a:gd name="connsiteY10" fmla="*/ 25073 h 723251"/>
              <a:gd name="connsiteX11" fmla="*/ 158231 w 1256633"/>
              <a:gd name="connsiteY11" fmla="*/ -99 h 723251"/>
              <a:gd name="connsiteX12" fmla="*/ 292285 w 1256633"/>
              <a:gd name="connsiteY12" fmla="*/ -99 h 723251"/>
              <a:gd name="connsiteX13" fmla="*/ 317427 w 1256633"/>
              <a:gd name="connsiteY13" fmla="*/ 25116 h 723251"/>
              <a:gd name="connsiteX14" fmla="*/ 292212 w 1256633"/>
              <a:gd name="connsiteY14" fmla="*/ 50258 h 723251"/>
              <a:gd name="connsiteX15" fmla="*/ 267071 w 1256633"/>
              <a:gd name="connsiteY15" fmla="*/ 25073 h 723251"/>
              <a:gd name="connsiteX16" fmla="*/ 292232 w 1256633"/>
              <a:gd name="connsiteY16" fmla="*/ -99 h 723251"/>
              <a:gd name="connsiteX17" fmla="*/ 292287 w 1256633"/>
              <a:gd name="connsiteY17" fmla="*/ -99 h 723251"/>
              <a:gd name="connsiteX18" fmla="*/ 426095 w 1256633"/>
              <a:gd name="connsiteY18" fmla="*/ -99 h 723251"/>
              <a:gd name="connsiteX19" fmla="*/ 451481 w 1256633"/>
              <a:gd name="connsiteY19" fmla="*/ 24871 h 723251"/>
              <a:gd name="connsiteX20" fmla="*/ 426510 w 1256633"/>
              <a:gd name="connsiteY20" fmla="*/ 50256 h 723251"/>
              <a:gd name="connsiteX21" fmla="*/ 401125 w 1256633"/>
              <a:gd name="connsiteY21" fmla="*/ 25285 h 723251"/>
              <a:gd name="connsiteX22" fmla="*/ 401123 w 1256633"/>
              <a:gd name="connsiteY22" fmla="*/ 25073 h 723251"/>
              <a:gd name="connsiteX23" fmla="*/ 426052 w 1256633"/>
              <a:gd name="connsiteY23" fmla="*/ -99 h 723251"/>
              <a:gd name="connsiteX24" fmla="*/ 426095 w 1256633"/>
              <a:gd name="connsiteY24" fmla="*/ -99 h 723251"/>
              <a:gd name="connsiteX25" fmla="*/ 560149 w 1256633"/>
              <a:gd name="connsiteY25" fmla="*/ -99 h 723251"/>
              <a:gd name="connsiteX26" fmla="*/ 585474 w 1256633"/>
              <a:gd name="connsiteY26" fmla="*/ 24933 h 723251"/>
              <a:gd name="connsiteX27" fmla="*/ 560442 w 1256633"/>
              <a:gd name="connsiteY27" fmla="*/ 50257 h 723251"/>
              <a:gd name="connsiteX28" fmla="*/ 535118 w 1256633"/>
              <a:gd name="connsiteY28" fmla="*/ 25225 h 723251"/>
              <a:gd name="connsiteX29" fmla="*/ 535118 w 1256633"/>
              <a:gd name="connsiteY29" fmla="*/ 25073 h 723251"/>
              <a:gd name="connsiteX30" fmla="*/ 560119 w 1256633"/>
              <a:gd name="connsiteY30" fmla="*/ -99 h 723251"/>
              <a:gd name="connsiteX31" fmla="*/ 560151 w 1256633"/>
              <a:gd name="connsiteY31" fmla="*/ -99 h 723251"/>
              <a:gd name="connsiteX32" fmla="*/ 694142 w 1256633"/>
              <a:gd name="connsiteY32" fmla="*/ -99 h 723251"/>
              <a:gd name="connsiteX33" fmla="*/ 719528 w 1256633"/>
              <a:gd name="connsiteY33" fmla="*/ 24871 h 723251"/>
              <a:gd name="connsiteX34" fmla="*/ 694557 w 1256633"/>
              <a:gd name="connsiteY34" fmla="*/ 50256 h 723251"/>
              <a:gd name="connsiteX35" fmla="*/ 669172 w 1256633"/>
              <a:gd name="connsiteY35" fmla="*/ 25285 h 723251"/>
              <a:gd name="connsiteX36" fmla="*/ 669170 w 1256633"/>
              <a:gd name="connsiteY36" fmla="*/ 25073 h 723251"/>
              <a:gd name="connsiteX37" fmla="*/ 694099 w 1256633"/>
              <a:gd name="connsiteY37" fmla="*/ -99 h 723251"/>
              <a:gd name="connsiteX38" fmla="*/ 694142 w 1256633"/>
              <a:gd name="connsiteY38" fmla="*/ -99 h 723251"/>
              <a:gd name="connsiteX39" fmla="*/ 24239 w 1256633"/>
              <a:gd name="connsiteY39" fmla="*/ 134314 h 723251"/>
              <a:gd name="connsiteX40" fmla="*/ 49770 w 1256633"/>
              <a:gd name="connsiteY40" fmla="*/ 159529 h 723251"/>
              <a:gd name="connsiteX41" fmla="*/ 24555 w 1256633"/>
              <a:gd name="connsiteY41" fmla="*/ 185060 h 723251"/>
              <a:gd name="connsiteX42" fmla="*/ -976 w 1256633"/>
              <a:gd name="connsiteY42" fmla="*/ 159845 h 723251"/>
              <a:gd name="connsiteX43" fmla="*/ -976 w 1256633"/>
              <a:gd name="connsiteY43" fmla="*/ 159688 h 723251"/>
              <a:gd name="connsiteX44" fmla="*/ 24190 w 1256633"/>
              <a:gd name="connsiteY44" fmla="*/ 134314 h 723251"/>
              <a:gd name="connsiteX45" fmla="*/ 24239 w 1256633"/>
              <a:gd name="connsiteY45" fmla="*/ 134314 h 723251"/>
              <a:gd name="connsiteX46" fmla="*/ 158231 w 1256633"/>
              <a:gd name="connsiteY46" fmla="*/ 134314 h 723251"/>
              <a:gd name="connsiteX47" fmla="*/ 183824 w 1256633"/>
              <a:gd name="connsiteY47" fmla="*/ 159467 h 723251"/>
              <a:gd name="connsiteX48" fmla="*/ 158670 w 1256633"/>
              <a:gd name="connsiteY48" fmla="*/ 185059 h 723251"/>
              <a:gd name="connsiteX49" fmla="*/ 133078 w 1256633"/>
              <a:gd name="connsiteY49" fmla="*/ 159906 h 723251"/>
              <a:gd name="connsiteX50" fmla="*/ 133077 w 1256633"/>
              <a:gd name="connsiteY50" fmla="*/ 159687 h 723251"/>
              <a:gd name="connsiteX51" fmla="*/ 158230 w 1256633"/>
              <a:gd name="connsiteY51" fmla="*/ 134314 h 723251"/>
              <a:gd name="connsiteX52" fmla="*/ 292285 w 1256633"/>
              <a:gd name="connsiteY52" fmla="*/ 134314 h 723251"/>
              <a:gd name="connsiteX53" fmla="*/ 317816 w 1256633"/>
              <a:gd name="connsiteY53" fmla="*/ 159529 h 723251"/>
              <a:gd name="connsiteX54" fmla="*/ 292602 w 1256633"/>
              <a:gd name="connsiteY54" fmla="*/ 185060 h 723251"/>
              <a:gd name="connsiteX55" fmla="*/ 267071 w 1256633"/>
              <a:gd name="connsiteY55" fmla="*/ 159845 h 723251"/>
              <a:gd name="connsiteX56" fmla="*/ 267071 w 1256633"/>
              <a:gd name="connsiteY56" fmla="*/ 159688 h 723251"/>
              <a:gd name="connsiteX57" fmla="*/ 292236 w 1256633"/>
              <a:gd name="connsiteY57" fmla="*/ 134314 h 723251"/>
              <a:gd name="connsiteX58" fmla="*/ 292285 w 1256633"/>
              <a:gd name="connsiteY58" fmla="*/ 134314 h 723251"/>
              <a:gd name="connsiteX59" fmla="*/ 426095 w 1256633"/>
              <a:gd name="connsiteY59" fmla="*/ 134314 h 723251"/>
              <a:gd name="connsiteX60" fmla="*/ 451879 w 1256633"/>
              <a:gd name="connsiteY60" fmla="*/ 159282 h 723251"/>
              <a:gd name="connsiteX61" fmla="*/ 426912 w 1256633"/>
              <a:gd name="connsiteY61" fmla="*/ 185066 h 723251"/>
              <a:gd name="connsiteX62" fmla="*/ 401128 w 1256633"/>
              <a:gd name="connsiteY62" fmla="*/ 160098 h 723251"/>
              <a:gd name="connsiteX63" fmla="*/ 401125 w 1256633"/>
              <a:gd name="connsiteY63" fmla="*/ 159687 h 723251"/>
              <a:gd name="connsiteX64" fmla="*/ 426058 w 1256633"/>
              <a:gd name="connsiteY64" fmla="*/ 134314 h 723251"/>
              <a:gd name="connsiteX65" fmla="*/ 426097 w 1256633"/>
              <a:gd name="connsiteY65" fmla="*/ 134314 h 723251"/>
              <a:gd name="connsiteX66" fmla="*/ 560149 w 1256633"/>
              <a:gd name="connsiteY66" fmla="*/ 134314 h 723251"/>
              <a:gd name="connsiteX67" fmla="*/ 585862 w 1256633"/>
              <a:gd name="connsiteY67" fmla="*/ 159344 h 723251"/>
              <a:gd name="connsiteX68" fmla="*/ 560832 w 1256633"/>
              <a:gd name="connsiteY68" fmla="*/ 185056 h 723251"/>
              <a:gd name="connsiteX69" fmla="*/ 535119 w 1256633"/>
              <a:gd name="connsiteY69" fmla="*/ 160026 h 723251"/>
              <a:gd name="connsiteX70" fmla="*/ 535116 w 1256633"/>
              <a:gd name="connsiteY70" fmla="*/ 159687 h 723251"/>
              <a:gd name="connsiteX71" fmla="*/ 560122 w 1256633"/>
              <a:gd name="connsiteY71" fmla="*/ 134314 h 723251"/>
              <a:gd name="connsiteX72" fmla="*/ 560148 w 1256633"/>
              <a:gd name="connsiteY72" fmla="*/ 134314 h 723251"/>
              <a:gd name="connsiteX73" fmla="*/ 694142 w 1256633"/>
              <a:gd name="connsiteY73" fmla="*/ 134314 h 723251"/>
              <a:gd name="connsiteX74" fmla="*/ 719926 w 1256633"/>
              <a:gd name="connsiteY74" fmla="*/ 159282 h 723251"/>
              <a:gd name="connsiteX75" fmla="*/ 694958 w 1256633"/>
              <a:gd name="connsiteY75" fmla="*/ 185066 h 723251"/>
              <a:gd name="connsiteX76" fmla="*/ 669175 w 1256633"/>
              <a:gd name="connsiteY76" fmla="*/ 160098 h 723251"/>
              <a:gd name="connsiteX77" fmla="*/ 669172 w 1256633"/>
              <a:gd name="connsiteY77" fmla="*/ 159687 h 723251"/>
              <a:gd name="connsiteX78" fmla="*/ 694105 w 1256633"/>
              <a:gd name="connsiteY78" fmla="*/ 134314 h 723251"/>
              <a:gd name="connsiteX79" fmla="*/ 694144 w 1256633"/>
              <a:gd name="connsiteY79" fmla="*/ 134314 h 723251"/>
              <a:gd name="connsiteX80" fmla="*/ 24239 w 1256633"/>
              <a:gd name="connsiteY80" fmla="*/ 269123 h 723251"/>
              <a:gd name="connsiteX81" fmla="*/ 49380 w 1256633"/>
              <a:gd name="connsiteY81" fmla="*/ 294338 h 723251"/>
              <a:gd name="connsiteX82" fmla="*/ 24166 w 1256633"/>
              <a:gd name="connsiteY82" fmla="*/ 319480 h 723251"/>
              <a:gd name="connsiteX83" fmla="*/ -976 w 1256633"/>
              <a:gd name="connsiteY83" fmla="*/ 294301 h 723251"/>
              <a:gd name="connsiteX84" fmla="*/ 24178 w 1256633"/>
              <a:gd name="connsiteY84" fmla="*/ 269123 h 723251"/>
              <a:gd name="connsiteX85" fmla="*/ 24239 w 1256633"/>
              <a:gd name="connsiteY85" fmla="*/ 269123 h 723251"/>
              <a:gd name="connsiteX86" fmla="*/ 158231 w 1256633"/>
              <a:gd name="connsiteY86" fmla="*/ 269123 h 723251"/>
              <a:gd name="connsiteX87" fmla="*/ 183434 w 1256633"/>
              <a:gd name="connsiteY87" fmla="*/ 294277 h 723251"/>
              <a:gd name="connsiteX88" fmla="*/ 158281 w 1256633"/>
              <a:gd name="connsiteY88" fmla="*/ 319480 h 723251"/>
              <a:gd name="connsiteX89" fmla="*/ 133078 w 1256633"/>
              <a:gd name="connsiteY89" fmla="*/ 294326 h 723251"/>
              <a:gd name="connsiteX90" fmla="*/ 133078 w 1256633"/>
              <a:gd name="connsiteY90" fmla="*/ 294301 h 723251"/>
              <a:gd name="connsiteX91" fmla="*/ 158231 w 1256633"/>
              <a:gd name="connsiteY91" fmla="*/ 269123 h 723251"/>
              <a:gd name="connsiteX92" fmla="*/ 292285 w 1256633"/>
              <a:gd name="connsiteY92" fmla="*/ 269123 h 723251"/>
              <a:gd name="connsiteX93" fmla="*/ 317427 w 1256633"/>
              <a:gd name="connsiteY93" fmla="*/ 294338 h 723251"/>
              <a:gd name="connsiteX94" fmla="*/ 292212 w 1256633"/>
              <a:gd name="connsiteY94" fmla="*/ 319480 h 723251"/>
              <a:gd name="connsiteX95" fmla="*/ 267071 w 1256633"/>
              <a:gd name="connsiteY95" fmla="*/ 294301 h 723251"/>
              <a:gd name="connsiteX96" fmla="*/ 292224 w 1256633"/>
              <a:gd name="connsiteY96" fmla="*/ 269123 h 723251"/>
              <a:gd name="connsiteX97" fmla="*/ 292285 w 1256633"/>
              <a:gd name="connsiteY97" fmla="*/ 269123 h 723251"/>
              <a:gd name="connsiteX98" fmla="*/ 426095 w 1256633"/>
              <a:gd name="connsiteY98" fmla="*/ 269123 h 723251"/>
              <a:gd name="connsiteX99" fmla="*/ 451481 w 1256633"/>
              <a:gd name="connsiteY99" fmla="*/ 294093 h 723251"/>
              <a:gd name="connsiteX100" fmla="*/ 426510 w 1256633"/>
              <a:gd name="connsiteY100" fmla="*/ 319478 h 723251"/>
              <a:gd name="connsiteX101" fmla="*/ 401125 w 1256633"/>
              <a:gd name="connsiteY101" fmla="*/ 294508 h 723251"/>
              <a:gd name="connsiteX102" fmla="*/ 401123 w 1256633"/>
              <a:gd name="connsiteY102" fmla="*/ 294301 h 723251"/>
              <a:gd name="connsiteX103" fmla="*/ 426046 w 1256633"/>
              <a:gd name="connsiteY103" fmla="*/ 269123 h 723251"/>
              <a:gd name="connsiteX104" fmla="*/ 426095 w 1256633"/>
              <a:gd name="connsiteY104" fmla="*/ 269123 h 723251"/>
              <a:gd name="connsiteX105" fmla="*/ 560149 w 1256633"/>
              <a:gd name="connsiteY105" fmla="*/ 269123 h 723251"/>
              <a:gd name="connsiteX106" fmla="*/ 585474 w 1256633"/>
              <a:gd name="connsiteY106" fmla="*/ 294155 h 723251"/>
              <a:gd name="connsiteX107" fmla="*/ 560442 w 1256633"/>
              <a:gd name="connsiteY107" fmla="*/ 319479 h 723251"/>
              <a:gd name="connsiteX108" fmla="*/ 535118 w 1256633"/>
              <a:gd name="connsiteY108" fmla="*/ 294447 h 723251"/>
              <a:gd name="connsiteX109" fmla="*/ 535118 w 1256633"/>
              <a:gd name="connsiteY109" fmla="*/ 294301 h 723251"/>
              <a:gd name="connsiteX110" fmla="*/ 560114 w 1256633"/>
              <a:gd name="connsiteY110" fmla="*/ 269123 h 723251"/>
              <a:gd name="connsiteX111" fmla="*/ 560151 w 1256633"/>
              <a:gd name="connsiteY111" fmla="*/ 269123 h 723251"/>
              <a:gd name="connsiteX112" fmla="*/ 694142 w 1256633"/>
              <a:gd name="connsiteY112" fmla="*/ 269123 h 723251"/>
              <a:gd name="connsiteX113" fmla="*/ 719528 w 1256633"/>
              <a:gd name="connsiteY113" fmla="*/ 294093 h 723251"/>
              <a:gd name="connsiteX114" fmla="*/ 694557 w 1256633"/>
              <a:gd name="connsiteY114" fmla="*/ 319478 h 723251"/>
              <a:gd name="connsiteX115" fmla="*/ 669172 w 1256633"/>
              <a:gd name="connsiteY115" fmla="*/ 294508 h 723251"/>
              <a:gd name="connsiteX116" fmla="*/ 669170 w 1256633"/>
              <a:gd name="connsiteY116" fmla="*/ 294301 h 723251"/>
              <a:gd name="connsiteX117" fmla="*/ 694093 w 1256633"/>
              <a:gd name="connsiteY117" fmla="*/ 269123 h 723251"/>
              <a:gd name="connsiteX118" fmla="*/ 694142 w 1256633"/>
              <a:gd name="connsiteY118" fmla="*/ 269123 h 723251"/>
              <a:gd name="connsiteX119" fmla="*/ 828013 w 1256633"/>
              <a:gd name="connsiteY119" fmla="*/ -81 h 723251"/>
              <a:gd name="connsiteX120" fmla="*/ 853155 w 1256633"/>
              <a:gd name="connsiteY120" fmla="*/ 25134 h 723251"/>
              <a:gd name="connsiteX121" fmla="*/ 827940 w 1256633"/>
              <a:gd name="connsiteY121" fmla="*/ 50276 h 723251"/>
              <a:gd name="connsiteX122" fmla="*/ 802799 w 1256633"/>
              <a:gd name="connsiteY122" fmla="*/ 25091 h 723251"/>
              <a:gd name="connsiteX123" fmla="*/ 827940 w 1256633"/>
              <a:gd name="connsiteY123" fmla="*/ -99 h 723251"/>
              <a:gd name="connsiteX124" fmla="*/ 828013 w 1256633"/>
              <a:gd name="connsiteY124" fmla="*/ -99 h 723251"/>
              <a:gd name="connsiteX125" fmla="*/ 962006 w 1256633"/>
              <a:gd name="connsiteY125" fmla="*/ -81 h 723251"/>
              <a:gd name="connsiteX126" fmla="*/ 987208 w 1256633"/>
              <a:gd name="connsiteY126" fmla="*/ 25073 h 723251"/>
              <a:gd name="connsiteX127" fmla="*/ 962055 w 1256633"/>
              <a:gd name="connsiteY127" fmla="*/ 50276 h 723251"/>
              <a:gd name="connsiteX128" fmla="*/ 936853 w 1256633"/>
              <a:gd name="connsiteY128" fmla="*/ 25122 h 723251"/>
              <a:gd name="connsiteX129" fmla="*/ 936853 w 1256633"/>
              <a:gd name="connsiteY129" fmla="*/ 25091 h 723251"/>
              <a:gd name="connsiteX130" fmla="*/ 961994 w 1256633"/>
              <a:gd name="connsiteY130" fmla="*/ -99 h 723251"/>
              <a:gd name="connsiteX131" fmla="*/ 962006 w 1256633"/>
              <a:gd name="connsiteY131" fmla="*/ -99 h 723251"/>
              <a:gd name="connsiteX132" fmla="*/ 828013 w 1256633"/>
              <a:gd name="connsiteY132" fmla="*/ 134332 h 723251"/>
              <a:gd name="connsiteX133" fmla="*/ 853544 w 1256633"/>
              <a:gd name="connsiteY133" fmla="*/ 159547 h 723251"/>
              <a:gd name="connsiteX134" fmla="*/ 828330 w 1256633"/>
              <a:gd name="connsiteY134" fmla="*/ 185078 h 723251"/>
              <a:gd name="connsiteX135" fmla="*/ 802799 w 1256633"/>
              <a:gd name="connsiteY135" fmla="*/ 159864 h 723251"/>
              <a:gd name="connsiteX136" fmla="*/ 802799 w 1256633"/>
              <a:gd name="connsiteY136" fmla="*/ 159706 h 723251"/>
              <a:gd name="connsiteX137" fmla="*/ 827946 w 1256633"/>
              <a:gd name="connsiteY137" fmla="*/ 134314 h 723251"/>
              <a:gd name="connsiteX138" fmla="*/ 828013 w 1256633"/>
              <a:gd name="connsiteY138" fmla="*/ 134314 h 723251"/>
              <a:gd name="connsiteX139" fmla="*/ 962006 w 1256633"/>
              <a:gd name="connsiteY139" fmla="*/ 134332 h 723251"/>
              <a:gd name="connsiteX140" fmla="*/ 987598 w 1256633"/>
              <a:gd name="connsiteY140" fmla="*/ 159485 h 723251"/>
              <a:gd name="connsiteX141" fmla="*/ 962445 w 1256633"/>
              <a:gd name="connsiteY141" fmla="*/ 185077 h 723251"/>
              <a:gd name="connsiteX142" fmla="*/ 936853 w 1256633"/>
              <a:gd name="connsiteY142" fmla="*/ 159924 h 723251"/>
              <a:gd name="connsiteX143" fmla="*/ 936851 w 1256633"/>
              <a:gd name="connsiteY143" fmla="*/ 159706 h 723251"/>
              <a:gd name="connsiteX144" fmla="*/ 961999 w 1256633"/>
              <a:gd name="connsiteY144" fmla="*/ 134314 h 723251"/>
              <a:gd name="connsiteX145" fmla="*/ 962005 w 1256633"/>
              <a:gd name="connsiteY145" fmla="*/ 134314 h 723251"/>
              <a:gd name="connsiteX146" fmla="*/ 828013 w 1256633"/>
              <a:gd name="connsiteY146" fmla="*/ 269141 h 723251"/>
              <a:gd name="connsiteX147" fmla="*/ 853155 w 1256633"/>
              <a:gd name="connsiteY147" fmla="*/ 294356 h 723251"/>
              <a:gd name="connsiteX148" fmla="*/ 827940 w 1256633"/>
              <a:gd name="connsiteY148" fmla="*/ 319498 h 723251"/>
              <a:gd name="connsiteX149" fmla="*/ 802799 w 1256633"/>
              <a:gd name="connsiteY149" fmla="*/ 294320 h 723251"/>
              <a:gd name="connsiteX150" fmla="*/ 827934 w 1256633"/>
              <a:gd name="connsiteY150" fmla="*/ 269123 h 723251"/>
              <a:gd name="connsiteX151" fmla="*/ 828013 w 1256633"/>
              <a:gd name="connsiteY151" fmla="*/ 269123 h 723251"/>
              <a:gd name="connsiteX152" fmla="*/ 962006 w 1256633"/>
              <a:gd name="connsiteY152" fmla="*/ 269141 h 723251"/>
              <a:gd name="connsiteX153" fmla="*/ 987208 w 1256633"/>
              <a:gd name="connsiteY153" fmla="*/ 294295 h 723251"/>
              <a:gd name="connsiteX154" fmla="*/ 962055 w 1256633"/>
              <a:gd name="connsiteY154" fmla="*/ 319498 h 723251"/>
              <a:gd name="connsiteX155" fmla="*/ 936853 w 1256633"/>
              <a:gd name="connsiteY155" fmla="*/ 294344 h 723251"/>
              <a:gd name="connsiteX156" fmla="*/ 936853 w 1256633"/>
              <a:gd name="connsiteY156" fmla="*/ 294320 h 723251"/>
              <a:gd name="connsiteX157" fmla="*/ 961988 w 1256633"/>
              <a:gd name="connsiteY157" fmla="*/ 269123 h 723251"/>
              <a:gd name="connsiteX158" fmla="*/ 962006 w 1256633"/>
              <a:gd name="connsiteY158" fmla="*/ 269123 h 723251"/>
              <a:gd name="connsiteX159" fmla="*/ 1096060 w 1256633"/>
              <a:gd name="connsiteY159" fmla="*/ -63 h 723251"/>
              <a:gd name="connsiteX160" fmla="*/ 1121201 w 1256633"/>
              <a:gd name="connsiteY160" fmla="*/ 25152 h 723251"/>
              <a:gd name="connsiteX161" fmla="*/ 1095987 w 1256633"/>
              <a:gd name="connsiteY161" fmla="*/ 50294 h 723251"/>
              <a:gd name="connsiteX162" fmla="*/ 1070846 w 1256633"/>
              <a:gd name="connsiteY162" fmla="*/ 25110 h 723251"/>
              <a:gd name="connsiteX163" fmla="*/ 1095969 w 1256633"/>
              <a:gd name="connsiteY163" fmla="*/ -99 h 723251"/>
              <a:gd name="connsiteX164" fmla="*/ 1096060 w 1256633"/>
              <a:gd name="connsiteY164" fmla="*/ -99 h 723251"/>
              <a:gd name="connsiteX165" fmla="*/ 1230053 w 1256633"/>
              <a:gd name="connsiteY165" fmla="*/ -63 h 723251"/>
              <a:gd name="connsiteX166" fmla="*/ 1255255 w 1256633"/>
              <a:gd name="connsiteY166" fmla="*/ 25091 h 723251"/>
              <a:gd name="connsiteX167" fmla="*/ 1230102 w 1256633"/>
              <a:gd name="connsiteY167" fmla="*/ 50294 h 723251"/>
              <a:gd name="connsiteX168" fmla="*/ 1204899 w 1256633"/>
              <a:gd name="connsiteY168" fmla="*/ 25140 h 723251"/>
              <a:gd name="connsiteX169" fmla="*/ 1204899 w 1256633"/>
              <a:gd name="connsiteY169" fmla="*/ 25110 h 723251"/>
              <a:gd name="connsiteX170" fmla="*/ 1230047 w 1256633"/>
              <a:gd name="connsiteY170" fmla="*/ -99 h 723251"/>
              <a:gd name="connsiteX171" fmla="*/ 1230053 w 1256633"/>
              <a:gd name="connsiteY171" fmla="*/ -99 h 723251"/>
              <a:gd name="connsiteX172" fmla="*/ 1096060 w 1256633"/>
              <a:gd name="connsiteY172" fmla="*/ 134350 h 723251"/>
              <a:gd name="connsiteX173" fmla="*/ 1121591 w 1256633"/>
              <a:gd name="connsiteY173" fmla="*/ 159565 h 723251"/>
              <a:gd name="connsiteX174" fmla="*/ 1096377 w 1256633"/>
              <a:gd name="connsiteY174" fmla="*/ 185096 h 723251"/>
              <a:gd name="connsiteX175" fmla="*/ 1070846 w 1256633"/>
              <a:gd name="connsiteY175" fmla="*/ 159882 h 723251"/>
              <a:gd name="connsiteX176" fmla="*/ 1070846 w 1256633"/>
              <a:gd name="connsiteY176" fmla="*/ 159724 h 723251"/>
              <a:gd name="connsiteX177" fmla="*/ 1095975 w 1256633"/>
              <a:gd name="connsiteY177" fmla="*/ 134314 h 723251"/>
              <a:gd name="connsiteX178" fmla="*/ 1096061 w 1256633"/>
              <a:gd name="connsiteY178" fmla="*/ 134314 h 723251"/>
              <a:gd name="connsiteX179" fmla="*/ 1230053 w 1256633"/>
              <a:gd name="connsiteY179" fmla="*/ 134350 h 723251"/>
              <a:gd name="connsiteX180" fmla="*/ 1255645 w 1256633"/>
              <a:gd name="connsiteY180" fmla="*/ 159504 h 723251"/>
              <a:gd name="connsiteX181" fmla="*/ 1230491 w 1256633"/>
              <a:gd name="connsiteY181" fmla="*/ 185095 h 723251"/>
              <a:gd name="connsiteX182" fmla="*/ 1204899 w 1256633"/>
              <a:gd name="connsiteY182" fmla="*/ 159942 h 723251"/>
              <a:gd name="connsiteX183" fmla="*/ 1204898 w 1256633"/>
              <a:gd name="connsiteY183" fmla="*/ 159724 h 723251"/>
              <a:gd name="connsiteX184" fmla="*/ 1230051 w 1256633"/>
              <a:gd name="connsiteY184" fmla="*/ 134314 h 723251"/>
              <a:gd name="connsiteX185" fmla="*/ 1230051 w 1256633"/>
              <a:gd name="connsiteY185" fmla="*/ 134314 h 723251"/>
              <a:gd name="connsiteX186" fmla="*/ 1096060 w 1256633"/>
              <a:gd name="connsiteY186" fmla="*/ 269160 h 723251"/>
              <a:gd name="connsiteX187" fmla="*/ 1121201 w 1256633"/>
              <a:gd name="connsiteY187" fmla="*/ 294374 h 723251"/>
              <a:gd name="connsiteX188" fmla="*/ 1095987 w 1256633"/>
              <a:gd name="connsiteY188" fmla="*/ 319516 h 723251"/>
              <a:gd name="connsiteX189" fmla="*/ 1070846 w 1256633"/>
              <a:gd name="connsiteY189" fmla="*/ 294338 h 723251"/>
              <a:gd name="connsiteX190" fmla="*/ 1095963 w 1256633"/>
              <a:gd name="connsiteY190" fmla="*/ 269123 h 723251"/>
              <a:gd name="connsiteX191" fmla="*/ 1096061 w 1256633"/>
              <a:gd name="connsiteY191" fmla="*/ 269123 h 723251"/>
              <a:gd name="connsiteX192" fmla="*/ 1230053 w 1256633"/>
              <a:gd name="connsiteY192" fmla="*/ 269160 h 723251"/>
              <a:gd name="connsiteX193" fmla="*/ 1255255 w 1256633"/>
              <a:gd name="connsiteY193" fmla="*/ 294314 h 723251"/>
              <a:gd name="connsiteX194" fmla="*/ 1230102 w 1256633"/>
              <a:gd name="connsiteY194" fmla="*/ 319517 h 723251"/>
              <a:gd name="connsiteX195" fmla="*/ 1204899 w 1256633"/>
              <a:gd name="connsiteY195" fmla="*/ 294362 h 723251"/>
              <a:gd name="connsiteX196" fmla="*/ 1204899 w 1256633"/>
              <a:gd name="connsiteY196" fmla="*/ 294338 h 723251"/>
              <a:gd name="connsiteX197" fmla="*/ 1230041 w 1256633"/>
              <a:gd name="connsiteY197" fmla="*/ 269123 h 723251"/>
              <a:gd name="connsiteX198" fmla="*/ 1230053 w 1256633"/>
              <a:gd name="connsiteY198" fmla="*/ 269123 h 723251"/>
              <a:gd name="connsiteX199" fmla="*/ 24239 w 1256633"/>
              <a:gd name="connsiteY199" fmla="*/ 403536 h 723251"/>
              <a:gd name="connsiteX200" fmla="*/ 49380 w 1256633"/>
              <a:gd name="connsiteY200" fmla="*/ 428751 h 723251"/>
              <a:gd name="connsiteX201" fmla="*/ 24166 w 1256633"/>
              <a:gd name="connsiteY201" fmla="*/ 453893 h 723251"/>
              <a:gd name="connsiteX202" fmla="*/ -976 w 1256633"/>
              <a:gd name="connsiteY202" fmla="*/ 428714 h 723251"/>
              <a:gd name="connsiteX203" fmla="*/ 24178 w 1256633"/>
              <a:gd name="connsiteY203" fmla="*/ 403536 h 723251"/>
              <a:gd name="connsiteX204" fmla="*/ 24239 w 1256633"/>
              <a:gd name="connsiteY204" fmla="*/ 403536 h 723251"/>
              <a:gd name="connsiteX205" fmla="*/ 158231 w 1256633"/>
              <a:gd name="connsiteY205" fmla="*/ 403536 h 723251"/>
              <a:gd name="connsiteX206" fmla="*/ 183434 w 1256633"/>
              <a:gd name="connsiteY206" fmla="*/ 428690 h 723251"/>
              <a:gd name="connsiteX207" fmla="*/ 158281 w 1256633"/>
              <a:gd name="connsiteY207" fmla="*/ 453893 h 723251"/>
              <a:gd name="connsiteX208" fmla="*/ 133078 w 1256633"/>
              <a:gd name="connsiteY208" fmla="*/ 428739 h 723251"/>
              <a:gd name="connsiteX209" fmla="*/ 133078 w 1256633"/>
              <a:gd name="connsiteY209" fmla="*/ 428715 h 723251"/>
              <a:gd name="connsiteX210" fmla="*/ 158231 w 1256633"/>
              <a:gd name="connsiteY210" fmla="*/ 403536 h 723251"/>
              <a:gd name="connsiteX211" fmla="*/ 292285 w 1256633"/>
              <a:gd name="connsiteY211" fmla="*/ 403536 h 723251"/>
              <a:gd name="connsiteX212" fmla="*/ 317427 w 1256633"/>
              <a:gd name="connsiteY212" fmla="*/ 428751 h 723251"/>
              <a:gd name="connsiteX213" fmla="*/ 292212 w 1256633"/>
              <a:gd name="connsiteY213" fmla="*/ 453893 h 723251"/>
              <a:gd name="connsiteX214" fmla="*/ 267071 w 1256633"/>
              <a:gd name="connsiteY214" fmla="*/ 428714 h 723251"/>
              <a:gd name="connsiteX215" fmla="*/ 292224 w 1256633"/>
              <a:gd name="connsiteY215" fmla="*/ 403536 h 723251"/>
              <a:gd name="connsiteX216" fmla="*/ 292285 w 1256633"/>
              <a:gd name="connsiteY216" fmla="*/ 403536 h 723251"/>
              <a:gd name="connsiteX217" fmla="*/ 426095 w 1256633"/>
              <a:gd name="connsiteY217" fmla="*/ 403536 h 723251"/>
              <a:gd name="connsiteX218" fmla="*/ 451481 w 1256633"/>
              <a:gd name="connsiteY218" fmla="*/ 428507 h 723251"/>
              <a:gd name="connsiteX219" fmla="*/ 426510 w 1256633"/>
              <a:gd name="connsiteY219" fmla="*/ 453891 h 723251"/>
              <a:gd name="connsiteX220" fmla="*/ 401125 w 1256633"/>
              <a:gd name="connsiteY220" fmla="*/ 428921 h 723251"/>
              <a:gd name="connsiteX221" fmla="*/ 401123 w 1256633"/>
              <a:gd name="connsiteY221" fmla="*/ 428714 h 723251"/>
              <a:gd name="connsiteX222" fmla="*/ 426046 w 1256633"/>
              <a:gd name="connsiteY222" fmla="*/ 403536 h 723251"/>
              <a:gd name="connsiteX223" fmla="*/ 426095 w 1256633"/>
              <a:gd name="connsiteY223" fmla="*/ 403536 h 723251"/>
              <a:gd name="connsiteX224" fmla="*/ 560149 w 1256633"/>
              <a:gd name="connsiteY224" fmla="*/ 403536 h 723251"/>
              <a:gd name="connsiteX225" fmla="*/ 585474 w 1256633"/>
              <a:gd name="connsiteY225" fmla="*/ 428568 h 723251"/>
              <a:gd name="connsiteX226" fmla="*/ 560442 w 1256633"/>
              <a:gd name="connsiteY226" fmla="*/ 453892 h 723251"/>
              <a:gd name="connsiteX227" fmla="*/ 535118 w 1256633"/>
              <a:gd name="connsiteY227" fmla="*/ 428860 h 723251"/>
              <a:gd name="connsiteX228" fmla="*/ 535118 w 1256633"/>
              <a:gd name="connsiteY228" fmla="*/ 428715 h 723251"/>
              <a:gd name="connsiteX229" fmla="*/ 560114 w 1256633"/>
              <a:gd name="connsiteY229" fmla="*/ 403536 h 723251"/>
              <a:gd name="connsiteX230" fmla="*/ 560151 w 1256633"/>
              <a:gd name="connsiteY230" fmla="*/ 403536 h 723251"/>
              <a:gd name="connsiteX231" fmla="*/ 694142 w 1256633"/>
              <a:gd name="connsiteY231" fmla="*/ 403536 h 723251"/>
              <a:gd name="connsiteX232" fmla="*/ 719528 w 1256633"/>
              <a:gd name="connsiteY232" fmla="*/ 428507 h 723251"/>
              <a:gd name="connsiteX233" fmla="*/ 694557 w 1256633"/>
              <a:gd name="connsiteY233" fmla="*/ 453891 h 723251"/>
              <a:gd name="connsiteX234" fmla="*/ 669172 w 1256633"/>
              <a:gd name="connsiteY234" fmla="*/ 428921 h 723251"/>
              <a:gd name="connsiteX235" fmla="*/ 669170 w 1256633"/>
              <a:gd name="connsiteY235" fmla="*/ 428714 h 723251"/>
              <a:gd name="connsiteX236" fmla="*/ 694093 w 1256633"/>
              <a:gd name="connsiteY236" fmla="*/ 403536 h 723251"/>
              <a:gd name="connsiteX237" fmla="*/ 694142 w 1256633"/>
              <a:gd name="connsiteY237" fmla="*/ 403536 h 723251"/>
              <a:gd name="connsiteX238" fmla="*/ 24239 w 1256633"/>
              <a:gd name="connsiteY238" fmla="*/ 537949 h 723251"/>
              <a:gd name="connsiteX239" fmla="*/ 49782 w 1256633"/>
              <a:gd name="connsiteY239" fmla="*/ 563164 h 723251"/>
              <a:gd name="connsiteX240" fmla="*/ 24567 w 1256633"/>
              <a:gd name="connsiteY240" fmla="*/ 588707 h 723251"/>
              <a:gd name="connsiteX241" fmla="*/ -976 w 1256633"/>
              <a:gd name="connsiteY241" fmla="*/ 563493 h 723251"/>
              <a:gd name="connsiteX242" fmla="*/ -976 w 1256633"/>
              <a:gd name="connsiteY242" fmla="*/ 563322 h 723251"/>
              <a:gd name="connsiteX243" fmla="*/ 24190 w 1256633"/>
              <a:gd name="connsiteY243" fmla="*/ 537949 h 723251"/>
              <a:gd name="connsiteX244" fmla="*/ 24239 w 1256633"/>
              <a:gd name="connsiteY244" fmla="*/ 537949 h 723251"/>
              <a:gd name="connsiteX245" fmla="*/ 158231 w 1256633"/>
              <a:gd name="connsiteY245" fmla="*/ 537949 h 723251"/>
              <a:gd name="connsiteX246" fmla="*/ 183835 w 1256633"/>
              <a:gd name="connsiteY246" fmla="*/ 563102 h 723251"/>
              <a:gd name="connsiteX247" fmla="*/ 158682 w 1256633"/>
              <a:gd name="connsiteY247" fmla="*/ 588706 h 723251"/>
              <a:gd name="connsiteX248" fmla="*/ 133078 w 1256633"/>
              <a:gd name="connsiteY248" fmla="*/ 563553 h 723251"/>
              <a:gd name="connsiteX249" fmla="*/ 133077 w 1256633"/>
              <a:gd name="connsiteY249" fmla="*/ 563322 h 723251"/>
              <a:gd name="connsiteX250" fmla="*/ 158230 w 1256633"/>
              <a:gd name="connsiteY250" fmla="*/ 537949 h 723251"/>
              <a:gd name="connsiteX251" fmla="*/ 292285 w 1256633"/>
              <a:gd name="connsiteY251" fmla="*/ 537949 h 723251"/>
              <a:gd name="connsiteX252" fmla="*/ 317828 w 1256633"/>
              <a:gd name="connsiteY252" fmla="*/ 563164 h 723251"/>
              <a:gd name="connsiteX253" fmla="*/ 292614 w 1256633"/>
              <a:gd name="connsiteY253" fmla="*/ 588707 h 723251"/>
              <a:gd name="connsiteX254" fmla="*/ 267071 w 1256633"/>
              <a:gd name="connsiteY254" fmla="*/ 563493 h 723251"/>
              <a:gd name="connsiteX255" fmla="*/ 267071 w 1256633"/>
              <a:gd name="connsiteY255" fmla="*/ 563322 h 723251"/>
              <a:gd name="connsiteX256" fmla="*/ 292236 w 1256633"/>
              <a:gd name="connsiteY256" fmla="*/ 537949 h 723251"/>
              <a:gd name="connsiteX257" fmla="*/ 292285 w 1256633"/>
              <a:gd name="connsiteY257" fmla="*/ 537949 h 723251"/>
              <a:gd name="connsiteX258" fmla="*/ 426095 w 1256633"/>
              <a:gd name="connsiteY258" fmla="*/ 537949 h 723251"/>
              <a:gd name="connsiteX259" fmla="*/ 451879 w 1256633"/>
              <a:gd name="connsiteY259" fmla="*/ 562917 h 723251"/>
              <a:gd name="connsiteX260" fmla="*/ 426912 w 1256633"/>
              <a:gd name="connsiteY260" fmla="*/ 588702 h 723251"/>
              <a:gd name="connsiteX261" fmla="*/ 401128 w 1256633"/>
              <a:gd name="connsiteY261" fmla="*/ 563733 h 723251"/>
              <a:gd name="connsiteX262" fmla="*/ 401125 w 1256633"/>
              <a:gd name="connsiteY262" fmla="*/ 563322 h 723251"/>
              <a:gd name="connsiteX263" fmla="*/ 426058 w 1256633"/>
              <a:gd name="connsiteY263" fmla="*/ 537949 h 723251"/>
              <a:gd name="connsiteX264" fmla="*/ 426097 w 1256633"/>
              <a:gd name="connsiteY264" fmla="*/ 537949 h 723251"/>
              <a:gd name="connsiteX265" fmla="*/ 560149 w 1256633"/>
              <a:gd name="connsiteY265" fmla="*/ 537949 h 723251"/>
              <a:gd name="connsiteX266" fmla="*/ 585874 w 1256633"/>
              <a:gd name="connsiteY266" fmla="*/ 562979 h 723251"/>
              <a:gd name="connsiteX267" fmla="*/ 560844 w 1256633"/>
              <a:gd name="connsiteY267" fmla="*/ 588703 h 723251"/>
              <a:gd name="connsiteX268" fmla="*/ 535119 w 1256633"/>
              <a:gd name="connsiteY268" fmla="*/ 563673 h 723251"/>
              <a:gd name="connsiteX269" fmla="*/ 535116 w 1256633"/>
              <a:gd name="connsiteY269" fmla="*/ 563322 h 723251"/>
              <a:gd name="connsiteX270" fmla="*/ 560122 w 1256633"/>
              <a:gd name="connsiteY270" fmla="*/ 537949 h 723251"/>
              <a:gd name="connsiteX271" fmla="*/ 560148 w 1256633"/>
              <a:gd name="connsiteY271" fmla="*/ 537949 h 723251"/>
              <a:gd name="connsiteX272" fmla="*/ 694142 w 1256633"/>
              <a:gd name="connsiteY272" fmla="*/ 537949 h 723251"/>
              <a:gd name="connsiteX273" fmla="*/ 719926 w 1256633"/>
              <a:gd name="connsiteY273" fmla="*/ 562917 h 723251"/>
              <a:gd name="connsiteX274" fmla="*/ 694958 w 1256633"/>
              <a:gd name="connsiteY274" fmla="*/ 588702 h 723251"/>
              <a:gd name="connsiteX275" fmla="*/ 669175 w 1256633"/>
              <a:gd name="connsiteY275" fmla="*/ 563733 h 723251"/>
              <a:gd name="connsiteX276" fmla="*/ 669172 w 1256633"/>
              <a:gd name="connsiteY276" fmla="*/ 563322 h 723251"/>
              <a:gd name="connsiteX277" fmla="*/ 694105 w 1256633"/>
              <a:gd name="connsiteY277" fmla="*/ 537949 h 723251"/>
              <a:gd name="connsiteX278" fmla="*/ 694144 w 1256633"/>
              <a:gd name="connsiteY278" fmla="*/ 537949 h 723251"/>
              <a:gd name="connsiteX279" fmla="*/ 24239 w 1256633"/>
              <a:gd name="connsiteY279" fmla="*/ 672758 h 723251"/>
              <a:gd name="connsiteX280" fmla="*/ 49380 w 1256633"/>
              <a:gd name="connsiteY280" fmla="*/ 697973 h 723251"/>
              <a:gd name="connsiteX281" fmla="*/ 24166 w 1256633"/>
              <a:gd name="connsiteY281" fmla="*/ 723115 h 723251"/>
              <a:gd name="connsiteX282" fmla="*/ -976 w 1256633"/>
              <a:gd name="connsiteY282" fmla="*/ 697937 h 723251"/>
              <a:gd name="connsiteX283" fmla="*/ 24178 w 1256633"/>
              <a:gd name="connsiteY283" fmla="*/ 672758 h 723251"/>
              <a:gd name="connsiteX284" fmla="*/ 24239 w 1256633"/>
              <a:gd name="connsiteY284" fmla="*/ 672758 h 723251"/>
              <a:gd name="connsiteX285" fmla="*/ 158231 w 1256633"/>
              <a:gd name="connsiteY285" fmla="*/ 672758 h 723251"/>
              <a:gd name="connsiteX286" fmla="*/ 183434 w 1256633"/>
              <a:gd name="connsiteY286" fmla="*/ 697912 h 723251"/>
              <a:gd name="connsiteX287" fmla="*/ 158281 w 1256633"/>
              <a:gd name="connsiteY287" fmla="*/ 723115 h 723251"/>
              <a:gd name="connsiteX288" fmla="*/ 133078 w 1256633"/>
              <a:gd name="connsiteY288" fmla="*/ 697961 h 723251"/>
              <a:gd name="connsiteX289" fmla="*/ 133078 w 1256633"/>
              <a:gd name="connsiteY289" fmla="*/ 697937 h 723251"/>
              <a:gd name="connsiteX290" fmla="*/ 158231 w 1256633"/>
              <a:gd name="connsiteY290" fmla="*/ 672758 h 723251"/>
              <a:gd name="connsiteX291" fmla="*/ 292285 w 1256633"/>
              <a:gd name="connsiteY291" fmla="*/ 672758 h 723251"/>
              <a:gd name="connsiteX292" fmla="*/ 317427 w 1256633"/>
              <a:gd name="connsiteY292" fmla="*/ 697973 h 723251"/>
              <a:gd name="connsiteX293" fmla="*/ 292212 w 1256633"/>
              <a:gd name="connsiteY293" fmla="*/ 723115 h 723251"/>
              <a:gd name="connsiteX294" fmla="*/ 267071 w 1256633"/>
              <a:gd name="connsiteY294" fmla="*/ 697937 h 723251"/>
              <a:gd name="connsiteX295" fmla="*/ 292224 w 1256633"/>
              <a:gd name="connsiteY295" fmla="*/ 672758 h 723251"/>
              <a:gd name="connsiteX296" fmla="*/ 292285 w 1256633"/>
              <a:gd name="connsiteY296" fmla="*/ 672758 h 723251"/>
              <a:gd name="connsiteX297" fmla="*/ 426095 w 1256633"/>
              <a:gd name="connsiteY297" fmla="*/ 672758 h 723251"/>
              <a:gd name="connsiteX298" fmla="*/ 451481 w 1256633"/>
              <a:gd name="connsiteY298" fmla="*/ 697729 h 723251"/>
              <a:gd name="connsiteX299" fmla="*/ 426510 w 1256633"/>
              <a:gd name="connsiteY299" fmla="*/ 723113 h 723251"/>
              <a:gd name="connsiteX300" fmla="*/ 401125 w 1256633"/>
              <a:gd name="connsiteY300" fmla="*/ 698143 h 723251"/>
              <a:gd name="connsiteX301" fmla="*/ 401123 w 1256633"/>
              <a:gd name="connsiteY301" fmla="*/ 697937 h 723251"/>
              <a:gd name="connsiteX302" fmla="*/ 426046 w 1256633"/>
              <a:gd name="connsiteY302" fmla="*/ 672758 h 723251"/>
              <a:gd name="connsiteX303" fmla="*/ 426095 w 1256633"/>
              <a:gd name="connsiteY303" fmla="*/ 672758 h 723251"/>
              <a:gd name="connsiteX304" fmla="*/ 560149 w 1256633"/>
              <a:gd name="connsiteY304" fmla="*/ 672758 h 723251"/>
              <a:gd name="connsiteX305" fmla="*/ 585474 w 1256633"/>
              <a:gd name="connsiteY305" fmla="*/ 697790 h 723251"/>
              <a:gd name="connsiteX306" fmla="*/ 560442 w 1256633"/>
              <a:gd name="connsiteY306" fmla="*/ 723114 h 723251"/>
              <a:gd name="connsiteX307" fmla="*/ 535118 w 1256633"/>
              <a:gd name="connsiteY307" fmla="*/ 698082 h 723251"/>
              <a:gd name="connsiteX308" fmla="*/ 535118 w 1256633"/>
              <a:gd name="connsiteY308" fmla="*/ 697937 h 723251"/>
              <a:gd name="connsiteX309" fmla="*/ 560114 w 1256633"/>
              <a:gd name="connsiteY309" fmla="*/ 672758 h 723251"/>
              <a:gd name="connsiteX310" fmla="*/ 560151 w 1256633"/>
              <a:gd name="connsiteY310" fmla="*/ 672758 h 723251"/>
              <a:gd name="connsiteX311" fmla="*/ 694142 w 1256633"/>
              <a:gd name="connsiteY311" fmla="*/ 672758 h 723251"/>
              <a:gd name="connsiteX312" fmla="*/ 719528 w 1256633"/>
              <a:gd name="connsiteY312" fmla="*/ 697729 h 723251"/>
              <a:gd name="connsiteX313" fmla="*/ 694557 w 1256633"/>
              <a:gd name="connsiteY313" fmla="*/ 723113 h 723251"/>
              <a:gd name="connsiteX314" fmla="*/ 669172 w 1256633"/>
              <a:gd name="connsiteY314" fmla="*/ 698143 h 723251"/>
              <a:gd name="connsiteX315" fmla="*/ 669170 w 1256633"/>
              <a:gd name="connsiteY315" fmla="*/ 697937 h 723251"/>
              <a:gd name="connsiteX316" fmla="*/ 694093 w 1256633"/>
              <a:gd name="connsiteY316" fmla="*/ 672758 h 723251"/>
              <a:gd name="connsiteX317" fmla="*/ 694142 w 1256633"/>
              <a:gd name="connsiteY317" fmla="*/ 672758 h 723251"/>
              <a:gd name="connsiteX318" fmla="*/ 828013 w 1256633"/>
              <a:gd name="connsiteY318" fmla="*/ 403554 h 723251"/>
              <a:gd name="connsiteX319" fmla="*/ 853155 w 1256633"/>
              <a:gd name="connsiteY319" fmla="*/ 428769 h 723251"/>
              <a:gd name="connsiteX320" fmla="*/ 827940 w 1256633"/>
              <a:gd name="connsiteY320" fmla="*/ 453911 h 723251"/>
              <a:gd name="connsiteX321" fmla="*/ 802799 w 1256633"/>
              <a:gd name="connsiteY321" fmla="*/ 428733 h 723251"/>
              <a:gd name="connsiteX322" fmla="*/ 827934 w 1256633"/>
              <a:gd name="connsiteY322" fmla="*/ 403536 h 723251"/>
              <a:gd name="connsiteX323" fmla="*/ 828013 w 1256633"/>
              <a:gd name="connsiteY323" fmla="*/ 403536 h 723251"/>
              <a:gd name="connsiteX324" fmla="*/ 962006 w 1256633"/>
              <a:gd name="connsiteY324" fmla="*/ 403554 h 723251"/>
              <a:gd name="connsiteX325" fmla="*/ 987208 w 1256633"/>
              <a:gd name="connsiteY325" fmla="*/ 428709 h 723251"/>
              <a:gd name="connsiteX326" fmla="*/ 962055 w 1256633"/>
              <a:gd name="connsiteY326" fmla="*/ 453911 h 723251"/>
              <a:gd name="connsiteX327" fmla="*/ 936853 w 1256633"/>
              <a:gd name="connsiteY327" fmla="*/ 428757 h 723251"/>
              <a:gd name="connsiteX328" fmla="*/ 936853 w 1256633"/>
              <a:gd name="connsiteY328" fmla="*/ 428733 h 723251"/>
              <a:gd name="connsiteX329" fmla="*/ 961988 w 1256633"/>
              <a:gd name="connsiteY329" fmla="*/ 403536 h 723251"/>
              <a:gd name="connsiteX330" fmla="*/ 962006 w 1256633"/>
              <a:gd name="connsiteY330" fmla="*/ 403536 h 723251"/>
              <a:gd name="connsiteX331" fmla="*/ 828013 w 1256633"/>
              <a:gd name="connsiteY331" fmla="*/ 537968 h 723251"/>
              <a:gd name="connsiteX332" fmla="*/ 853556 w 1256633"/>
              <a:gd name="connsiteY332" fmla="*/ 563182 h 723251"/>
              <a:gd name="connsiteX333" fmla="*/ 828342 w 1256633"/>
              <a:gd name="connsiteY333" fmla="*/ 588726 h 723251"/>
              <a:gd name="connsiteX334" fmla="*/ 802799 w 1256633"/>
              <a:gd name="connsiteY334" fmla="*/ 563511 h 723251"/>
              <a:gd name="connsiteX335" fmla="*/ 802799 w 1256633"/>
              <a:gd name="connsiteY335" fmla="*/ 563341 h 723251"/>
              <a:gd name="connsiteX336" fmla="*/ 827946 w 1256633"/>
              <a:gd name="connsiteY336" fmla="*/ 537949 h 723251"/>
              <a:gd name="connsiteX337" fmla="*/ 828013 w 1256633"/>
              <a:gd name="connsiteY337" fmla="*/ 537949 h 723251"/>
              <a:gd name="connsiteX338" fmla="*/ 962006 w 1256633"/>
              <a:gd name="connsiteY338" fmla="*/ 537968 h 723251"/>
              <a:gd name="connsiteX339" fmla="*/ 987610 w 1256633"/>
              <a:gd name="connsiteY339" fmla="*/ 563121 h 723251"/>
              <a:gd name="connsiteX340" fmla="*/ 962457 w 1256633"/>
              <a:gd name="connsiteY340" fmla="*/ 588724 h 723251"/>
              <a:gd name="connsiteX341" fmla="*/ 936853 w 1256633"/>
              <a:gd name="connsiteY341" fmla="*/ 563571 h 723251"/>
              <a:gd name="connsiteX342" fmla="*/ 936851 w 1256633"/>
              <a:gd name="connsiteY342" fmla="*/ 563341 h 723251"/>
              <a:gd name="connsiteX343" fmla="*/ 961999 w 1256633"/>
              <a:gd name="connsiteY343" fmla="*/ 537949 h 723251"/>
              <a:gd name="connsiteX344" fmla="*/ 962005 w 1256633"/>
              <a:gd name="connsiteY344" fmla="*/ 537949 h 723251"/>
              <a:gd name="connsiteX345" fmla="*/ 828013 w 1256633"/>
              <a:gd name="connsiteY345" fmla="*/ 672777 h 723251"/>
              <a:gd name="connsiteX346" fmla="*/ 853155 w 1256633"/>
              <a:gd name="connsiteY346" fmla="*/ 697992 h 723251"/>
              <a:gd name="connsiteX347" fmla="*/ 827940 w 1256633"/>
              <a:gd name="connsiteY347" fmla="*/ 723133 h 723251"/>
              <a:gd name="connsiteX348" fmla="*/ 802799 w 1256633"/>
              <a:gd name="connsiteY348" fmla="*/ 697955 h 723251"/>
              <a:gd name="connsiteX349" fmla="*/ 827934 w 1256633"/>
              <a:gd name="connsiteY349" fmla="*/ 672758 h 723251"/>
              <a:gd name="connsiteX350" fmla="*/ 828013 w 1256633"/>
              <a:gd name="connsiteY350" fmla="*/ 672758 h 723251"/>
              <a:gd name="connsiteX351" fmla="*/ 962006 w 1256633"/>
              <a:gd name="connsiteY351" fmla="*/ 672777 h 723251"/>
              <a:gd name="connsiteX352" fmla="*/ 987208 w 1256633"/>
              <a:gd name="connsiteY352" fmla="*/ 697931 h 723251"/>
              <a:gd name="connsiteX353" fmla="*/ 962055 w 1256633"/>
              <a:gd name="connsiteY353" fmla="*/ 723134 h 723251"/>
              <a:gd name="connsiteX354" fmla="*/ 936853 w 1256633"/>
              <a:gd name="connsiteY354" fmla="*/ 697980 h 723251"/>
              <a:gd name="connsiteX355" fmla="*/ 936853 w 1256633"/>
              <a:gd name="connsiteY355" fmla="*/ 697955 h 723251"/>
              <a:gd name="connsiteX356" fmla="*/ 961988 w 1256633"/>
              <a:gd name="connsiteY356" fmla="*/ 672758 h 723251"/>
              <a:gd name="connsiteX357" fmla="*/ 962006 w 1256633"/>
              <a:gd name="connsiteY357" fmla="*/ 672758 h 723251"/>
              <a:gd name="connsiteX358" fmla="*/ 1096060 w 1256633"/>
              <a:gd name="connsiteY358" fmla="*/ 403573 h 723251"/>
              <a:gd name="connsiteX359" fmla="*/ 1121201 w 1256633"/>
              <a:gd name="connsiteY359" fmla="*/ 428788 h 723251"/>
              <a:gd name="connsiteX360" fmla="*/ 1095987 w 1256633"/>
              <a:gd name="connsiteY360" fmla="*/ 453929 h 723251"/>
              <a:gd name="connsiteX361" fmla="*/ 1070846 w 1256633"/>
              <a:gd name="connsiteY361" fmla="*/ 428751 h 723251"/>
              <a:gd name="connsiteX362" fmla="*/ 1095963 w 1256633"/>
              <a:gd name="connsiteY362" fmla="*/ 403536 h 723251"/>
              <a:gd name="connsiteX363" fmla="*/ 1096061 w 1256633"/>
              <a:gd name="connsiteY363" fmla="*/ 403536 h 723251"/>
              <a:gd name="connsiteX364" fmla="*/ 1230053 w 1256633"/>
              <a:gd name="connsiteY364" fmla="*/ 403573 h 723251"/>
              <a:gd name="connsiteX365" fmla="*/ 1255255 w 1256633"/>
              <a:gd name="connsiteY365" fmla="*/ 428727 h 723251"/>
              <a:gd name="connsiteX366" fmla="*/ 1230102 w 1256633"/>
              <a:gd name="connsiteY366" fmla="*/ 453930 h 723251"/>
              <a:gd name="connsiteX367" fmla="*/ 1204899 w 1256633"/>
              <a:gd name="connsiteY367" fmla="*/ 428776 h 723251"/>
              <a:gd name="connsiteX368" fmla="*/ 1204899 w 1256633"/>
              <a:gd name="connsiteY368" fmla="*/ 428751 h 723251"/>
              <a:gd name="connsiteX369" fmla="*/ 1230041 w 1256633"/>
              <a:gd name="connsiteY369" fmla="*/ 403536 h 723251"/>
              <a:gd name="connsiteX370" fmla="*/ 1230053 w 1256633"/>
              <a:gd name="connsiteY370" fmla="*/ 403536 h 723251"/>
              <a:gd name="connsiteX371" fmla="*/ 1096060 w 1256633"/>
              <a:gd name="connsiteY371" fmla="*/ 537986 h 723251"/>
              <a:gd name="connsiteX372" fmla="*/ 1121603 w 1256633"/>
              <a:gd name="connsiteY372" fmla="*/ 563200 h 723251"/>
              <a:gd name="connsiteX373" fmla="*/ 1096389 w 1256633"/>
              <a:gd name="connsiteY373" fmla="*/ 588744 h 723251"/>
              <a:gd name="connsiteX374" fmla="*/ 1070846 w 1256633"/>
              <a:gd name="connsiteY374" fmla="*/ 563529 h 723251"/>
              <a:gd name="connsiteX375" fmla="*/ 1070846 w 1256633"/>
              <a:gd name="connsiteY375" fmla="*/ 563359 h 723251"/>
              <a:gd name="connsiteX376" fmla="*/ 1095975 w 1256633"/>
              <a:gd name="connsiteY376" fmla="*/ 537950 h 723251"/>
              <a:gd name="connsiteX377" fmla="*/ 1096061 w 1256633"/>
              <a:gd name="connsiteY377" fmla="*/ 537949 h 723251"/>
              <a:gd name="connsiteX378" fmla="*/ 1230053 w 1256633"/>
              <a:gd name="connsiteY378" fmla="*/ 537986 h 723251"/>
              <a:gd name="connsiteX379" fmla="*/ 1255657 w 1256633"/>
              <a:gd name="connsiteY379" fmla="*/ 563139 h 723251"/>
              <a:gd name="connsiteX380" fmla="*/ 1230503 w 1256633"/>
              <a:gd name="connsiteY380" fmla="*/ 588743 h 723251"/>
              <a:gd name="connsiteX381" fmla="*/ 1204899 w 1256633"/>
              <a:gd name="connsiteY381" fmla="*/ 563590 h 723251"/>
              <a:gd name="connsiteX382" fmla="*/ 1204898 w 1256633"/>
              <a:gd name="connsiteY382" fmla="*/ 563359 h 723251"/>
              <a:gd name="connsiteX383" fmla="*/ 1230051 w 1256633"/>
              <a:gd name="connsiteY383" fmla="*/ 537949 h 723251"/>
              <a:gd name="connsiteX384" fmla="*/ 1230051 w 1256633"/>
              <a:gd name="connsiteY384" fmla="*/ 537949 h 723251"/>
              <a:gd name="connsiteX385" fmla="*/ 1096060 w 1256633"/>
              <a:gd name="connsiteY385" fmla="*/ 672795 h 723251"/>
              <a:gd name="connsiteX386" fmla="*/ 1121201 w 1256633"/>
              <a:gd name="connsiteY386" fmla="*/ 698010 h 723251"/>
              <a:gd name="connsiteX387" fmla="*/ 1095987 w 1256633"/>
              <a:gd name="connsiteY387" fmla="*/ 723152 h 723251"/>
              <a:gd name="connsiteX388" fmla="*/ 1070846 w 1256633"/>
              <a:gd name="connsiteY388" fmla="*/ 697973 h 723251"/>
              <a:gd name="connsiteX389" fmla="*/ 1095963 w 1256633"/>
              <a:gd name="connsiteY389" fmla="*/ 672758 h 723251"/>
              <a:gd name="connsiteX390" fmla="*/ 1096061 w 1256633"/>
              <a:gd name="connsiteY390" fmla="*/ 672758 h 723251"/>
              <a:gd name="connsiteX391" fmla="*/ 1230053 w 1256633"/>
              <a:gd name="connsiteY391" fmla="*/ 672795 h 723251"/>
              <a:gd name="connsiteX392" fmla="*/ 1255255 w 1256633"/>
              <a:gd name="connsiteY392" fmla="*/ 697949 h 723251"/>
              <a:gd name="connsiteX393" fmla="*/ 1230102 w 1256633"/>
              <a:gd name="connsiteY393" fmla="*/ 723152 h 723251"/>
              <a:gd name="connsiteX394" fmla="*/ 1204899 w 1256633"/>
              <a:gd name="connsiteY394" fmla="*/ 697998 h 723251"/>
              <a:gd name="connsiteX395" fmla="*/ 1204899 w 1256633"/>
              <a:gd name="connsiteY395" fmla="*/ 697973 h 723251"/>
              <a:gd name="connsiteX396" fmla="*/ 1230041 w 1256633"/>
              <a:gd name="connsiteY396" fmla="*/ 672758 h 723251"/>
              <a:gd name="connsiteX397" fmla="*/ 1230053 w 1256633"/>
              <a:gd name="connsiteY397" fmla="*/ 672758 h 723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</a:cxnLst>
            <a:rect l="l" t="t" r="r" b="b"/>
            <a:pathLst>
              <a:path w="1256633" h="723251">
                <a:moveTo>
                  <a:pt x="24239" y="-99"/>
                </a:moveTo>
                <a:cubicBezTo>
                  <a:pt x="38145" y="-79"/>
                  <a:pt x="49401" y="11210"/>
                  <a:pt x="49380" y="25116"/>
                </a:cubicBezTo>
                <a:cubicBezTo>
                  <a:pt x="49359" y="39021"/>
                  <a:pt x="38070" y="50278"/>
                  <a:pt x="24166" y="50258"/>
                </a:cubicBezTo>
                <a:cubicBezTo>
                  <a:pt x="10272" y="50238"/>
                  <a:pt x="-980" y="38967"/>
                  <a:pt x="-976" y="25073"/>
                </a:cubicBezTo>
                <a:cubicBezTo>
                  <a:pt x="-979" y="11174"/>
                  <a:pt x="10285" y="-96"/>
                  <a:pt x="24185" y="-99"/>
                </a:cubicBezTo>
                <a:cubicBezTo>
                  <a:pt x="24203" y="-99"/>
                  <a:pt x="24222" y="-99"/>
                  <a:pt x="24240" y="-99"/>
                </a:cubicBezTo>
                <a:close/>
                <a:moveTo>
                  <a:pt x="158231" y="-99"/>
                </a:moveTo>
                <a:cubicBezTo>
                  <a:pt x="172138" y="-113"/>
                  <a:pt x="183421" y="11149"/>
                  <a:pt x="183434" y="25055"/>
                </a:cubicBezTo>
                <a:cubicBezTo>
                  <a:pt x="183447" y="38961"/>
                  <a:pt x="172185" y="50244"/>
                  <a:pt x="158281" y="50258"/>
                </a:cubicBezTo>
                <a:cubicBezTo>
                  <a:pt x="144375" y="50271"/>
                  <a:pt x="133091" y="39009"/>
                  <a:pt x="133078" y="25104"/>
                </a:cubicBezTo>
                <a:cubicBezTo>
                  <a:pt x="133078" y="25093"/>
                  <a:pt x="133078" y="25083"/>
                  <a:pt x="133078" y="25073"/>
                </a:cubicBezTo>
                <a:cubicBezTo>
                  <a:pt x="133081" y="11179"/>
                  <a:pt x="144339" y="-86"/>
                  <a:pt x="158231" y="-99"/>
                </a:cubicBezTo>
                <a:close/>
                <a:moveTo>
                  <a:pt x="292285" y="-99"/>
                </a:moveTo>
                <a:cubicBezTo>
                  <a:pt x="306191" y="-79"/>
                  <a:pt x="317448" y="11210"/>
                  <a:pt x="317427" y="25116"/>
                </a:cubicBezTo>
                <a:cubicBezTo>
                  <a:pt x="317406" y="39021"/>
                  <a:pt x="306117" y="50278"/>
                  <a:pt x="292212" y="50258"/>
                </a:cubicBezTo>
                <a:cubicBezTo>
                  <a:pt x="278318" y="50238"/>
                  <a:pt x="267067" y="38967"/>
                  <a:pt x="267071" y="25073"/>
                </a:cubicBezTo>
                <a:cubicBezTo>
                  <a:pt x="267068" y="11174"/>
                  <a:pt x="278332" y="-96"/>
                  <a:pt x="292232" y="-99"/>
                </a:cubicBezTo>
                <a:cubicBezTo>
                  <a:pt x="292250" y="-99"/>
                  <a:pt x="292269" y="-99"/>
                  <a:pt x="292287" y="-99"/>
                </a:cubicBezTo>
                <a:close/>
                <a:moveTo>
                  <a:pt x="426095" y="-99"/>
                </a:moveTo>
                <a:cubicBezTo>
                  <a:pt x="440000" y="-213"/>
                  <a:pt x="451366" y="10966"/>
                  <a:pt x="451481" y="24871"/>
                </a:cubicBezTo>
                <a:cubicBezTo>
                  <a:pt x="451595" y="38777"/>
                  <a:pt x="440415" y="50142"/>
                  <a:pt x="426510" y="50256"/>
                </a:cubicBezTo>
                <a:cubicBezTo>
                  <a:pt x="412606" y="50370"/>
                  <a:pt x="401239" y="39191"/>
                  <a:pt x="401125" y="25285"/>
                </a:cubicBezTo>
                <a:cubicBezTo>
                  <a:pt x="401125" y="25215"/>
                  <a:pt x="401123" y="25144"/>
                  <a:pt x="401123" y="25073"/>
                </a:cubicBezTo>
                <a:cubicBezTo>
                  <a:pt x="401056" y="11238"/>
                  <a:pt x="412216" y="-32"/>
                  <a:pt x="426052" y="-99"/>
                </a:cubicBezTo>
                <a:cubicBezTo>
                  <a:pt x="426067" y="-99"/>
                  <a:pt x="426080" y="-99"/>
                  <a:pt x="426095" y="-99"/>
                </a:cubicBezTo>
                <a:close/>
                <a:moveTo>
                  <a:pt x="560149" y="-99"/>
                </a:moveTo>
                <a:cubicBezTo>
                  <a:pt x="574055" y="-180"/>
                  <a:pt x="585393" y="11027"/>
                  <a:pt x="585474" y="24933"/>
                </a:cubicBezTo>
                <a:cubicBezTo>
                  <a:pt x="585554" y="38838"/>
                  <a:pt x="574347" y="50176"/>
                  <a:pt x="560442" y="50257"/>
                </a:cubicBezTo>
                <a:cubicBezTo>
                  <a:pt x="546536" y="50338"/>
                  <a:pt x="535198" y="39131"/>
                  <a:pt x="535118" y="25225"/>
                </a:cubicBezTo>
                <a:cubicBezTo>
                  <a:pt x="535118" y="25175"/>
                  <a:pt x="535118" y="25124"/>
                  <a:pt x="535118" y="25073"/>
                </a:cubicBezTo>
                <a:cubicBezTo>
                  <a:pt x="535070" y="11218"/>
                  <a:pt x="546264" y="-52"/>
                  <a:pt x="560119" y="-99"/>
                </a:cubicBezTo>
                <a:cubicBezTo>
                  <a:pt x="560130" y="-99"/>
                  <a:pt x="560140" y="-99"/>
                  <a:pt x="560151" y="-99"/>
                </a:cubicBezTo>
                <a:close/>
                <a:moveTo>
                  <a:pt x="694142" y="-99"/>
                </a:moveTo>
                <a:cubicBezTo>
                  <a:pt x="708047" y="-213"/>
                  <a:pt x="719413" y="10966"/>
                  <a:pt x="719528" y="24871"/>
                </a:cubicBezTo>
                <a:cubicBezTo>
                  <a:pt x="719642" y="38777"/>
                  <a:pt x="708462" y="50142"/>
                  <a:pt x="694557" y="50256"/>
                </a:cubicBezTo>
                <a:cubicBezTo>
                  <a:pt x="680652" y="50370"/>
                  <a:pt x="669286" y="39191"/>
                  <a:pt x="669172" y="25285"/>
                </a:cubicBezTo>
                <a:cubicBezTo>
                  <a:pt x="669172" y="25215"/>
                  <a:pt x="669170" y="25144"/>
                  <a:pt x="669170" y="25073"/>
                </a:cubicBezTo>
                <a:cubicBezTo>
                  <a:pt x="669103" y="11238"/>
                  <a:pt x="680263" y="-32"/>
                  <a:pt x="694099" y="-99"/>
                </a:cubicBezTo>
                <a:cubicBezTo>
                  <a:pt x="694114" y="-99"/>
                  <a:pt x="694127" y="-99"/>
                  <a:pt x="694142" y="-99"/>
                </a:cubicBezTo>
                <a:close/>
                <a:moveTo>
                  <a:pt x="24239" y="134314"/>
                </a:moveTo>
                <a:cubicBezTo>
                  <a:pt x="38252" y="134226"/>
                  <a:pt x="49682" y="145515"/>
                  <a:pt x="49770" y="159529"/>
                </a:cubicBezTo>
                <a:cubicBezTo>
                  <a:pt x="49857" y="173542"/>
                  <a:pt x="38568" y="184972"/>
                  <a:pt x="24555" y="185060"/>
                </a:cubicBezTo>
                <a:cubicBezTo>
                  <a:pt x="10542" y="185147"/>
                  <a:pt x="-888" y="173858"/>
                  <a:pt x="-976" y="159845"/>
                </a:cubicBezTo>
                <a:cubicBezTo>
                  <a:pt x="-976" y="159793"/>
                  <a:pt x="-976" y="159740"/>
                  <a:pt x="-976" y="159688"/>
                </a:cubicBezTo>
                <a:cubicBezTo>
                  <a:pt x="-1032" y="145731"/>
                  <a:pt x="10234" y="134371"/>
                  <a:pt x="24190" y="134314"/>
                </a:cubicBezTo>
                <a:cubicBezTo>
                  <a:pt x="24206" y="134314"/>
                  <a:pt x="24222" y="134314"/>
                  <a:pt x="24239" y="134314"/>
                </a:cubicBezTo>
                <a:close/>
                <a:moveTo>
                  <a:pt x="158231" y="134314"/>
                </a:moveTo>
                <a:cubicBezTo>
                  <a:pt x="172245" y="134193"/>
                  <a:pt x="183702" y="145454"/>
                  <a:pt x="183824" y="159467"/>
                </a:cubicBezTo>
                <a:cubicBezTo>
                  <a:pt x="183944" y="173480"/>
                  <a:pt x="172683" y="184938"/>
                  <a:pt x="158670" y="185059"/>
                </a:cubicBezTo>
                <a:cubicBezTo>
                  <a:pt x="144657" y="185180"/>
                  <a:pt x="133200" y="173919"/>
                  <a:pt x="133078" y="159906"/>
                </a:cubicBezTo>
                <a:cubicBezTo>
                  <a:pt x="133078" y="159833"/>
                  <a:pt x="133077" y="159760"/>
                  <a:pt x="133077" y="159687"/>
                </a:cubicBezTo>
                <a:cubicBezTo>
                  <a:pt x="133026" y="145739"/>
                  <a:pt x="144282" y="134384"/>
                  <a:pt x="158230" y="134314"/>
                </a:cubicBezTo>
                <a:close/>
                <a:moveTo>
                  <a:pt x="292285" y="134314"/>
                </a:moveTo>
                <a:cubicBezTo>
                  <a:pt x="306298" y="134226"/>
                  <a:pt x="317729" y="145515"/>
                  <a:pt x="317816" y="159529"/>
                </a:cubicBezTo>
                <a:cubicBezTo>
                  <a:pt x="317904" y="173542"/>
                  <a:pt x="306615" y="184972"/>
                  <a:pt x="292602" y="185060"/>
                </a:cubicBezTo>
                <a:cubicBezTo>
                  <a:pt x="278589" y="185147"/>
                  <a:pt x="267159" y="173858"/>
                  <a:pt x="267071" y="159845"/>
                </a:cubicBezTo>
                <a:cubicBezTo>
                  <a:pt x="267071" y="159793"/>
                  <a:pt x="267071" y="159740"/>
                  <a:pt x="267071" y="159688"/>
                </a:cubicBezTo>
                <a:cubicBezTo>
                  <a:pt x="267014" y="145731"/>
                  <a:pt x="278281" y="134371"/>
                  <a:pt x="292236" y="134314"/>
                </a:cubicBezTo>
                <a:cubicBezTo>
                  <a:pt x="292253" y="134314"/>
                  <a:pt x="292269" y="134314"/>
                  <a:pt x="292285" y="134314"/>
                </a:cubicBezTo>
                <a:close/>
                <a:moveTo>
                  <a:pt x="426095" y="134314"/>
                </a:moveTo>
                <a:cubicBezTo>
                  <a:pt x="440110" y="134089"/>
                  <a:pt x="451655" y="145267"/>
                  <a:pt x="451879" y="159282"/>
                </a:cubicBezTo>
                <a:cubicBezTo>
                  <a:pt x="452105" y="173297"/>
                  <a:pt x="440926" y="184841"/>
                  <a:pt x="426912" y="185066"/>
                </a:cubicBezTo>
                <a:cubicBezTo>
                  <a:pt x="412897" y="185292"/>
                  <a:pt x="401352" y="174113"/>
                  <a:pt x="401128" y="160098"/>
                </a:cubicBezTo>
                <a:cubicBezTo>
                  <a:pt x="401126" y="159961"/>
                  <a:pt x="401125" y="159824"/>
                  <a:pt x="401125" y="159687"/>
                </a:cubicBezTo>
                <a:cubicBezTo>
                  <a:pt x="401003" y="145796"/>
                  <a:pt x="412167" y="134436"/>
                  <a:pt x="426058" y="134314"/>
                </a:cubicBezTo>
                <a:cubicBezTo>
                  <a:pt x="426072" y="134314"/>
                  <a:pt x="426083" y="134314"/>
                  <a:pt x="426097" y="134314"/>
                </a:cubicBezTo>
                <a:close/>
                <a:moveTo>
                  <a:pt x="560149" y="134314"/>
                </a:moveTo>
                <a:cubicBezTo>
                  <a:pt x="574161" y="134126"/>
                  <a:pt x="585673" y="145332"/>
                  <a:pt x="585862" y="159344"/>
                </a:cubicBezTo>
                <a:cubicBezTo>
                  <a:pt x="586051" y="173356"/>
                  <a:pt x="574843" y="184868"/>
                  <a:pt x="560832" y="185056"/>
                </a:cubicBezTo>
                <a:cubicBezTo>
                  <a:pt x="546820" y="185244"/>
                  <a:pt x="535308" y="174038"/>
                  <a:pt x="535119" y="160026"/>
                </a:cubicBezTo>
                <a:cubicBezTo>
                  <a:pt x="535118" y="159913"/>
                  <a:pt x="535116" y="159800"/>
                  <a:pt x="535116" y="159687"/>
                </a:cubicBezTo>
                <a:cubicBezTo>
                  <a:pt x="535015" y="145775"/>
                  <a:pt x="546210" y="134415"/>
                  <a:pt x="560122" y="134314"/>
                </a:cubicBezTo>
                <a:cubicBezTo>
                  <a:pt x="560131" y="134314"/>
                  <a:pt x="560139" y="134314"/>
                  <a:pt x="560148" y="134314"/>
                </a:cubicBezTo>
                <a:close/>
                <a:moveTo>
                  <a:pt x="694142" y="134314"/>
                </a:moveTo>
                <a:cubicBezTo>
                  <a:pt x="708157" y="134089"/>
                  <a:pt x="719701" y="145267"/>
                  <a:pt x="719926" y="159282"/>
                </a:cubicBezTo>
                <a:cubicBezTo>
                  <a:pt x="720152" y="173297"/>
                  <a:pt x="708973" y="184841"/>
                  <a:pt x="694958" y="185066"/>
                </a:cubicBezTo>
                <a:cubicBezTo>
                  <a:pt x="680944" y="185292"/>
                  <a:pt x="669399" y="174113"/>
                  <a:pt x="669175" y="160098"/>
                </a:cubicBezTo>
                <a:cubicBezTo>
                  <a:pt x="669173" y="159961"/>
                  <a:pt x="669172" y="159824"/>
                  <a:pt x="669172" y="159687"/>
                </a:cubicBezTo>
                <a:cubicBezTo>
                  <a:pt x="669050" y="145796"/>
                  <a:pt x="680214" y="134436"/>
                  <a:pt x="694105" y="134314"/>
                </a:cubicBezTo>
                <a:cubicBezTo>
                  <a:pt x="694118" y="134314"/>
                  <a:pt x="694130" y="134314"/>
                  <a:pt x="694144" y="134314"/>
                </a:cubicBezTo>
                <a:close/>
                <a:moveTo>
                  <a:pt x="24239" y="269123"/>
                </a:moveTo>
                <a:cubicBezTo>
                  <a:pt x="38145" y="269143"/>
                  <a:pt x="49401" y="280432"/>
                  <a:pt x="49380" y="294338"/>
                </a:cubicBezTo>
                <a:cubicBezTo>
                  <a:pt x="49359" y="308243"/>
                  <a:pt x="38070" y="319500"/>
                  <a:pt x="24166" y="319480"/>
                </a:cubicBezTo>
                <a:cubicBezTo>
                  <a:pt x="10275" y="319460"/>
                  <a:pt x="-976" y="308193"/>
                  <a:pt x="-976" y="294301"/>
                </a:cubicBezTo>
                <a:cubicBezTo>
                  <a:pt x="-983" y="280402"/>
                  <a:pt x="10279" y="269129"/>
                  <a:pt x="24178" y="269123"/>
                </a:cubicBezTo>
                <a:cubicBezTo>
                  <a:pt x="24198" y="269123"/>
                  <a:pt x="24218" y="269123"/>
                  <a:pt x="24239" y="269123"/>
                </a:cubicBezTo>
                <a:close/>
                <a:moveTo>
                  <a:pt x="158231" y="269123"/>
                </a:moveTo>
                <a:cubicBezTo>
                  <a:pt x="172138" y="269110"/>
                  <a:pt x="183421" y="280371"/>
                  <a:pt x="183434" y="294277"/>
                </a:cubicBezTo>
                <a:cubicBezTo>
                  <a:pt x="183447" y="308183"/>
                  <a:pt x="172185" y="319467"/>
                  <a:pt x="158281" y="319480"/>
                </a:cubicBezTo>
                <a:cubicBezTo>
                  <a:pt x="144375" y="319493"/>
                  <a:pt x="133091" y="308231"/>
                  <a:pt x="133078" y="294326"/>
                </a:cubicBezTo>
                <a:cubicBezTo>
                  <a:pt x="133078" y="294318"/>
                  <a:pt x="133078" y="294310"/>
                  <a:pt x="133078" y="294301"/>
                </a:cubicBezTo>
                <a:cubicBezTo>
                  <a:pt x="133078" y="280405"/>
                  <a:pt x="144336" y="269136"/>
                  <a:pt x="158231" y="269123"/>
                </a:cubicBezTo>
                <a:close/>
                <a:moveTo>
                  <a:pt x="292285" y="269123"/>
                </a:moveTo>
                <a:cubicBezTo>
                  <a:pt x="306191" y="269143"/>
                  <a:pt x="317448" y="280432"/>
                  <a:pt x="317427" y="294338"/>
                </a:cubicBezTo>
                <a:cubicBezTo>
                  <a:pt x="317406" y="308243"/>
                  <a:pt x="306117" y="319500"/>
                  <a:pt x="292212" y="319480"/>
                </a:cubicBezTo>
                <a:cubicBezTo>
                  <a:pt x="278321" y="319460"/>
                  <a:pt x="267071" y="308193"/>
                  <a:pt x="267071" y="294301"/>
                </a:cubicBezTo>
                <a:cubicBezTo>
                  <a:pt x="267064" y="280402"/>
                  <a:pt x="278326" y="269129"/>
                  <a:pt x="292224" y="269123"/>
                </a:cubicBezTo>
                <a:cubicBezTo>
                  <a:pt x="292245" y="269123"/>
                  <a:pt x="292265" y="269123"/>
                  <a:pt x="292285" y="269123"/>
                </a:cubicBezTo>
                <a:close/>
                <a:moveTo>
                  <a:pt x="426095" y="269123"/>
                </a:moveTo>
                <a:cubicBezTo>
                  <a:pt x="440000" y="269009"/>
                  <a:pt x="451366" y="280188"/>
                  <a:pt x="451481" y="294093"/>
                </a:cubicBezTo>
                <a:cubicBezTo>
                  <a:pt x="451595" y="307999"/>
                  <a:pt x="440415" y="319364"/>
                  <a:pt x="426510" y="319478"/>
                </a:cubicBezTo>
                <a:cubicBezTo>
                  <a:pt x="412606" y="319592"/>
                  <a:pt x="401239" y="308413"/>
                  <a:pt x="401125" y="294508"/>
                </a:cubicBezTo>
                <a:cubicBezTo>
                  <a:pt x="401125" y="294439"/>
                  <a:pt x="401123" y="294370"/>
                  <a:pt x="401123" y="294301"/>
                </a:cubicBezTo>
                <a:cubicBezTo>
                  <a:pt x="401052" y="280466"/>
                  <a:pt x="412210" y="269194"/>
                  <a:pt x="426046" y="269123"/>
                </a:cubicBezTo>
                <a:cubicBezTo>
                  <a:pt x="426063" y="269123"/>
                  <a:pt x="426079" y="269123"/>
                  <a:pt x="426095" y="269123"/>
                </a:cubicBezTo>
                <a:close/>
                <a:moveTo>
                  <a:pt x="560149" y="269123"/>
                </a:moveTo>
                <a:cubicBezTo>
                  <a:pt x="574055" y="269042"/>
                  <a:pt x="585393" y="280249"/>
                  <a:pt x="585474" y="294155"/>
                </a:cubicBezTo>
                <a:cubicBezTo>
                  <a:pt x="585554" y="308060"/>
                  <a:pt x="574347" y="319398"/>
                  <a:pt x="560442" y="319479"/>
                </a:cubicBezTo>
                <a:cubicBezTo>
                  <a:pt x="546536" y="319560"/>
                  <a:pt x="535198" y="308353"/>
                  <a:pt x="535118" y="294447"/>
                </a:cubicBezTo>
                <a:cubicBezTo>
                  <a:pt x="535118" y="294399"/>
                  <a:pt x="535118" y="294350"/>
                  <a:pt x="535118" y="294301"/>
                </a:cubicBezTo>
                <a:cubicBezTo>
                  <a:pt x="535067" y="280446"/>
                  <a:pt x="546258" y="269173"/>
                  <a:pt x="560114" y="269123"/>
                </a:cubicBezTo>
                <a:cubicBezTo>
                  <a:pt x="560125" y="269123"/>
                  <a:pt x="560137" y="269123"/>
                  <a:pt x="560151" y="269123"/>
                </a:cubicBezTo>
                <a:close/>
                <a:moveTo>
                  <a:pt x="694142" y="269123"/>
                </a:moveTo>
                <a:cubicBezTo>
                  <a:pt x="708047" y="269009"/>
                  <a:pt x="719413" y="280188"/>
                  <a:pt x="719528" y="294093"/>
                </a:cubicBezTo>
                <a:cubicBezTo>
                  <a:pt x="719642" y="307999"/>
                  <a:pt x="708462" y="319364"/>
                  <a:pt x="694557" y="319478"/>
                </a:cubicBezTo>
                <a:cubicBezTo>
                  <a:pt x="680652" y="319592"/>
                  <a:pt x="669286" y="308413"/>
                  <a:pt x="669172" y="294508"/>
                </a:cubicBezTo>
                <a:cubicBezTo>
                  <a:pt x="669172" y="294439"/>
                  <a:pt x="669170" y="294370"/>
                  <a:pt x="669170" y="294301"/>
                </a:cubicBezTo>
                <a:cubicBezTo>
                  <a:pt x="669099" y="280466"/>
                  <a:pt x="680257" y="269194"/>
                  <a:pt x="694093" y="269123"/>
                </a:cubicBezTo>
                <a:cubicBezTo>
                  <a:pt x="694109" y="269123"/>
                  <a:pt x="694126" y="269123"/>
                  <a:pt x="694142" y="269123"/>
                </a:cubicBezTo>
                <a:close/>
                <a:moveTo>
                  <a:pt x="828013" y="-81"/>
                </a:moveTo>
                <a:cubicBezTo>
                  <a:pt x="841919" y="-61"/>
                  <a:pt x="853175" y="11228"/>
                  <a:pt x="853155" y="25134"/>
                </a:cubicBezTo>
                <a:cubicBezTo>
                  <a:pt x="853134" y="39040"/>
                  <a:pt x="841845" y="50296"/>
                  <a:pt x="827940" y="50276"/>
                </a:cubicBezTo>
                <a:cubicBezTo>
                  <a:pt x="814046" y="50256"/>
                  <a:pt x="802794" y="38985"/>
                  <a:pt x="802799" y="25091"/>
                </a:cubicBezTo>
                <a:cubicBezTo>
                  <a:pt x="802785" y="11192"/>
                  <a:pt x="814042" y="-86"/>
                  <a:pt x="827940" y="-99"/>
                </a:cubicBezTo>
                <a:cubicBezTo>
                  <a:pt x="827964" y="-99"/>
                  <a:pt x="827989" y="-99"/>
                  <a:pt x="828013" y="-99"/>
                </a:cubicBezTo>
                <a:close/>
                <a:moveTo>
                  <a:pt x="962006" y="-81"/>
                </a:moveTo>
                <a:cubicBezTo>
                  <a:pt x="975912" y="-94"/>
                  <a:pt x="987195" y="11168"/>
                  <a:pt x="987208" y="25073"/>
                </a:cubicBezTo>
                <a:cubicBezTo>
                  <a:pt x="987222" y="38979"/>
                  <a:pt x="975960" y="50263"/>
                  <a:pt x="962055" y="50276"/>
                </a:cubicBezTo>
                <a:cubicBezTo>
                  <a:pt x="948149" y="50289"/>
                  <a:pt x="936866" y="39028"/>
                  <a:pt x="936853" y="25122"/>
                </a:cubicBezTo>
                <a:cubicBezTo>
                  <a:pt x="936853" y="25112"/>
                  <a:pt x="936853" y="25102"/>
                  <a:pt x="936853" y="25091"/>
                </a:cubicBezTo>
                <a:cubicBezTo>
                  <a:pt x="936839" y="11192"/>
                  <a:pt x="948095" y="-86"/>
                  <a:pt x="961994" y="-99"/>
                </a:cubicBezTo>
                <a:cubicBezTo>
                  <a:pt x="961999" y="-99"/>
                  <a:pt x="962002" y="-99"/>
                  <a:pt x="962006" y="-99"/>
                </a:cubicBezTo>
                <a:close/>
                <a:moveTo>
                  <a:pt x="828013" y="134332"/>
                </a:moveTo>
                <a:cubicBezTo>
                  <a:pt x="842026" y="134245"/>
                  <a:pt x="853456" y="145534"/>
                  <a:pt x="853544" y="159547"/>
                </a:cubicBezTo>
                <a:cubicBezTo>
                  <a:pt x="853632" y="173560"/>
                  <a:pt x="842343" y="184991"/>
                  <a:pt x="828330" y="185078"/>
                </a:cubicBezTo>
                <a:cubicBezTo>
                  <a:pt x="814317" y="185166"/>
                  <a:pt x="802886" y="173877"/>
                  <a:pt x="802799" y="159864"/>
                </a:cubicBezTo>
                <a:cubicBezTo>
                  <a:pt x="802799" y="159811"/>
                  <a:pt x="802799" y="159758"/>
                  <a:pt x="802799" y="159706"/>
                </a:cubicBezTo>
                <a:cubicBezTo>
                  <a:pt x="802732" y="145750"/>
                  <a:pt x="813991" y="134382"/>
                  <a:pt x="827946" y="134314"/>
                </a:cubicBezTo>
                <a:cubicBezTo>
                  <a:pt x="827968" y="134314"/>
                  <a:pt x="827991" y="134314"/>
                  <a:pt x="828013" y="134314"/>
                </a:cubicBezTo>
                <a:close/>
                <a:moveTo>
                  <a:pt x="962006" y="134332"/>
                </a:moveTo>
                <a:cubicBezTo>
                  <a:pt x="976019" y="134211"/>
                  <a:pt x="987476" y="145473"/>
                  <a:pt x="987598" y="159485"/>
                </a:cubicBezTo>
                <a:cubicBezTo>
                  <a:pt x="987718" y="173498"/>
                  <a:pt x="976458" y="184956"/>
                  <a:pt x="962445" y="185077"/>
                </a:cubicBezTo>
                <a:cubicBezTo>
                  <a:pt x="948432" y="185198"/>
                  <a:pt x="936975" y="173937"/>
                  <a:pt x="936853" y="159924"/>
                </a:cubicBezTo>
                <a:cubicBezTo>
                  <a:pt x="936853" y="159851"/>
                  <a:pt x="936851" y="159778"/>
                  <a:pt x="936851" y="159706"/>
                </a:cubicBezTo>
                <a:cubicBezTo>
                  <a:pt x="936784" y="145749"/>
                  <a:pt x="948042" y="134381"/>
                  <a:pt x="961999" y="134314"/>
                </a:cubicBezTo>
                <a:cubicBezTo>
                  <a:pt x="962000" y="134314"/>
                  <a:pt x="962003" y="134314"/>
                  <a:pt x="962005" y="134314"/>
                </a:cubicBezTo>
                <a:close/>
                <a:moveTo>
                  <a:pt x="828013" y="269141"/>
                </a:moveTo>
                <a:cubicBezTo>
                  <a:pt x="841919" y="269162"/>
                  <a:pt x="853175" y="280451"/>
                  <a:pt x="853155" y="294356"/>
                </a:cubicBezTo>
                <a:cubicBezTo>
                  <a:pt x="853134" y="308262"/>
                  <a:pt x="841845" y="319518"/>
                  <a:pt x="827940" y="319498"/>
                </a:cubicBezTo>
                <a:cubicBezTo>
                  <a:pt x="814049" y="319478"/>
                  <a:pt x="802799" y="308211"/>
                  <a:pt x="802799" y="294320"/>
                </a:cubicBezTo>
                <a:cubicBezTo>
                  <a:pt x="802782" y="280421"/>
                  <a:pt x="814036" y="269140"/>
                  <a:pt x="827934" y="269123"/>
                </a:cubicBezTo>
                <a:cubicBezTo>
                  <a:pt x="827961" y="269123"/>
                  <a:pt x="827988" y="269123"/>
                  <a:pt x="828013" y="269123"/>
                </a:cubicBezTo>
                <a:close/>
                <a:moveTo>
                  <a:pt x="962006" y="269141"/>
                </a:moveTo>
                <a:cubicBezTo>
                  <a:pt x="975912" y="269128"/>
                  <a:pt x="987195" y="280390"/>
                  <a:pt x="987208" y="294295"/>
                </a:cubicBezTo>
                <a:cubicBezTo>
                  <a:pt x="987222" y="308201"/>
                  <a:pt x="975960" y="319485"/>
                  <a:pt x="962055" y="319498"/>
                </a:cubicBezTo>
                <a:cubicBezTo>
                  <a:pt x="948149" y="319512"/>
                  <a:pt x="936866" y="308250"/>
                  <a:pt x="936853" y="294344"/>
                </a:cubicBezTo>
                <a:cubicBezTo>
                  <a:pt x="936853" y="294336"/>
                  <a:pt x="936853" y="294328"/>
                  <a:pt x="936853" y="294320"/>
                </a:cubicBezTo>
                <a:cubicBezTo>
                  <a:pt x="936836" y="280421"/>
                  <a:pt x="948090" y="269140"/>
                  <a:pt x="961988" y="269123"/>
                </a:cubicBezTo>
                <a:cubicBezTo>
                  <a:pt x="961994" y="269123"/>
                  <a:pt x="962000" y="269123"/>
                  <a:pt x="962006" y="269123"/>
                </a:cubicBezTo>
                <a:close/>
                <a:moveTo>
                  <a:pt x="1096060" y="-63"/>
                </a:moveTo>
                <a:cubicBezTo>
                  <a:pt x="1109966" y="-42"/>
                  <a:pt x="1121222" y="11247"/>
                  <a:pt x="1121201" y="25152"/>
                </a:cubicBezTo>
                <a:cubicBezTo>
                  <a:pt x="1121181" y="39058"/>
                  <a:pt x="1109892" y="50314"/>
                  <a:pt x="1095987" y="50294"/>
                </a:cubicBezTo>
                <a:cubicBezTo>
                  <a:pt x="1082093" y="50274"/>
                  <a:pt x="1070841" y="39003"/>
                  <a:pt x="1070846" y="25110"/>
                </a:cubicBezTo>
                <a:cubicBezTo>
                  <a:pt x="1070822" y="11211"/>
                  <a:pt x="1082071" y="-76"/>
                  <a:pt x="1095969" y="-99"/>
                </a:cubicBezTo>
                <a:cubicBezTo>
                  <a:pt x="1095999" y="-99"/>
                  <a:pt x="1096030" y="-99"/>
                  <a:pt x="1096060" y="-99"/>
                </a:cubicBezTo>
                <a:close/>
                <a:moveTo>
                  <a:pt x="1230053" y="-63"/>
                </a:moveTo>
                <a:cubicBezTo>
                  <a:pt x="1243959" y="-76"/>
                  <a:pt x="1255242" y="11186"/>
                  <a:pt x="1255255" y="25091"/>
                </a:cubicBezTo>
                <a:cubicBezTo>
                  <a:pt x="1255269" y="38997"/>
                  <a:pt x="1244006" y="50281"/>
                  <a:pt x="1230102" y="50294"/>
                </a:cubicBezTo>
                <a:cubicBezTo>
                  <a:pt x="1216196" y="50308"/>
                  <a:pt x="1204913" y="39046"/>
                  <a:pt x="1204899" y="25140"/>
                </a:cubicBezTo>
                <a:cubicBezTo>
                  <a:pt x="1204899" y="25130"/>
                  <a:pt x="1204899" y="25120"/>
                  <a:pt x="1204899" y="25110"/>
                </a:cubicBezTo>
                <a:cubicBezTo>
                  <a:pt x="1204883" y="11204"/>
                  <a:pt x="1216142" y="-82"/>
                  <a:pt x="1230047" y="-99"/>
                </a:cubicBezTo>
                <a:cubicBezTo>
                  <a:pt x="1230048" y="-99"/>
                  <a:pt x="1230051" y="-99"/>
                  <a:pt x="1230053" y="-99"/>
                </a:cubicBezTo>
                <a:close/>
                <a:moveTo>
                  <a:pt x="1096060" y="134350"/>
                </a:moveTo>
                <a:cubicBezTo>
                  <a:pt x="1110073" y="134263"/>
                  <a:pt x="1121503" y="145552"/>
                  <a:pt x="1121591" y="159565"/>
                </a:cubicBezTo>
                <a:cubicBezTo>
                  <a:pt x="1121679" y="173578"/>
                  <a:pt x="1110390" y="185009"/>
                  <a:pt x="1096377" y="185096"/>
                </a:cubicBezTo>
                <a:cubicBezTo>
                  <a:pt x="1082364" y="185184"/>
                  <a:pt x="1070933" y="173895"/>
                  <a:pt x="1070846" y="159882"/>
                </a:cubicBezTo>
                <a:cubicBezTo>
                  <a:pt x="1070846" y="159829"/>
                  <a:pt x="1070846" y="159777"/>
                  <a:pt x="1070846" y="159724"/>
                </a:cubicBezTo>
                <a:cubicBezTo>
                  <a:pt x="1070768" y="145768"/>
                  <a:pt x="1082019" y="134392"/>
                  <a:pt x="1095975" y="134314"/>
                </a:cubicBezTo>
                <a:cubicBezTo>
                  <a:pt x="1096003" y="134314"/>
                  <a:pt x="1096032" y="134314"/>
                  <a:pt x="1096061" y="134314"/>
                </a:cubicBezTo>
                <a:close/>
                <a:moveTo>
                  <a:pt x="1230053" y="134350"/>
                </a:moveTo>
                <a:cubicBezTo>
                  <a:pt x="1244066" y="134229"/>
                  <a:pt x="1255523" y="145491"/>
                  <a:pt x="1255645" y="159504"/>
                </a:cubicBezTo>
                <a:cubicBezTo>
                  <a:pt x="1255765" y="173516"/>
                  <a:pt x="1244505" y="184974"/>
                  <a:pt x="1230491" y="185095"/>
                </a:cubicBezTo>
                <a:cubicBezTo>
                  <a:pt x="1216478" y="185217"/>
                  <a:pt x="1205021" y="173955"/>
                  <a:pt x="1204899" y="159942"/>
                </a:cubicBezTo>
                <a:cubicBezTo>
                  <a:pt x="1204899" y="159869"/>
                  <a:pt x="1204898" y="159797"/>
                  <a:pt x="1204898" y="159724"/>
                </a:cubicBezTo>
                <a:cubicBezTo>
                  <a:pt x="1204827" y="145761"/>
                  <a:pt x="1216089" y="134385"/>
                  <a:pt x="1230051" y="134314"/>
                </a:cubicBezTo>
                <a:cubicBezTo>
                  <a:pt x="1230051" y="134314"/>
                  <a:pt x="1230051" y="134314"/>
                  <a:pt x="1230051" y="134314"/>
                </a:cubicBezTo>
                <a:close/>
                <a:moveTo>
                  <a:pt x="1096060" y="269160"/>
                </a:moveTo>
                <a:cubicBezTo>
                  <a:pt x="1109966" y="269180"/>
                  <a:pt x="1121222" y="280469"/>
                  <a:pt x="1121201" y="294374"/>
                </a:cubicBezTo>
                <a:cubicBezTo>
                  <a:pt x="1121181" y="308280"/>
                  <a:pt x="1109892" y="319537"/>
                  <a:pt x="1095987" y="319516"/>
                </a:cubicBezTo>
                <a:cubicBezTo>
                  <a:pt x="1082096" y="319496"/>
                  <a:pt x="1070846" y="308229"/>
                  <a:pt x="1070846" y="294338"/>
                </a:cubicBezTo>
                <a:cubicBezTo>
                  <a:pt x="1070819" y="280439"/>
                  <a:pt x="1082065" y="269150"/>
                  <a:pt x="1095963" y="269123"/>
                </a:cubicBezTo>
                <a:cubicBezTo>
                  <a:pt x="1095996" y="269123"/>
                  <a:pt x="1096029" y="269123"/>
                  <a:pt x="1096061" y="269123"/>
                </a:cubicBezTo>
                <a:close/>
                <a:moveTo>
                  <a:pt x="1230053" y="269160"/>
                </a:moveTo>
                <a:cubicBezTo>
                  <a:pt x="1243959" y="269146"/>
                  <a:pt x="1255242" y="280408"/>
                  <a:pt x="1255255" y="294314"/>
                </a:cubicBezTo>
                <a:cubicBezTo>
                  <a:pt x="1255269" y="308219"/>
                  <a:pt x="1244006" y="319503"/>
                  <a:pt x="1230102" y="319517"/>
                </a:cubicBezTo>
                <a:cubicBezTo>
                  <a:pt x="1216196" y="319530"/>
                  <a:pt x="1204913" y="308268"/>
                  <a:pt x="1204899" y="294362"/>
                </a:cubicBezTo>
                <a:cubicBezTo>
                  <a:pt x="1204899" y="294354"/>
                  <a:pt x="1204899" y="294346"/>
                  <a:pt x="1204899" y="294338"/>
                </a:cubicBezTo>
                <a:cubicBezTo>
                  <a:pt x="1204879" y="280432"/>
                  <a:pt x="1216136" y="269143"/>
                  <a:pt x="1230041" y="269123"/>
                </a:cubicBezTo>
                <a:cubicBezTo>
                  <a:pt x="1230045" y="269123"/>
                  <a:pt x="1230048" y="269123"/>
                  <a:pt x="1230053" y="269123"/>
                </a:cubicBezTo>
                <a:close/>
                <a:moveTo>
                  <a:pt x="24239" y="403536"/>
                </a:moveTo>
                <a:cubicBezTo>
                  <a:pt x="38145" y="403556"/>
                  <a:pt x="49401" y="414845"/>
                  <a:pt x="49380" y="428751"/>
                </a:cubicBezTo>
                <a:cubicBezTo>
                  <a:pt x="49359" y="442657"/>
                  <a:pt x="38070" y="453913"/>
                  <a:pt x="24166" y="453893"/>
                </a:cubicBezTo>
                <a:cubicBezTo>
                  <a:pt x="10275" y="453873"/>
                  <a:pt x="-976" y="442606"/>
                  <a:pt x="-976" y="428714"/>
                </a:cubicBezTo>
                <a:cubicBezTo>
                  <a:pt x="-983" y="414815"/>
                  <a:pt x="10279" y="403543"/>
                  <a:pt x="24178" y="403536"/>
                </a:cubicBezTo>
                <a:cubicBezTo>
                  <a:pt x="24198" y="403536"/>
                  <a:pt x="24218" y="403536"/>
                  <a:pt x="24239" y="403536"/>
                </a:cubicBezTo>
                <a:close/>
                <a:moveTo>
                  <a:pt x="158231" y="403536"/>
                </a:moveTo>
                <a:cubicBezTo>
                  <a:pt x="172138" y="403523"/>
                  <a:pt x="183421" y="414785"/>
                  <a:pt x="183434" y="428690"/>
                </a:cubicBezTo>
                <a:cubicBezTo>
                  <a:pt x="183447" y="442596"/>
                  <a:pt x="172185" y="453880"/>
                  <a:pt x="158281" y="453893"/>
                </a:cubicBezTo>
                <a:cubicBezTo>
                  <a:pt x="144375" y="453906"/>
                  <a:pt x="133091" y="442645"/>
                  <a:pt x="133078" y="428739"/>
                </a:cubicBezTo>
                <a:cubicBezTo>
                  <a:pt x="133078" y="428731"/>
                  <a:pt x="133078" y="428723"/>
                  <a:pt x="133078" y="428715"/>
                </a:cubicBezTo>
                <a:cubicBezTo>
                  <a:pt x="133078" y="414818"/>
                  <a:pt x="144336" y="403549"/>
                  <a:pt x="158231" y="403536"/>
                </a:cubicBezTo>
                <a:close/>
                <a:moveTo>
                  <a:pt x="292285" y="403536"/>
                </a:moveTo>
                <a:cubicBezTo>
                  <a:pt x="306191" y="403556"/>
                  <a:pt x="317448" y="414845"/>
                  <a:pt x="317427" y="428751"/>
                </a:cubicBezTo>
                <a:cubicBezTo>
                  <a:pt x="317406" y="442657"/>
                  <a:pt x="306117" y="453913"/>
                  <a:pt x="292212" y="453893"/>
                </a:cubicBezTo>
                <a:cubicBezTo>
                  <a:pt x="278321" y="453873"/>
                  <a:pt x="267071" y="442606"/>
                  <a:pt x="267071" y="428714"/>
                </a:cubicBezTo>
                <a:cubicBezTo>
                  <a:pt x="267064" y="414815"/>
                  <a:pt x="278326" y="403543"/>
                  <a:pt x="292224" y="403536"/>
                </a:cubicBezTo>
                <a:cubicBezTo>
                  <a:pt x="292245" y="403536"/>
                  <a:pt x="292265" y="403536"/>
                  <a:pt x="292285" y="403536"/>
                </a:cubicBezTo>
                <a:close/>
                <a:moveTo>
                  <a:pt x="426095" y="403536"/>
                </a:moveTo>
                <a:cubicBezTo>
                  <a:pt x="440000" y="403422"/>
                  <a:pt x="451366" y="414601"/>
                  <a:pt x="451481" y="428507"/>
                </a:cubicBezTo>
                <a:cubicBezTo>
                  <a:pt x="451595" y="442412"/>
                  <a:pt x="440415" y="453777"/>
                  <a:pt x="426510" y="453891"/>
                </a:cubicBezTo>
                <a:cubicBezTo>
                  <a:pt x="412606" y="454005"/>
                  <a:pt x="401239" y="442826"/>
                  <a:pt x="401125" y="428921"/>
                </a:cubicBezTo>
                <a:cubicBezTo>
                  <a:pt x="401125" y="428852"/>
                  <a:pt x="401123" y="428783"/>
                  <a:pt x="401123" y="428714"/>
                </a:cubicBezTo>
                <a:cubicBezTo>
                  <a:pt x="401052" y="414879"/>
                  <a:pt x="412210" y="403607"/>
                  <a:pt x="426046" y="403536"/>
                </a:cubicBezTo>
                <a:cubicBezTo>
                  <a:pt x="426063" y="403536"/>
                  <a:pt x="426079" y="403536"/>
                  <a:pt x="426095" y="403536"/>
                </a:cubicBezTo>
                <a:close/>
                <a:moveTo>
                  <a:pt x="560149" y="403536"/>
                </a:moveTo>
                <a:cubicBezTo>
                  <a:pt x="574055" y="403455"/>
                  <a:pt x="585393" y="414662"/>
                  <a:pt x="585474" y="428568"/>
                </a:cubicBezTo>
                <a:cubicBezTo>
                  <a:pt x="585554" y="442473"/>
                  <a:pt x="574347" y="453811"/>
                  <a:pt x="560442" y="453892"/>
                </a:cubicBezTo>
                <a:cubicBezTo>
                  <a:pt x="546536" y="453973"/>
                  <a:pt x="535198" y="442766"/>
                  <a:pt x="535118" y="428860"/>
                </a:cubicBezTo>
                <a:cubicBezTo>
                  <a:pt x="535118" y="428812"/>
                  <a:pt x="535118" y="428763"/>
                  <a:pt x="535118" y="428715"/>
                </a:cubicBezTo>
                <a:cubicBezTo>
                  <a:pt x="535067" y="414859"/>
                  <a:pt x="546258" y="403587"/>
                  <a:pt x="560114" y="403536"/>
                </a:cubicBezTo>
                <a:cubicBezTo>
                  <a:pt x="560125" y="403536"/>
                  <a:pt x="560137" y="403536"/>
                  <a:pt x="560151" y="403536"/>
                </a:cubicBezTo>
                <a:close/>
                <a:moveTo>
                  <a:pt x="694142" y="403536"/>
                </a:moveTo>
                <a:cubicBezTo>
                  <a:pt x="708047" y="403422"/>
                  <a:pt x="719413" y="414601"/>
                  <a:pt x="719528" y="428507"/>
                </a:cubicBezTo>
                <a:cubicBezTo>
                  <a:pt x="719642" y="442412"/>
                  <a:pt x="708462" y="453777"/>
                  <a:pt x="694557" y="453891"/>
                </a:cubicBezTo>
                <a:cubicBezTo>
                  <a:pt x="680652" y="454005"/>
                  <a:pt x="669286" y="442826"/>
                  <a:pt x="669172" y="428921"/>
                </a:cubicBezTo>
                <a:cubicBezTo>
                  <a:pt x="669172" y="428852"/>
                  <a:pt x="669170" y="428783"/>
                  <a:pt x="669170" y="428714"/>
                </a:cubicBezTo>
                <a:cubicBezTo>
                  <a:pt x="669099" y="414879"/>
                  <a:pt x="680257" y="403607"/>
                  <a:pt x="694093" y="403536"/>
                </a:cubicBezTo>
                <a:cubicBezTo>
                  <a:pt x="694109" y="403536"/>
                  <a:pt x="694126" y="403536"/>
                  <a:pt x="694142" y="403536"/>
                </a:cubicBezTo>
                <a:close/>
                <a:moveTo>
                  <a:pt x="24239" y="537949"/>
                </a:moveTo>
                <a:cubicBezTo>
                  <a:pt x="38255" y="537858"/>
                  <a:pt x="49691" y="549147"/>
                  <a:pt x="49782" y="563164"/>
                </a:cubicBezTo>
                <a:cubicBezTo>
                  <a:pt x="49872" y="577180"/>
                  <a:pt x="38583" y="588616"/>
                  <a:pt x="24567" y="588707"/>
                </a:cubicBezTo>
                <a:cubicBezTo>
                  <a:pt x="10551" y="588798"/>
                  <a:pt x="-885" y="577509"/>
                  <a:pt x="-976" y="563493"/>
                </a:cubicBezTo>
                <a:cubicBezTo>
                  <a:pt x="-976" y="563436"/>
                  <a:pt x="-976" y="563379"/>
                  <a:pt x="-976" y="563322"/>
                </a:cubicBezTo>
                <a:cubicBezTo>
                  <a:pt x="-1032" y="549366"/>
                  <a:pt x="10234" y="538006"/>
                  <a:pt x="24190" y="537949"/>
                </a:cubicBezTo>
                <a:cubicBezTo>
                  <a:pt x="24206" y="537949"/>
                  <a:pt x="24222" y="537949"/>
                  <a:pt x="24239" y="537949"/>
                </a:cubicBezTo>
                <a:close/>
                <a:moveTo>
                  <a:pt x="158231" y="537949"/>
                </a:moveTo>
                <a:cubicBezTo>
                  <a:pt x="172248" y="537825"/>
                  <a:pt x="183711" y="549086"/>
                  <a:pt x="183835" y="563102"/>
                </a:cubicBezTo>
                <a:cubicBezTo>
                  <a:pt x="183960" y="577118"/>
                  <a:pt x="172698" y="588582"/>
                  <a:pt x="158682" y="588706"/>
                </a:cubicBezTo>
                <a:cubicBezTo>
                  <a:pt x="144666" y="588831"/>
                  <a:pt x="133203" y="577569"/>
                  <a:pt x="133078" y="563553"/>
                </a:cubicBezTo>
                <a:cubicBezTo>
                  <a:pt x="133078" y="563476"/>
                  <a:pt x="133077" y="563399"/>
                  <a:pt x="133077" y="563322"/>
                </a:cubicBezTo>
                <a:cubicBezTo>
                  <a:pt x="133026" y="549374"/>
                  <a:pt x="144282" y="538020"/>
                  <a:pt x="158230" y="537949"/>
                </a:cubicBezTo>
                <a:close/>
                <a:moveTo>
                  <a:pt x="292285" y="537949"/>
                </a:moveTo>
                <a:cubicBezTo>
                  <a:pt x="306301" y="537858"/>
                  <a:pt x="317738" y="549147"/>
                  <a:pt x="317828" y="563164"/>
                </a:cubicBezTo>
                <a:cubicBezTo>
                  <a:pt x="317919" y="577180"/>
                  <a:pt x="306630" y="588616"/>
                  <a:pt x="292614" y="588707"/>
                </a:cubicBezTo>
                <a:cubicBezTo>
                  <a:pt x="278598" y="588798"/>
                  <a:pt x="267162" y="577509"/>
                  <a:pt x="267071" y="563493"/>
                </a:cubicBezTo>
                <a:cubicBezTo>
                  <a:pt x="267071" y="563436"/>
                  <a:pt x="267071" y="563379"/>
                  <a:pt x="267071" y="563322"/>
                </a:cubicBezTo>
                <a:cubicBezTo>
                  <a:pt x="267014" y="549366"/>
                  <a:pt x="278281" y="538006"/>
                  <a:pt x="292236" y="537949"/>
                </a:cubicBezTo>
                <a:cubicBezTo>
                  <a:pt x="292253" y="537949"/>
                  <a:pt x="292269" y="537949"/>
                  <a:pt x="292285" y="537949"/>
                </a:cubicBezTo>
                <a:close/>
                <a:moveTo>
                  <a:pt x="426095" y="537949"/>
                </a:moveTo>
                <a:cubicBezTo>
                  <a:pt x="440110" y="537724"/>
                  <a:pt x="451655" y="548903"/>
                  <a:pt x="451879" y="562917"/>
                </a:cubicBezTo>
                <a:cubicBezTo>
                  <a:pt x="452105" y="576932"/>
                  <a:pt x="440926" y="588476"/>
                  <a:pt x="426912" y="588702"/>
                </a:cubicBezTo>
                <a:cubicBezTo>
                  <a:pt x="412897" y="588927"/>
                  <a:pt x="401352" y="577748"/>
                  <a:pt x="401128" y="563733"/>
                </a:cubicBezTo>
                <a:cubicBezTo>
                  <a:pt x="401126" y="563596"/>
                  <a:pt x="401125" y="563459"/>
                  <a:pt x="401125" y="563322"/>
                </a:cubicBezTo>
                <a:cubicBezTo>
                  <a:pt x="401003" y="549431"/>
                  <a:pt x="412167" y="538071"/>
                  <a:pt x="426058" y="537949"/>
                </a:cubicBezTo>
                <a:cubicBezTo>
                  <a:pt x="426072" y="537949"/>
                  <a:pt x="426083" y="537949"/>
                  <a:pt x="426097" y="537949"/>
                </a:cubicBezTo>
                <a:close/>
                <a:moveTo>
                  <a:pt x="560149" y="537949"/>
                </a:moveTo>
                <a:cubicBezTo>
                  <a:pt x="574165" y="537757"/>
                  <a:pt x="585682" y="548964"/>
                  <a:pt x="585874" y="562979"/>
                </a:cubicBezTo>
                <a:cubicBezTo>
                  <a:pt x="586065" y="576995"/>
                  <a:pt x="574860" y="588512"/>
                  <a:pt x="560844" y="588703"/>
                </a:cubicBezTo>
                <a:cubicBezTo>
                  <a:pt x="546828" y="588895"/>
                  <a:pt x="535311" y="577689"/>
                  <a:pt x="535119" y="563673"/>
                </a:cubicBezTo>
                <a:cubicBezTo>
                  <a:pt x="535118" y="563557"/>
                  <a:pt x="535116" y="563440"/>
                  <a:pt x="535116" y="563322"/>
                </a:cubicBezTo>
                <a:cubicBezTo>
                  <a:pt x="535015" y="549411"/>
                  <a:pt x="546210" y="538051"/>
                  <a:pt x="560122" y="537949"/>
                </a:cubicBezTo>
                <a:cubicBezTo>
                  <a:pt x="560131" y="537949"/>
                  <a:pt x="560139" y="537949"/>
                  <a:pt x="560148" y="537949"/>
                </a:cubicBezTo>
                <a:close/>
                <a:moveTo>
                  <a:pt x="694142" y="537949"/>
                </a:moveTo>
                <a:cubicBezTo>
                  <a:pt x="708157" y="537724"/>
                  <a:pt x="719701" y="548903"/>
                  <a:pt x="719926" y="562917"/>
                </a:cubicBezTo>
                <a:cubicBezTo>
                  <a:pt x="720152" y="576932"/>
                  <a:pt x="708973" y="588476"/>
                  <a:pt x="694958" y="588702"/>
                </a:cubicBezTo>
                <a:cubicBezTo>
                  <a:pt x="680944" y="588927"/>
                  <a:pt x="669399" y="577748"/>
                  <a:pt x="669175" y="563733"/>
                </a:cubicBezTo>
                <a:cubicBezTo>
                  <a:pt x="669173" y="563596"/>
                  <a:pt x="669172" y="563459"/>
                  <a:pt x="669172" y="563322"/>
                </a:cubicBezTo>
                <a:cubicBezTo>
                  <a:pt x="669050" y="549431"/>
                  <a:pt x="680214" y="538071"/>
                  <a:pt x="694105" y="537949"/>
                </a:cubicBezTo>
                <a:cubicBezTo>
                  <a:pt x="694118" y="537949"/>
                  <a:pt x="694130" y="537949"/>
                  <a:pt x="694144" y="537949"/>
                </a:cubicBezTo>
                <a:close/>
                <a:moveTo>
                  <a:pt x="24239" y="672758"/>
                </a:moveTo>
                <a:cubicBezTo>
                  <a:pt x="38145" y="672779"/>
                  <a:pt x="49401" y="684068"/>
                  <a:pt x="49380" y="697973"/>
                </a:cubicBezTo>
                <a:cubicBezTo>
                  <a:pt x="49359" y="711879"/>
                  <a:pt x="38070" y="723135"/>
                  <a:pt x="24166" y="723115"/>
                </a:cubicBezTo>
                <a:cubicBezTo>
                  <a:pt x="10275" y="723095"/>
                  <a:pt x="-976" y="711828"/>
                  <a:pt x="-976" y="697937"/>
                </a:cubicBezTo>
                <a:cubicBezTo>
                  <a:pt x="-983" y="684038"/>
                  <a:pt x="10279" y="672765"/>
                  <a:pt x="24178" y="672758"/>
                </a:cubicBezTo>
                <a:cubicBezTo>
                  <a:pt x="24198" y="672758"/>
                  <a:pt x="24218" y="672758"/>
                  <a:pt x="24239" y="672758"/>
                </a:cubicBezTo>
                <a:close/>
                <a:moveTo>
                  <a:pt x="158231" y="672758"/>
                </a:moveTo>
                <a:cubicBezTo>
                  <a:pt x="172138" y="672745"/>
                  <a:pt x="183421" y="684007"/>
                  <a:pt x="183434" y="697912"/>
                </a:cubicBezTo>
                <a:cubicBezTo>
                  <a:pt x="183447" y="711818"/>
                  <a:pt x="172185" y="723102"/>
                  <a:pt x="158281" y="723115"/>
                </a:cubicBezTo>
                <a:cubicBezTo>
                  <a:pt x="144375" y="723129"/>
                  <a:pt x="133091" y="711867"/>
                  <a:pt x="133078" y="697961"/>
                </a:cubicBezTo>
                <a:cubicBezTo>
                  <a:pt x="133078" y="697953"/>
                  <a:pt x="133078" y="697945"/>
                  <a:pt x="133078" y="697937"/>
                </a:cubicBezTo>
                <a:cubicBezTo>
                  <a:pt x="133078" y="684041"/>
                  <a:pt x="144336" y="672772"/>
                  <a:pt x="158231" y="672758"/>
                </a:cubicBezTo>
                <a:close/>
                <a:moveTo>
                  <a:pt x="292285" y="672758"/>
                </a:moveTo>
                <a:cubicBezTo>
                  <a:pt x="306191" y="672779"/>
                  <a:pt x="317448" y="684068"/>
                  <a:pt x="317427" y="697973"/>
                </a:cubicBezTo>
                <a:cubicBezTo>
                  <a:pt x="317406" y="711879"/>
                  <a:pt x="306117" y="723135"/>
                  <a:pt x="292212" y="723115"/>
                </a:cubicBezTo>
                <a:cubicBezTo>
                  <a:pt x="278321" y="723095"/>
                  <a:pt x="267071" y="711828"/>
                  <a:pt x="267071" y="697937"/>
                </a:cubicBezTo>
                <a:cubicBezTo>
                  <a:pt x="267064" y="684038"/>
                  <a:pt x="278326" y="672765"/>
                  <a:pt x="292224" y="672758"/>
                </a:cubicBezTo>
                <a:cubicBezTo>
                  <a:pt x="292245" y="672758"/>
                  <a:pt x="292265" y="672758"/>
                  <a:pt x="292285" y="672758"/>
                </a:cubicBezTo>
                <a:close/>
                <a:moveTo>
                  <a:pt x="426095" y="672758"/>
                </a:moveTo>
                <a:cubicBezTo>
                  <a:pt x="440000" y="672644"/>
                  <a:pt x="451366" y="683824"/>
                  <a:pt x="451481" y="697729"/>
                </a:cubicBezTo>
                <a:cubicBezTo>
                  <a:pt x="451595" y="711634"/>
                  <a:pt x="440415" y="722999"/>
                  <a:pt x="426510" y="723113"/>
                </a:cubicBezTo>
                <a:cubicBezTo>
                  <a:pt x="412606" y="723228"/>
                  <a:pt x="401239" y="712048"/>
                  <a:pt x="401125" y="698143"/>
                </a:cubicBezTo>
                <a:cubicBezTo>
                  <a:pt x="401125" y="698074"/>
                  <a:pt x="401123" y="698005"/>
                  <a:pt x="401123" y="697937"/>
                </a:cubicBezTo>
                <a:cubicBezTo>
                  <a:pt x="401052" y="684102"/>
                  <a:pt x="412210" y="672829"/>
                  <a:pt x="426046" y="672758"/>
                </a:cubicBezTo>
                <a:cubicBezTo>
                  <a:pt x="426063" y="672758"/>
                  <a:pt x="426079" y="672758"/>
                  <a:pt x="426095" y="672758"/>
                </a:cubicBezTo>
                <a:close/>
                <a:moveTo>
                  <a:pt x="560149" y="672758"/>
                </a:moveTo>
                <a:cubicBezTo>
                  <a:pt x="574055" y="672678"/>
                  <a:pt x="585393" y="683885"/>
                  <a:pt x="585474" y="697790"/>
                </a:cubicBezTo>
                <a:cubicBezTo>
                  <a:pt x="585554" y="711696"/>
                  <a:pt x="574347" y="723034"/>
                  <a:pt x="560442" y="723114"/>
                </a:cubicBezTo>
                <a:cubicBezTo>
                  <a:pt x="546536" y="723195"/>
                  <a:pt x="535198" y="711988"/>
                  <a:pt x="535118" y="698082"/>
                </a:cubicBezTo>
                <a:cubicBezTo>
                  <a:pt x="535118" y="698034"/>
                  <a:pt x="535118" y="697985"/>
                  <a:pt x="535118" y="697937"/>
                </a:cubicBezTo>
                <a:cubicBezTo>
                  <a:pt x="535067" y="684082"/>
                  <a:pt x="546258" y="672809"/>
                  <a:pt x="560114" y="672758"/>
                </a:cubicBezTo>
                <a:cubicBezTo>
                  <a:pt x="560125" y="672758"/>
                  <a:pt x="560137" y="672758"/>
                  <a:pt x="560151" y="672758"/>
                </a:cubicBezTo>
                <a:close/>
                <a:moveTo>
                  <a:pt x="694142" y="672758"/>
                </a:moveTo>
                <a:cubicBezTo>
                  <a:pt x="708047" y="672644"/>
                  <a:pt x="719413" y="683824"/>
                  <a:pt x="719528" y="697729"/>
                </a:cubicBezTo>
                <a:cubicBezTo>
                  <a:pt x="719642" y="711634"/>
                  <a:pt x="708462" y="722999"/>
                  <a:pt x="694557" y="723113"/>
                </a:cubicBezTo>
                <a:cubicBezTo>
                  <a:pt x="680652" y="723228"/>
                  <a:pt x="669286" y="712048"/>
                  <a:pt x="669172" y="698143"/>
                </a:cubicBezTo>
                <a:cubicBezTo>
                  <a:pt x="669172" y="698074"/>
                  <a:pt x="669170" y="698005"/>
                  <a:pt x="669170" y="697937"/>
                </a:cubicBezTo>
                <a:cubicBezTo>
                  <a:pt x="669099" y="684102"/>
                  <a:pt x="680257" y="672829"/>
                  <a:pt x="694093" y="672758"/>
                </a:cubicBezTo>
                <a:cubicBezTo>
                  <a:pt x="694109" y="672758"/>
                  <a:pt x="694126" y="672758"/>
                  <a:pt x="694142" y="672758"/>
                </a:cubicBezTo>
                <a:close/>
                <a:moveTo>
                  <a:pt x="828013" y="403554"/>
                </a:moveTo>
                <a:cubicBezTo>
                  <a:pt x="841919" y="403575"/>
                  <a:pt x="853175" y="414864"/>
                  <a:pt x="853155" y="428769"/>
                </a:cubicBezTo>
                <a:cubicBezTo>
                  <a:pt x="853134" y="442675"/>
                  <a:pt x="841845" y="453932"/>
                  <a:pt x="827940" y="453911"/>
                </a:cubicBezTo>
                <a:cubicBezTo>
                  <a:pt x="814049" y="453891"/>
                  <a:pt x="802799" y="442624"/>
                  <a:pt x="802799" y="428733"/>
                </a:cubicBezTo>
                <a:cubicBezTo>
                  <a:pt x="802782" y="414834"/>
                  <a:pt x="814036" y="403553"/>
                  <a:pt x="827934" y="403536"/>
                </a:cubicBezTo>
                <a:cubicBezTo>
                  <a:pt x="827961" y="403536"/>
                  <a:pt x="827988" y="403536"/>
                  <a:pt x="828013" y="403536"/>
                </a:cubicBezTo>
                <a:close/>
                <a:moveTo>
                  <a:pt x="962006" y="403554"/>
                </a:moveTo>
                <a:cubicBezTo>
                  <a:pt x="975912" y="403541"/>
                  <a:pt x="987195" y="414803"/>
                  <a:pt x="987208" y="428709"/>
                </a:cubicBezTo>
                <a:cubicBezTo>
                  <a:pt x="987222" y="442614"/>
                  <a:pt x="975960" y="453898"/>
                  <a:pt x="962055" y="453911"/>
                </a:cubicBezTo>
                <a:cubicBezTo>
                  <a:pt x="948149" y="453925"/>
                  <a:pt x="936866" y="442663"/>
                  <a:pt x="936853" y="428757"/>
                </a:cubicBezTo>
                <a:cubicBezTo>
                  <a:pt x="936853" y="428749"/>
                  <a:pt x="936853" y="428741"/>
                  <a:pt x="936853" y="428733"/>
                </a:cubicBezTo>
                <a:cubicBezTo>
                  <a:pt x="936836" y="414834"/>
                  <a:pt x="948090" y="403553"/>
                  <a:pt x="961988" y="403536"/>
                </a:cubicBezTo>
                <a:cubicBezTo>
                  <a:pt x="961994" y="403536"/>
                  <a:pt x="962000" y="403536"/>
                  <a:pt x="962006" y="403536"/>
                </a:cubicBezTo>
                <a:close/>
                <a:moveTo>
                  <a:pt x="828013" y="537968"/>
                </a:moveTo>
                <a:cubicBezTo>
                  <a:pt x="842029" y="537877"/>
                  <a:pt x="853465" y="549166"/>
                  <a:pt x="853556" y="563182"/>
                </a:cubicBezTo>
                <a:cubicBezTo>
                  <a:pt x="853647" y="577199"/>
                  <a:pt x="842358" y="588635"/>
                  <a:pt x="828342" y="588726"/>
                </a:cubicBezTo>
                <a:cubicBezTo>
                  <a:pt x="814326" y="588816"/>
                  <a:pt x="802889" y="577527"/>
                  <a:pt x="802799" y="563511"/>
                </a:cubicBezTo>
                <a:cubicBezTo>
                  <a:pt x="802799" y="563454"/>
                  <a:pt x="802799" y="563398"/>
                  <a:pt x="802799" y="563341"/>
                </a:cubicBezTo>
                <a:cubicBezTo>
                  <a:pt x="802732" y="549385"/>
                  <a:pt x="813991" y="538017"/>
                  <a:pt x="827946" y="537949"/>
                </a:cubicBezTo>
                <a:cubicBezTo>
                  <a:pt x="827968" y="537949"/>
                  <a:pt x="827991" y="537949"/>
                  <a:pt x="828013" y="537949"/>
                </a:cubicBezTo>
                <a:close/>
                <a:moveTo>
                  <a:pt x="962006" y="537968"/>
                </a:moveTo>
                <a:cubicBezTo>
                  <a:pt x="976022" y="537843"/>
                  <a:pt x="987485" y="549105"/>
                  <a:pt x="987610" y="563121"/>
                </a:cubicBezTo>
                <a:cubicBezTo>
                  <a:pt x="987735" y="577137"/>
                  <a:pt x="976473" y="588600"/>
                  <a:pt x="962457" y="588724"/>
                </a:cubicBezTo>
                <a:cubicBezTo>
                  <a:pt x="948440" y="588849"/>
                  <a:pt x="936977" y="577587"/>
                  <a:pt x="936853" y="563571"/>
                </a:cubicBezTo>
                <a:cubicBezTo>
                  <a:pt x="936853" y="563495"/>
                  <a:pt x="936851" y="563418"/>
                  <a:pt x="936851" y="563341"/>
                </a:cubicBezTo>
                <a:cubicBezTo>
                  <a:pt x="936784" y="549385"/>
                  <a:pt x="948042" y="538017"/>
                  <a:pt x="961999" y="537949"/>
                </a:cubicBezTo>
                <a:cubicBezTo>
                  <a:pt x="962000" y="537949"/>
                  <a:pt x="962003" y="537949"/>
                  <a:pt x="962005" y="537949"/>
                </a:cubicBezTo>
                <a:close/>
                <a:moveTo>
                  <a:pt x="828013" y="672777"/>
                </a:moveTo>
                <a:cubicBezTo>
                  <a:pt x="841919" y="672797"/>
                  <a:pt x="853175" y="684086"/>
                  <a:pt x="853155" y="697992"/>
                </a:cubicBezTo>
                <a:cubicBezTo>
                  <a:pt x="853134" y="711897"/>
                  <a:pt x="841845" y="723154"/>
                  <a:pt x="827940" y="723133"/>
                </a:cubicBezTo>
                <a:cubicBezTo>
                  <a:pt x="814049" y="723113"/>
                  <a:pt x="802799" y="711847"/>
                  <a:pt x="802799" y="697955"/>
                </a:cubicBezTo>
                <a:cubicBezTo>
                  <a:pt x="802782" y="684056"/>
                  <a:pt x="814036" y="672775"/>
                  <a:pt x="827934" y="672758"/>
                </a:cubicBezTo>
                <a:cubicBezTo>
                  <a:pt x="827961" y="672758"/>
                  <a:pt x="827988" y="672758"/>
                  <a:pt x="828013" y="672758"/>
                </a:cubicBezTo>
                <a:close/>
                <a:moveTo>
                  <a:pt x="962006" y="672777"/>
                </a:moveTo>
                <a:cubicBezTo>
                  <a:pt x="975912" y="672763"/>
                  <a:pt x="987195" y="684025"/>
                  <a:pt x="987208" y="697931"/>
                </a:cubicBezTo>
                <a:cubicBezTo>
                  <a:pt x="987222" y="711836"/>
                  <a:pt x="975960" y="723120"/>
                  <a:pt x="962055" y="723134"/>
                </a:cubicBezTo>
                <a:cubicBezTo>
                  <a:pt x="948149" y="723147"/>
                  <a:pt x="936866" y="711885"/>
                  <a:pt x="936853" y="697980"/>
                </a:cubicBezTo>
                <a:cubicBezTo>
                  <a:pt x="936853" y="697971"/>
                  <a:pt x="936853" y="697963"/>
                  <a:pt x="936853" y="697955"/>
                </a:cubicBezTo>
                <a:cubicBezTo>
                  <a:pt x="936836" y="684056"/>
                  <a:pt x="948090" y="672775"/>
                  <a:pt x="961988" y="672758"/>
                </a:cubicBezTo>
                <a:cubicBezTo>
                  <a:pt x="961994" y="672758"/>
                  <a:pt x="962000" y="672758"/>
                  <a:pt x="962006" y="672758"/>
                </a:cubicBezTo>
                <a:close/>
                <a:moveTo>
                  <a:pt x="1096060" y="403573"/>
                </a:moveTo>
                <a:cubicBezTo>
                  <a:pt x="1109966" y="403593"/>
                  <a:pt x="1121222" y="414882"/>
                  <a:pt x="1121201" y="428788"/>
                </a:cubicBezTo>
                <a:cubicBezTo>
                  <a:pt x="1121181" y="442693"/>
                  <a:pt x="1109892" y="453950"/>
                  <a:pt x="1095987" y="453929"/>
                </a:cubicBezTo>
                <a:cubicBezTo>
                  <a:pt x="1082096" y="453909"/>
                  <a:pt x="1070846" y="442643"/>
                  <a:pt x="1070846" y="428751"/>
                </a:cubicBezTo>
                <a:cubicBezTo>
                  <a:pt x="1070819" y="414852"/>
                  <a:pt x="1082065" y="403563"/>
                  <a:pt x="1095963" y="403536"/>
                </a:cubicBezTo>
                <a:cubicBezTo>
                  <a:pt x="1095996" y="403536"/>
                  <a:pt x="1096029" y="403536"/>
                  <a:pt x="1096061" y="403536"/>
                </a:cubicBezTo>
                <a:close/>
                <a:moveTo>
                  <a:pt x="1230053" y="403573"/>
                </a:moveTo>
                <a:cubicBezTo>
                  <a:pt x="1243959" y="403559"/>
                  <a:pt x="1255242" y="414821"/>
                  <a:pt x="1255255" y="428727"/>
                </a:cubicBezTo>
                <a:cubicBezTo>
                  <a:pt x="1255269" y="442632"/>
                  <a:pt x="1244006" y="453916"/>
                  <a:pt x="1230102" y="453930"/>
                </a:cubicBezTo>
                <a:cubicBezTo>
                  <a:pt x="1216196" y="453943"/>
                  <a:pt x="1204913" y="442681"/>
                  <a:pt x="1204899" y="428776"/>
                </a:cubicBezTo>
                <a:cubicBezTo>
                  <a:pt x="1204899" y="428767"/>
                  <a:pt x="1204899" y="428759"/>
                  <a:pt x="1204899" y="428751"/>
                </a:cubicBezTo>
                <a:cubicBezTo>
                  <a:pt x="1204879" y="414845"/>
                  <a:pt x="1216136" y="403556"/>
                  <a:pt x="1230041" y="403536"/>
                </a:cubicBezTo>
                <a:cubicBezTo>
                  <a:pt x="1230045" y="403536"/>
                  <a:pt x="1230048" y="403536"/>
                  <a:pt x="1230053" y="403536"/>
                </a:cubicBezTo>
                <a:close/>
                <a:moveTo>
                  <a:pt x="1096060" y="537986"/>
                </a:moveTo>
                <a:cubicBezTo>
                  <a:pt x="1110076" y="537895"/>
                  <a:pt x="1121512" y="549184"/>
                  <a:pt x="1121603" y="563200"/>
                </a:cubicBezTo>
                <a:cubicBezTo>
                  <a:pt x="1121694" y="577217"/>
                  <a:pt x="1110405" y="588653"/>
                  <a:pt x="1096389" y="588744"/>
                </a:cubicBezTo>
                <a:cubicBezTo>
                  <a:pt x="1082372" y="588835"/>
                  <a:pt x="1070936" y="577546"/>
                  <a:pt x="1070846" y="563529"/>
                </a:cubicBezTo>
                <a:cubicBezTo>
                  <a:pt x="1070846" y="563472"/>
                  <a:pt x="1070846" y="563416"/>
                  <a:pt x="1070846" y="563359"/>
                </a:cubicBezTo>
                <a:cubicBezTo>
                  <a:pt x="1070768" y="549403"/>
                  <a:pt x="1082019" y="538027"/>
                  <a:pt x="1095975" y="537950"/>
                </a:cubicBezTo>
                <a:cubicBezTo>
                  <a:pt x="1096003" y="537949"/>
                  <a:pt x="1096032" y="537949"/>
                  <a:pt x="1096061" y="537949"/>
                </a:cubicBezTo>
                <a:close/>
                <a:moveTo>
                  <a:pt x="1230053" y="537986"/>
                </a:moveTo>
                <a:cubicBezTo>
                  <a:pt x="1244069" y="537861"/>
                  <a:pt x="1255532" y="549123"/>
                  <a:pt x="1255657" y="563139"/>
                </a:cubicBezTo>
                <a:cubicBezTo>
                  <a:pt x="1255782" y="577155"/>
                  <a:pt x="1244519" y="588618"/>
                  <a:pt x="1230503" y="588743"/>
                </a:cubicBezTo>
                <a:cubicBezTo>
                  <a:pt x="1216487" y="588867"/>
                  <a:pt x="1205024" y="577606"/>
                  <a:pt x="1204899" y="563590"/>
                </a:cubicBezTo>
                <a:cubicBezTo>
                  <a:pt x="1204899" y="563513"/>
                  <a:pt x="1204898" y="563436"/>
                  <a:pt x="1204898" y="563359"/>
                </a:cubicBezTo>
                <a:cubicBezTo>
                  <a:pt x="1204827" y="549396"/>
                  <a:pt x="1216089" y="538020"/>
                  <a:pt x="1230051" y="537949"/>
                </a:cubicBezTo>
                <a:cubicBezTo>
                  <a:pt x="1230051" y="537949"/>
                  <a:pt x="1230051" y="537949"/>
                  <a:pt x="1230051" y="537949"/>
                </a:cubicBezTo>
                <a:close/>
                <a:moveTo>
                  <a:pt x="1096060" y="672795"/>
                </a:moveTo>
                <a:cubicBezTo>
                  <a:pt x="1109966" y="672815"/>
                  <a:pt x="1121222" y="684104"/>
                  <a:pt x="1121201" y="698010"/>
                </a:cubicBezTo>
                <a:cubicBezTo>
                  <a:pt x="1121181" y="711915"/>
                  <a:pt x="1109892" y="723172"/>
                  <a:pt x="1095987" y="723152"/>
                </a:cubicBezTo>
                <a:cubicBezTo>
                  <a:pt x="1082096" y="723132"/>
                  <a:pt x="1070846" y="711865"/>
                  <a:pt x="1070846" y="697973"/>
                </a:cubicBezTo>
                <a:cubicBezTo>
                  <a:pt x="1070819" y="684074"/>
                  <a:pt x="1082065" y="672785"/>
                  <a:pt x="1095963" y="672758"/>
                </a:cubicBezTo>
                <a:cubicBezTo>
                  <a:pt x="1095996" y="672758"/>
                  <a:pt x="1096029" y="672758"/>
                  <a:pt x="1096061" y="672758"/>
                </a:cubicBezTo>
                <a:close/>
                <a:moveTo>
                  <a:pt x="1230053" y="672795"/>
                </a:moveTo>
                <a:cubicBezTo>
                  <a:pt x="1243959" y="672781"/>
                  <a:pt x="1255242" y="684043"/>
                  <a:pt x="1255255" y="697949"/>
                </a:cubicBezTo>
                <a:cubicBezTo>
                  <a:pt x="1255269" y="711855"/>
                  <a:pt x="1244006" y="723138"/>
                  <a:pt x="1230102" y="723152"/>
                </a:cubicBezTo>
                <a:cubicBezTo>
                  <a:pt x="1216196" y="723165"/>
                  <a:pt x="1204913" y="711903"/>
                  <a:pt x="1204899" y="697998"/>
                </a:cubicBezTo>
                <a:cubicBezTo>
                  <a:pt x="1204899" y="697990"/>
                  <a:pt x="1204899" y="697982"/>
                  <a:pt x="1204899" y="697973"/>
                </a:cubicBezTo>
                <a:cubicBezTo>
                  <a:pt x="1204879" y="684068"/>
                  <a:pt x="1216136" y="672779"/>
                  <a:pt x="1230041" y="672758"/>
                </a:cubicBezTo>
                <a:cubicBezTo>
                  <a:pt x="1230045" y="672758"/>
                  <a:pt x="1230048" y="672758"/>
                  <a:pt x="1230053" y="672758"/>
                </a:cubicBezTo>
                <a:close/>
              </a:path>
            </a:pathLst>
          </a:custGeom>
          <a:solidFill>
            <a:srgbClr val="7ADCFF">
              <a:alpha val="50000"/>
            </a:srgbClr>
          </a:solidFill>
          <a:ln w="6088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8" name="任意多边形: 形状 10"/>
          <p:cNvSpPr/>
          <p:nvPr userDrawn="1"/>
        </p:nvSpPr>
        <p:spPr>
          <a:xfrm>
            <a:off x="789393" y="5994415"/>
            <a:ext cx="951654" cy="241065"/>
          </a:xfrm>
          <a:custGeom>
            <a:avLst/>
            <a:gdLst>
              <a:gd name="connsiteX0" fmla="*/ 18027 w 951654"/>
              <a:gd name="connsiteY0" fmla="*/ -100 h 241065"/>
              <a:gd name="connsiteX1" fmla="*/ 37090 w 951654"/>
              <a:gd name="connsiteY1" fmla="*/ 18903 h 241065"/>
              <a:gd name="connsiteX2" fmla="*/ 18088 w 951654"/>
              <a:gd name="connsiteY2" fmla="*/ 37966 h 241065"/>
              <a:gd name="connsiteX3" fmla="*/ -976 w 951654"/>
              <a:gd name="connsiteY3" fmla="*/ 18964 h 241065"/>
              <a:gd name="connsiteX4" fmla="*/ -976 w 951654"/>
              <a:gd name="connsiteY4" fmla="*/ 18903 h 241065"/>
              <a:gd name="connsiteX5" fmla="*/ 17917 w 951654"/>
              <a:gd name="connsiteY5" fmla="*/ -100 h 241065"/>
              <a:gd name="connsiteX6" fmla="*/ 18027 w 951654"/>
              <a:gd name="connsiteY6" fmla="*/ -100 h 241065"/>
              <a:gd name="connsiteX7" fmla="*/ 119557 w 951654"/>
              <a:gd name="connsiteY7" fmla="*/ -100 h 241065"/>
              <a:gd name="connsiteX8" fmla="*/ 138560 w 951654"/>
              <a:gd name="connsiteY8" fmla="*/ 18964 h 241065"/>
              <a:gd name="connsiteX9" fmla="*/ 119496 w 951654"/>
              <a:gd name="connsiteY9" fmla="*/ 37966 h 241065"/>
              <a:gd name="connsiteX10" fmla="*/ 100493 w 951654"/>
              <a:gd name="connsiteY10" fmla="*/ 18903 h 241065"/>
              <a:gd name="connsiteX11" fmla="*/ 119472 w 951654"/>
              <a:gd name="connsiteY11" fmla="*/ -100 h 241065"/>
              <a:gd name="connsiteX12" fmla="*/ 119557 w 951654"/>
              <a:gd name="connsiteY12" fmla="*/ -100 h 241065"/>
              <a:gd name="connsiteX13" fmla="*/ 221026 w 951654"/>
              <a:gd name="connsiteY13" fmla="*/ -100 h 241065"/>
              <a:gd name="connsiteX14" fmla="*/ 240090 w 951654"/>
              <a:gd name="connsiteY14" fmla="*/ 18903 h 241065"/>
              <a:gd name="connsiteX15" fmla="*/ 221087 w 951654"/>
              <a:gd name="connsiteY15" fmla="*/ 37966 h 241065"/>
              <a:gd name="connsiteX16" fmla="*/ 202024 w 951654"/>
              <a:gd name="connsiteY16" fmla="*/ 18964 h 241065"/>
              <a:gd name="connsiteX17" fmla="*/ 202024 w 951654"/>
              <a:gd name="connsiteY17" fmla="*/ 18903 h 241065"/>
              <a:gd name="connsiteX18" fmla="*/ 221026 w 951654"/>
              <a:gd name="connsiteY18" fmla="*/ -100 h 241065"/>
              <a:gd name="connsiteX19" fmla="*/ 322556 w 951654"/>
              <a:gd name="connsiteY19" fmla="*/ -100 h 241065"/>
              <a:gd name="connsiteX20" fmla="*/ 341620 w 951654"/>
              <a:gd name="connsiteY20" fmla="*/ 18903 h 241065"/>
              <a:gd name="connsiteX21" fmla="*/ 322617 w 951654"/>
              <a:gd name="connsiteY21" fmla="*/ 37966 h 241065"/>
              <a:gd name="connsiteX22" fmla="*/ 303553 w 951654"/>
              <a:gd name="connsiteY22" fmla="*/ 18964 h 241065"/>
              <a:gd name="connsiteX23" fmla="*/ 303553 w 951654"/>
              <a:gd name="connsiteY23" fmla="*/ 18903 h 241065"/>
              <a:gd name="connsiteX24" fmla="*/ 322556 w 951654"/>
              <a:gd name="connsiteY24" fmla="*/ -100 h 241065"/>
              <a:gd name="connsiteX25" fmla="*/ 424086 w 951654"/>
              <a:gd name="connsiteY25" fmla="*/ -100 h 241065"/>
              <a:gd name="connsiteX26" fmla="*/ 443089 w 951654"/>
              <a:gd name="connsiteY26" fmla="*/ 18964 h 241065"/>
              <a:gd name="connsiteX27" fmla="*/ 424025 w 951654"/>
              <a:gd name="connsiteY27" fmla="*/ 37966 h 241065"/>
              <a:gd name="connsiteX28" fmla="*/ 405023 w 951654"/>
              <a:gd name="connsiteY28" fmla="*/ 18903 h 241065"/>
              <a:gd name="connsiteX29" fmla="*/ 424001 w 951654"/>
              <a:gd name="connsiteY29" fmla="*/ -100 h 241065"/>
              <a:gd name="connsiteX30" fmla="*/ 424086 w 951654"/>
              <a:gd name="connsiteY30" fmla="*/ -100 h 241065"/>
              <a:gd name="connsiteX31" fmla="*/ 525556 w 951654"/>
              <a:gd name="connsiteY31" fmla="*/ -100 h 241065"/>
              <a:gd name="connsiteX32" fmla="*/ 544619 w 951654"/>
              <a:gd name="connsiteY32" fmla="*/ 18903 h 241065"/>
              <a:gd name="connsiteX33" fmla="*/ 525617 w 951654"/>
              <a:gd name="connsiteY33" fmla="*/ 37966 h 241065"/>
              <a:gd name="connsiteX34" fmla="*/ 506553 w 951654"/>
              <a:gd name="connsiteY34" fmla="*/ 18964 h 241065"/>
              <a:gd name="connsiteX35" fmla="*/ 506553 w 951654"/>
              <a:gd name="connsiteY35" fmla="*/ 18903 h 241065"/>
              <a:gd name="connsiteX36" fmla="*/ 525556 w 951654"/>
              <a:gd name="connsiteY36" fmla="*/ -100 h 241065"/>
              <a:gd name="connsiteX37" fmla="*/ 18027 w 951654"/>
              <a:gd name="connsiteY37" fmla="*/ 101369 h 241065"/>
              <a:gd name="connsiteX38" fmla="*/ 37090 w 951654"/>
              <a:gd name="connsiteY38" fmla="*/ 120372 h 241065"/>
              <a:gd name="connsiteX39" fmla="*/ 18088 w 951654"/>
              <a:gd name="connsiteY39" fmla="*/ 139436 h 241065"/>
              <a:gd name="connsiteX40" fmla="*/ -976 w 951654"/>
              <a:gd name="connsiteY40" fmla="*/ 120433 h 241065"/>
              <a:gd name="connsiteX41" fmla="*/ 17966 w 951654"/>
              <a:gd name="connsiteY41" fmla="*/ 101369 h 241065"/>
              <a:gd name="connsiteX42" fmla="*/ 18027 w 951654"/>
              <a:gd name="connsiteY42" fmla="*/ 101369 h 241065"/>
              <a:gd name="connsiteX43" fmla="*/ 119557 w 951654"/>
              <a:gd name="connsiteY43" fmla="*/ 101369 h 241065"/>
              <a:gd name="connsiteX44" fmla="*/ 138560 w 951654"/>
              <a:gd name="connsiteY44" fmla="*/ 120433 h 241065"/>
              <a:gd name="connsiteX45" fmla="*/ 119496 w 951654"/>
              <a:gd name="connsiteY45" fmla="*/ 139436 h 241065"/>
              <a:gd name="connsiteX46" fmla="*/ 100493 w 951654"/>
              <a:gd name="connsiteY46" fmla="*/ 120433 h 241065"/>
              <a:gd name="connsiteX47" fmla="*/ 119508 w 951654"/>
              <a:gd name="connsiteY47" fmla="*/ 101369 h 241065"/>
              <a:gd name="connsiteX48" fmla="*/ 119557 w 951654"/>
              <a:gd name="connsiteY48" fmla="*/ 101369 h 241065"/>
              <a:gd name="connsiteX49" fmla="*/ 221026 w 951654"/>
              <a:gd name="connsiteY49" fmla="*/ 101369 h 241065"/>
              <a:gd name="connsiteX50" fmla="*/ 240090 w 951654"/>
              <a:gd name="connsiteY50" fmla="*/ 120372 h 241065"/>
              <a:gd name="connsiteX51" fmla="*/ 221087 w 951654"/>
              <a:gd name="connsiteY51" fmla="*/ 139436 h 241065"/>
              <a:gd name="connsiteX52" fmla="*/ 202024 w 951654"/>
              <a:gd name="connsiteY52" fmla="*/ 120433 h 241065"/>
              <a:gd name="connsiteX53" fmla="*/ 221026 w 951654"/>
              <a:gd name="connsiteY53" fmla="*/ 101369 h 241065"/>
              <a:gd name="connsiteX54" fmla="*/ 322556 w 951654"/>
              <a:gd name="connsiteY54" fmla="*/ 101369 h 241065"/>
              <a:gd name="connsiteX55" fmla="*/ 341620 w 951654"/>
              <a:gd name="connsiteY55" fmla="*/ 120372 h 241065"/>
              <a:gd name="connsiteX56" fmla="*/ 322617 w 951654"/>
              <a:gd name="connsiteY56" fmla="*/ 139436 h 241065"/>
              <a:gd name="connsiteX57" fmla="*/ 303553 w 951654"/>
              <a:gd name="connsiteY57" fmla="*/ 120433 h 241065"/>
              <a:gd name="connsiteX58" fmla="*/ 322556 w 951654"/>
              <a:gd name="connsiteY58" fmla="*/ 101369 h 241065"/>
              <a:gd name="connsiteX59" fmla="*/ 424086 w 951654"/>
              <a:gd name="connsiteY59" fmla="*/ 101369 h 241065"/>
              <a:gd name="connsiteX60" fmla="*/ 443089 w 951654"/>
              <a:gd name="connsiteY60" fmla="*/ 120433 h 241065"/>
              <a:gd name="connsiteX61" fmla="*/ 424025 w 951654"/>
              <a:gd name="connsiteY61" fmla="*/ 139436 h 241065"/>
              <a:gd name="connsiteX62" fmla="*/ 405023 w 951654"/>
              <a:gd name="connsiteY62" fmla="*/ 120433 h 241065"/>
              <a:gd name="connsiteX63" fmla="*/ 424037 w 951654"/>
              <a:gd name="connsiteY63" fmla="*/ 101369 h 241065"/>
              <a:gd name="connsiteX64" fmla="*/ 424086 w 951654"/>
              <a:gd name="connsiteY64" fmla="*/ 101369 h 241065"/>
              <a:gd name="connsiteX65" fmla="*/ 525556 w 951654"/>
              <a:gd name="connsiteY65" fmla="*/ 101369 h 241065"/>
              <a:gd name="connsiteX66" fmla="*/ 544619 w 951654"/>
              <a:gd name="connsiteY66" fmla="*/ 120372 h 241065"/>
              <a:gd name="connsiteX67" fmla="*/ 525617 w 951654"/>
              <a:gd name="connsiteY67" fmla="*/ 139436 h 241065"/>
              <a:gd name="connsiteX68" fmla="*/ 506553 w 951654"/>
              <a:gd name="connsiteY68" fmla="*/ 120433 h 241065"/>
              <a:gd name="connsiteX69" fmla="*/ 525556 w 951654"/>
              <a:gd name="connsiteY69" fmla="*/ 101369 h 241065"/>
              <a:gd name="connsiteX70" fmla="*/ 18027 w 951654"/>
              <a:gd name="connsiteY70" fmla="*/ 202900 h 241065"/>
              <a:gd name="connsiteX71" fmla="*/ 37090 w 951654"/>
              <a:gd name="connsiteY71" fmla="*/ 221902 h 241065"/>
              <a:gd name="connsiteX72" fmla="*/ 18088 w 951654"/>
              <a:gd name="connsiteY72" fmla="*/ 240966 h 241065"/>
              <a:gd name="connsiteX73" fmla="*/ -976 w 951654"/>
              <a:gd name="connsiteY73" fmla="*/ 221963 h 241065"/>
              <a:gd name="connsiteX74" fmla="*/ -976 w 951654"/>
              <a:gd name="connsiteY74" fmla="*/ 221902 h 241065"/>
              <a:gd name="connsiteX75" fmla="*/ 18002 w 951654"/>
              <a:gd name="connsiteY75" fmla="*/ 202900 h 241065"/>
              <a:gd name="connsiteX76" fmla="*/ 18027 w 951654"/>
              <a:gd name="connsiteY76" fmla="*/ 202900 h 241065"/>
              <a:gd name="connsiteX77" fmla="*/ 119557 w 951654"/>
              <a:gd name="connsiteY77" fmla="*/ 202900 h 241065"/>
              <a:gd name="connsiteX78" fmla="*/ 138560 w 951654"/>
              <a:gd name="connsiteY78" fmla="*/ 221963 h 241065"/>
              <a:gd name="connsiteX79" fmla="*/ 119496 w 951654"/>
              <a:gd name="connsiteY79" fmla="*/ 240966 h 241065"/>
              <a:gd name="connsiteX80" fmla="*/ 100493 w 951654"/>
              <a:gd name="connsiteY80" fmla="*/ 221902 h 241065"/>
              <a:gd name="connsiteX81" fmla="*/ 119545 w 951654"/>
              <a:gd name="connsiteY81" fmla="*/ 202900 h 241065"/>
              <a:gd name="connsiteX82" fmla="*/ 119557 w 951654"/>
              <a:gd name="connsiteY82" fmla="*/ 202900 h 241065"/>
              <a:gd name="connsiteX83" fmla="*/ 221026 w 951654"/>
              <a:gd name="connsiteY83" fmla="*/ 202900 h 241065"/>
              <a:gd name="connsiteX84" fmla="*/ 240090 w 951654"/>
              <a:gd name="connsiteY84" fmla="*/ 221902 h 241065"/>
              <a:gd name="connsiteX85" fmla="*/ 221087 w 951654"/>
              <a:gd name="connsiteY85" fmla="*/ 240966 h 241065"/>
              <a:gd name="connsiteX86" fmla="*/ 202024 w 951654"/>
              <a:gd name="connsiteY86" fmla="*/ 221963 h 241065"/>
              <a:gd name="connsiteX87" fmla="*/ 202024 w 951654"/>
              <a:gd name="connsiteY87" fmla="*/ 221902 h 241065"/>
              <a:gd name="connsiteX88" fmla="*/ 221026 w 951654"/>
              <a:gd name="connsiteY88" fmla="*/ 202900 h 241065"/>
              <a:gd name="connsiteX89" fmla="*/ 322556 w 951654"/>
              <a:gd name="connsiteY89" fmla="*/ 202900 h 241065"/>
              <a:gd name="connsiteX90" fmla="*/ 341620 w 951654"/>
              <a:gd name="connsiteY90" fmla="*/ 221902 h 241065"/>
              <a:gd name="connsiteX91" fmla="*/ 322617 w 951654"/>
              <a:gd name="connsiteY91" fmla="*/ 240966 h 241065"/>
              <a:gd name="connsiteX92" fmla="*/ 303553 w 951654"/>
              <a:gd name="connsiteY92" fmla="*/ 221963 h 241065"/>
              <a:gd name="connsiteX93" fmla="*/ 303553 w 951654"/>
              <a:gd name="connsiteY93" fmla="*/ 221902 h 241065"/>
              <a:gd name="connsiteX94" fmla="*/ 322556 w 951654"/>
              <a:gd name="connsiteY94" fmla="*/ 202900 h 241065"/>
              <a:gd name="connsiteX95" fmla="*/ 424086 w 951654"/>
              <a:gd name="connsiteY95" fmla="*/ 202900 h 241065"/>
              <a:gd name="connsiteX96" fmla="*/ 443089 w 951654"/>
              <a:gd name="connsiteY96" fmla="*/ 221963 h 241065"/>
              <a:gd name="connsiteX97" fmla="*/ 424025 w 951654"/>
              <a:gd name="connsiteY97" fmla="*/ 240966 h 241065"/>
              <a:gd name="connsiteX98" fmla="*/ 405023 w 951654"/>
              <a:gd name="connsiteY98" fmla="*/ 221902 h 241065"/>
              <a:gd name="connsiteX99" fmla="*/ 424074 w 951654"/>
              <a:gd name="connsiteY99" fmla="*/ 202900 h 241065"/>
              <a:gd name="connsiteX100" fmla="*/ 424086 w 951654"/>
              <a:gd name="connsiteY100" fmla="*/ 202900 h 241065"/>
              <a:gd name="connsiteX101" fmla="*/ 525556 w 951654"/>
              <a:gd name="connsiteY101" fmla="*/ 202900 h 241065"/>
              <a:gd name="connsiteX102" fmla="*/ 544619 w 951654"/>
              <a:gd name="connsiteY102" fmla="*/ 221902 h 241065"/>
              <a:gd name="connsiteX103" fmla="*/ 525617 w 951654"/>
              <a:gd name="connsiteY103" fmla="*/ 240966 h 241065"/>
              <a:gd name="connsiteX104" fmla="*/ 506553 w 951654"/>
              <a:gd name="connsiteY104" fmla="*/ 221963 h 241065"/>
              <a:gd name="connsiteX105" fmla="*/ 506553 w 951654"/>
              <a:gd name="connsiteY105" fmla="*/ 221902 h 241065"/>
              <a:gd name="connsiteX106" fmla="*/ 525556 w 951654"/>
              <a:gd name="connsiteY106" fmla="*/ 202900 h 241065"/>
              <a:gd name="connsiteX107" fmla="*/ 627085 w 951654"/>
              <a:gd name="connsiteY107" fmla="*/ -100 h 241065"/>
              <a:gd name="connsiteX108" fmla="*/ 646149 w 951654"/>
              <a:gd name="connsiteY108" fmla="*/ 18903 h 241065"/>
              <a:gd name="connsiteX109" fmla="*/ 627146 w 951654"/>
              <a:gd name="connsiteY109" fmla="*/ 37966 h 241065"/>
              <a:gd name="connsiteX110" fmla="*/ 608083 w 951654"/>
              <a:gd name="connsiteY110" fmla="*/ 18964 h 241065"/>
              <a:gd name="connsiteX111" fmla="*/ 608083 w 951654"/>
              <a:gd name="connsiteY111" fmla="*/ 18903 h 241065"/>
              <a:gd name="connsiteX112" fmla="*/ 627085 w 951654"/>
              <a:gd name="connsiteY112" fmla="*/ -100 h 241065"/>
              <a:gd name="connsiteX113" fmla="*/ 728616 w 951654"/>
              <a:gd name="connsiteY113" fmla="*/ -100 h 241065"/>
              <a:gd name="connsiteX114" fmla="*/ 747618 w 951654"/>
              <a:gd name="connsiteY114" fmla="*/ 18964 h 241065"/>
              <a:gd name="connsiteX115" fmla="*/ 728555 w 951654"/>
              <a:gd name="connsiteY115" fmla="*/ 37966 h 241065"/>
              <a:gd name="connsiteX116" fmla="*/ 709552 w 951654"/>
              <a:gd name="connsiteY116" fmla="*/ 18903 h 241065"/>
              <a:gd name="connsiteX117" fmla="*/ 728445 w 951654"/>
              <a:gd name="connsiteY117" fmla="*/ -100 h 241065"/>
              <a:gd name="connsiteX118" fmla="*/ 728616 w 951654"/>
              <a:gd name="connsiteY118" fmla="*/ -100 h 241065"/>
              <a:gd name="connsiteX119" fmla="*/ 627085 w 951654"/>
              <a:gd name="connsiteY119" fmla="*/ 101369 h 241065"/>
              <a:gd name="connsiteX120" fmla="*/ 646149 w 951654"/>
              <a:gd name="connsiteY120" fmla="*/ 120372 h 241065"/>
              <a:gd name="connsiteX121" fmla="*/ 627146 w 951654"/>
              <a:gd name="connsiteY121" fmla="*/ 139436 h 241065"/>
              <a:gd name="connsiteX122" fmla="*/ 608083 w 951654"/>
              <a:gd name="connsiteY122" fmla="*/ 120433 h 241065"/>
              <a:gd name="connsiteX123" fmla="*/ 627085 w 951654"/>
              <a:gd name="connsiteY123" fmla="*/ 101369 h 241065"/>
              <a:gd name="connsiteX124" fmla="*/ 728616 w 951654"/>
              <a:gd name="connsiteY124" fmla="*/ 101369 h 241065"/>
              <a:gd name="connsiteX125" fmla="*/ 747618 w 951654"/>
              <a:gd name="connsiteY125" fmla="*/ 120433 h 241065"/>
              <a:gd name="connsiteX126" fmla="*/ 728555 w 951654"/>
              <a:gd name="connsiteY126" fmla="*/ 139436 h 241065"/>
              <a:gd name="connsiteX127" fmla="*/ 709552 w 951654"/>
              <a:gd name="connsiteY127" fmla="*/ 120433 h 241065"/>
              <a:gd name="connsiteX128" fmla="*/ 728494 w 951654"/>
              <a:gd name="connsiteY128" fmla="*/ 101369 h 241065"/>
              <a:gd name="connsiteX129" fmla="*/ 728616 w 951654"/>
              <a:gd name="connsiteY129" fmla="*/ 101369 h 241065"/>
              <a:gd name="connsiteX130" fmla="*/ 627085 w 951654"/>
              <a:gd name="connsiteY130" fmla="*/ 202900 h 241065"/>
              <a:gd name="connsiteX131" fmla="*/ 646149 w 951654"/>
              <a:gd name="connsiteY131" fmla="*/ 221902 h 241065"/>
              <a:gd name="connsiteX132" fmla="*/ 627146 w 951654"/>
              <a:gd name="connsiteY132" fmla="*/ 240966 h 241065"/>
              <a:gd name="connsiteX133" fmla="*/ 608083 w 951654"/>
              <a:gd name="connsiteY133" fmla="*/ 221963 h 241065"/>
              <a:gd name="connsiteX134" fmla="*/ 608083 w 951654"/>
              <a:gd name="connsiteY134" fmla="*/ 221902 h 241065"/>
              <a:gd name="connsiteX135" fmla="*/ 627085 w 951654"/>
              <a:gd name="connsiteY135" fmla="*/ 202900 h 241065"/>
              <a:gd name="connsiteX136" fmla="*/ 728616 w 951654"/>
              <a:gd name="connsiteY136" fmla="*/ 202900 h 241065"/>
              <a:gd name="connsiteX137" fmla="*/ 747618 w 951654"/>
              <a:gd name="connsiteY137" fmla="*/ 221963 h 241065"/>
              <a:gd name="connsiteX138" fmla="*/ 728555 w 951654"/>
              <a:gd name="connsiteY138" fmla="*/ 240966 h 241065"/>
              <a:gd name="connsiteX139" fmla="*/ 709552 w 951654"/>
              <a:gd name="connsiteY139" fmla="*/ 221902 h 241065"/>
              <a:gd name="connsiteX140" fmla="*/ 728530 w 951654"/>
              <a:gd name="connsiteY140" fmla="*/ 202900 h 241065"/>
              <a:gd name="connsiteX141" fmla="*/ 728616 w 951654"/>
              <a:gd name="connsiteY141" fmla="*/ 202900 h 241065"/>
              <a:gd name="connsiteX142" fmla="*/ 830146 w 951654"/>
              <a:gd name="connsiteY142" fmla="*/ -100 h 241065"/>
              <a:gd name="connsiteX143" fmla="*/ 849149 w 951654"/>
              <a:gd name="connsiteY143" fmla="*/ 18964 h 241065"/>
              <a:gd name="connsiteX144" fmla="*/ 830085 w 951654"/>
              <a:gd name="connsiteY144" fmla="*/ 37966 h 241065"/>
              <a:gd name="connsiteX145" fmla="*/ 811082 w 951654"/>
              <a:gd name="connsiteY145" fmla="*/ 18903 h 241065"/>
              <a:gd name="connsiteX146" fmla="*/ 830061 w 951654"/>
              <a:gd name="connsiteY146" fmla="*/ -100 h 241065"/>
              <a:gd name="connsiteX147" fmla="*/ 830146 w 951654"/>
              <a:gd name="connsiteY147" fmla="*/ -100 h 241065"/>
              <a:gd name="connsiteX148" fmla="*/ 931615 w 951654"/>
              <a:gd name="connsiteY148" fmla="*/ -100 h 241065"/>
              <a:gd name="connsiteX149" fmla="*/ 950678 w 951654"/>
              <a:gd name="connsiteY149" fmla="*/ 18903 h 241065"/>
              <a:gd name="connsiteX150" fmla="*/ 931676 w 951654"/>
              <a:gd name="connsiteY150" fmla="*/ 37966 h 241065"/>
              <a:gd name="connsiteX151" fmla="*/ 912612 w 951654"/>
              <a:gd name="connsiteY151" fmla="*/ 18964 h 241065"/>
              <a:gd name="connsiteX152" fmla="*/ 912612 w 951654"/>
              <a:gd name="connsiteY152" fmla="*/ 18903 h 241065"/>
              <a:gd name="connsiteX153" fmla="*/ 931615 w 951654"/>
              <a:gd name="connsiteY153" fmla="*/ -100 h 241065"/>
              <a:gd name="connsiteX154" fmla="*/ 830146 w 951654"/>
              <a:gd name="connsiteY154" fmla="*/ 101369 h 241065"/>
              <a:gd name="connsiteX155" fmla="*/ 849149 w 951654"/>
              <a:gd name="connsiteY155" fmla="*/ 120433 h 241065"/>
              <a:gd name="connsiteX156" fmla="*/ 830085 w 951654"/>
              <a:gd name="connsiteY156" fmla="*/ 139436 h 241065"/>
              <a:gd name="connsiteX157" fmla="*/ 811082 w 951654"/>
              <a:gd name="connsiteY157" fmla="*/ 120433 h 241065"/>
              <a:gd name="connsiteX158" fmla="*/ 830097 w 951654"/>
              <a:gd name="connsiteY158" fmla="*/ 101369 h 241065"/>
              <a:gd name="connsiteX159" fmla="*/ 830146 w 951654"/>
              <a:gd name="connsiteY159" fmla="*/ 101369 h 241065"/>
              <a:gd name="connsiteX160" fmla="*/ 931615 w 951654"/>
              <a:gd name="connsiteY160" fmla="*/ 101369 h 241065"/>
              <a:gd name="connsiteX161" fmla="*/ 950678 w 951654"/>
              <a:gd name="connsiteY161" fmla="*/ 120372 h 241065"/>
              <a:gd name="connsiteX162" fmla="*/ 931676 w 951654"/>
              <a:gd name="connsiteY162" fmla="*/ 139436 h 241065"/>
              <a:gd name="connsiteX163" fmla="*/ 912612 w 951654"/>
              <a:gd name="connsiteY163" fmla="*/ 120433 h 241065"/>
              <a:gd name="connsiteX164" fmla="*/ 931615 w 951654"/>
              <a:gd name="connsiteY164" fmla="*/ 101369 h 241065"/>
              <a:gd name="connsiteX165" fmla="*/ 830146 w 951654"/>
              <a:gd name="connsiteY165" fmla="*/ 202900 h 241065"/>
              <a:gd name="connsiteX166" fmla="*/ 849149 w 951654"/>
              <a:gd name="connsiteY166" fmla="*/ 221963 h 241065"/>
              <a:gd name="connsiteX167" fmla="*/ 830085 w 951654"/>
              <a:gd name="connsiteY167" fmla="*/ 240966 h 241065"/>
              <a:gd name="connsiteX168" fmla="*/ 811082 w 951654"/>
              <a:gd name="connsiteY168" fmla="*/ 221902 h 241065"/>
              <a:gd name="connsiteX169" fmla="*/ 830134 w 951654"/>
              <a:gd name="connsiteY169" fmla="*/ 202900 h 241065"/>
              <a:gd name="connsiteX170" fmla="*/ 830146 w 951654"/>
              <a:gd name="connsiteY170" fmla="*/ 202900 h 241065"/>
              <a:gd name="connsiteX171" fmla="*/ 931615 w 951654"/>
              <a:gd name="connsiteY171" fmla="*/ 202900 h 241065"/>
              <a:gd name="connsiteX172" fmla="*/ 950678 w 951654"/>
              <a:gd name="connsiteY172" fmla="*/ 221902 h 241065"/>
              <a:gd name="connsiteX173" fmla="*/ 931676 w 951654"/>
              <a:gd name="connsiteY173" fmla="*/ 240966 h 241065"/>
              <a:gd name="connsiteX174" fmla="*/ 912612 w 951654"/>
              <a:gd name="connsiteY174" fmla="*/ 221963 h 241065"/>
              <a:gd name="connsiteX175" fmla="*/ 912612 w 951654"/>
              <a:gd name="connsiteY175" fmla="*/ 221902 h 241065"/>
              <a:gd name="connsiteX176" fmla="*/ 931615 w 951654"/>
              <a:gd name="connsiteY176" fmla="*/ 202900 h 241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951654" h="241065">
                <a:moveTo>
                  <a:pt x="18027" y="-100"/>
                </a:moveTo>
                <a:cubicBezTo>
                  <a:pt x="28538" y="-117"/>
                  <a:pt x="37073" y="8391"/>
                  <a:pt x="37090" y="18903"/>
                </a:cubicBezTo>
                <a:cubicBezTo>
                  <a:pt x="37107" y="29414"/>
                  <a:pt x="28599" y="37949"/>
                  <a:pt x="18088" y="37966"/>
                </a:cubicBezTo>
                <a:cubicBezTo>
                  <a:pt x="7576" y="37983"/>
                  <a:pt x="-959" y="29475"/>
                  <a:pt x="-976" y="18964"/>
                </a:cubicBezTo>
                <a:cubicBezTo>
                  <a:pt x="-976" y="18944"/>
                  <a:pt x="-976" y="18923"/>
                  <a:pt x="-976" y="18903"/>
                </a:cubicBezTo>
                <a:cubicBezTo>
                  <a:pt x="-1006" y="8438"/>
                  <a:pt x="7452" y="-69"/>
                  <a:pt x="17917" y="-100"/>
                </a:cubicBezTo>
                <a:cubicBezTo>
                  <a:pt x="17953" y="-100"/>
                  <a:pt x="17990" y="-100"/>
                  <a:pt x="18027" y="-100"/>
                </a:cubicBezTo>
                <a:close/>
                <a:moveTo>
                  <a:pt x="119557" y="-100"/>
                </a:moveTo>
                <a:cubicBezTo>
                  <a:pt x="130068" y="-83"/>
                  <a:pt x="138577" y="8452"/>
                  <a:pt x="138560" y="18964"/>
                </a:cubicBezTo>
                <a:cubicBezTo>
                  <a:pt x="138543" y="29475"/>
                  <a:pt x="130008" y="37983"/>
                  <a:pt x="119496" y="37966"/>
                </a:cubicBezTo>
                <a:cubicBezTo>
                  <a:pt x="108985" y="37949"/>
                  <a:pt x="100476" y="29415"/>
                  <a:pt x="100493" y="18903"/>
                </a:cubicBezTo>
                <a:cubicBezTo>
                  <a:pt x="100487" y="8414"/>
                  <a:pt x="108983" y="-93"/>
                  <a:pt x="119472" y="-100"/>
                </a:cubicBezTo>
                <a:cubicBezTo>
                  <a:pt x="119500" y="-100"/>
                  <a:pt x="119529" y="-100"/>
                  <a:pt x="119557" y="-100"/>
                </a:cubicBezTo>
                <a:close/>
                <a:moveTo>
                  <a:pt x="221026" y="-100"/>
                </a:moveTo>
                <a:cubicBezTo>
                  <a:pt x="231538" y="-117"/>
                  <a:pt x="240073" y="8391"/>
                  <a:pt x="240090" y="18903"/>
                </a:cubicBezTo>
                <a:cubicBezTo>
                  <a:pt x="240107" y="29414"/>
                  <a:pt x="231599" y="37949"/>
                  <a:pt x="221087" y="37966"/>
                </a:cubicBezTo>
                <a:cubicBezTo>
                  <a:pt x="210576" y="37983"/>
                  <a:pt x="202041" y="29475"/>
                  <a:pt x="202024" y="18964"/>
                </a:cubicBezTo>
                <a:cubicBezTo>
                  <a:pt x="202024" y="18944"/>
                  <a:pt x="202024" y="18923"/>
                  <a:pt x="202024" y="18903"/>
                </a:cubicBezTo>
                <a:cubicBezTo>
                  <a:pt x="202024" y="8408"/>
                  <a:pt x="210531" y="-100"/>
                  <a:pt x="221026" y="-100"/>
                </a:cubicBezTo>
                <a:close/>
                <a:moveTo>
                  <a:pt x="322556" y="-100"/>
                </a:moveTo>
                <a:cubicBezTo>
                  <a:pt x="333067" y="-117"/>
                  <a:pt x="341602" y="8391"/>
                  <a:pt x="341620" y="18903"/>
                </a:cubicBezTo>
                <a:cubicBezTo>
                  <a:pt x="341637" y="29414"/>
                  <a:pt x="333128" y="37949"/>
                  <a:pt x="322617" y="37966"/>
                </a:cubicBezTo>
                <a:cubicBezTo>
                  <a:pt x="312106" y="37983"/>
                  <a:pt x="303571" y="29475"/>
                  <a:pt x="303553" y="18964"/>
                </a:cubicBezTo>
                <a:cubicBezTo>
                  <a:pt x="303553" y="18944"/>
                  <a:pt x="303553" y="18923"/>
                  <a:pt x="303553" y="18903"/>
                </a:cubicBezTo>
                <a:cubicBezTo>
                  <a:pt x="303553" y="8408"/>
                  <a:pt x="312061" y="-100"/>
                  <a:pt x="322556" y="-100"/>
                </a:cubicBezTo>
                <a:close/>
                <a:moveTo>
                  <a:pt x="424086" y="-100"/>
                </a:moveTo>
                <a:cubicBezTo>
                  <a:pt x="434598" y="-83"/>
                  <a:pt x="443106" y="8452"/>
                  <a:pt x="443089" y="18964"/>
                </a:cubicBezTo>
                <a:cubicBezTo>
                  <a:pt x="443072" y="29475"/>
                  <a:pt x="434537" y="37983"/>
                  <a:pt x="424025" y="37966"/>
                </a:cubicBezTo>
                <a:cubicBezTo>
                  <a:pt x="413514" y="37949"/>
                  <a:pt x="405006" y="29415"/>
                  <a:pt x="405023" y="18903"/>
                </a:cubicBezTo>
                <a:cubicBezTo>
                  <a:pt x="405016" y="8414"/>
                  <a:pt x="413513" y="-93"/>
                  <a:pt x="424001" y="-100"/>
                </a:cubicBezTo>
                <a:cubicBezTo>
                  <a:pt x="424029" y="-100"/>
                  <a:pt x="424058" y="-100"/>
                  <a:pt x="424086" y="-100"/>
                </a:cubicBezTo>
                <a:close/>
                <a:moveTo>
                  <a:pt x="525556" y="-100"/>
                </a:moveTo>
                <a:cubicBezTo>
                  <a:pt x="536067" y="-117"/>
                  <a:pt x="544602" y="8391"/>
                  <a:pt x="544619" y="18903"/>
                </a:cubicBezTo>
                <a:cubicBezTo>
                  <a:pt x="544636" y="29414"/>
                  <a:pt x="536128" y="37949"/>
                  <a:pt x="525617" y="37966"/>
                </a:cubicBezTo>
                <a:cubicBezTo>
                  <a:pt x="515105" y="37983"/>
                  <a:pt x="506570" y="29475"/>
                  <a:pt x="506553" y="18964"/>
                </a:cubicBezTo>
                <a:cubicBezTo>
                  <a:pt x="506553" y="18944"/>
                  <a:pt x="506553" y="18923"/>
                  <a:pt x="506553" y="18903"/>
                </a:cubicBezTo>
                <a:cubicBezTo>
                  <a:pt x="506553" y="8408"/>
                  <a:pt x="515061" y="-100"/>
                  <a:pt x="525556" y="-100"/>
                </a:cubicBezTo>
                <a:close/>
                <a:moveTo>
                  <a:pt x="18027" y="101369"/>
                </a:moveTo>
                <a:cubicBezTo>
                  <a:pt x="28538" y="101352"/>
                  <a:pt x="37073" y="109861"/>
                  <a:pt x="37090" y="120372"/>
                </a:cubicBezTo>
                <a:cubicBezTo>
                  <a:pt x="37107" y="130883"/>
                  <a:pt x="28599" y="139418"/>
                  <a:pt x="18088" y="139436"/>
                </a:cubicBezTo>
                <a:cubicBezTo>
                  <a:pt x="7576" y="139453"/>
                  <a:pt x="-959" y="130944"/>
                  <a:pt x="-976" y="120433"/>
                </a:cubicBezTo>
                <a:cubicBezTo>
                  <a:pt x="-1009" y="109938"/>
                  <a:pt x="7471" y="101403"/>
                  <a:pt x="17966" y="101369"/>
                </a:cubicBezTo>
                <a:cubicBezTo>
                  <a:pt x="17986" y="101369"/>
                  <a:pt x="18007" y="101369"/>
                  <a:pt x="18027" y="101369"/>
                </a:cubicBezTo>
                <a:close/>
                <a:moveTo>
                  <a:pt x="119557" y="101369"/>
                </a:moveTo>
                <a:cubicBezTo>
                  <a:pt x="130068" y="101387"/>
                  <a:pt x="138577" y="109921"/>
                  <a:pt x="138560" y="120433"/>
                </a:cubicBezTo>
                <a:cubicBezTo>
                  <a:pt x="138543" y="130944"/>
                  <a:pt x="130008" y="139453"/>
                  <a:pt x="119496" y="139436"/>
                </a:cubicBezTo>
                <a:cubicBezTo>
                  <a:pt x="109009" y="139418"/>
                  <a:pt x="100511" y="130920"/>
                  <a:pt x="100493" y="120433"/>
                </a:cubicBezTo>
                <a:cubicBezTo>
                  <a:pt x="100480" y="109918"/>
                  <a:pt x="108993" y="101383"/>
                  <a:pt x="119508" y="101369"/>
                </a:cubicBezTo>
                <a:cubicBezTo>
                  <a:pt x="119524" y="101369"/>
                  <a:pt x="119541" y="101369"/>
                  <a:pt x="119557" y="101369"/>
                </a:cubicBezTo>
                <a:close/>
                <a:moveTo>
                  <a:pt x="221026" y="101369"/>
                </a:moveTo>
                <a:cubicBezTo>
                  <a:pt x="231538" y="101352"/>
                  <a:pt x="240073" y="109861"/>
                  <a:pt x="240090" y="120372"/>
                </a:cubicBezTo>
                <a:cubicBezTo>
                  <a:pt x="240107" y="130883"/>
                  <a:pt x="231599" y="139418"/>
                  <a:pt x="221087" y="139436"/>
                </a:cubicBezTo>
                <a:cubicBezTo>
                  <a:pt x="210576" y="139453"/>
                  <a:pt x="202041" y="130944"/>
                  <a:pt x="202024" y="120433"/>
                </a:cubicBezTo>
                <a:cubicBezTo>
                  <a:pt x="202017" y="109925"/>
                  <a:pt x="210519" y="101396"/>
                  <a:pt x="221026" y="101369"/>
                </a:cubicBezTo>
                <a:close/>
                <a:moveTo>
                  <a:pt x="322556" y="101369"/>
                </a:moveTo>
                <a:cubicBezTo>
                  <a:pt x="333067" y="101352"/>
                  <a:pt x="341602" y="109861"/>
                  <a:pt x="341620" y="120372"/>
                </a:cubicBezTo>
                <a:cubicBezTo>
                  <a:pt x="341637" y="130883"/>
                  <a:pt x="333128" y="139418"/>
                  <a:pt x="322617" y="139436"/>
                </a:cubicBezTo>
                <a:cubicBezTo>
                  <a:pt x="312106" y="139453"/>
                  <a:pt x="303571" y="130944"/>
                  <a:pt x="303553" y="120433"/>
                </a:cubicBezTo>
                <a:cubicBezTo>
                  <a:pt x="303547" y="109925"/>
                  <a:pt x="312048" y="101396"/>
                  <a:pt x="322556" y="101369"/>
                </a:cubicBezTo>
                <a:close/>
                <a:moveTo>
                  <a:pt x="424086" y="101369"/>
                </a:moveTo>
                <a:cubicBezTo>
                  <a:pt x="434598" y="101387"/>
                  <a:pt x="443106" y="109921"/>
                  <a:pt x="443089" y="120433"/>
                </a:cubicBezTo>
                <a:cubicBezTo>
                  <a:pt x="443072" y="130944"/>
                  <a:pt x="434537" y="139453"/>
                  <a:pt x="424025" y="139436"/>
                </a:cubicBezTo>
                <a:cubicBezTo>
                  <a:pt x="413538" y="139418"/>
                  <a:pt x="405040" y="130920"/>
                  <a:pt x="405023" y="120433"/>
                </a:cubicBezTo>
                <a:cubicBezTo>
                  <a:pt x="405009" y="109918"/>
                  <a:pt x="413522" y="101383"/>
                  <a:pt x="424037" y="101369"/>
                </a:cubicBezTo>
                <a:cubicBezTo>
                  <a:pt x="424054" y="101369"/>
                  <a:pt x="424070" y="101369"/>
                  <a:pt x="424086" y="101369"/>
                </a:cubicBezTo>
                <a:close/>
                <a:moveTo>
                  <a:pt x="525556" y="101369"/>
                </a:moveTo>
                <a:cubicBezTo>
                  <a:pt x="536067" y="101352"/>
                  <a:pt x="544602" y="109861"/>
                  <a:pt x="544619" y="120372"/>
                </a:cubicBezTo>
                <a:cubicBezTo>
                  <a:pt x="544636" y="130883"/>
                  <a:pt x="536128" y="139418"/>
                  <a:pt x="525617" y="139436"/>
                </a:cubicBezTo>
                <a:cubicBezTo>
                  <a:pt x="515105" y="139453"/>
                  <a:pt x="506570" y="130944"/>
                  <a:pt x="506553" y="120433"/>
                </a:cubicBezTo>
                <a:cubicBezTo>
                  <a:pt x="506546" y="109925"/>
                  <a:pt x="515048" y="101396"/>
                  <a:pt x="525556" y="101369"/>
                </a:cubicBezTo>
                <a:close/>
                <a:moveTo>
                  <a:pt x="18027" y="202900"/>
                </a:moveTo>
                <a:cubicBezTo>
                  <a:pt x="28538" y="202883"/>
                  <a:pt x="37073" y="211391"/>
                  <a:pt x="37090" y="221902"/>
                </a:cubicBezTo>
                <a:cubicBezTo>
                  <a:pt x="37107" y="232414"/>
                  <a:pt x="28599" y="240949"/>
                  <a:pt x="18088" y="240966"/>
                </a:cubicBezTo>
                <a:cubicBezTo>
                  <a:pt x="7576" y="240983"/>
                  <a:pt x="-959" y="232475"/>
                  <a:pt x="-976" y="221963"/>
                </a:cubicBezTo>
                <a:cubicBezTo>
                  <a:pt x="-976" y="221943"/>
                  <a:pt x="-976" y="221922"/>
                  <a:pt x="-976" y="221902"/>
                </a:cubicBezTo>
                <a:cubicBezTo>
                  <a:pt x="-983" y="211414"/>
                  <a:pt x="7514" y="202906"/>
                  <a:pt x="18002" y="202900"/>
                </a:cubicBezTo>
                <a:cubicBezTo>
                  <a:pt x="18010" y="202900"/>
                  <a:pt x="18019" y="202900"/>
                  <a:pt x="18027" y="202900"/>
                </a:cubicBezTo>
                <a:close/>
                <a:moveTo>
                  <a:pt x="119557" y="202900"/>
                </a:moveTo>
                <a:cubicBezTo>
                  <a:pt x="130068" y="202917"/>
                  <a:pt x="138577" y="211451"/>
                  <a:pt x="138560" y="221963"/>
                </a:cubicBezTo>
                <a:cubicBezTo>
                  <a:pt x="138543" y="232475"/>
                  <a:pt x="130008" y="240983"/>
                  <a:pt x="119496" y="240966"/>
                </a:cubicBezTo>
                <a:cubicBezTo>
                  <a:pt x="108985" y="240949"/>
                  <a:pt x="100476" y="232414"/>
                  <a:pt x="100493" y="221902"/>
                </a:cubicBezTo>
                <a:cubicBezTo>
                  <a:pt x="100507" y="211394"/>
                  <a:pt x="109037" y="202886"/>
                  <a:pt x="119545" y="202900"/>
                </a:cubicBezTo>
                <a:cubicBezTo>
                  <a:pt x="119549" y="202900"/>
                  <a:pt x="119553" y="202900"/>
                  <a:pt x="119557" y="202900"/>
                </a:cubicBezTo>
                <a:close/>
                <a:moveTo>
                  <a:pt x="221026" y="202900"/>
                </a:moveTo>
                <a:cubicBezTo>
                  <a:pt x="231538" y="202883"/>
                  <a:pt x="240073" y="211391"/>
                  <a:pt x="240090" y="221902"/>
                </a:cubicBezTo>
                <a:cubicBezTo>
                  <a:pt x="240107" y="232414"/>
                  <a:pt x="231599" y="240949"/>
                  <a:pt x="221087" y="240966"/>
                </a:cubicBezTo>
                <a:cubicBezTo>
                  <a:pt x="210576" y="240983"/>
                  <a:pt x="202041" y="232475"/>
                  <a:pt x="202024" y="221963"/>
                </a:cubicBezTo>
                <a:cubicBezTo>
                  <a:pt x="202024" y="221943"/>
                  <a:pt x="202024" y="221922"/>
                  <a:pt x="202024" y="221902"/>
                </a:cubicBezTo>
                <a:cubicBezTo>
                  <a:pt x="202044" y="211416"/>
                  <a:pt x="210540" y="202920"/>
                  <a:pt x="221026" y="202900"/>
                </a:cubicBezTo>
                <a:close/>
                <a:moveTo>
                  <a:pt x="322556" y="202900"/>
                </a:moveTo>
                <a:cubicBezTo>
                  <a:pt x="333067" y="202883"/>
                  <a:pt x="341602" y="211391"/>
                  <a:pt x="341620" y="221902"/>
                </a:cubicBezTo>
                <a:cubicBezTo>
                  <a:pt x="341637" y="232414"/>
                  <a:pt x="333128" y="240949"/>
                  <a:pt x="322617" y="240966"/>
                </a:cubicBezTo>
                <a:cubicBezTo>
                  <a:pt x="312106" y="240983"/>
                  <a:pt x="303571" y="232475"/>
                  <a:pt x="303553" y="221963"/>
                </a:cubicBezTo>
                <a:cubicBezTo>
                  <a:pt x="303553" y="221943"/>
                  <a:pt x="303553" y="221922"/>
                  <a:pt x="303553" y="221902"/>
                </a:cubicBezTo>
                <a:cubicBezTo>
                  <a:pt x="303573" y="211416"/>
                  <a:pt x="312069" y="202920"/>
                  <a:pt x="322556" y="202900"/>
                </a:cubicBezTo>
                <a:close/>
                <a:moveTo>
                  <a:pt x="424086" y="202900"/>
                </a:moveTo>
                <a:cubicBezTo>
                  <a:pt x="434598" y="202917"/>
                  <a:pt x="443106" y="211451"/>
                  <a:pt x="443089" y="221963"/>
                </a:cubicBezTo>
                <a:cubicBezTo>
                  <a:pt x="443072" y="232475"/>
                  <a:pt x="434537" y="240983"/>
                  <a:pt x="424025" y="240966"/>
                </a:cubicBezTo>
                <a:cubicBezTo>
                  <a:pt x="413514" y="240949"/>
                  <a:pt x="405006" y="232414"/>
                  <a:pt x="405023" y="221902"/>
                </a:cubicBezTo>
                <a:cubicBezTo>
                  <a:pt x="405036" y="211394"/>
                  <a:pt x="413566" y="202886"/>
                  <a:pt x="424074" y="202900"/>
                </a:cubicBezTo>
                <a:cubicBezTo>
                  <a:pt x="424078" y="202900"/>
                  <a:pt x="424083" y="202900"/>
                  <a:pt x="424086" y="202900"/>
                </a:cubicBezTo>
                <a:close/>
                <a:moveTo>
                  <a:pt x="525556" y="202900"/>
                </a:moveTo>
                <a:cubicBezTo>
                  <a:pt x="536067" y="202883"/>
                  <a:pt x="544602" y="211391"/>
                  <a:pt x="544619" y="221902"/>
                </a:cubicBezTo>
                <a:cubicBezTo>
                  <a:pt x="544636" y="232414"/>
                  <a:pt x="536128" y="240949"/>
                  <a:pt x="525617" y="240966"/>
                </a:cubicBezTo>
                <a:cubicBezTo>
                  <a:pt x="515105" y="240983"/>
                  <a:pt x="506570" y="232475"/>
                  <a:pt x="506553" y="221963"/>
                </a:cubicBezTo>
                <a:cubicBezTo>
                  <a:pt x="506553" y="221943"/>
                  <a:pt x="506553" y="221922"/>
                  <a:pt x="506553" y="221902"/>
                </a:cubicBezTo>
                <a:cubicBezTo>
                  <a:pt x="506573" y="211416"/>
                  <a:pt x="515069" y="202920"/>
                  <a:pt x="525556" y="202900"/>
                </a:cubicBezTo>
                <a:close/>
                <a:moveTo>
                  <a:pt x="627085" y="-100"/>
                </a:moveTo>
                <a:cubicBezTo>
                  <a:pt x="637597" y="-117"/>
                  <a:pt x="646132" y="8391"/>
                  <a:pt x="646149" y="18903"/>
                </a:cubicBezTo>
                <a:cubicBezTo>
                  <a:pt x="646166" y="29414"/>
                  <a:pt x="637658" y="37949"/>
                  <a:pt x="627146" y="37966"/>
                </a:cubicBezTo>
                <a:cubicBezTo>
                  <a:pt x="616635" y="37983"/>
                  <a:pt x="608100" y="29475"/>
                  <a:pt x="608083" y="18964"/>
                </a:cubicBezTo>
                <a:cubicBezTo>
                  <a:pt x="608083" y="18944"/>
                  <a:pt x="608083" y="18923"/>
                  <a:pt x="608083" y="18903"/>
                </a:cubicBezTo>
                <a:cubicBezTo>
                  <a:pt x="608083" y="8408"/>
                  <a:pt x="616590" y="-100"/>
                  <a:pt x="627085" y="-100"/>
                </a:cubicBezTo>
                <a:close/>
                <a:moveTo>
                  <a:pt x="728616" y="-100"/>
                </a:moveTo>
                <a:cubicBezTo>
                  <a:pt x="739127" y="-83"/>
                  <a:pt x="747635" y="8452"/>
                  <a:pt x="747618" y="18964"/>
                </a:cubicBezTo>
                <a:cubicBezTo>
                  <a:pt x="747601" y="29475"/>
                  <a:pt x="739067" y="37983"/>
                  <a:pt x="728555" y="37966"/>
                </a:cubicBezTo>
                <a:cubicBezTo>
                  <a:pt x="718043" y="37949"/>
                  <a:pt x="709535" y="29415"/>
                  <a:pt x="709552" y="18903"/>
                </a:cubicBezTo>
                <a:cubicBezTo>
                  <a:pt x="709522" y="8438"/>
                  <a:pt x="717980" y="-69"/>
                  <a:pt x="728445" y="-100"/>
                </a:cubicBezTo>
                <a:cubicBezTo>
                  <a:pt x="728502" y="-100"/>
                  <a:pt x="728558" y="-100"/>
                  <a:pt x="728616" y="-100"/>
                </a:cubicBezTo>
                <a:close/>
                <a:moveTo>
                  <a:pt x="627085" y="101369"/>
                </a:moveTo>
                <a:cubicBezTo>
                  <a:pt x="637597" y="101352"/>
                  <a:pt x="646132" y="109861"/>
                  <a:pt x="646149" y="120372"/>
                </a:cubicBezTo>
                <a:cubicBezTo>
                  <a:pt x="646166" y="130883"/>
                  <a:pt x="637658" y="139418"/>
                  <a:pt x="627146" y="139436"/>
                </a:cubicBezTo>
                <a:cubicBezTo>
                  <a:pt x="616635" y="139453"/>
                  <a:pt x="608100" y="130944"/>
                  <a:pt x="608083" y="120433"/>
                </a:cubicBezTo>
                <a:cubicBezTo>
                  <a:pt x="608076" y="109925"/>
                  <a:pt x="616578" y="101396"/>
                  <a:pt x="627085" y="101369"/>
                </a:cubicBezTo>
                <a:close/>
                <a:moveTo>
                  <a:pt x="728616" y="101369"/>
                </a:moveTo>
                <a:cubicBezTo>
                  <a:pt x="739127" y="101387"/>
                  <a:pt x="747635" y="109921"/>
                  <a:pt x="747618" y="120433"/>
                </a:cubicBezTo>
                <a:cubicBezTo>
                  <a:pt x="747601" y="130944"/>
                  <a:pt x="739067" y="139453"/>
                  <a:pt x="728555" y="139436"/>
                </a:cubicBezTo>
                <a:cubicBezTo>
                  <a:pt x="718067" y="139418"/>
                  <a:pt x="709569" y="130920"/>
                  <a:pt x="709552" y="120433"/>
                </a:cubicBezTo>
                <a:cubicBezTo>
                  <a:pt x="709519" y="109938"/>
                  <a:pt x="717999" y="101403"/>
                  <a:pt x="728494" y="101369"/>
                </a:cubicBezTo>
                <a:cubicBezTo>
                  <a:pt x="728535" y="101369"/>
                  <a:pt x="728575" y="101369"/>
                  <a:pt x="728616" y="101369"/>
                </a:cubicBezTo>
                <a:close/>
                <a:moveTo>
                  <a:pt x="627085" y="202900"/>
                </a:moveTo>
                <a:cubicBezTo>
                  <a:pt x="637597" y="202883"/>
                  <a:pt x="646132" y="211391"/>
                  <a:pt x="646149" y="221902"/>
                </a:cubicBezTo>
                <a:cubicBezTo>
                  <a:pt x="646166" y="232414"/>
                  <a:pt x="637658" y="240949"/>
                  <a:pt x="627146" y="240966"/>
                </a:cubicBezTo>
                <a:cubicBezTo>
                  <a:pt x="616635" y="240983"/>
                  <a:pt x="608100" y="232475"/>
                  <a:pt x="608083" y="221963"/>
                </a:cubicBezTo>
                <a:cubicBezTo>
                  <a:pt x="608083" y="221943"/>
                  <a:pt x="608083" y="221922"/>
                  <a:pt x="608083" y="221902"/>
                </a:cubicBezTo>
                <a:cubicBezTo>
                  <a:pt x="608103" y="211416"/>
                  <a:pt x="616599" y="202920"/>
                  <a:pt x="627085" y="202900"/>
                </a:cubicBezTo>
                <a:close/>
                <a:moveTo>
                  <a:pt x="728616" y="202900"/>
                </a:moveTo>
                <a:cubicBezTo>
                  <a:pt x="739127" y="202917"/>
                  <a:pt x="747635" y="211451"/>
                  <a:pt x="747618" y="221963"/>
                </a:cubicBezTo>
                <a:cubicBezTo>
                  <a:pt x="747601" y="232475"/>
                  <a:pt x="739067" y="240983"/>
                  <a:pt x="728555" y="240966"/>
                </a:cubicBezTo>
                <a:cubicBezTo>
                  <a:pt x="718043" y="240949"/>
                  <a:pt x="709535" y="232414"/>
                  <a:pt x="709552" y="221902"/>
                </a:cubicBezTo>
                <a:cubicBezTo>
                  <a:pt x="709545" y="211414"/>
                  <a:pt x="718042" y="202906"/>
                  <a:pt x="728530" y="202900"/>
                </a:cubicBezTo>
                <a:cubicBezTo>
                  <a:pt x="728558" y="202900"/>
                  <a:pt x="728587" y="202900"/>
                  <a:pt x="728616" y="202900"/>
                </a:cubicBezTo>
                <a:close/>
                <a:moveTo>
                  <a:pt x="830146" y="-100"/>
                </a:moveTo>
                <a:cubicBezTo>
                  <a:pt x="840657" y="-83"/>
                  <a:pt x="849166" y="8452"/>
                  <a:pt x="849149" y="18964"/>
                </a:cubicBezTo>
                <a:cubicBezTo>
                  <a:pt x="849132" y="29475"/>
                  <a:pt x="840597" y="37983"/>
                  <a:pt x="830085" y="37966"/>
                </a:cubicBezTo>
                <a:cubicBezTo>
                  <a:pt x="819574" y="37949"/>
                  <a:pt x="811065" y="29415"/>
                  <a:pt x="811082" y="18903"/>
                </a:cubicBezTo>
                <a:cubicBezTo>
                  <a:pt x="811076" y="8414"/>
                  <a:pt x="819572" y="-93"/>
                  <a:pt x="830061" y="-100"/>
                </a:cubicBezTo>
                <a:cubicBezTo>
                  <a:pt x="830089" y="-100"/>
                  <a:pt x="830118" y="-100"/>
                  <a:pt x="830146" y="-100"/>
                </a:cubicBezTo>
                <a:close/>
                <a:moveTo>
                  <a:pt x="931615" y="-100"/>
                </a:moveTo>
                <a:cubicBezTo>
                  <a:pt x="942126" y="-117"/>
                  <a:pt x="950661" y="8391"/>
                  <a:pt x="950678" y="18903"/>
                </a:cubicBezTo>
                <a:cubicBezTo>
                  <a:pt x="950695" y="29414"/>
                  <a:pt x="942187" y="37949"/>
                  <a:pt x="931676" y="37966"/>
                </a:cubicBezTo>
                <a:cubicBezTo>
                  <a:pt x="921164" y="37983"/>
                  <a:pt x="912629" y="29475"/>
                  <a:pt x="912612" y="18964"/>
                </a:cubicBezTo>
                <a:cubicBezTo>
                  <a:pt x="912612" y="18944"/>
                  <a:pt x="912612" y="18923"/>
                  <a:pt x="912612" y="18903"/>
                </a:cubicBezTo>
                <a:cubicBezTo>
                  <a:pt x="912612" y="8408"/>
                  <a:pt x="921120" y="-100"/>
                  <a:pt x="931615" y="-100"/>
                </a:cubicBezTo>
                <a:close/>
                <a:moveTo>
                  <a:pt x="830146" y="101369"/>
                </a:moveTo>
                <a:cubicBezTo>
                  <a:pt x="840657" y="101387"/>
                  <a:pt x="849166" y="109921"/>
                  <a:pt x="849149" y="120433"/>
                </a:cubicBezTo>
                <a:cubicBezTo>
                  <a:pt x="849132" y="130944"/>
                  <a:pt x="840597" y="139453"/>
                  <a:pt x="830085" y="139436"/>
                </a:cubicBezTo>
                <a:cubicBezTo>
                  <a:pt x="819598" y="139418"/>
                  <a:pt x="811100" y="130920"/>
                  <a:pt x="811082" y="120433"/>
                </a:cubicBezTo>
                <a:cubicBezTo>
                  <a:pt x="811069" y="109918"/>
                  <a:pt x="819582" y="101383"/>
                  <a:pt x="830097" y="101369"/>
                </a:cubicBezTo>
                <a:cubicBezTo>
                  <a:pt x="830113" y="101369"/>
                  <a:pt x="830130" y="101369"/>
                  <a:pt x="830146" y="101369"/>
                </a:cubicBezTo>
                <a:close/>
                <a:moveTo>
                  <a:pt x="931615" y="101369"/>
                </a:moveTo>
                <a:cubicBezTo>
                  <a:pt x="942126" y="101352"/>
                  <a:pt x="950661" y="109861"/>
                  <a:pt x="950678" y="120372"/>
                </a:cubicBezTo>
                <a:cubicBezTo>
                  <a:pt x="950695" y="130883"/>
                  <a:pt x="942187" y="139418"/>
                  <a:pt x="931676" y="139436"/>
                </a:cubicBezTo>
                <a:cubicBezTo>
                  <a:pt x="921164" y="139453"/>
                  <a:pt x="912629" y="130944"/>
                  <a:pt x="912612" y="120433"/>
                </a:cubicBezTo>
                <a:cubicBezTo>
                  <a:pt x="912605" y="109925"/>
                  <a:pt x="921107" y="101396"/>
                  <a:pt x="931615" y="101369"/>
                </a:cubicBezTo>
                <a:close/>
                <a:moveTo>
                  <a:pt x="830146" y="202900"/>
                </a:moveTo>
                <a:cubicBezTo>
                  <a:pt x="840657" y="202917"/>
                  <a:pt x="849166" y="211451"/>
                  <a:pt x="849149" y="221963"/>
                </a:cubicBezTo>
                <a:cubicBezTo>
                  <a:pt x="849132" y="232475"/>
                  <a:pt x="840597" y="240983"/>
                  <a:pt x="830085" y="240966"/>
                </a:cubicBezTo>
                <a:cubicBezTo>
                  <a:pt x="819574" y="240949"/>
                  <a:pt x="811065" y="232414"/>
                  <a:pt x="811082" y="221902"/>
                </a:cubicBezTo>
                <a:cubicBezTo>
                  <a:pt x="811096" y="211394"/>
                  <a:pt x="819626" y="202886"/>
                  <a:pt x="830134" y="202900"/>
                </a:cubicBezTo>
                <a:cubicBezTo>
                  <a:pt x="830138" y="202900"/>
                  <a:pt x="830142" y="202900"/>
                  <a:pt x="830146" y="202900"/>
                </a:cubicBezTo>
                <a:close/>
                <a:moveTo>
                  <a:pt x="931615" y="202900"/>
                </a:moveTo>
                <a:cubicBezTo>
                  <a:pt x="942126" y="202883"/>
                  <a:pt x="950661" y="211391"/>
                  <a:pt x="950678" y="221902"/>
                </a:cubicBezTo>
                <a:cubicBezTo>
                  <a:pt x="950695" y="232414"/>
                  <a:pt x="942187" y="240949"/>
                  <a:pt x="931676" y="240966"/>
                </a:cubicBezTo>
                <a:cubicBezTo>
                  <a:pt x="921164" y="240983"/>
                  <a:pt x="912629" y="232475"/>
                  <a:pt x="912612" y="221963"/>
                </a:cubicBezTo>
                <a:cubicBezTo>
                  <a:pt x="912612" y="221943"/>
                  <a:pt x="912612" y="221922"/>
                  <a:pt x="912612" y="221902"/>
                </a:cubicBezTo>
                <a:cubicBezTo>
                  <a:pt x="912632" y="211416"/>
                  <a:pt x="921128" y="202920"/>
                  <a:pt x="931615" y="202900"/>
                </a:cubicBezTo>
                <a:close/>
              </a:path>
            </a:pathLst>
          </a:custGeom>
          <a:solidFill>
            <a:srgbClr val="7ADCFF"/>
          </a:solidFill>
          <a:ln w="6088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solidFill>
            <a:srgbClr val="2258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8582025" y="3263265"/>
            <a:ext cx="3070225" cy="3070225"/>
          </a:xfrm>
          <a:prstGeom prst="ellipse">
            <a:avLst/>
          </a:prstGeom>
          <a:gradFill>
            <a:gsLst>
              <a:gs pos="0">
                <a:srgbClr val="2258DA">
                  <a:alpha val="40000"/>
                </a:srgbClr>
              </a:gs>
              <a:gs pos="100000">
                <a:srgbClr val="082276">
                  <a:alpha val="30000"/>
                </a:srgbClr>
              </a:gs>
            </a:gsLst>
            <a:lin ang="4500000" scaled="0"/>
          </a:gradFill>
          <a:ln>
            <a:noFill/>
          </a:ln>
          <a:effectLst>
            <a:glow rad="127000">
              <a:schemeClr val="accent1">
                <a:satMod val="175000"/>
                <a:alpha val="5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4661535" y="0"/>
            <a:ext cx="5234305" cy="3429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243" h="5400">
                <a:moveTo>
                  <a:pt x="202" y="0"/>
                </a:moveTo>
                <a:lnTo>
                  <a:pt x="8041" y="0"/>
                </a:lnTo>
                <a:lnTo>
                  <a:pt x="8042" y="5"/>
                </a:lnTo>
                <a:cubicBezTo>
                  <a:pt x="8173" y="406"/>
                  <a:pt x="8243" y="834"/>
                  <a:pt x="8243" y="1279"/>
                </a:cubicBezTo>
                <a:cubicBezTo>
                  <a:pt x="8243" y="3555"/>
                  <a:pt x="6398" y="5400"/>
                  <a:pt x="4122" y="5400"/>
                </a:cubicBezTo>
                <a:cubicBezTo>
                  <a:pt x="1845" y="5400"/>
                  <a:pt x="0" y="3555"/>
                  <a:pt x="0" y="1279"/>
                </a:cubicBezTo>
                <a:cubicBezTo>
                  <a:pt x="0" y="834"/>
                  <a:pt x="70" y="406"/>
                  <a:pt x="201" y="5"/>
                </a:cubicBezTo>
                <a:lnTo>
                  <a:pt x="202" y="0"/>
                </a:lnTo>
                <a:close/>
              </a:path>
            </a:pathLst>
          </a:custGeom>
          <a:solidFill>
            <a:srgbClr val="3E6FE7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>
          <a:xfrm>
            <a:off x="0" y="4153535"/>
            <a:ext cx="2595880" cy="26924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088" h="4240">
                <a:moveTo>
                  <a:pt x="611" y="0"/>
                </a:moveTo>
                <a:cubicBezTo>
                  <a:pt x="2531" y="0"/>
                  <a:pt x="4088" y="1557"/>
                  <a:pt x="4088" y="3478"/>
                </a:cubicBezTo>
                <a:cubicBezTo>
                  <a:pt x="4088" y="3733"/>
                  <a:pt x="4061" y="3981"/>
                  <a:pt x="4008" y="4221"/>
                </a:cubicBezTo>
                <a:lnTo>
                  <a:pt x="4004" y="4240"/>
                </a:lnTo>
                <a:lnTo>
                  <a:pt x="0" y="4240"/>
                </a:lnTo>
                <a:lnTo>
                  <a:pt x="0" y="53"/>
                </a:lnTo>
                <a:lnTo>
                  <a:pt x="38" y="47"/>
                </a:lnTo>
                <a:cubicBezTo>
                  <a:pt x="224" y="16"/>
                  <a:pt x="415" y="0"/>
                  <a:pt x="611" y="0"/>
                </a:cubicBezTo>
                <a:close/>
              </a:path>
            </a:pathLst>
          </a:custGeom>
          <a:gradFill>
            <a:gsLst>
              <a:gs pos="0">
                <a:srgbClr val="0F41E2">
                  <a:alpha val="20000"/>
                </a:srgbClr>
              </a:gs>
              <a:gs pos="100000">
                <a:srgbClr val="082276">
                  <a:alpha val="30000"/>
                </a:srgbClr>
              </a:gs>
            </a:gsLst>
            <a:lin ang="45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407410" y="4940300"/>
            <a:ext cx="1419225" cy="1419225"/>
          </a:xfrm>
          <a:prstGeom prst="ellipse">
            <a:avLst/>
          </a:prstGeom>
          <a:solidFill>
            <a:srgbClr val="0F41E2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 userDrawn="1"/>
        </p:nvSpPr>
        <p:spPr>
          <a:xfrm>
            <a:off x="4151630" y="5157470"/>
            <a:ext cx="3070225" cy="16884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835" h="2659">
                <a:moveTo>
                  <a:pt x="2418" y="0"/>
                </a:moveTo>
                <a:cubicBezTo>
                  <a:pt x="3753" y="0"/>
                  <a:pt x="4835" y="1082"/>
                  <a:pt x="4835" y="2418"/>
                </a:cubicBezTo>
                <a:cubicBezTo>
                  <a:pt x="4835" y="2491"/>
                  <a:pt x="4832" y="2563"/>
                  <a:pt x="4825" y="2634"/>
                </a:cubicBezTo>
                <a:lnTo>
                  <a:pt x="4823" y="2659"/>
                </a:lnTo>
                <a:lnTo>
                  <a:pt x="12" y="2659"/>
                </a:lnTo>
                <a:lnTo>
                  <a:pt x="10" y="2634"/>
                </a:lnTo>
                <a:cubicBezTo>
                  <a:pt x="3" y="2563"/>
                  <a:pt x="0" y="2491"/>
                  <a:pt x="0" y="2418"/>
                </a:cubicBezTo>
                <a:cubicBezTo>
                  <a:pt x="0" y="1082"/>
                  <a:pt x="1082" y="0"/>
                  <a:pt x="2418" y="0"/>
                </a:cubicBezTo>
                <a:close/>
              </a:path>
            </a:pathLst>
          </a:custGeom>
          <a:gradFill>
            <a:gsLst>
              <a:gs pos="0">
                <a:srgbClr val="0F41E2">
                  <a:alpha val="40000"/>
                </a:srgbClr>
              </a:gs>
              <a:gs pos="100000">
                <a:srgbClr val="082276">
                  <a:alpha val="60000"/>
                </a:srgbClr>
              </a:gs>
            </a:gsLst>
            <a:lin ang="45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椭圆 20"/>
          <p:cNvSpPr/>
          <p:nvPr userDrawn="1"/>
        </p:nvSpPr>
        <p:spPr>
          <a:xfrm>
            <a:off x="10560685" y="641350"/>
            <a:ext cx="1191895" cy="1191895"/>
          </a:xfrm>
          <a:prstGeom prst="ellipse">
            <a:avLst/>
          </a:prstGeom>
          <a:solidFill>
            <a:srgbClr val="0F41E2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/>
        </p:nvSpPr>
        <p:spPr>
          <a:xfrm>
            <a:off x="5898515" y="1094105"/>
            <a:ext cx="5217160" cy="5217160"/>
          </a:xfrm>
          <a:prstGeom prst="ellipse">
            <a:avLst/>
          </a:prstGeom>
          <a:solidFill>
            <a:srgbClr val="0F41E2">
              <a:alpha val="1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 userDrawn="1"/>
        </p:nvSpPr>
        <p:spPr>
          <a:xfrm>
            <a:off x="3296920" y="0"/>
            <a:ext cx="2444115" cy="16344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49" h="2574">
                <a:moveTo>
                  <a:pt x="112" y="0"/>
                </a:moveTo>
                <a:lnTo>
                  <a:pt x="3737" y="0"/>
                </a:lnTo>
                <a:lnTo>
                  <a:pt x="3748" y="32"/>
                </a:lnTo>
                <a:cubicBezTo>
                  <a:pt x="3813" y="226"/>
                  <a:pt x="3849" y="434"/>
                  <a:pt x="3849" y="650"/>
                </a:cubicBezTo>
                <a:cubicBezTo>
                  <a:pt x="3849" y="1712"/>
                  <a:pt x="2987" y="2574"/>
                  <a:pt x="1925" y="2574"/>
                </a:cubicBezTo>
                <a:cubicBezTo>
                  <a:pt x="862" y="2574"/>
                  <a:pt x="0" y="1712"/>
                  <a:pt x="0" y="650"/>
                </a:cubicBezTo>
                <a:cubicBezTo>
                  <a:pt x="0" y="434"/>
                  <a:pt x="36" y="226"/>
                  <a:pt x="101" y="32"/>
                </a:cubicBezTo>
                <a:lnTo>
                  <a:pt x="112" y="0"/>
                </a:lnTo>
                <a:close/>
              </a:path>
            </a:pathLst>
          </a:custGeom>
          <a:gradFill>
            <a:gsLst>
              <a:gs pos="0">
                <a:srgbClr val="0F41E2">
                  <a:alpha val="20000"/>
                </a:srgbClr>
              </a:gs>
              <a:gs pos="100000">
                <a:srgbClr val="082276">
                  <a:alpha val="40000"/>
                </a:srgbClr>
              </a:gs>
            </a:gsLst>
            <a:lin ang="45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0800" y="1108075"/>
            <a:ext cx="5251450" cy="52514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花瓣素材_背景系列白色棉质纺织品背景_19388178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3241" b="35116"/>
          <a:stretch>
            <a:fillRect/>
          </a:stretch>
        </p:blipFill>
        <p:spPr>
          <a:xfrm>
            <a:off x="1270" y="0"/>
            <a:ext cx="12190730" cy="6858000"/>
          </a:xfrm>
          <a:prstGeom prst="rect">
            <a:avLst/>
          </a:prstGeom>
        </p:spPr>
      </p:pic>
      <p:sp>
        <p:nvSpPr>
          <p:cNvPr id="21" name="矩形 20"/>
          <p:cNvSpPr/>
          <p:nvPr userDrawn="1"/>
        </p:nvSpPr>
        <p:spPr>
          <a:xfrm>
            <a:off x="635" y="6563360"/>
            <a:ext cx="12191365" cy="294640"/>
          </a:xfrm>
          <a:prstGeom prst="rect">
            <a:avLst/>
          </a:prstGeom>
          <a:gradFill>
            <a:gsLst>
              <a:gs pos="0">
                <a:srgbClr val="04CF99">
                  <a:alpha val="100000"/>
                </a:srgbClr>
              </a:gs>
              <a:gs pos="93000">
                <a:srgbClr val="2135EB">
                  <a:alpha val="8000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9BD0FA">
                  <a:alpha val="3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5" name="图片 4" descr="全彩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9070" y="217805"/>
            <a:ext cx="1607820" cy="40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花瓣素材_背景系列白色棉质纺织品背景_193881787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3241" b="35116"/>
          <a:stretch>
            <a:fillRect/>
          </a:stretch>
        </p:blipFill>
        <p:spPr>
          <a:xfrm>
            <a:off x="1270" y="0"/>
            <a:ext cx="1219073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9BD0FA">
                  <a:alpha val="3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5" name="图片 4" descr="全彩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9070" y="217805"/>
            <a:ext cx="1607820" cy="40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7E8FE"/>
              </a:gs>
              <a:gs pos="100000">
                <a:srgbClr val="FAFCFF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7E8FE"/>
              </a:gs>
              <a:gs pos="100000">
                <a:srgbClr val="FAFCFF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rcRect l="19773" t="11209" r="19689" b="8690"/>
          <a:stretch>
            <a:fillRect/>
          </a:stretch>
        </p:blipFill>
        <p:spPr>
          <a:xfrm>
            <a:off x="6228080" y="334645"/>
            <a:ext cx="4578350" cy="6057900"/>
          </a:xfrm>
          <a:prstGeom prst="rect">
            <a:avLst/>
          </a:prstGeom>
        </p:spPr>
      </p:pic>
      <p:sp>
        <p:nvSpPr>
          <p:cNvPr id="7" name="任意多边形 6"/>
          <p:cNvSpPr/>
          <p:nvPr userDrawn="1"/>
        </p:nvSpPr>
        <p:spPr>
          <a:xfrm>
            <a:off x="0" y="0"/>
            <a:ext cx="12192635" cy="6858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1" h="10801">
                <a:moveTo>
                  <a:pt x="1524" y="396"/>
                </a:moveTo>
                <a:cubicBezTo>
                  <a:pt x="912" y="396"/>
                  <a:pt x="416" y="892"/>
                  <a:pt x="416" y="1504"/>
                </a:cubicBezTo>
                <a:lnTo>
                  <a:pt x="416" y="9298"/>
                </a:lnTo>
                <a:cubicBezTo>
                  <a:pt x="416" y="9909"/>
                  <a:pt x="912" y="10406"/>
                  <a:pt x="1524" y="10406"/>
                </a:cubicBezTo>
                <a:lnTo>
                  <a:pt x="17677" y="10406"/>
                </a:lnTo>
                <a:cubicBezTo>
                  <a:pt x="18289" y="10406"/>
                  <a:pt x="18785" y="9909"/>
                  <a:pt x="18785" y="9298"/>
                </a:cubicBezTo>
                <a:lnTo>
                  <a:pt x="18785" y="1504"/>
                </a:lnTo>
                <a:cubicBezTo>
                  <a:pt x="18785" y="892"/>
                  <a:pt x="18289" y="396"/>
                  <a:pt x="17677" y="396"/>
                </a:cubicBezTo>
                <a:lnTo>
                  <a:pt x="1524" y="396"/>
                </a:lnTo>
                <a:close/>
                <a:moveTo>
                  <a:pt x="0" y="0"/>
                </a:moveTo>
                <a:lnTo>
                  <a:pt x="19201" y="0"/>
                </a:lnTo>
                <a:lnTo>
                  <a:pt x="19201" y="10801"/>
                </a:lnTo>
                <a:lnTo>
                  <a:pt x="0" y="10801"/>
                </a:lnTo>
                <a:lnTo>
                  <a:pt x="0" y="0"/>
                </a:lnTo>
                <a:close/>
              </a:path>
            </a:pathLst>
          </a:custGeom>
          <a:solidFill>
            <a:srgbClr val="3671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7E8FE"/>
              </a:gs>
              <a:gs pos="100000">
                <a:srgbClr val="FAFCFF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横版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4645" y="236855"/>
            <a:ext cx="1342390" cy="340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摄图网_501683815_数字键盘特写(非企业商用)"/>
          <p:cNvPicPr>
            <a:picLocks noChangeAspect="1"/>
          </p:cNvPicPr>
          <p:nvPr userDrawn="1"/>
        </p:nvPicPr>
        <p:blipFill>
          <a:blip r:embed="rId2">
            <a:lum bright="36000" contrast="-24000"/>
          </a:blip>
          <a:srcRect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35"/>
            <a:ext cx="12191365" cy="6858000"/>
          </a:xfrm>
          <a:prstGeom prst="rect">
            <a:avLst/>
          </a:prstGeom>
          <a:solidFill>
            <a:schemeClr val="tx1"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全彩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9070" y="217805"/>
            <a:ext cx="1607820" cy="40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摄图网_500444067_科技程序(非企业商用)"/>
          <p:cNvPicPr>
            <a:picLocks noChangeAspect="1"/>
          </p:cNvPicPr>
          <p:nvPr userDrawn="1"/>
        </p:nvPicPr>
        <p:blipFill>
          <a:blip r:embed="rId2"/>
          <a:srcRect t="7813" b="7805"/>
          <a:stretch>
            <a:fillRect/>
          </a:stretch>
        </p:blipFill>
        <p:spPr>
          <a:xfrm>
            <a:off x="1270" y="0"/>
            <a:ext cx="1219073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35"/>
            <a:ext cx="12191365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全彩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9070" y="217805"/>
            <a:ext cx="1607820" cy="40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635" y="1743710"/>
            <a:ext cx="12190730" cy="5114925"/>
          </a:xfrm>
          <a:prstGeom prst="rect">
            <a:avLst/>
          </a:prstGeom>
          <a:gradFill>
            <a:gsLst>
              <a:gs pos="41000">
                <a:srgbClr val="1347B1">
                  <a:alpha val="0"/>
                </a:srgbClr>
              </a:gs>
              <a:gs pos="100000">
                <a:srgbClr val="1347B1">
                  <a:alpha val="53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48AAC2"/>
                  </a:gs>
                  <a:gs pos="57000">
                    <a:srgbClr val="5BB0C9">
                      <a:alpha val="48000"/>
                    </a:srgbClr>
                  </a:gs>
                  <a:gs pos="85000">
                    <a:srgbClr val="6EB5CF">
                      <a:alpha val="0"/>
                    </a:srgbClr>
                  </a:gs>
                </a:gsLst>
                <a:lin ang="5400000" scaled="0"/>
              </a:gradFill>
              <a:cs typeface="微软雅黑" panose="020B0503020204020204" charset="-122"/>
            </a:endParaRPr>
          </a:p>
        </p:txBody>
      </p:sp>
      <p:pic>
        <p:nvPicPr>
          <p:cNvPr id="2" name="图片 1" descr="摄图网_401071946_抽象几何线条数(非企业商用)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b="32037"/>
          <a:stretch>
            <a:fillRect/>
          </a:stretch>
        </p:blipFill>
        <p:spPr>
          <a:xfrm>
            <a:off x="1270" y="1432560"/>
            <a:ext cx="12230735" cy="5425440"/>
          </a:xfrm>
          <a:prstGeom prst="rect">
            <a:avLst/>
          </a:prstGeom>
        </p:spPr>
      </p:pic>
      <p:pic>
        <p:nvPicPr>
          <p:cNvPr id="5" name="图片 4" descr="全彩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9070" y="217805"/>
            <a:ext cx="1607820" cy="40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35" y="635"/>
            <a:ext cx="12190730" cy="6858000"/>
          </a:xfrm>
          <a:prstGeom prst="rect">
            <a:avLst/>
          </a:prstGeom>
          <a:gradFill>
            <a:gsLst>
              <a:gs pos="41000">
                <a:srgbClr val="1347B1">
                  <a:alpha val="0"/>
                </a:srgbClr>
              </a:gs>
              <a:gs pos="100000">
                <a:srgbClr val="1347B1">
                  <a:alpha val="53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48AAC2"/>
                  </a:gs>
                  <a:gs pos="57000">
                    <a:srgbClr val="5BB0C9">
                      <a:alpha val="48000"/>
                    </a:srgbClr>
                  </a:gs>
                  <a:gs pos="85000">
                    <a:srgbClr val="6EB5CF">
                      <a:alpha val="0"/>
                    </a:srgbClr>
                  </a:gs>
                </a:gsLst>
                <a:lin ang="5400000" scaled="0"/>
              </a:gradFill>
              <a:cs typeface="微软雅黑" panose="020B0503020204020204" charset="-122"/>
            </a:endParaRPr>
          </a:p>
        </p:txBody>
      </p:sp>
      <p:pic>
        <p:nvPicPr>
          <p:cNvPr id="3" name="图片 2" descr="全彩版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9070" y="217805"/>
            <a:ext cx="1607820" cy="40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ags" Target="../tags/tag21.xml"/><Relationship Id="rId18" Type="http://schemas.openxmlformats.org/officeDocument/2006/relationships/tags" Target="../tags/tag22.xml"/><Relationship Id="rId19" Type="http://schemas.openxmlformats.org/officeDocument/2006/relationships/tags" Target="../tags/tag23.xml"/><Relationship Id="rId20" Type="http://schemas.openxmlformats.org/officeDocument/2006/relationships/tags" Target="../tags/tag24.xml"/><Relationship Id="rId21" Type="http://schemas.openxmlformats.org/officeDocument/2006/relationships/tags" Target="../tags/tag25.xml"/><Relationship Id="rId22" Type="http://schemas.openxmlformats.org/officeDocument/2006/relationships/tags" Target="../tags/tag26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+mn-ea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+mn-ea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+mn-ea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+mn-ea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tags" Target="../tags/tag27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svg"/><Relationship Id="rId4" Type="http://schemas.openxmlformats.org/officeDocument/2006/relationships/image" Target="../media/image15.sv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svg"/><Relationship Id="rId4" Type="http://schemas.openxmlformats.org/officeDocument/2006/relationships/image" Target="../media/image15.svg"/><Relationship Id="rId5" Type="http://schemas.openxmlformats.org/officeDocument/2006/relationships/tags" Target="../tags/tag30.xml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tags" Target="../tags/tag31.xml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svg"/><Relationship Id="rId4" Type="http://schemas.openxmlformats.org/officeDocument/2006/relationships/image" Target="../media/image15.sv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23.png"/><Relationship Id="rId3" Type="http://schemas.openxmlformats.org/officeDocument/2006/relationships/image" Target="../media/image18.svg"/><Relationship Id="rId4" Type="http://schemas.openxmlformats.org/officeDocument/2006/relationships/image" Target="../media/image24.png"/><Relationship Id="rId5" Type="http://schemas.openxmlformats.org/officeDocument/2006/relationships/image" Target="../media/image20.svg"/><Relationship Id="rId6" Type="http://schemas.openxmlformats.org/officeDocument/2006/relationships/image" Target="../media/image25.png"/><Relationship Id="rId7" Type="http://schemas.openxmlformats.org/officeDocument/2006/relationships/image" Target="../media/image22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svg"/><Relationship Id="rId4" Type="http://schemas.openxmlformats.org/officeDocument/2006/relationships/tags" Target="../tags/tag33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tags" Target="../tags/tag3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tags" Target="../tags/tag35.xml"/><Relationship Id="rId6" Type="http://schemas.openxmlformats.org/officeDocument/2006/relationships/image" Target="../media/image32.png"/><Relationship Id="rId7" Type="http://schemas.openxmlformats.org/officeDocument/2006/relationships/tags" Target="../tags/tag36.xml"/><Relationship Id="rId8" Type="http://schemas.openxmlformats.org/officeDocument/2006/relationships/image" Target="../media/image33.png"/><Relationship Id="rId9" Type="http://schemas.openxmlformats.org/officeDocument/2006/relationships/tags" Target="../tags/tag37.xml"/><Relationship Id="rId10" Type="http://schemas.openxmlformats.org/officeDocument/2006/relationships/image" Target="../media/image34.png"/><Relationship Id="rId11" Type="http://schemas.openxmlformats.org/officeDocument/2006/relationships/tags" Target="../tags/tag38.xml"/><Relationship Id="rId12" Type="http://schemas.openxmlformats.org/officeDocument/2006/relationships/tags" Target="../tags/tag39.xml"/><Relationship Id="rId13" Type="http://schemas.openxmlformats.org/officeDocument/2006/relationships/image" Target="../media/image35.jpeg"/><Relationship Id="rId14" Type="http://schemas.openxmlformats.org/officeDocument/2006/relationships/tags" Target="../tags/tag40.xml"/><Relationship Id="rId15" Type="http://schemas.openxmlformats.org/officeDocument/2006/relationships/slideLayout" Target="../slideLayouts/slideLayout5.xml"/><Relationship Id="rId16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tags" Target="../tags/tag41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tags" Target="../tags/tag42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圆角矩形 17"/>
          <p:cNvSpPr/>
          <p:nvPr/>
        </p:nvSpPr>
        <p:spPr>
          <a:xfrm>
            <a:off x="1428115" y="4736465"/>
            <a:ext cx="3300095" cy="502285"/>
          </a:xfrm>
          <a:prstGeom prst="roundRect">
            <a:avLst>
              <a:gd name="adj" fmla="val 50000"/>
            </a:avLst>
          </a:prstGeom>
          <a:solidFill>
            <a:srgbClr val="15BAB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>
              <a:lnSpc>
                <a:spcPct val="10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渠道伙伴合作计划</a:t>
            </a:r>
            <a:endParaRPr lang="zh-CN" altLang="en-US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39495" y="1473200"/>
            <a:ext cx="981456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 b="1">
                <a:gradFill>
                  <a:gsLst>
                    <a:gs pos="0">
                      <a:schemeClr val="bg1">
                        <a:alpha val="10000"/>
                      </a:schemeClr>
                    </a:gs>
                    <a:gs pos="91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</a:rPr>
              <a:t>CHANNEL PLAN</a:t>
            </a:r>
            <a:endParaRPr lang="en-US" altLang="zh-CN" sz="8800" b="1">
              <a:gradFill>
                <a:gsLst>
                  <a:gs pos="0">
                    <a:schemeClr val="bg1">
                      <a:alpha val="10000"/>
                    </a:schemeClr>
                  </a:gs>
                  <a:gs pos="91000">
                    <a:schemeClr val="bg1">
                      <a:alpha val="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97940" y="2084705"/>
            <a:ext cx="765619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  <a:sym typeface="+mn-ea"/>
              </a:rPr>
              <a:t>渠道合作介绍</a:t>
            </a:r>
            <a:endParaRPr lang="zh-CN" altLang="en-US" sz="8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312545" y="3684270"/>
            <a:ext cx="6500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端木软件——与伙伴共建云服务生态</a:t>
            </a:r>
            <a:endParaRPr lang="zh-CN" altLang="en-US" sz="20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" name="图片 1" descr="反白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885" y="1066165"/>
            <a:ext cx="2326005" cy="589280"/>
          </a:xfrm>
          <a:prstGeom prst="rect">
            <a:avLst/>
          </a:prstGeom>
        </p:spPr>
      </p:pic>
      <p:sp>
        <p:nvSpPr>
          <p:cNvPr id="31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  <p:sp>
        <p:nvSpPr>
          <p:cNvPr id="32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46cfc68b73b2f430e98f3c4063b0677c6fa969024fd6-LhT6Ki_fw120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35" y="0"/>
            <a:ext cx="12191365" cy="6858000"/>
          </a:xfrm>
          <a:prstGeom prst="rect">
            <a:avLst/>
          </a:prstGeom>
          <a:gradFill>
            <a:gsLst>
              <a:gs pos="0">
                <a:srgbClr val="3671F6">
                  <a:alpha val="0"/>
                </a:srgbClr>
              </a:gs>
              <a:gs pos="100000">
                <a:srgbClr val="3671F6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680085" y="766445"/>
            <a:ext cx="5250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</a:rPr>
              <a:t>端木软件</a:t>
            </a:r>
            <a:endParaRPr lang="zh-CN" altLang="en-US" sz="5400" b="1">
              <a:solidFill>
                <a:schemeClr val="bg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80085" y="1748155"/>
            <a:ext cx="6021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专业的云计算及行业信息化服务提供商</a:t>
            </a:r>
            <a:endParaRPr lang="zh-CN" altLang="en-US" sz="2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0085" y="2559050"/>
            <a:ext cx="649605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端木软件是阿里云官方合作伙伴，火山引擎、华为</a:t>
            </a:r>
            <a:r>
              <a:rPr lang="zh-CN" altLang="en-US" sz="16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云渠道伙伴，深耕云计算与行业信息化服务10年，累计服务全国3000+企业客户。公司拥有150+人云服务团队与16大本地化服务中心，面向全国渠道伙伴开放产品代理、项目报备、售前售后支持、每周三线上赋能及MSP托管服务，与伙伴共享云与AI增长红利。</a:t>
            </a:r>
            <a:endParaRPr lang="zh-CN" altLang="en-US" sz="16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4540" y="4847590"/>
            <a:ext cx="4276725" cy="419735"/>
          </a:xfrm>
          <a:prstGeom prst="rect">
            <a:avLst/>
          </a:prstGeom>
          <a:gradFill>
            <a:gsLst>
              <a:gs pos="0">
                <a:srgbClr val="3671F6">
                  <a:alpha val="0"/>
                </a:srgbClr>
              </a:gs>
              <a:gs pos="100000">
                <a:srgbClr val="1AD6C6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以技术为舟，以服务为桨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64540" y="5367655"/>
            <a:ext cx="5078095" cy="419735"/>
          </a:xfrm>
          <a:prstGeom prst="rect">
            <a:avLst/>
          </a:prstGeom>
          <a:gradFill>
            <a:gsLst>
              <a:gs pos="0">
                <a:srgbClr val="3671F6">
                  <a:alpha val="0"/>
                </a:srgbClr>
              </a:gs>
              <a:gs pos="100000">
                <a:srgbClr val="1AD6C6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 与伙伴同行，共拓云端蓝海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36600" y="57467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671F6"/>
                </a:solidFill>
              </a:rPr>
              <a:t>PART ONE</a:t>
            </a:r>
            <a:endParaRPr lang="en-US" altLang="zh-CN">
              <a:solidFill>
                <a:srgbClr val="3671F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08250" y="57467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PART TWO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79900" y="574675"/>
            <a:ext cx="1883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PART THREE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982720"/>
            <a:ext cx="59975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渠道合作</a:t>
            </a:r>
            <a:endParaRPr lang="zh-CN" altLang="en-US" sz="80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31520" y="5457190"/>
            <a:ext cx="8761730" cy="0"/>
          </a:xfrm>
          <a:prstGeom prst="line">
            <a:avLst/>
          </a:prstGeom>
          <a:ln w="34925">
            <a:gradFill>
              <a:gsLst>
                <a:gs pos="0">
                  <a:srgbClr val="3671F6"/>
                </a:gs>
                <a:gs pos="100000">
                  <a:srgbClr val="15BAB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56590" y="56718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端木渠道伙伴计划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09005" y="4764405"/>
            <a:ext cx="38341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en-US" altLang="zh-CN" sz="2400">
                <a:solidFill>
                  <a:srgbClr val="3671F6"/>
                </a:solidFill>
                <a:latin typeface="+mj-ea"/>
                <a:ea typeface="+mj-ea"/>
              </a:rPr>
              <a:t>CHANNEL PARTNER</a:t>
            </a:r>
            <a:endParaRPr lang="en-US" altLang="zh-CN" sz="2400">
              <a:solidFill>
                <a:srgbClr val="3671F6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矩形 35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0550" y="419100"/>
            <a:ext cx="658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端木 &amp; 阿里云 COOPERATION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460" y="1043305"/>
            <a:ext cx="6055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rgbClr val="3671F6"/>
                </a:solidFill>
                <a:sym typeface="+mn-ea"/>
              </a:rPr>
              <a:t>阿里云官方合作伙伴</a:t>
            </a:r>
            <a:endParaRPr lang="zh-CN" altLang="en-US" sz="3200" b="1">
              <a:solidFill>
                <a:srgbClr val="3671F6"/>
              </a:solidFill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9055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644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官方合作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644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阿里云官方合作伙伴，具备全系云产品销售、交付与服务能力。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34205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10100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全系云产品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0100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覆盖计算、存储、网络、数据库、CDN、安全等主流云产品。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6" name="图片 5" descr="箭头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9360" y="2476500"/>
            <a:ext cx="805180" cy="80518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829056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6645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渠道政策直达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6645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原厂政策直达，阶梯折扣、项目报备保护与专项激励。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3" name="图片 12" descr="箭头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5715" y="2476500"/>
            <a:ext cx="805180" cy="80518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8290560" y="4258945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66455" y="4497705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返佣与激励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66455" y="4968875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销售返佣按月/季结算，叠加专项与市场基金支持。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7" name="图片 16" descr="箭头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549448" y="3655060"/>
            <a:ext cx="805180" cy="80518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584835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0730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联合拓展支持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0730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联合原厂与端木拜访客户、共创方案，共同推进成单。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428490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604385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售前与交付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04385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150+人云服务团队与16大服务中心，方案、迁移、运维兜底。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4" name="图片 23" descr="箭头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763645" y="4836160"/>
            <a:ext cx="805180" cy="805180"/>
          </a:xfrm>
          <a:prstGeom prst="rect">
            <a:avLst/>
          </a:prstGeom>
        </p:spPr>
      </p:pic>
      <p:pic>
        <p:nvPicPr>
          <p:cNvPr id="25" name="图片 24" descr="箭头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620000" y="4836160"/>
            <a:ext cx="805180" cy="805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0550" y="419100"/>
            <a:ext cx="658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端木 &amp; </a:t>
            </a:r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火山引擎 COOPERATION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460" y="1043305"/>
            <a:ext cx="6055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rgbClr val="3671F6"/>
                </a:solidFill>
                <a:sym typeface="+mn-ea"/>
              </a:rPr>
              <a:t>火山引擎渠道合作伙伴</a:t>
            </a:r>
            <a:endParaRPr lang="zh-CN" altLang="en-US" sz="3200" b="1">
              <a:solidFill>
                <a:srgbClr val="3671F6"/>
              </a:solidFill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9055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644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原厂渠道合作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644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火山引擎渠道合作伙伴，具备企业级云产品与AI产品的销售、交付与服务能力。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34205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10100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全系云产品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0100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覆盖云服务器、存储、网络、数据库、CDN、安全等全系云产品，一站式满足客户上云需求。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6" name="图片 5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9360" y="2476500"/>
            <a:ext cx="805180" cy="80518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829056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6645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AI与大模型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6645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豆包大模型、Agent开发平台、AI应用工具等产品代售，帮助伙伴承接企业AI落地需求。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3" name="图片 12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715" y="2476500"/>
            <a:ext cx="805180" cy="80518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8290560" y="4258945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66455" y="4497705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原厂政策直达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66455" y="4968875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原厂渠道政策直达，享受阶梯折扣、项目报备保护与专项激励，利润空间清晰透明。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7" name="图片 16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549448" y="3655060"/>
            <a:ext cx="805180" cy="80518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584835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0730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联合拓展支持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0730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联合原厂与端木开展市场活动、客户拜访与方案共创，共同推进项目成单。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428490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604385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返佣与激励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04385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按月/季度结算销售返佣，云与AI产品分类激励，叠加市场基金支持。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4" name="图片 23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763645" y="4836160"/>
            <a:ext cx="805180" cy="805180"/>
          </a:xfrm>
          <a:prstGeom prst="rect">
            <a:avLst/>
          </a:prstGeom>
        </p:spPr>
      </p:pic>
      <p:pic>
        <p:nvPicPr>
          <p:cNvPr id="25" name="图片 24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620000" y="4836160"/>
            <a:ext cx="805180" cy="805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右箭头 24"/>
          <p:cNvSpPr/>
          <p:nvPr/>
        </p:nvSpPr>
        <p:spPr>
          <a:xfrm rot="16200000">
            <a:off x="3512820" y="1795780"/>
            <a:ext cx="5153660" cy="4242435"/>
          </a:xfrm>
          <a:prstGeom prst="rightArrow">
            <a:avLst>
              <a:gd name="adj1" fmla="val 50000"/>
              <a:gd name="adj2" fmla="val 49498"/>
            </a:avLst>
          </a:prstGeom>
          <a:gradFill>
            <a:gsLst>
              <a:gs pos="0">
                <a:srgbClr val="3671F6">
                  <a:alpha val="54000"/>
                </a:srgbClr>
              </a:gs>
              <a:gs pos="34000">
                <a:srgbClr val="0D59F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0550" y="419100"/>
            <a:ext cx="658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端木软件渠道合作价值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VALUE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97205" y="2122170"/>
            <a:ext cx="4091305" cy="118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阿里云、火山引擎双线合作，渠道政策原厂直达；产品折扣、返佣与项目报备均有保障。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2" name="右箭头 11"/>
          <p:cNvSpPr/>
          <p:nvPr/>
        </p:nvSpPr>
        <p:spPr>
          <a:xfrm rot="16200000">
            <a:off x="3512820" y="2160270"/>
            <a:ext cx="5153660" cy="4242435"/>
          </a:xfrm>
          <a:prstGeom prst="rightArrow">
            <a:avLst>
              <a:gd name="adj1" fmla="val 50000"/>
              <a:gd name="adj2" fmla="val 49498"/>
            </a:avLst>
          </a:prstGeom>
          <a:gradFill>
            <a:gsLst>
              <a:gs pos="0">
                <a:srgbClr val="3671F6">
                  <a:alpha val="100000"/>
                </a:srgbClr>
              </a:gs>
              <a:gs pos="91000">
                <a:srgbClr val="0D59F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13070" y="3030855"/>
            <a:ext cx="11303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3200" b="1">
                <a:solidFill>
                  <a:schemeClr val="bg1"/>
                </a:solidFill>
                <a:sym typeface="+mn-ea"/>
              </a:rPr>
              <a:t>渠道</a:t>
            </a:r>
            <a:endParaRPr lang="zh-CN" altLang="en-US" sz="3200" b="1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3200" b="1">
                <a:solidFill>
                  <a:schemeClr val="bg1"/>
                </a:solidFill>
                <a:sym typeface="+mn-ea"/>
              </a:rPr>
              <a:t>伙伴</a:t>
            </a:r>
            <a:endParaRPr lang="zh-CN" altLang="en-US" sz="3200" b="1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3200" b="1">
                <a:solidFill>
                  <a:schemeClr val="bg1"/>
                </a:solidFill>
                <a:sym typeface="+mn-ea"/>
              </a:rPr>
              <a:t>之选</a:t>
            </a:r>
            <a:endParaRPr lang="zh-CN" altLang="en-US" sz="3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97205" y="1544955"/>
            <a:ext cx="4091305" cy="41529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D59F3">
                  <a:alpha val="100000"/>
                </a:srgbClr>
              </a:gs>
              <a:gs pos="88000">
                <a:srgbClr val="0D59F3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  <a:sym typeface="+mn-ea"/>
              </a:rPr>
              <a:t> 原厂授权，政策直达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7205" y="4599305"/>
            <a:ext cx="4168775" cy="118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 fontAlgn="auto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深耕云计算10年，服务3000+企业客户，拥有成熟的产品选型、方案设计与交付经验。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7205" y="4022090"/>
            <a:ext cx="4091305" cy="41529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D59F3">
                  <a:alpha val="100000"/>
                </a:srgbClr>
              </a:gs>
              <a:gs pos="88000">
                <a:srgbClr val="0D59F3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  <a:sym typeface="+mn-ea"/>
              </a:rPr>
              <a:t> 10年云服务积累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98130" y="2122170"/>
            <a:ext cx="3754755" cy="118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覆盖售前、架构、迁移、运维全链路；全国16大本地服务中心，2小时上门、24小时响应。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561580" y="1544955"/>
            <a:ext cx="4091305" cy="41529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D59F3">
                  <a:alpha val="100000"/>
                </a:srgbClr>
              </a:gs>
              <a:gs pos="88000">
                <a:srgbClr val="0D59F3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  <a:sym typeface="+mn-ea"/>
              </a:rPr>
              <a:t> 150+人云服务团队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03845" y="4599305"/>
            <a:ext cx="375475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每周三线上赋能、认证培训、实战陪跑；支持伙伴开展MSP托管服务，获取持续服务收益。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67295" y="4022090"/>
            <a:ext cx="4091305" cy="41529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D59F3">
                  <a:alpha val="100000"/>
                </a:srgbClr>
              </a:gs>
              <a:gs pos="88000">
                <a:srgbClr val="0D59F3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  <a:sym typeface="+mn-ea"/>
              </a:rPr>
              <a:t> 全流程赋能与MSP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0550" y="419100"/>
            <a:ext cx="658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端木渠道政策 POLICY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460" y="1043305"/>
            <a:ext cx="6055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rgbClr val="3671F6"/>
                </a:solidFill>
                <a:sym typeface="+mn-ea"/>
              </a:rPr>
              <a:t>渠道政策，保障伙伴利润</a:t>
            </a:r>
            <a:endParaRPr lang="zh-CN" altLang="en-US" sz="3200" b="1">
              <a:solidFill>
                <a:srgbClr val="3671F6"/>
              </a:solidFill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9055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644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阶梯产品折扣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644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依据伙伴等级与采购规模享受产品折扣，具体以签约政策为准。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34205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10100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销售返佣激励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0100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云产品与AI产品分类返佣，按月/季度结算，业绩越高返佣越优。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6" name="图片 5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9360" y="2476500"/>
            <a:ext cx="805180" cy="80518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829056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6645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项目报备保护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6645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报备项目享价格保护与独家跟进权益，避免内部撞单与恶性竞争。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3" name="图片 12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715" y="2476500"/>
            <a:ext cx="805180" cy="80518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8290560" y="4258945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66455" y="4497705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市场活动支持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66455" y="4968875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联合市场活动、MDF市场基金、宣传物料与案例包装支持。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7" name="图片 16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549448" y="3655060"/>
            <a:ext cx="805180" cy="80518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584835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0730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培训认证赋能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0730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每周三线上赋能+认证培训，帮助伙伴团队快速具备售前与交付能力。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428490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604385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MSP服务授权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04385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授权伙伴开展云上托管运维服务，获得持续性服务收入。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4" name="图片 23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763645" y="4836160"/>
            <a:ext cx="805180" cy="805180"/>
          </a:xfrm>
          <a:prstGeom prst="rect">
            <a:avLst/>
          </a:prstGeom>
        </p:spPr>
      </p:pic>
      <p:pic>
        <p:nvPicPr>
          <p:cNvPr id="25" name="图片 24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620000" y="4836160"/>
            <a:ext cx="805180" cy="8051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1044575" y="3696335"/>
            <a:ext cx="10103485" cy="3161665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摄图网_500589946_城市景观和互联网网络连接云技术的交流 (非企业商用)"/>
          <p:cNvPicPr>
            <a:picLocks noChangeAspect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>
          <a:xfrm>
            <a:off x="0" y="0"/>
            <a:ext cx="12192000" cy="33769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" y="0"/>
            <a:ext cx="12191365" cy="3376930"/>
          </a:xfrm>
          <a:prstGeom prst="rect">
            <a:avLst/>
          </a:prstGeom>
          <a:solidFill>
            <a:srgbClr val="3671F6">
              <a:alpha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44893" y="2533650"/>
            <a:ext cx="10102215" cy="3540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048000" y="128968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3600" b="1">
                <a:gradFill>
                  <a:gsLst>
                    <a:gs pos="100000">
                      <a:srgbClr val="9BB8FB">
                        <a:alpha val="100000"/>
                      </a:srgb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+mj-ea"/>
                <a:ea typeface="+mj-ea"/>
                <a:sym typeface="+mn-ea"/>
              </a:rPr>
              <a:t>伙伴收益，多元增长</a:t>
            </a:r>
            <a:endParaRPr lang="zh-CN" altLang="en-US" sz="3600" b="1">
              <a:gradFill>
                <a:gsLst>
                  <a:gs pos="100000">
                    <a:srgbClr val="9BB8FB">
                      <a:alpha val="100000"/>
                    </a:srgbClr>
                  </a:gs>
                  <a:gs pos="0">
                    <a:schemeClr val="bg1"/>
                  </a:gs>
                </a:gsLst>
                <a:lin ang="5400000" scaled="0"/>
              </a:gradFill>
              <a:latin typeface="+mj-ea"/>
              <a:ea typeface="+mj-ea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8225" y="2527300"/>
            <a:ext cx="3378200" cy="76835"/>
          </a:xfrm>
          <a:prstGeom prst="rect">
            <a:avLst/>
          </a:prstGeom>
          <a:solidFill>
            <a:srgbClr val="3671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17060" y="2527300"/>
            <a:ext cx="3369945" cy="76835"/>
          </a:xfrm>
          <a:prstGeom prst="rect">
            <a:avLst/>
          </a:prstGeom>
          <a:solidFill>
            <a:srgbClr val="947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7640" y="2527300"/>
            <a:ext cx="3369945" cy="76835"/>
          </a:xfrm>
          <a:prstGeom prst="rect">
            <a:avLst/>
          </a:prstGeom>
          <a:solidFill>
            <a:srgbClr val="24CEB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51623" y="4855845"/>
            <a:ext cx="2351405" cy="6299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云产品与AI产品销售返佣，按月/季度结算，现金流稳定。</a:t>
            </a:r>
            <a:endParaRPr lang="zh-CN" altLang="en-US" sz="1400" b="0" i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32985" y="4855845"/>
            <a:ext cx="2526030" cy="6299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迁移、安全、运维、MSP托管等服务收入，毛利更高。</a:t>
            </a:r>
            <a:endParaRPr lang="zh-CN" altLang="en-US" sz="1400" b="0" i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94015" y="4855845"/>
            <a:ext cx="2966720" cy="6299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季度激励、专项激励与MDF市场基金，叠加收益。</a:t>
            </a:r>
            <a:endParaRPr lang="zh-CN" altLang="en-US" sz="1400" b="0" i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3" name="图片 22" descr="成本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0125" y="3173730"/>
            <a:ext cx="914400" cy="914400"/>
          </a:xfrm>
          <a:prstGeom prst="rect">
            <a:avLst/>
          </a:prstGeom>
        </p:spPr>
      </p:pic>
      <p:pic>
        <p:nvPicPr>
          <p:cNvPr id="24" name="图片 23" descr="服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7475" y="3173730"/>
            <a:ext cx="914400" cy="914400"/>
          </a:xfrm>
          <a:prstGeom prst="rect">
            <a:avLst/>
          </a:prstGeom>
        </p:spPr>
      </p:pic>
      <p:pic>
        <p:nvPicPr>
          <p:cNvPr id="26" name="图片 25" descr="服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3173730"/>
            <a:ext cx="914400" cy="9144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322070" y="4277995"/>
            <a:ext cx="281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solidFill>
                  <a:srgbClr val="367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产品返佣收益</a:t>
            </a:r>
            <a:endParaRPr lang="zh-CN" altLang="en-US" sz="2400" b="1">
              <a:solidFill>
                <a:srgbClr val="367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97095" y="4277995"/>
            <a:ext cx="281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solidFill>
                  <a:srgbClr val="947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增值服务收益</a:t>
            </a:r>
            <a:endParaRPr lang="zh-CN" altLang="en-US" sz="2400" b="1">
              <a:solidFill>
                <a:srgbClr val="947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072120" y="4277995"/>
            <a:ext cx="281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solidFill>
                  <a:srgbClr val="24CE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市场激励收益</a:t>
            </a:r>
            <a:endParaRPr lang="zh-CN" altLang="en-US" sz="2400" b="1">
              <a:solidFill>
                <a:srgbClr val="24CE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0550" y="419100"/>
            <a:ext cx="658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端木为伙伴提供的服务 SERVICE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460" y="1043305"/>
            <a:ext cx="6055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rgbClr val="3671F6"/>
                </a:solidFill>
                <a:sym typeface="+mn-ea"/>
              </a:rPr>
              <a:t>全链路支持伙伴成单</a:t>
            </a:r>
            <a:endParaRPr lang="zh-CN" altLang="en-US" sz="3200" b="1">
              <a:solidFill>
                <a:srgbClr val="3671F6"/>
              </a:solidFill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9055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644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售前方案支持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644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原厂架构师与端木售前团队联合支持，输出选型、报价与解决方案。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34205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10100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项目报备保护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0100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项目报备后享价格保护与独家跟进，保障伙伴投入与收益。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6" name="图片 5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9360" y="2476500"/>
            <a:ext cx="805180" cy="80518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8290560" y="189357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466455" y="213233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交付实施支持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66455" y="260350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提供迁移、部署、集成与灾备实施，确保项目按期高质量交付。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3" name="图片 12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715" y="2476500"/>
            <a:ext cx="805180" cy="80518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8290560" y="4258945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66455" y="4497705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7×24运维支持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66455" y="4968875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专属服务团队实时监控、告警与故障处理，2小时上门响应。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17" name="图片 16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549448" y="3655060"/>
            <a:ext cx="805180" cy="80518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584835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0730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培训认证赋能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0730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每周三线上赋能、产品认证与销售实战培训，持续提升伙伴能力。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428490" y="4253230"/>
            <a:ext cx="3322955" cy="197104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EECFE"/>
              </a:gs>
            </a:gsLst>
            <a:lin ang="3120000" scaled="0"/>
          </a:gradFill>
          <a:ln>
            <a:noFill/>
          </a:ln>
          <a:effectLst>
            <a:outerShdw blurRad="190500" dist="38100" dir="13500000" sx="99000" sy="99000" algn="br" rotWithShape="0">
              <a:srgbClr val="3671F6">
                <a:alpha val="1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604385" y="4491990"/>
            <a:ext cx="2793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MSP托管服务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04385" y="4963160"/>
            <a:ext cx="299085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支持伙伴开展云上托管运维，提供平台、流程与专家支撑。</a:t>
            </a:r>
            <a:endParaRPr lang="zh-CN" altLang="en-US" sz="14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4" name="图片 23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763645" y="4836160"/>
            <a:ext cx="805180" cy="805180"/>
          </a:xfrm>
          <a:prstGeom prst="rect">
            <a:avLst/>
          </a:prstGeom>
        </p:spPr>
      </p:pic>
      <p:pic>
        <p:nvPicPr>
          <p:cNvPr id="25" name="图片 24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620000" y="4836160"/>
            <a:ext cx="805180" cy="805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1044575" y="3696335"/>
            <a:ext cx="10103485" cy="3161665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摄图网_500589946_城市景观和互联网网络连接云技术的交流 (非企业商用)"/>
          <p:cNvPicPr>
            <a:picLocks noChangeAspect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>
          <a:xfrm>
            <a:off x="0" y="0"/>
            <a:ext cx="12192000" cy="33769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" y="0"/>
            <a:ext cx="12191365" cy="3376930"/>
          </a:xfrm>
          <a:prstGeom prst="rect">
            <a:avLst/>
          </a:prstGeom>
          <a:solidFill>
            <a:srgbClr val="3671F6">
              <a:alpha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44893" y="2533650"/>
            <a:ext cx="10102215" cy="3540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048000" y="128968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3600" b="1">
                <a:gradFill>
                  <a:gsLst>
                    <a:gs pos="100000">
                      <a:srgbClr val="9BB8FB">
                        <a:alpha val="100000"/>
                      </a:srgb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+mj-ea"/>
                <a:ea typeface="+mj-ea"/>
                <a:sym typeface="+mn-ea"/>
              </a:rPr>
              <a:t>端木软件 MSP 托管服务</a:t>
            </a:r>
            <a:endParaRPr lang="zh-CN" altLang="en-US" sz="3600" b="1">
              <a:gradFill>
                <a:gsLst>
                  <a:gs pos="100000">
                    <a:srgbClr val="9BB8FB">
                      <a:alpha val="100000"/>
                    </a:srgbClr>
                  </a:gs>
                  <a:gs pos="0">
                    <a:schemeClr val="bg1"/>
                  </a:gs>
                </a:gsLst>
                <a:lin ang="5400000" scaled="0"/>
              </a:gradFill>
              <a:latin typeface="+mj-ea"/>
              <a:ea typeface="+mj-ea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8225" y="2527300"/>
            <a:ext cx="3378200" cy="76835"/>
          </a:xfrm>
          <a:prstGeom prst="rect">
            <a:avLst/>
          </a:prstGeom>
          <a:solidFill>
            <a:srgbClr val="3671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17060" y="2527300"/>
            <a:ext cx="3369945" cy="76835"/>
          </a:xfrm>
          <a:prstGeom prst="rect">
            <a:avLst/>
          </a:prstGeom>
          <a:solidFill>
            <a:srgbClr val="947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7640" y="2527300"/>
            <a:ext cx="3369945" cy="76835"/>
          </a:xfrm>
          <a:prstGeom prst="rect">
            <a:avLst/>
          </a:prstGeom>
          <a:solidFill>
            <a:srgbClr val="24CEB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551623" y="4855845"/>
            <a:ext cx="2351405" cy="6299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7×24小时监控、告警与故障处理，专属团队保障业务稳定运行。</a:t>
            </a:r>
            <a:endParaRPr lang="zh-CN" altLang="en-US" sz="1400" b="0" i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32985" y="4855845"/>
            <a:ext cx="2526030" cy="6299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安全巡检、漏洞修复、等保咨询与应急响应，降低客户安全风险。</a:t>
            </a:r>
            <a:endParaRPr lang="zh-CN" altLang="en-US" sz="1400" b="0" i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94015" y="4855845"/>
            <a:ext cx="2966720" cy="6299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FinOps成本分析、资源与架构优化，持续降低客户云上开支。</a:t>
            </a:r>
            <a:endParaRPr lang="zh-CN" altLang="en-US" sz="1400" b="0" i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pic>
        <p:nvPicPr>
          <p:cNvPr id="23" name="图片 22" descr="成本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0125" y="3173730"/>
            <a:ext cx="914400" cy="914400"/>
          </a:xfrm>
          <a:prstGeom prst="rect">
            <a:avLst/>
          </a:prstGeom>
        </p:spPr>
      </p:pic>
      <p:pic>
        <p:nvPicPr>
          <p:cNvPr id="24" name="图片 23" descr="服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7475" y="3173730"/>
            <a:ext cx="914400" cy="914400"/>
          </a:xfrm>
          <a:prstGeom prst="rect">
            <a:avLst/>
          </a:prstGeom>
        </p:spPr>
      </p:pic>
      <p:pic>
        <p:nvPicPr>
          <p:cNvPr id="26" name="图片 25" descr="服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3173730"/>
            <a:ext cx="914400" cy="9144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322070" y="4277995"/>
            <a:ext cx="281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solidFill>
                  <a:srgbClr val="367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云上运维托管</a:t>
            </a:r>
            <a:endParaRPr lang="zh-CN" altLang="en-US" sz="2400" b="1">
              <a:solidFill>
                <a:srgbClr val="367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97095" y="4277995"/>
            <a:ext cx="281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solidFill>
                  <a:srgbClr val="947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安全合规运营</a:t>
            </a:r>
            <a:endParaRPr lang="zh-CN" altLang="en-US" sz="2400" b="1">
              <a:solidFill>
                <a:srgbClr val="947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072120" y="4277995"/>
            <a:ext cx="281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solidFill>
                  <a:srgbClr val="24CE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成本优化治理</a:t>
            </a:r>
            <a:endParaRPr lang="zh-CN" altLang="en-US" sz="2400" b="1">
              <a:solidFill>
                <a:srgbClr val="24CE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0550" y="419100"/>
            <a:ext cx="658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每周三线上赋能 ENABLEMENT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460" y="1043305"/>
            <a:ext cx="6055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rgbClr val="3671F6"/>
                </a:solidFill>
                <a:sym typeface="+mn-ea"/>
              </a:rPr>
              <a:t>固定档期，伙伴随时参加</a:t>
            </a:r>
            <a:endParaRPr lang="zh-CN" altLang="en-US" sz="3200" b="1">
              <a:solidFill>
                <a:srgbClr val="3671F6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90550" y="2228850"/>
            <a:ext cx="2430145" cy="3836670"/>
          </a:xfrm>
          <a:prstGeom prst="roundRect">
            <a:avLst>
              <a:gd name="adj" fmla="val 8309"/>
            </a:avLst>
          </a:prstGeom>
          <a:gradFill>
            <a:gsLst>
              <a:gs pos="0">
                <a:srgbClr val="3671F6">
                  <a:alpha val="0"/>
                </a:srgbClr>
              </a:gs>
              <a:gs pos="100000">
                <a:srgbClr val="3671F6">
                  <a:alpha val="30000"/>
                </a:srgbClr>
              </a:gs>
            </a:gsLst>
            <a:lin ang="5400000" scaled="0"/>
          </a:gradFill>
          <a:ln>
            <a:solidFill>
              <a:srgbClr val="3671F6"/>
            </a:solidFill>
          </a:ln>
          <a:effectLst>
            <a:reflection blurRad="177800" stA="30000" endA="300" endPos="16000" dist="508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2040" y="1976120"/>
            <a:ext cx="1447165" cy="460375"/>
          </a:xfrm>
          <a:prstGeom prst="rect">
            <a:avLst/>
          </a:prstGeom>
          <a:gradFill>
            <a:gsLst>
              <a:gs pos="0">
                <a:srgbClr val="E6F0FE"/>
              </a:gs>
              <a:gs pos="100000">
                <a:srgbClr val="E0EBFD"/>
              </a:gs>
            </a:gsLst>
            <a:lin ang="5400000" scaled="0"/>
          </a:gra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周三开播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9290" y="2686685"/>
            <a:ext cx="2289810" cy="11684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06071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每周三固定线上直播，产品、政策、方案第一时间同步伙伴。</a:t>
            </a:r>
            <a:endParaRPr lang="zh-CN" altLang="en-US" sz="1400" b="0" i="0">
              <a:solidFill>
                <a:srgbClr val="06071F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55015" y="431546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3671F6">
              <a:alpha val="5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线上直播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5015" y="479933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3671F6">
              <a:alpha val="5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全国可参加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55015" y="528320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3671F6">
              <a:alpha val="5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支持回放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21380" y="2228850"/>
            <a:ext cx="2430145" cy="3836670"/>
          </a:xfrm>
          <a:prstGeom prst="roundRect">
            <a:avLst>
              <a:gd name="adj" fmla="val 8309"/>
            </a:avLst>
          </a:prstGeom>
          <a:gradFill>
            <a:gsLst>
              <a:gs pos="0">
                <a:srgbClr val="24CEBC">
                  <a:alpha val="0"/>
                </a:srgbClr>
              </a:gs>
              <a:gs pos="100000">
                <a:srgbClr val="24CEBC">
                  <a:alpha val="30000"/>
                </a:srgbClr>
              </a:gs>
            </a:gsLst>
            <a:lin ang="5400000" scaled="0"/>
          </a:gradFill>
          <a:ln>
            <a:solidFill>
              <a:srgbClr val="24CEBC"/>
            </a:solidFill>
          </a:ln>
          <a:effectLst>
            <a:reflection blurRad="177800" stA="30000" endA="300" endPos="16000" dist="508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912870" y="1976120"/>
            <a:ext cx="1447165" cy="460375"/>
          </a:xfrm>
          <a:prstGeom prst="rect">
            <a:avLst/>
          </a:prstGeom>
          <a:gradFill>
            <a:gsLst>
              <a:gs pos="0">
                <a:srgbClr val="E8F1FE"/>
              </a:gs>
              <a:gs pos="100000">
                <a:srgbClr val="E7F1FD"/>
              </a:gs>
            </a:gsLst>
            <a:lin ang="5400000" scaled="0"/>
          </a:gra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四大课程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00120" y="2686685"/>
            <a:ext cx="2289810" cy="899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06071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覆盖产品政策、解决方案、交付运维与销售打法四大模块。</a:t>
            </a:r>
            <a:endParaRPr lang="zh-CN" altLang="en-US" sz="1400" b="0" i="0">
              <a:solidFill>
                <a:srgbClr val="06071F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585845" y="431546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24CEBC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产品政策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585845" y="479933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24CEBC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解决方案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585845" y="528320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24CEBC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销售实战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252210" y="2228850"/>
            <a:ext cx="2430145" cy="3836670"/>
          </a:xfrm>
          <a:prstGeom prst="roundRect">
            <a:avLst>
              <a:gd name="adj" fmla="val 8309"/>
            </a:avLst>
          </a:prstGeom>
          <a:gradFill>
            <a:gsLst>
              <a:gs pos="0">
                <a:srgbClr val="3671F6">
                  <a:alpha val="0"/>
                </a:srgbClr>
              </a:gs>
              <a:gs pos="100000">
                <a:srgbClr val="3671F6">
                  <a:alpha val="30000"/>
                </a:srgbClr>
              </a:gs>
            </a:gsLst>
            <a:lin ang="5400000" scaled="0"/>
          </a:gradFill>
          <a:ln>
            <a:solidFill>
              <a:srgbClr val="3671F6"/>
            </a:solidFill>
          </a:ln>
          <a:effectLst>
            <a:reflection blurRad="177800" stA="30000" endA="300" endPos="16000" dist="508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743700" y="1976120"/>
            <a:ext cx="1447165" cy="460375"/>
          </a:xfrm>
          <a:prstGeom prst="rect">
            <a:avLst/>
          </a:prstGeom>
          <a:gradFill>
            <a:gsLst>
              <a:gs pos="0">
                <a:srgbClr val="EDF5FF"/>
              </a:gs>
              <a:gs pos="100000">
                <a:srgbClr val="EDF4FF"/>
              </a:gs>
            </a:gsLst>
            <a:lin ang="5400000" scaled="0"/>
          </a:gradFill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讲师阵容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30950" y="2686685"/>
            <a:ext cx="2289810" cy="11684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06071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原厂架构师、端木技术专家与一线销售经理联合授课。</a:t>
            </a:r>
            <a:endParaRPr lang="zh-CN" altLang="en-US" sz="1400" b="0" i="0">
              <a:solidFill>
                <a:srgbClr val="06071F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416675" y="431546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3671F6">
              <a:alpha val="5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原厂专家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416675" y="479933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3671F6">
              <a:alpha val="5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技术专家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416675" y="528320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3671F6">
              <a:alpha val="5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案例复盘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083040" y="2228850"/>
            <a:ext cx="2430145" cy="3836670"/>
          </a:xfrm>
          <a:prstGeom prst="roundRect">
            <a:avLst>
              <a:gd name="adj" fmla="val 8309"/>
            </a:avLst>
          </a:prstGeom>
          <a:gradFill>
            <a:gsLst>
              <a:gs pos="0">
                <a:srgbClr val="24CEBC">
                  <a:alpha val="0"/>
                </a:srgbClr>
              </a:gs>
              <a:gs pos="100000">
                <a:srgbClr val="24CEBC">
                  <a:alpha val="30000"/>
                </a:srgbClr>
              </a:gs>
            </a:gsLst>
            <a:lin ang="5400000" scaled="0"/>
          </a:gradFill>
          <a:ln>
            <a:solidFill>
              <a:srgbClr val="24CEBC"/>
            </a:solidFill>
          </a:ln>
          <a:effectLst>
            <a:reflection blurRad="177800" stA="30000" endA="300" endPos="16000" dist="508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574530" y="1976120"/>
            <a:ext cx="1447165" cy="460375"/>
          </a:xfrm>
          <a:prstGeom prst="rect">
            <a:avLst/>
          </a:prstGeom>
          <a:gradFill>
            <a:gsLst>
              <a:gs pos="0">
                <a:srgbClr val="EFF6FF"/>
              </a:gs>
              <a:gs pos="100000">
                <a:srgbClr val="EDF6FE"/>
              </a:gs>
            </a:gsLst>
            <a:lin ang="5400000" scaled="0"/>
          </a:gradFill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持续赋能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161780" y="2686685"/>
            <a:ext cx="2289810" cy="14376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06071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</a:rPr>
              <a:t>课件回放、认证考试与答疑社群，帮助团队持续成长。</a:t>
            </a:r>
            <a:endParaRPr lang="zh-CN" altLang="en-US" sz="1400" b="0" i="0">
              <a:solidFill>
                <a:srgbClr val="06071F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247505" y="431546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24CEBC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课件回放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9247505" y="479933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24CEBC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认证考试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247505" y="5283200"/>
            <a:ext cx="2059305" cy="398145"/>
          </a:xfrm>
          <a:prstGeom prst="roundRect">
            <a:avLst>
              <a:gd name="adj" fmla="val 50000"/>
            </a:avLst>
          </a:prstGeom>
          <a:solidFill>
            <a:srgbClr val="24CEBC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答疑社群</a:t>
            </a:r>
            <a:endParaRPr lang="zh-CN" altLang="en-US" sz="12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070860" y="2056130"/>
            <a:ext cx="300355" cy="300355"/>
          </a:xfrm>
          <a:prstGeom prst="ellipse">
            <a:avLst/>
          </a:prstGeom>
          <a:gradFill>
            <a:gsLst>
              <a:gs pos="0">
                <a:srgbClr val="2A69EA"/>
              </a:gs>
              <a:gs pos="100000">
                <a:srgbClr val="24CEB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/>
        </p:nvSpPr>
        <p:spPr>
          <a:xfrm rot="5400000">
            <a:off x="3154680" y="2139315"/>
            <a:ext cx="133350" cy="1333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5901690" y="2056130"/>
            <a:ext cx="300355" cy="300355"/>
          </a:xfrm>
          <a:prstGeom prst="ellipse">
            <a:avLst/>
          </a:prstGeom>
          <a:gradFill>
            <a:gsLst>
              <a:gs pos="0">
                <a:srgbClr val="2A69EA"/>
              </a:gs>
              <a:gs pos="100000">
                <a:srgbClr val="24CEB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 rot="5400000">
            <a:off x="5985510" y="2139315"/>
            <a:ext cx="133350" cy="1333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731885" y="2056130"/>
            <a:ext cx="300355" cy="300355"/>
          </a:xfrm>
          <a:prstGeom prst="ellipse">
            <a:avLst/>
          </a:prstGeom>
          <a:gradFill>
            <a:gsLst>
              <a:gs pos="0">
                <a:srgbClr val="2A69EA"/>
              </a:gs>
              <a:gs pos="100000">
                <a:srgbClr val="24CEB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等腰三角形 40"/>
          <p:cNvSpPr/>
          <p:nvPr/>
        </p:nvSpPr>
        <p:spPr>
          <a:xfrm rot="5400000">
            <a:off x="8815705" y="2139315"/>
            <a:ext cx="133350" cy="1333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36600" y="57467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PART ONE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08250" y="57467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3671F6"/>
                </a:solidFill>
                <a:sym typeface="+mn-ea"/>
              </a:rPr>
              <a:t>PART TWO</a:t>
            </a:r>
            <a:endParaRPr lang="en-US" altLang="zh-CN">
              <a:solidFill>
                <a:srgbClr val="3671F6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79900" y="574675"/>
            <a:ext cx="1883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PART THREE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982720"/>
            <a:ext cx="524764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关于端木</a:t>
            </a:r>
            <a:endParaRPr lang="zh-CN" altLang="en-US" sz="80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31520" y="5457190"/>
            <a:ext cx="8761730" cy="0"/>
          </a:xfrm>
          <a:prstGeom prst="line">
            <a:avLst/>
          </a:prstGeom>
          <a:ln w="34925">
            <a:gradFill>
              <a:gsLst>
                <a:gs pos="0">
                  <a:srgbClr val="3671F6"/>
                </a:gs>
                <a:gs pos="100000">
                  <a:srgbClr val="15BAB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56590" y="56718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10年云服务积累，服务全国3000+客户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75555" y="4764405"/>
            <a:ext cx="38341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en-US" altLang="zh-CN" sz="2400">
                <a:solidFill>
                  <a:srgbClr val="3671F6"/>
                </a:solidFill>
                <a:latin typeface="微软雅黑" panose="020B0503020204020204" charset="-122"/>
                <a:ea typeface="微软雅黑" panose="020B0503020204020204" charset="-122"/>
              </a:rPr>
              <a:t>DUANMU SOFTWARE</a:t>
            </a:r>
            <a:endParaRPr lang="en-US" altLang="zh-CN" sz="2400">
              <a:solidFill>
                <a:srgbClr val="367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0" y="1369060"/>
            <a:ext cx="6242685" cy="4953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 rot="20940000">
            <a:off x="724535" y="2303145"/>
            <a:ext cx="10377805" cy="3498215"/>
          </a:xfrm>
          <a:prstGeom prst="ellipse">
            <a:avLst/>
          </a:prstGeom>
          <a:noFill/>
          <a:ln w="34925">
            <a:gradFill>
              <a:gsLst>
                <a:gs pos="10000">
                  <a:srgbClr val="2461F5">
                    <a:alpha val="0"/>
                  </a:srgbClr>
                </a:gs>
                <a:gs pos="100000">
                  <a:srgbClr val="2461F5">
                    <a:alpha val="58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纸飞机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560000" flipH="1">
            <a:off x="8839835" y="1849755"/>
            <a:ext cx="419735" cy="419735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1037590" y="2949575"/>
            <a:ext cx="0" cy="1511300"/>
          </a:xfrm>
          <a:prstGeom prst="line">
            <a:avLst/>
          </a:prstGeom>
          <a:ln w="25400">
            <a:gradFill>
              <a:gsLst>
                <a:gs pos="0">
                  <a:srgbClr val="1AD6C6">
                    <a:alpha val="0"/>
                  </a:srgbClr>
                </a:gs>
                <a:gs pos="100000">
                  <a:srgbClr val="1AD6C6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39825" y="2949575"/>
            <a:ext cx="1090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</a:t>
            </a:r>
            <a:r>
              <a:rPr lang="zh-CN" altLang="en-US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lang="zh-CN" altLang="en-US" sz="1600" b="1">
              <a:solidFill>
                <a:srgbClr val="2461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39825" y="3286760"/>
            <a:ext cx="14827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端木软件成立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596390" y="4324350"/>
            <a:ext cx="0" cy="1511300"/>
          </a:xfrm>
          <a:prstGeom prst="line">
            <a:avLst/>
          </a:prstGeom>
          <a:ln w="25400">
            <a:gradFill>
              <a:gsLst>
                <a:gs pos="0">
                  <a:srgbClr val="1AD6C6">
                    <a:alpha val="0"/>
                  </a:srgbClr>
                </a:gs>
                <a:gs pos="100000">
                  <a:srgbClr val="1AD6C6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698625" y="4324350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2016-2019</a:t>
            </a:r>
            <a:r>
              <a:rPr lang="zh-CN" altLang="en-US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600" b="1">
                <a:solidFill>
                  <a:srgbClr val="1A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破土</a:t>
            </a:r>
            <a:endParaRPr lang="zh-CN" altLang="en-US" sz="1600" b="1">
              <a:solidFill>
                <a:srgbClr val="1A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98625" y="4661535"/>
            <a:ext cx="2754630" cy="983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2016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年销售额突破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8000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获评江苏省民营科技企业、高新技术企业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获得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CMMI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三级认证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32985" y="4324350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2020-2022</a:t>
            </a:r>
            <a:r>
              <a:rPr lang="zh-CN" altLang="en-US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600" b="1">
                <a:solidFill>
                  <a:srgbClr val="1A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燎原</a:t>
            </a:r>
            <a:endParaRPr lang="zh-CN" altLang="en-US" sz="1600" b="1">
              <a:solidFill>
                <a:srgbClr val="1A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832985" y="4661535"/>
            <a:ext cx="228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年销售额突破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2.3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获得十余项技术专利证书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获得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60+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软件著作权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722495" y="4323080"/>
            <a:ext cx="0" cy="1511300"/>
          </a:xfrm>
          <a:prstGeom prst="line">
            <a:avLst/>
          </a:prstGeom>
          <a:ln w="25400">
            <a:gradFill>
              <a:gsLst>
                <a:gs pos="0">
                  <a:srgbClr val="1AD6C6">
                    <a:alpha val="0"/>
                  </a:srgbClr>
                </a:gs>
                <a:gs pos="100000">
                  <a:srgbClr val="1AD6C6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536180" y="2637155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2023-2025</a:t>
            </a:r>
            <a:r>
              <a:rPr lang="zh-CN" altLang="en-US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600" b="1">
                <a:solidFill>
                  <a:srgbClr val="1A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共生</a:t>
            </a:r>
            <a:endParaRPr lang="zh-CN" altLang="en-US" sz="1600" b="1">
              <a:solidFill>
                <a:srgbClr val="1A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36180" y="2974340"/>
            <a:ext cx="2796540" cy="1430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2024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年销售总额突破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3.7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亿，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年预计销售额突破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获评江苏省专精特新企业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2024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年获评江苏瞪羚企业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在全国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省逐步建立子公司，服务能力覆盖全国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7425690" y="2635885"/>
            <a:ext cx="0" cy="2672715"/>
          </a:xfrm>
          <a:prstGeom prst="line">
            <a:avLst/>
          </a:prstGeom>
          <a:ln w="25400">
            <a:gradFill>
              <a:gsLst>
                <a:gs pos="0">
                  <a:srgbClr val="1AD6C6">
                    <a:alpha val="0"/>
                  </a:srgbClr>
                </a:gs>
                <a:gs pos="100000">
                  <a:srgbClr val="1AD6C6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9450070" y="844550"/>
            <a:ext cx="0" cy="1511300"/>
          </a:xfrm>
          <a:prstGeom prst="line">
            <a:avLst/>
          </a:prstGeom>
          <a:ln w="25400">
            <a:gradFill>
              <a:gsLst>
                <a:gs pos="0">
                  <a:srgbClr val="1AD6C6">
                    <a:alpha val="0"/>
                  </a:srgbClr>
                </a:gs>
                <a:gs pos="100000">
                  <a:srgbClr val="1AD6C6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552305" y="844550"/>
            <a:ext cx="21729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2025-2028</a:t>
            </a:r>
            <a:r>
              <a:rPr lang="zh-CN" altLang="en-US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b="1">
                <a:solidFill>
                  <a:srgbClr val="2461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600" b="1">
                <a:solidFill>
                  <a:srgbClr val="1AD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</a:t>
            </a:r>
            <a:endParaRPr lang="zh-CN" altLang="en-US" sz="1600" b="1">
              <a:solidFill>
                <a:srgbClr val="1AD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552305" y="1181735"/>
            <a:ext cx="21920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深化全场景智能解决方案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实现全国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20+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城市覆盖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15+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行业垂直赋能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13715" y="508000"/>
            <a:ext cx="76835" cy="268605"/>
          </a:xfrm>
          <a:prstGeom prst="rect">
            <a:avLst/>
          </a:prstGeom>
          <a:gradFill>
            <a:gsLst>
              <a:gs pos="0">
                <a:srgbClr val="5DD699"/>
              </a:gs>
              <a:gs pos="100000">
                <a:srgbClr val="2461F5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0550" y="419100"/>
            <a:ext cx="2750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+mn-ea"/>
                <a:cs typeface="微软雅黑 Light" panose="020B0502040204020203" charset="-122"/>
              </a:rPr>
              <a:t>发展历程</a:t>
            </a:r>
            <a:r>
              <a:rPr lang="en-US" altLang="zh-CN" sz="2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</a:t>
            </a:r>
            <a:r>
              <a:rPr lang="en-US" altLang="zh-CN" sz="16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HISTORY</a:t>
            </a:r>
            <a:endParaRPr lang="en-US" altLang="zh-CN" sz="160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0550" y="879475"/>
            <a:ext cx="2326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i="0">
                <a:solidFill>
                  <a:srgbClr val="2461F5"/>
                </a:solidFill>
                <a:latin typeface="+mn-ea"/>
                <a:cs typeface="+mn-ea"/>
              </a:rPr>
              <a:t>从</a:t>
            </a:r>
            <a:r>
              <a:rPr lang="en-US" altLang="zh-CN" i="0">
                <a:solidFill>
                  <a:srgbClr val="2461F5"/>
                </a:solidFill>
                <a:latin typeface="+mn-ea"/>
                <a:cs typeface="+mn-ea"/>
              </a:rPr>
              <a:t>1</a:t>
            </a:r>
            <a:r>
              <a:rPr lang="zh-CN" altLang="en-US" i="0">
                <a:solidFill>
                  <a:srgbClr val="2461F5"/>
                </a:solidFill>
                <a:latin typeface="+mn-ea"/>
                <a:cs typeface="+mn-ea"/>
              </a:rPr>
              <a:t>到</a:t>
            </a:r>
            <a:r>
              <a:rPr lang="en-US" altLang="zh-CN" i="0">
                <a:solidFill>
                  <a:srgbClr val="2461F5"/>
                </a:solidFill>
                <a:latin typeface="+mn-ea"/>
                <a:cs typeface="+mn-ea"/>
              </a:rPr>
              <a:t>10</a:t>
            </a:r>
            <a:r>
              <a:rPr lang="zh-CN" altLang="en-US" i="0">
                <a:solidFill>
                  <a:srgbClr val="2461F5"/>
                </a:solidFill>
                <a:latin typeface="+mn-ea"/>
                <a:cs typeface="+mn-ea"/>
              </a:rPr>
              <a:t>，向</a:t>
            </a:r>
            <a:r>
              <a:rPr lang="en-US" altLang="zh-CN" i="0">
                <a:solidFill>
                  <a:srgbClr val="2461F5"/>
                </a:solidFill>
                <a:latin typeface="+mn-ea"/>
                <a:cs typeface="+mn-ea"/>
              </a:rPr>
              <a:t>∞</a:t>
            </a:r>
            <a:r>
              <a:rPr lang="zh-CN" altLang="en-US" i="0">
                <a:solidFill>
                  <a:srgbClr val="2461F5"/>
                </a:solidFill>
                <a:latin typeface="+mn-ea"/>
                <a:cs typeface="+mn-ea"/>
              </a:rPr>
              <a:t>生长</a:t>
            </a:r>
            <a:endParaRPr lang="zh-CN" altLang="en-US" i="0">
              <a:solidFill>
                <a:srgbClr val="2461F5"/>
              </a:solidFill>
              <a:latin typeface="+mn-ea"/>
              <a:cs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1015" y="447040"/>
            <a:ext cx="3532505" cy="1041400"/>
          </a:xfrm>
          <a:prstGeom prst="rect">
            <a:avLst/>
          </a:prstGeom>
          <a:effectLst>
            <a:reflection blurRad="152400" stA="20000" endA="300" endPos="42000" dir="5400000" sy="-100000" algn="bl" rotWithShape="0"/>
          </a:effectLst>
        </p:spPr>
      </p:pic>
      <p:grpSp>
        <p:nvGrpSpPr>
          <p:cNvPr id="32" name="组合 31"/>
          <p:cNvGrpSpPr/>
          <p:nvPr/>
        </p:nvGrpSpPr>
        <p:grpSpPr>
          <a:xfrm rot="0">
            <a:off x="7828915" y="1040765"/>
            <a:ext cx="1935480" cy="1502410"/>
            <a:chOff x="3686" y="5704"/>
            <a:chExt cx="4119" cy="3197"/>
          </a:xfrm>
          <a:effectLst>
            <a:reflection blurRad="190500" stA="10000" endA="300" endPos="20000" dir="5400000" sy="-100000" algn="bl" rotWithShape="0"/>
          </a:effectLst>
        </p:grpSpPr>
        <p:pic>
          <p:nvPicPr>
            <p:cNvPr id="34" name="图片 33" descr="ccbab89d846c452b299f7fec1aed888819acf5116a97-N6RZWz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>
            <a:xfrm rot="5400000" flipV="1">
              <a:off x="4147" y="5243"/>
              <a:ext cx="3197" cy="4119"/>
            </a:xfrm>
            <a:prstGeom prst="rect">
              <a:avLst/>
            </a:prstGeom>
            <a:effectLst>
              <a:reflection blurRad="139700" stA="33000" endA="300" endPos="20000" dir="5400000" sy="-100000" algn="bl" rotWithShape="0"/>
            </a:effectLst>
          </p:spPr>
        </p:pic>
        <p:pic>
          <p:nvPicPr>
            <p:cNvPr id="35" name="图片 34" descr="高新企业"/>
            <p:cNvPicPr>
              <a:picLocks noChangeAspect="1"/>
            </p:cNvPicPr>
            <p:nvPr/>
          </p:nvPicPr>
          <p:blipFill>
            <a:blip r:embed="rId4">
              <a:lum contrast="-6000"/>
            </a:blip>
            <a:srcRect/>
            <a:stretch>
              <a:fillRect/>
            </a:stretch>
          </p:blipFill>
          <p:spPr>
            <a:xfrm>
              <a:off x="4113" y="6159"/>
              <a:ext cx="3265" cy="2288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 rot="0">
            <a:off x="9926320" y="223520"/>
            <a:ext cx="2066290" cy="2662555"/>
            <a:chOff x="7866" y="4590"/>
            <a:chExt cx="3346" cy="4311"/>
          </a:xfrm>
          <a:effectLst>
            <a:reflection blurRad="190500" stA="10000" endPos="20000" dir="5400000" sy="-100000" algn="bl" rotWithShape="0"/>
          </a:effectLst>
        </p:grpSpPr>
        <p:pic>
          <p:nvPicPr>
            <p:cNvPr id="37" name="图片 36" descr="ccbab89d846c452b299f7fec1aed888819acf5116a97-N6RZWz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>
            <a:xfrm>
              <a:off x="7866" y="4590"/>
              <a:ext cx="3346" cy="4311"/>
            </a:xfrm>
            <a:prstGeom prst="rect">
              <a:avLst/>
            </a:prstGeom>
            <a:effectLst>
              <a:reflection blurRad="190500" stA="32000" endA="300" endPos="20000" dir="5400000" sy="-100000" algn="bl" rotWithShape="0"/>
            </a:effectLst>
          </p:spPr>
        </p:pic>
        <p:pic>
          <p:nvPicPr>
            <p:cNvPr id="38" name="图片 37" descr="CMMI3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8312" y="5084"/>
              <a:ext cx="2455" cy="3323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 rot="0">
            <a:off x="9926320" y="2956560"/>
            <a:ext cx="2066925" cy="1604010"/>
            <a:chOff x="11267" y="5704"/>
            <a:chExt cx="4177" cy="3242"/>
          </a:xfrm>
          <a:effectLst>
            <a:reflection blurRad="127000" stA="30000" endA="300" endPos="30000" dir="5400000" sy="-100000" algn="bl" rotWithShape="0"/>
          </a:effectLst>
        </p:grpSpPr>
        <p:pic>
          <p:nvPicPr>
            <p:cNvPr id="40" name="图片 39" descr="ccbab89d846c452b299f7fec1aed888819acf5116a97-N6RZWz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>
            <a:xfrm rot="5400000" flipV="1">
              <a:off x="11734" y="5236"/>
              <a:ext cx="3242" cy="4177"/>
            </a:xfrm>
            <a:prstGeom prst="rect">
              <a:avLst/>
            </a:prstGeom>
            <a:effectLst>
              <a:reflection stA="10000" endA="300" endPos="17000" dir="5400000" sy="-100000" algn="bl" rotWithShape="0"/>
            </a:effectLst>
          </p:spPr>
        </p:pic>
        <p:pic>
          <p:nvPicPr>
            <p:cNvPr id="41" name="图片 40" descr="专精特新"/>
            <p:cNvPicPr>
              <a:picLocks noChangeAspect="1"/>
            </p:cNvPicPr>
            <p:nvPr/>
          </p:nvPicPr>
          <p:blipFill>
            <a:blip r:embed="rId8">
              <a:alphaModFix amt="96000"/>
            </a:blip>
            <a:srcRect/>
            <a:stretch>
              <a:fillRect/>
            </a:stretch>
          </p:blipFill>
          <p:spPr>
            <a:xfrm>
              <a:off x="11676" y="6164"/>
              <a:ext cx="3359" cy="2321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/>
        </p:nvGrpSpPr>
        <p:grpSpPr>
          <a:xfrm rot="0">
            <a:off x="7828915" y="2936240"/>
            <a:ext cx="1935480" cy="2494280"/>
            <a:chOff x="15498" y="4590"/>
            <a:chExt cx="3346" cy="4311"/>
          </a:xfrm>
          <a:effectLst>
            <a:reflection blurRad="127000" stA="30000" endA="300" endPos="30000" dir="5400000" sy="-100000" algn="bl" rotWithShape="0"/>
          </a:effectLst>
        </p:grpSpPr>
        <p:pic>
          <p:nvPicPr>
            <p:cNvPr id="43" name="图片 42" descr="ccbab89d846c452b299f7fec1aed888819acf5116a97-N6RZWz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>
            <a:xfrm>
              <a:off x="15498" y="4590"/>
              <a:ext cx="3346" cy="4311"/>
            </a:xfrm>
            <a:prstGeom prst="rect">
              <a:avLst/>
            </a:prstGeom>
            <a:effectLst>
              <a:reflection blurRad="139700" stA="10000" endA="300" endPos="15000" dir="5400000" sy="-100000" algn="bl" rotWithShape="0"/>
            </a:effectLst>
          </p:spPr>
        </p:pic>
        <p:pic>
          <p:nvPicPr>
            <p:cNvPr id="44" name="图片 43" descr="ISO45001_00"/>
            <p:cNvPicPr>
              <a:picLocks noChangeAspect="1"/>
            </p:cNvPicPr>
            <p:nvPr/>
          </p:nvPicPr>
          <p:blipFill>
            <a:blip r:embed="rId10">
              <a:alphaModFix amt="95000"/>
            </a:blip>
            <a:stretch>
              <a:fillRect/>
            </a:stretch>
          </p:blipFill>
          <p:spPr>
            <a:xfrm>
              <a:off x="15973" y="5055"/>
              <a:ext cx="2396" cy="3382"/>
            </a:xfrm>
            <a:prstGeom prst="rect">
              <a:avLst/>
            </a:prstGeom>
          </p:spPr>
        </p:pic>
      </p:grpSp>
      <p:grpSp>
        <p:nvGrpSpPr>
          <p:cNvPr id="47" name="组合 46"/>
          <p:cNvGrpSpPr/>
          <p:nvPr/>
        </p:nvGrpSpPr>
        <p:grpSpPr>
          <a:xfrm rot="0">
            <a:off x="9926320" y="5002530"/>
            <a:ext cx="2066290" cy="1604010"/>
            <a:chOff x="14821" y="6810"/>
            <a:chExt cx="3994" cy="3100"/>
          </a:xfrm>
        </p:grpSpPr>
        <p:pic>
          <p:nvPicPr>
            <p:cNvPr id="45" name="图片 44" descr="ccbab89d846c452b299f7fec1aed888819acf5116a97-N6RZWz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>
            <a:xfrm rot="5400000" flipV="1">
              <a:off x="15268" y="6363"/>
              <a:ext cx="3100" cy="3994"/>
            </a:xfrm>
            <a:prstGeom prst="rect">
              <a:avLst/>
            </a:prstGeom>
            <a:effectLst>
              <a:reflection blurRad="114300" stA="30000" endA="300" endPos="20000" dir="5400000" sy="-100000" algn="bl" rotWithShape="0"/>
            </a:effectLst>
          </p:spPr>
        </p:pic>
        <p:pic>
          <p:nvPicPr>
            <p:cNvPr id="46" name="图片 45" descr="微信图片_2025022816463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alphaModFix amt="96000"/>
              <a:lum bright="18000" contrast="6000"/>
            </a:blip>
            <a:stretch>
              <a:fillRect/>
            </a:stretch>
          </p:blipFill>
          <p:spPr>
            <a:xfrm>
              <a:off x="15219" y="7264"/>
              <a:ext cx="3221" cy="21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7869555" y="2585720"/>
            <a:ext cx="0" cy="269240"/>
          </a:xfrm>
          <a:prstGeom prst="line">
            <a:avLst/>
          </a:prstGeom>
          <a:ln>
            <a:solidFill>
              <a:srgbClr val="3671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7882255" y="2582545"/>
            <a:ext cx="1725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高新技术企业</a:t>
            </a:r>
            <a:endParaRPr lang="zh-CN" altLang="en-US" sz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7882255" y="5513070"/>
            <a:ext cx="0" cy="269240"/>
          </a:xfrm>
          <a:prstGeom prst="line">
            <a:avLst/>
          </a:prstGeom>
          <a:ln>
            <a:solidFill>
              <a:srgbClr val="3671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7894955" y="5509895"/>
            <a:ext cx="1725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多项</a:t>
            </a:r>
            <a:r>
              <a:rPr lang="en-US" altLang="zh-CN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ISO</a:t>
            </a:r>
            <a:r>
              <a:rPr lang="zh-CN" altLang="en-US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管理体系认证</a:t>
            </a:r>
            <a:endParaRPr lang="zh-CN" altLang="en-US" sz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9727565" y="6249670"/>
            <a:ext cx="0" cy="269240"/>
          </a:xfrm>
          <a:prstGeom prst="line">
            <a:avLst/>
          </a:prstGeom>
          <a:ln>
            <a:solidFill>
              <a:srgbClr val="3671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8495030" y="6246495"/>
            <a:ext cx="12166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江苏瞪羚企业</a:t>
            </a:r>
            <a:endParaRPr lang="zh-CN" altLang="en-US" sz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9974580" y="4628515"/>
            <a:ext cx="0" cy="269240"/>
          </a:xfrm>
          <a:prstGeom prst="line">
            <a:avLst/>
          </a:prstGeom>
          <a:ln>
            <a:solidFill>
              <a:srgbClr val="3671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9987280" y="4625340"/>
            <a:ext cx="1725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江苏省专精特新企业</a:t>
            </a:r>
            <a:endParaRPr lang="zh-CN" altLang="en-US" sz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9740265" y="351155"/>
            <a:ext cx="0" cy="269240"/>
          </a:xfrm>
          <a:prstGeom prst="line">
            <a:avLst/>
          </a:prstGeom>
          <a:ln>
            <a:solidFill>
              <a:srgbClr val="3671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8507730" y="347980"/>
            <a:ext cx="12166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CMMI</a:t>
            </a:r>
            <a:r>
              <a:rPr lang="zh-CN" altLang="en-US" sz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三级认证</a:t>
            </a:r>
            <a:endParaRPr lang="zh-CN" altLang="en-US" sz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635" y="5447665"/>
            <a:ext cx="6096000" cy="699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以技术创新驱动商业进化，</a:t>
            </a:r>
            <a:r>
              <a:rPr lang="zh-CN" altLang="en-US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永葆企业生命力</a:t>
            </a:r>
            <a:endParaRPr lang="zh-CN" altLang="en-US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lvl="0" indent="0" algn="just" fontAlgn="auto">
              <a:lnSpc>
                <a:spcPts val="1980"/>
              </a:lnSpc>
              <a:spcBef>
                <a:spcPts val="600"/>
              </a:spcBef>
            </a:pPr>
            <a:r>
              <a:rPr lang="zh-CN" altLang="en-US" spc="130" dirty="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在同质化的软件服务市场中构建属于自身的核心竞争力</a:t>
            </a:r>
            <a:endParaRPr lang="zh-CN" altLang="en-US" spc="130" dirty="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806133" y="1686560"/>
            <a:ext cx="1231265" cy="1231265"/>
          </a:xfrm>
          <a:prstGeom prst="ellipse">
            <a:avLst/>
          </a:prstGeom>
          <a:gradFill>
            <a:gsLst>
              <a:gs pos="0">
                <a:srgbClr val="3671F6">
                  <a:alpha val="50000"/>
                </a:srgbClr>
              </a:gs>
              <a:gs pos="42000">
                <a:srgbClr val="3671F6">
                  <a:alpha val="10000"/>
                </a:srgbClr>
              </a:gs>
              <a:gs pos="65000">
                <a:srgbClr val="3671F6">
                  <a:alpha val="0"/>
                </a:srgbClr>
              </a:gs>
            </a:gsLst>
            <a:lin ang="16200000" scaled="0"/>
          </a:gradFill>
          <a:ln>
            <a:gradFill>
              <a:gsLst>
                <a:gs pos="0">
                  <a:srgbClr val="3671F6"/>
                </a:gs>
                <a:gs pos="44000">
                  <a:srgbClr val="3671F6">
                    <a:alpha val="10000"/>
                  </a:srgbClr>
                </a:gs>
                <a:gs pos="67000">
                  <a:srgbClr val="3671F6">
                    <a:alpha val="0"/>
                  </a:srgbClr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2800" b="1">
              <a:ln>
                <a:noFill/>
              </a:ln>
              <a:gradFill>
                <a:gsLst>
                  <a:gs pos="100000">
                    <a:srgbClr val="4066EE"/>
                  </a:gs>
                  <a:gs pos="0">
                    <a:srgbClr val="15BAB1"/>
                  </a:gs>
                </a:gsLst>
                <a:lin ang="4440000" scaled="0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208" y="1988820"/>
            <a:ext cx="1301115" cy="6451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p>
            <a:pPr algn="ctr"/>
            <a:r>
              <a:rPr lang="en-US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78%</a:t>
            </a:r>
            <a:endParaRPr lang="en-US" altLang="en-US" sz="3600" b="1">
              <a:ln>
                <a:noFill/>
              </a:ln>
              <a:solidFill>
                <a:srgbClr val="3671F6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1015" y="3014980"/>
            <a:ext cx="18415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微软雅黑 Light" panose="020B0502040204020203" charset="-122"/>
                <a:sym typeface="+mn-ea"/>
              </a:rPr>
              <a:t>技术人才团队占比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微软雅黑 Light" panose="020B0502040204020203" charset="-122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831148" y="1686560"/>
            <a:ext cx="1231265" cy="1231265"/>
          </a:xfrm>
          <a:prstGeom prst="ellipse">
            <a:avLst/>
          </a:prstGeom>
          <a:gradFill>
            <a:gsLst>
              <a:gs pos="0">
                <a:srgbClr val="3671F6">
                  <a:alpha val="50000"/>
                </a:srgbClr>
              </a:gs>
              <a:gs pos="42000">
                <a:srgbClr val="3671F6">
                  <a:alpha val="10000"/>
                </a:srgbClr>
              </a:gs>
              <a:gs pos="65000">
                <a:srgbClr val="3671F6">
                  <a:alpha val="0"/>
                </a:srgbClr>
              </a:gs>
            </a:gsLst>
            <a:lin ang="16200000" scaled="0"/>
          </a:gradFill>
          <a:ln>
            <a:gradFill>
              <a:gsLst>
                <a:gs pos="0">
                  <a:srgbClr val="3671F6"/>
                </a:gs>
                <a:gs pos="44000">
                  <a:srgbClr val="3671F6">
                    <a:alpha val="10000"/>
                  </a:srgbClr>
                </a:gs>
                <a:gs pos="67000">
                  <a:srgbClr val="3671F6">
                    <a:alpha val="0"/>
                  </a:srgbClr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2800" b="1">
              <a:ln>
                <a:noFill/>
              </a:ln>
              <a:gradFill>
                <a:gsLst>
                  <a:gs pos="100000">
                    <a:srgbClr val="4066EE"/>
                  </a:gs>
                  <a:gs pos="0">
                    <a:srgbClr val="15BAB1"/>
                  </a:gs>
                </a:gsLst>
                <a:lin ang="4440000" scaled="0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96223" y="1988820"/>
            <a:ext cx="1301115" cy="6451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49</a:t>
            </a:r>
            <a:r>
              <a:rPr lang="zh-CN" altLang="en-US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类</a:t>
            </a:r>
            <a:endParaRPr lang="zh-CN" altLang="en-US" sz="3600" b="1">
              <a:ln>
                <a:noFill/>
              </a:ln>
              <a:solidFill>
                <a:srgbClr val="3671F6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26030" y="3014980"/>
            <a:ext cx="18415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微软雅黑 Light" panose="020B0502040204020203" charset="-122"/>
                <a:sym typeface="+mn-ea"/>
              </a:rPr>
              <a:t>技术研发岗人才覆盖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微软雅黑 Light" panose="020B0502040204020203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56163" y="1684020"/>
            <a:ext cx="1231265" cy="1231265"/>
          </a:xfrm>
          <a:prstGeom prst="ellipse">
            <a:avLst/>
          </a:prstGeom>
          <a:gradFill>
            <a:gsLst>
              <a:gs pos="0">
                <a:srgbClr val="3671F6">
                  <a:alpha val="50000"/>
                </a:srgbClr>
              </a:gs>
              <a:gs pos="42000">
                <a:srgbClr val="3671F6">
                  <a:alpha val="10000"/>
                </a:srgbClr>
              </a:gs>
              <a:gs pos="65000">
                <a:srgbClr val="3671F6">
                  <a:alpha val="0"/>
                </a:srgbClr>
              </a:gs>
            </a:gsLst>
            <a:lin ang="16200000" scaled="0"/>
          </a:gradFill>
          <a:ln>
            <a:gradFill>
              <a:gsLst>
                <a:gs pos="0">
                  <a:srgbClr val="3671F6"/>
                </a:gs>
                <a:gs pos="44000">
                  <a:srgbClr val="3671F6">
                    <a:alpha val="10000"/>
                  </a:srgbClr>
                </a:gs>
                <a:gs pos="67000">
                  <a:srgbClr val="3671F6">
                    <a:alpha val="0"/>
                  </a:srgbClr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2800" b="1">
              <a:ln>
                <a:noFill/>
              </a:ln>
              <a:gradFill>
                <a:gsLst>
                  <a:gs pos="100000">
                    <a:srgbClr val="4066EE"/>
                  </a:gs>
                  <a:gs pos="0">
                    <a:srgbClr val="15BAB1"/>
                  </a:gs>
                </a:gsLst>
                <a:lin ang="4440000" scaled="0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21238" y="1986280"/>
            <a:ext cx="1301115" cy="6451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p>
            <a:pPr algn="ctr"/>
            <a:r>
              <a:rPr lang="en-US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30%</a:t>
            </a:r>
            <a:endParaRPr lang="en-US" altLang="en-US" sz="3600" b="1">
              <a:ln>
                <a:noFill/>
              </a:ln>
              <a:solidFill>
                <a:srgbClr val="3671F6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51045" y="3012440"/>
            <a:ext cx="18415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微软雅黑 Light" panose="020B0502040204020203" charset="-122"/>
                <a:sym typeface="+mn-ea"/>
              </a:rPr>
              <a:t>研发投入同比增长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微软雅黑 Light" panose="020B0502040204020203" charset="-122"/>
              <a:sym typeface="+mn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6133" y="3400425"/>
            <a:ext cx="1231265" cy="1231265"/>
          </a:xfrm>
          <a:prstGeom prst="ellipse">
            <a:avLst/>
          </a:prstGeom>
          <a:gradFill>
            <a:gsLst>
              <a:gs pos="0">
                <a:srgbClr val="3671F6">
                  <a:alpha val="50000"/>
                </a:srgbClr>
              </a:gs>
              <a:gs pos="42000">
                <a:srgbClr val="3671F6">
                  <a:alpha val="10000"/>
                </a:srgbClr>
              </a:gs>
              <a:gs pos="65000">
                <a:srgbClr val="3671F6">
                  <a:alpha val="0"/>
                </a:srgbClr>
              </a:gs>
            </a:gsLst>
            <a:lin ang="16200000" scaled="0"/>
          </a:gradFill>
          <a:ln>
            <a:gradFill>
              <a:gsLst>
                <a:gs pos="0">
                  <a:srgbClr val="3671F6"/>
                </a:gs>
                <a:gs pos="44000">
                  <a:srgbClr val="3671F6">
                    <a:alpha val="10000"/>
                  </a:srgbClr>
                </a:gs>
                <a:gs pos="67000">
                  <a:srgbClr val="3671F6">
                    <a:alpha val="0"/>
                  </a:srgbClr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2800" b="1">
              <a:ln>
                <a:noFill/>
              </a:ln>
              <a:gradFill>
                <a:gsLst>
                  <a:gs pos="100000">
                    <a:srgbClr val="4066EE"/>
                  </a:gs>
                  <a:gs pos="0">
                    <a:srgbClr val="15BAB1"/>
                  </a:gs>
                </a:gsLst>
                <a:lin ang="4440000" scaled="0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71208" y="3702685"/>
            <a:ext cx="1301115" cy="6451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</a:t>
            </a:r>
            <a:r>
              <a:rPr lang="zh-CN" altLang="en-US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</a:t>
            </a:r>
            <a:endParaRPr lang="zh-CN" altLang="en-US" sz="3600" b="1">
              <a:ln>
                <a:noFill/>
              </a:ln>
              <a:solidFill>
                <a:srgbClr val="3671F6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1015" y="4728845"/>
            <a:ext cx="18415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微软雅黑 Light" panose="020B0502040204020203" charset="-122"/>
                <a:sym typeface="+mn-ea"/>
              </a:rPr>
              <a:t>发明专利认证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微软雅黑 Light" panose="020B0502040204020203" charset="-122"/>
              <a:sym typeface="+mn-ea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831148" y="3397885"/>
            <a:ext cx="1231265" cy="1231265"/>
          </a:xfrm>
          <a:prstGeom prst="ellipse">
            <a:avLst/>
          </a:prstGeom>
          <a:gradFill>
            <a:gsLst>
              <a:gs pos="0">
                <a:srgbClr val="3671F6">
                  <a:alpha val="50000"/>
                </a:srgbClr>
              </a:gs>
              <a:gs pos="42000">
                <a:srgbClr val="3671F6">
                  <a:alpha val="10000"/>
                </a:srgbClr>
              </a:gs>
              <a:gs pos="65000">
                <a:srgbClr val="3671F6">
                  <a:alpha val="0"/>
                </a:srgbClr>
              </a:gs>
            </a:gsLst>
            <a:lin ang="16200000" scaled="0"/>
          </a:gradFill>
          <a:ln>
            <a:gradFill>
              <a:gsLst>
                <a:gs pos="0">
                  <a:srgbClr val="3671F6"/>
                </a:gs>
                <a:gs pos="44000">
                  <a:srgbClr val="3671F6">
                    <a:alpha val="10000"/>
                  </a:srgbClr>
                </a:gs>
                <a:gs pos="67000">
                  <a:srgbClr val="3671F6">
                    <a:alpha val="0"/>
                  </a:srgbClr>
                </a:gs>
              </a:gsLst>
              <a:lin ang="162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2800" b="1">
              <a:ln>
                <a:noFill/>
              </a:ln>
              <a:gradFill>
                <a:gsLst>
                  <a:gs pos="100000">
                    <a:srgbClr val="4066EE"/>
                  </a:gs>
                  <a:gs pos="0">
                    <a:srgbClr val="15BAB1"/>
                  </a:gs>
                </a:gsLst>
                <a:lin ang="4440000" scaled="0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96223" y="3700145"/>
            <a:ext cx="1301115" cy="64516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88</a:t>
            </a:r>
            <a:r>
              <a:rPr lang="zh-CN" altLang="en-US" sz="3600" b="1">
                <a:ln>
                  <a:noFill/>
                </a:ln>
                <a:solidFill>
                  <a:srgbClr val="3671F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</a:t>
            </a:r>
            <a:endParaRPr lang="zh-CN" altLang="en-US" sz="3600" b="1">
              <a:ln>
                <a:noFill/>
              </a:ln>
              <a:solidFill>
                <a:srgbClr val="3671F6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526030" y="4726305"/>
            <a:ext cx="18415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微软雅黑 Light" panose="020B0502040204020203" charset="-122"/>
                <a:sym typeface="+mn-ea"/>
              </a:rPr>
              <a:t>软件著作权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微软雅黑 Light" panose="020B0502040204020203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6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3621405" y="297815"/>
            <a:ext cx="8314055" cy="66770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1015" y="447040"/>
            <a:ext cx="3526790" cy="1035685"/>
          </a:xfrm>
          <a:prstGeom prst="rect">
            <a:avLst/>
          </a:prstGeom>
          <a:effectLst>
            <a:reflection blurRad="152400" stA="20000" endPos="42000" dir="5400000" sy="-100000" algn="bl" rotWithShape="0"/>
          </a:effectLst>
        </p:spPr>
      </p:pic>
      <p:sp>
        <p:nvSpPr>
          <p:cNvPr id="141" name="文本框 140"/>
          <p:cNvSpPr txBox="1"/>
          <p:nvPr/>
        </p:nvSpPr>
        <p:spPr>
          <a:xfrm>
            <a:off x="910590" y="4354830"/>
            <a:ext cx="4373245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 fontAlgn="auto">
              <a:lnSpc>
                <a:spcPts val="198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全国部署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16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大本地化服务团队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just" fontAlgn="auto">
              <a:lnSpc>
                <a:spcPts val="198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南京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北京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杭州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上海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广州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深圳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合肥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天津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苏州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成都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重庆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贵阳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郑州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武汉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西安</a:t>
            </a:r>
            <a:r>
              <a:rPr lang="en-US" altLang="zh-CN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/</a:t>
            </a:r>
            <a:r>
              <a:rPr lang="zh-CN" altLang="en-US"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长沙</a:t>
            </a:r>
            <a:endParaRPr lang="zh-CN" altLang="en-US" sz="140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0590" y="2171065"/>
            <a:ext cx="5250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3671F6"/>
                </a:solidFill>
                <a:ea typeface="+mn-lt"/>
                <a:cs typeface="+mn-lt"/>
                <a:sym typeface="微软雅黑" panose="020B0503020204020204" charset="-122"/>
              </a:rPr>
              <a:t>打造覆盖</a:t>
            </a:r>
            <a:r>
              <a:rPr lang="en-US" altLang="zh-CN" sz="2000" b="1" dirty="0">
                <a:solidFill>
                  <a:srgbClr val="3671F6"/>
                </a:solidFill>
                <a:ea typeface="+mn-lt"/>
                <a:cs typeface="+mn-lt"/>
                <a:sym typeface="微软雅黑" panose="020B0503020204020204" charset="-122"/>
              </a:rPr>
              <a:t>IT</a:t>
            </a:r>
            <a:r>
              <a:rPr lang="zh-CN" altLang="en-US" sz="2000" b="1" dirty="0">
                <a:solidFill>
                  <a:srgbClr val="3671F6"/>
                </a:solidFill>
                <a:ea typeface="+mn-lt"/>
                <a:cs typeface="+mn-lt"/>
                <a:sym typeface="微软雅黑" panose="020B0503020204020204" charset="-122"/>
              </a:rPr>
              <a:t>服务全链路的数字化服务生态</a:t>
            </a:r>
            <a:endParaRPr lang="zh-CN" altLang="en-US" sz="2000" b="1" dirty="0">
              <a:solidFill>
                <a:srgbClr val="3671F6"/>
              </a:solidFill>
              <a:ea typeface="+mn-lt"/>
              <a:cs typeface="+mn-lt"/>
              <a:sym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10590" y="3898900"/>
            <a:ext cx="47593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3671F6"/>
                </a:solidFill>
                <a:ea typeface="+mn-lt"/>
                <a:cs typeface="微软雅黑" panose="020B0503020204020204" charset="-122"/>
                <a:sym typeface="+mn-ea"/>
              </a:rPr>
              <a:t>构建全国本地化服务生态</a:t>
            </a:r>
            <a:endParaRPr lang="zh-CN" altLang="en-US" sz="2000" b="1" dirty="0">
              <a:solidFill>
                <a:srgbClr val="3671F6"/>
              </a:solidFill>
              <a:ea typeface="+mn-lt"/>
              <a:cs typeface="微软雅黑" panose="020B0503020204020204" charset="-122"/>
              <a:sym typeface="+mn-ea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910590" y="2631440"/>
            <a:ext cx="3807460" cy="1006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 fontAlgn="auto">
              <a:lnSpc>
                <a:spcPts val="198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云服务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为接口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just" fontAlgn="auto">
              <a:lnSpc>
                <a:spcPts val="198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软件服务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为核心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just" fontAlgn="auto">
              <a:lnSpc>
                <a:spcPts val="198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微软雅黑" panose="020B0503020204020204" charset="-122"/>
              </a:rPr>
              <a:t>以自主研发产品为企业赋能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3" name="图片 12" descr="企业微信截图_eda51e73-49ea-4f96-ace2-807f737caaba"/>
          <p:cNvPicPr>
            <a:picLocks noChangeAspect="1"/>
          </p:cNvPicPr>
          <p:nvPr/>
        </p:nvPicPr>
        <p:blipFill>
          <a:blip r:embed="rId3">
            <a:alphaModFix amt="5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-100000"/>
          </a:blip>
          <a:srcRect/>
          <a:stretch>
            <a:fillRect/>
          </a:stretch>
        </p:blipFill>
        <p:spPr>
          <a:xfrm>
            <a:off x="11102975" y="5486400"/>
            <a:ext cx="1115695" cy="1365885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8735060" y="2202180"/>
            <a:ext cx="575310" cy="1131570"/>
            <a:chOff x="14043" y="3417"/>
            <a:chExt cx="906" cy="1782"/>
          </a:xfrm>
        </p:grpSpPr>
        <p:sp>
          <p:nvSpPr>
            <p:cNvPr id="16" name="矩形 15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北京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882380" y="4961255"/>
            <a:ext cx="575310" cy="1131570"/>
            <a:chOff x="14043" y="3417"/>
            <a:chExt cx="906" cy="1782"/>
          </a:xfrm>
        </p:grpSpPr>
        <p:sp>
          <p:nvSpPr>
            <p:cNvPr id="39" name="矩形 38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广州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533255" y="2290445"/>
            <a:ext cx="575310" cy="1131570"/>
            <a:chOff x="14043" y="3417"/>
            <a:chExt cx="906" cy="1782"/>
          </a:xfrm>
        </p:grpSpPr>
        <p:sp>
          <p:nvSpPr>
            <p:cNvPr id="43" name="矩形 42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天津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7429500" y="3935095"/>
            <a:ext cx="575310" cy="1131570"/>
            <a:chOff x="14043" y="3417"/>
            <a:chExt cx="906" cy="1782"/>
          </a:xfrm>
        </p:grpSpPr>
        <p:sp>
          <p:nvSpPr>
            <p:cNvPr id="47" name="矩形 46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成都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0239375" y="3598545"/>
            <a:ext cx="575310" cy="1131570"/>
            <a:chOff x="14043" y="3417"/>
            <a:chExt cx="906" cy="1782"/>
          </a:xfrm>
        </p:grpSpPr>
        <p:sp>
          <p:nvSpPr>
            <p:cNvPr id="60" name="矩形 59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上海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9821545" y="3794125"/>
            <a:ext cx="575310" cy="1131570"/>
            <a:chOff x="14043" y="3417"/>
            <a:chExt cx="906" cy="1782"/>
          </a:xfrm>
        </p:grpSpPr>
        <p:sp>
          <p:nvSpPr>
            <p:cNvPr id="64" name="矩形 63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苏州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208135" y="3655695"/>
            <a:ext cx="575310" cy="1131570"/>
            <a:chOff x="14043" y="3417"/>
            <a:chExt cx="906" cy="1782"/>
          </a:xfrm>
        </p:grpSpPr>
        <p:sp>
          <p:nvSpPr>
            <p:cNvPr id="68" name="矩形 67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合肥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918700" y="4129405"/>
            <a:ext cx="575310" cy="1131570"/>
            <a:chOff x="14043" y="3417"/>
            <a:chExt cx="906" cy="1782"/>
          </a:xfrm>
        </p:grpSpPr>
        <p:sp>
          <p:nvSpPr>
            <p:cNvPr id="73" name="矩形 72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杭州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625965" y="3458845"/>
            <a:ext cx="575310" cy="1131570"/>
            <a:chOff x="13392" y="4088"/>
            <a:chExt cx="906" cy="1782"/>
          </a:xfrm>
        </p:grpSpPr>
        <p:sp>
          <p:nvSpPr>
            <p:cNvPr id="20" name="矩形 19"/>
            <p:cNvSpPr/>
            <p:nvPr/>
          </p:nvSpPr>
          <p:spPr>
            <a:xfrm>
              <a:off x="13392" y="4088"/>
              <a:ext cx="906" cy="4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南京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3450" y="5400"/>
              <a:ext cx="803" cy="470"/>
            </a:xfrm>
            <a:prstGeom prst="ellipse">
              <a:avLst/>
            </a:prstGeom>
            <a:solidFill>
              <a:schemeClr val="accent6">
                <a:alpha val="5000"/>
              </a:schemeClr>
            </a:solidFill>
            <a:ln w="0">
              <a:gradFill>
                <a:gsLst>
                  <a:gs pos="100000">
                    <a:schemeClr val="accent6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3785" y="4528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chemeClr val="accent6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926705" y="3924935"/>
            <a:ext cx="575310" cy="1131570"/>
            <a:chOff x="14043" y="3417"/>
            <a:chExt cx="906" cy="1782"/>
          </a:xfrm>
        </p:grpSpPr>
        <p:sp>
          <p:nvSpPr>
            <p:cNvPr id="7" name="矩形 6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重庆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484870" y="3204845"/>
            <a:ext cx="575310" cy="1131570"/>
            <a:chOff x="14043" y="3417"/>
            <a:chExt cx="906" cy="1782"/>
          </a:xfrm>
        </p:grpSpPr>
        <p:sp>
          <p:nvSpPr>
            <p:cNvPr id="11" name="矩形 10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郑州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740015" y="2772410"/>
            <a:ext cx="575310" cy="1131570"/>
            <a:chOff x="14043" y="3417"/>
            <a:chExt cx="906" cy="1782"/>
          </a:xfrm>
        </p:grpSpPr>
        <p:sp>
          <p:nvSpPr>
            <p:cNvPr id="21" name="矩形 20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西安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669655" y="3458845"/>
            <a:ext cx="575310" cy="1131570"/>
            <a:chOff x="14043" y="3417"/>
            <a:chExt cx="906" cy="1782"/>
          </a:xfrm>
        </p:grpSpPr>
        <p:sp>
          <p:nvSpPr>
            <p:cNvPr id="27" name="矩形 26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武汉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556625" y="3821430"/>
            <a:ext cx="575310" cy="1131570"/>
            <a:chOff x="14043" y="3417"/>
            <a:chExt cx="906" cy="1782"/>
          </a:xfrm>
        </p:grpSpPr>
        <p:sp>
          <p:nvSpPr>
            <p:cNvPr id="31" name="矩形 30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长沙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343390" y="5056505"/>
            <a:ext cx="575310" cy="1131570"/>
            <a:chOff x="14043" y="3417"/>
            <a:chExt cx="906" cy="1782"/>
          </a:xfrm>
        </p:grpSpPr>
        <p:sp>
          <p:nvSpPr>
            <p:cNvPr id="35" name="矩形 34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深圳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030845" y="4292600"/>
            <a:ext cx="575310" cy="1131570"/>
            <a:chOff x="14043" y="3417"/>
            <a:chExt cx="906" cy="1782"/>
          </a:xfrm>
        </p:grpSpPr>
        <p:sp>
          <p:nvSpPr>
            <p:cNvPr id="55" name="矩形 54"/>
            <p:cNvSpPr/>
            <p:nvPr/>
          </p:nvSpPr>
          <p:spPr>
            <a:xfrm>
              <a:off x="14043" y="3417"/>
              <a:ext cx="906" cy="440"/>
            </a:xfrm>
            <a:prstGeom prst="rect">
              <a:avLst/>
            </a:prstGeom>
            <a:solidFill>
              <a:srgbClr val="4066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贵阳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4101" y="4729"/>
              <a:ext cx="803" cy="470"/>
            </a:xfrm>
            <a:prstGeom prst="ellipse">
              <a:avLst/>
            </a:prstGeom>
            <a:solidFill>
              <a:srgbClr val="4066EE">
                <a:alpha val="5000"/>
              </a:srgbClr>
            </a:solidFill>
            <a:ln w="0">
              <a:gradFill>
                <a:gsLst>
                  <a:gs pos="100000">
                    <a:srgbClr val="4066EE"/>
                  </a:gs>
                  <a:gs pos="0">
                    <a:srgbClr val="50F2D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4436" y="3857"/>
              <a:ext cx="119" cy="1212"/>
            </a:xfrm>
            <a:prstGeom prst="rect">
              <a:avLst/>
            </a:prstGeom>
            <a:gradFill>
              <a:gsLst>
                <a:gs pos="0">
                  <a:srgbClr val="1C61D2">
                    <a:alpha val="0"/>
                  </a:srgbClr>
                </a:gs>
                <a:gs pos="100000">
                  <a:srgbClr val="4066EE">
                    <a:alpha val="76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文本框 52"/>
          <p:cNvSpPr txBox="1"/>
          <p:nvPr/>
        </p:nvSpPr>
        <p:spPr>
          <a:xfrm>
            <a:off x="501015" y="642620"/>
            <a:ext cx="5250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rgbClr val="3671F6"/>
                </a:solidFill>
              </a:rPr>
              <a:t>搭建一站式</a:t>
            </a:r>
            <a:r>
              <a:rPr lang="en-US" altLang="zh-CN" sz="3600" b="1">
                <a:solidFill>
                  <a:srgbClr val="3671F6"/>
                </a:solidFill>
              </a:rPr>
              <a:t>IT</a:t>
            </a:r>
            <a:r>
              <a:rPr lang="zh-CN" altLang="en-US" sz="3600" b="1">
                <a:solidFill>
                  <a:srgbClr val="3671F6"/>
                </a:solidFill>
              </a:rPr>
              <a:t>服务平台</a:t>
            </a:r>
            <a:endParaRPr lang="zh-CN" altLang="en-US" sz="3600" b="1">
              <a:solidFill>
                <a:srgbClr val="3671F6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501015" y="1363345"/>
            <a:ext cx="3460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云底座</a:t>
            </a:r>
            <a:r>
              <a:rPr lang="en-US" altLang="zh-CN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软件服务</a:t>
            </a:r>
            <a:r>
              <a:rPr lang="en-US" altLang="zh-CN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创新产品</a:t>
            </a:r>
            <a:endParaRPr lang="zh-CN" altLang="en-US" sz="20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30600" y="5030470"/>
            <a:ext cx="8014335" cy="1577975"/>
          </a:xfrm>
          <a:prstGeom prst="ellipse">
            <a:avLst/>
          </a:prstGeom>
          <a:gradFill>
            <a:gsLst>
              <a:gs pos="0">
                <a:srgbClr val="4179EC">
                  <a:alpha val="0"/>
                </a:srgbClr>
              </a:gs>
              <a:gs pos="100000">
                <a:srgbClr val="1552D1">
                  <a:alpha val="40000"/>
                </a:srgbClr>
              </a:gs>
            </a:gsLst>
            <a:lin ang="5400000" scaled="0"/>
          </a:gradFill>
          <a:ln>
            <a:gradFill>
              <a:gsLst>
                <a:gs pos="0">
                  <a:srgbClr val="4179EC">
                    <a:alpha val="0"/>
                  </a:srgbClr>
                </a:gs>
                <a:gs pos="100000">
                  <a:srgbClr val="1552D1"/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0">
            <a:off x="5564505" y="4942205"/>
            <a:ext cx="3947795" cy="1136650"/>
            <a:chOff x="6493" y="7223"/>
            <a:chExt cx="6217" cy="1790"/>
          </a:xfrm>
        </p:grpSpPr>
        <p:sp>
          <p:nvSpPr>
            <p:cNvPr id="5" name="图形 73"/>
            <p:cNvSpPr/>
            <p:nvPr/>
          </p:nvSpPr>
          <p:spPr>
            <a:xfrm>
              <a:off x="6496" y="7223"/>
              <a:ext cx="6214" cy="1790"/>
            </a:xfrm>
            <a:custGeom>
              <a:avLst/>
              <a:gdLst>
                <a:gd name="connsiteX0" fmla="*/ 1803500 w 1805172"/>
                <a:gd name="connsiteY0" fmla="*/ 381986 h 1049222"/>
                <a:gd name="connsiteX1" fmla="*/ 900914 w 1805172"/>
                <a:gd name="connsiteY1" fmla="*/ -384 h 1049222"/>
                <a:gd name="connsiteX2" fmla="*/ -1672 w 1805172"/>
                <a:gd name="connsiteY2" fmla="*/ 381986 h 1049222"/>
                <a:gd name="connsiteX3" fmla="*/ -1672 w 1805172"/>
                <a:gd name="connsiteY3" fmla="*/ 666469 h 1049222"/>
                <a:gd name="connsiteX4" fmla="*/ 900914 w 1805172"/>
                <a:gd name="connsiteY4" fmla="*/ 1048839 h 1049222"/>
                <a:gd name="connsiteX5" fmla="*/ 1803500 w 1805172"/>
                <a:gd name="connsiteY5" fmla="*/ 666469 h 104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5172" h="1049222">
                  <a:moveTo>
                    <a:pt x="1803500" y="381986"/>
                  </a:moveTo>
                  <a:cubicBezTo>
                    <a:pt x="1803500" y="170790"/>
                    <a:pt x="1399117" y="-384"/>
                    <a:pt x="900914" y="-384"/>
                  </a:cubicBezTo>
                  <a:cubicBezTo>
                    <a:pt x="402713" y="-384"/>
                    <a:pt x="-1672" y="170790"/>
                    <a:pt x="-1672" y="381986"/>
                  </a:cubicBezTo>
                  <a:lnTo>
                    <a:pt x="-1672" y="666469"/>
                  </a:lnTo>
                  <a:cubicBezTo>
                    <a:pt x="-1672" y="877664"/>
                    <a:pt x="402713" y="1048839"/>
                    <a:pt x="900914" y="1048839"/>
                  </a:cubicBezTo>
                  <a:cubicBezTo>
                    <a:pt x="1399117" y="1048839"/>
                    <a:pt x="1803500" y="877664"/>
                    <a:pt x="1803500" y="666469"/>
                  </a:cubicBezTo>
                  <a:close/>
                </a:path>
              </a:pathLst>
            </a:custGeom>
            <a:gradFill>
              <a:gsLst>
                <a:gs pos="0">
                  <a:srgbClr val="4179EC">
                    <a:alpha val="76000"/>
                  </a:srgbClr>
                </a:gs>
                <a:gs pos="100000">
                  <a:srgbClr val="4179EC"/>
                </a:gs>
              </a:gsLst>
              <a:lin ang="5400000" scaled="0"/>
            </a:gradFill>
            <a:ln w="12678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6" name="旁门左道出品"/>
            <p:cNvSpPr/>
            <p:nvPr/>
          </p:nvSpPr>
          <p:spPr>
            <a:xfrm>
              <a:off x="6493" y="7707"/>
              <a:ext cx="6214" cy="1298"/>
            </a:xfrm>
            <a:prstGeom prst="ellipse">
              <a:avLst/>
            </a:prstGeom>
            <a:gradFill>
              <a:gsLst>
                <a:gs pos="0">
                  <a:srgbClr val="4179EC"/>
                </a:gs>
                <a:gs pos="100000">
                  <a:srgbClr val="1552D1"/>
                </a:gs>
              </a:gsLst>
              <a:lin ang="5400000" scaled="0"/>
            </a:gradFill>
            <a:ln w="6350">
              <a:gradFill flip="none" rotWithShape="1">
                <a:gsLst>
                  <a:gs pos="13000">
                    <a:schemeClr val="accent1">
                      <a:alpha val="0"/>
                      <a:lumMod val="99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旁门左道出品"/>
            <p:cNvSpPr/>
            <p:nvPr/>
          </p:nvSpPr>
          <p:spPr>
            <a:xfrm>
              <a:off x="6493" y="7223"/>
              <a:ext cx="6214" cy="1298"/>
            </a:xfrm>
            <a:prstGeom prst="ellipse">
              <a:avLst/>
            </a:prstGeom>
            <a:gradFill>
              <a:gsLst>
                <a:gs pos="0">
                  <a:srgbClr val="1552D1">
                    <a:alpha val="62000"/>
                  </a:srgbClr>
                </a:gs>
                <a:gs pos="100000">
                  <a:srgbClr val="1552D1"/>
                </a:gs>
              </a:gsLst>
              <a:lin ang="5400000" scaled="0"/>
            </a:gra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2" name="图片 11" descr="花瓣素材_云计算概念_11539568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55385" y="4336415"/>
            <a:ext cx="2089785" cy="146621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741795" y="4950460"/>
            <a:ext cx="1423035" cy="368300"/>
          </a:xfrm>
          <a:prstGeom prst="rect">
            <a:avLst/>
          </a:prstGeom>
          <a:noFill/>
          <a:scene3d>
            <a:camera prst="perspectiveLeft">
              <a:rot lat="1200000" lon="1800000" rev="0"/>
            </a:camera>
            <a:lightRig rig="threePt" dir="t"/>
          </a:scene3d>
        </p:spPr>
        <p:txBody>
          <a:bodyPr wrap="square" rtlCol="0">
            <a:spAutoFit/>
          </a:bodyPr>
          <a:p>
            <a:r>
              <a:rPr lang="zh-CN" altLang="en-US" b="1">
                <a:ln>
                  <a:noFill/>
                </a:ln>
                <a:solidFill>
                  <a:schemeClr val="bg1"/>
                </a:solidFill>
              </a:rPr>
              <a:t>云服务底座</a:t>
            </a:r>
            <a:endParaRPr lang="zh-CN" altLang="en-US" b="1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61180" y="5085715"/>
            <a:ext cx="914400" cy="537845"/>
          </a:xfrm>
          <a:prstGeom prst="rect">
            <a:avLst/>
          </a:prstGeom>
          <a:effectLst>
            <a:glow rad="38100">
              <a:srgbClr val="4179EC">
                <a:alpha val="33000"/>
              </a:srgbClr>
            </a:glow>
            <a:reflection blurRad="25400" stA="20000" endA="300" endPos="35000" dir="5400000" sy="-100000" algn="bl" rotWithShape="0"/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18710" y="5715000"/>
            <a:ext cx="914400" cy="537845"/>
          </a:xfrm>
          <a:prstGeom prst="rect">
            <a:avLst/>
          </a:prstGeom>
          <a:effectLst>
            <a:glow rad="38100">
              <a:srgbClr val="4179EC">
                <a:alpha val="33000"/>
              </a:srgbClr>
            </a:glow>
            <a:reflection blurRad="25400" stA="20000" endA="300" endPos="35000" dir="5400000" sy="-100000" algn="bl" rotWithShape="0"/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0785" y="5901690"/>
            <a:ext cx="914400" cy="537845"/>
          </a:xfrm>
          <a:prstGeom prst="rect">
            <a:avLst/>
          </a:prstGeom>
          <a:effectLst>
            <a:glow rad="38100">
              <a:schemeClr val="accent1">
                <a:satMod val="175000"/>
                <a:alpha val="33000"/>
              </a:schemeClr>
            </a:glow>
            <a:reflection blurRad="25400" stA="20000" endA="300" endPos="35000" dir="5400000" sy="-100000" algn="bl" rotWithShape="0"/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44790" y="5908040"/>
            <a:ext cx="914400" cy="537845"/>
          </a:xfrm>
          <a:prstGeom prst="rect">
            <a:avLst/>
          </a:prstGeom>
          <a:effectLst>
            <a:glow rad="38100">
              <a:srgbClr val="4179EC">
                <a:alpha val="33000"/>
              </a:srgbClr>
            </a:glow>
            <a:reflection blurRad="25400" stA="20000" endA="300" endPos="35000" dir="5400000" sy="-100000" algn="bl" rotWithShape="0"/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50350" y="5715000"/>
            <a:ext cx="914400" cy="537845"/>
          </a:xfrm>
          <a:prstGeom prst="rect">
            <a:avLst/>
          </a:prstGeom>
          <a:effectLst>
            <a:glow rad="38100">
              <a:srgbClr val="4179EC">
                <a:alpha val="33000"/>
              </a:srgbClr>
            </a:glow>
            <a:reflection blurRad="25400" stA="20000" endA="300" endPos="35000" dir="5400000" sy="-100000" algn="bl" rotWithShape="0"/>
          </a:effectLst>
        </p:spPr>
      </p:pic>
      <p:sp>
        <p:nvSpPr>
          <p:cNvPr id="20" name="文本框 19"/>
          <p:cNvSpPr txBox="1"/>
          <p:nvPr/>
        </p:nvSpPr>
        <p:spPr>
          <a:xfrm>
            <a:off x="4335780" y="5281930"/>
            <a:ext cx="96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云服务器</a:t>
            </a:r>
            <a:endParaRPr lang="zh-CN" alt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93310" y="5908040"/>
            <a:ext cx="96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云存储</a:t>
            </a:r>
            <a:endParaRPr lang="zh-CN" alt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55385" y="5946140"/>
            <a:ext cx="965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云架构</a:t>
            </a:r>
            <a:endParaRPr lang="zh-CN" alt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设计</a:t>
            </a:r>
            <a:endParaRPr lang="zh-CN" alt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835265" y="6087745"/>
            <a:ext cx="96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云安全</a:t>
            </a:r>
            <a:endParaRPr lang="zh-CN" alt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158605" y="5901690"/>
            <a:ext cx="96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接入</a:t>
            </a:r>
            <a:endParaRPr lang="zh-CN" alt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96145" y="5085715"/>
            <a:ext cx="914400" cy="537845"/>
          </a:xfrm>
          <a:prstGeom prst="rect">
            <a:avLst/>
          </a:prstGeom>
          <a:effectLst>
            <a:glow rad="38100">
              <a:srgbClr val="4179EC">
                <a:alpha val="33000"/>
              </a:srgbClr>
            </a:glow>
            <a:reflection blurRad="25400" stA="20000" endA="300" endPos="35000" dir="5400000" sy="-100000" algn="bl" rotWithShape="0"/>
          </a:effectLst>
        </p:spPr>
      </p:pic>
      <p:sp>
        <p:nvSpPr>
          <p:cNvPr id="27" name="文本框 26"/>
          <p:cNvSpPr txBox="1"/>
          <p:nvPr/>
        </p:nvSpPr>
        <p:spPr>
          <a:xfrm>
            <a:off x="9804400" y="5272405"/>
            <a:ext cx="96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4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……</a:t>
            </a:r>
            <a:endParaRPr lang="en-US" sz="140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5438775" y="2484120"/>
            <a:ext cx="4194175" cy="28359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21" h="6106">
                <a:moveTo>
                  <a:pt x="0" y="0"/>
                </a:moveTo>
                <a:lnTo>
                  <a:pt x="4721" y="0"/>
                </a:lnTo>
                <a:lnTo>
                  <a:pt x="4695" y="24"/>
                </a:lnTo>
                <a:cubicBezTo>
                  <a:pt x="4122" y="538"/>
                  <a:pt x="3656" y="1311"/>
                  <a:pt x="3426" y="2234"/>
                </a:cubicBezTo>
                <a:cubicBezTo>
                  <a:pt x="3010" y="3899"/>
                  <a:pt x="3503" y="5499"/>
                  <a:pt x="4539" y="6098"/>
                </a:cubicBezTo>
                <a:lnTo>
                  <a:pt x="4552" y="6106"/>
                </a:lnTo>
                <a:lnTo>
                  <a:pt x="169" y="6106"/>
                </a:lnTo>
                <a:lnTo>
                  <a:pt x="183" y="6098"/>
                </a:lnTo>
                <a:cubicBezTo>
                  <a:pt x="1218" y="5499"/>
                  <a:pt x="1711" y="3899"/>
                  <a:pt x="1296" y="2234"/>
                </a:cubicBezTo>
                <a:cubicBezTo>
                  <a:pt x="1066" y="1311"/>
                  <a:pt x="600" y="538"/>
                  <a:pt x="27" y="2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5BAB1">
                  <a:alpha val="0"/>
                </a:srgbClr>
              </a:gs>
              <a:gs pos="63000">
                <a:srgbClr val="1552D1">
                  <a:alpha val="80000"/>
                </a:srgbClr>
              </a:gs>
              <a:gs pos="100000">
                <a:srgbClr val="1552D1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4358005" y="2864485"/>
            <a:ext cx="6359525" cy="1241425"/>
          </a:xfrm>
          <a:prstGeom prst="ellipse">
            <a:avLst/>
          </a:prstGeom>
          <a:gradFill>
            <a:gsLst>
              <a:gs pos="0">
                <a:srgbClr val="4179EC">
                  <a:alpha val="0"/>
                </a:srgbClr>
              </a:gs>
              <a:gs pos="100000">
                <a:srgbClr val="1552D1">
                  <a:alpha val="40000"/>
                </a:srgbClr>
              </a:gs>
            </a:gsLst>
            <a:lin ang="5400000" scaled="0"/>
          </a:gradFill>
          <a:ln>
            <a:gradFill>
              <a:gsLst>
                <a:gs pos="0">
                  <a:srgbClr val="4179EC">
                    <a:alpha val="0"/>
                  </a:srgbClr>
                </a:gs>
                <a:gs pos="100000">
                  <a:srgbClr val="1552D1"/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5070475" y="1903095"/>
            <a:ext cx="4934585" cy="963295"/>
          </a:xfrm>
          <a:prstGeom prst="ellipse">
            <a:avLst/>
          </a:prstGeom>
          <a:gradFill>
            <a:gsLst>
              <a:gs pos="0">
                <a:srgbClr val="15BAB1">
                  <a:alpha val="20000"/>
                </a:srgbClr>
              </a:gs>
              <a:gs pos="100000">
                <a:srgbClr val="15BAB1">
                  <a:alpha val="32000"/>
                </a:srgbClr>
              </a:gs>
            </a:gsLst>
            <a:lin ang="5400000" scaled="0"/>
          </a:gradFill>
          <a:ln>
            <a:gradFill>
              <a:gsLst>
                <a:gs pos="0">
                  <a:srgbClr val="4179EC">
                    <a:alpha val="7000"/>
                  </a:srgbClr>
                </a:gs>
                <a:gs pos="100000">
                  <a:srgbClr val="15BAB1"/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竖版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5485" y="1895475"/>
            <a:ext cx="965200" cy="568960"/>
          </a:xfrm>
          <a:prstGeom prst="rect">
            <a:avLst/>
          </a:prstGeom>
          <a:effectLst>
            <a:reflection blurRad="50800" stA="52000" endA="300" endPos="35000" dir="5400000" sy="-100000" algn="bl" rotWithShape="0"/>
          </a:effectLst>
        </p:spPr>
      </p:pic>
      <p:sp>
        <p:nvSpPr>
          <p:cNvPr id="39" name="文本框 38"/>
          <p:cNvSpPr txBox="1"/>
          <p:nvPr/>
        </p:nvSpPr>
        <p:spPr>
          <a:xfrm>
            <a:off x="4872990" y="3597275"/>
            <a:ext cx="14547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业务管理应用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341495" y="3302000"/>
            <a:ext cx="127000" cy="127000"/>
          </a:xfrm>
          <a:prstGeom prst="ellipse">
            <a:avLst/>
          </a:prstGeom>
          <a:gradFill>
            <a:gsLst>
              <a:gs pos="0">
                <a:srgbClr val="1552D1">
                  <a:alpha val="100000"/>
                </a:srgbClr>
              </a:gs>
              <a:gs pos="100000">
                <a:srgbClr val="4179E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5537200" y="3910965"/>
            <a:ext cx="127000" cy="127000"/>
          </a:xfrm>
          <a:prstGeom prst="ellipse">
            <a:avLst/>
          </a:prstGeom>
          <a:gradFill>
            <a:gsLst>
              <a:gs pos="0">
                <a:srgbClr val="1552D1">
                  <a:alpha val="100000"/>
                </a:srgbClr>
              </a:gs>
              <a:gs pos="100000">
                <a:srgbClr val="4179E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9331960" y="3910965"/>
            <a:ext cx="127000" cy="127000"/>
          </a:xfrm>
          <a:prstGeom prst="ellipse">
            <a:avLst/>
          </a:prstGeom>
          <a:gradFill>
            <a:gsLst>
              <a:gs pos="0">
                <a:srgbClr val="1552D1">
                  <a:alpha val="100000"/>
                </a:srgbClr>
              </a:gs>
              <a:gs pos="100000">
                <a:srgbClr val="4179E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10617835" y="3302000"/>
            <a:ext cx="127000" cy="127000"/>
          </a:xfrm>
          <a:prstGeom prst="ellipse">
            <a:avLst/>
          </a:prstGeom>
          <a:gradFill>
            <a:gsLst>
              <a:gs pos="0">
                <a:srgbClr val="1552D1">
                  <a:alpha val="100000"/>
                </a:srgbClr>
              </a:gs>
              <a:gs pos="100000">
                <a:srgbClr val="4179E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3629660" y="2995295"/>
            <a:ext cx="15513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经营管理应用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935" y="3597275"/>
            <a:ext cx="12890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生产管理系统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992995" y="2995295"/>
            <a:ext cx="13766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……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cxnSp>
        <p:nvCxnSpPr>
          <p:cNvPr id="64" name="直接连接符 63"/>
          <p:cNvCxnSpPr/>
          <p:nvPr/>
        </p:nvCxnSpPr>
        <p:spPr>
          <a:xfrm flipH="1">
            <a:off x="2277745" y="5715000"/>
            <a:ext cx="1000125" cy="0"/>
          </a:xfrm>
          <a:prstGeom prst="line">
            <a:avLst/>
          </a:prstGeom>
          <a:ln w="0">
            <a:solidFill>
              <a:srgbClr val="4179EC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2277745" y="3489960"/>
            <a:ext cx="1499235" cy="0"/>
          </a:xfrm>
          <a:prstGeom prst="line">
            <a:avLst/>
          </a:prstGeom>
          <a:ln w="0">
            <a:solidFill>
              <a:srgbClr val="4179EC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21030" y="2068195"/>
            <a:ext cx="1501775" cy="459740"/>
            <a:chOff x="978" y="3257"/>
            <a:chExt cx="2365" cy="724"/>
          </a:xfrm>
        </p:grpSpPr>
        <p:sp>
          <p:nvSpPr>
            <p:cNvPr id="69" name="矩形 68"/>
            <p:cNvSpPr/>
            <p:nvPr/>
          </p:nvSpPr>
          <p:spPr>
            <a:xfrm>
              <a:off x="978" y="3755"/>
              <a:ext cx="2364" cy="221"/>
            </a:xfrm>
            <a:prstGeom prst="rect">
              <a:avLst/>
            </a:prstGeom>
            <a:solidFill>
              <a:srgbClr val="3671F6"/>
            </a:solidFill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79" y="3257"/>
              <a:ext cx="236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+mn-ea"/>
                </a:rPr>
                <a:t>产品自研</a:t>
              </a:r>
              <a:endParaRPr lang="zh-CN" altLang="en-US" sz="2400" b="1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253" name="旁门左道出品"/>
          <p:cNvSpPr/>
          <p:nvPr/>
        </p:nvSpPr>
        <p:spPr>
          <a:xfrm>
            <a:off x="6082665" y="2829560"/>
            <a:ext cx="3009265" cy="660400"/>
          </a:xfrm>
          <a:prstGeom prst="ellipse">
            <a:avLst/>
          </a:prstGeom>
          <a:noFill/>
          <a:ln w="6350" cap="rnd">
            <a:gradFill>
              <a:gsLst>
                <a:gs pos="59000">
                  <a:srgbClr val="4179EC">
                    <a:alpha val="0"/>
                  </a:srgbClr>
                </a:gs>
                <a:gs pos="100000">
                  <a:srgbClr val="15BAB1"/>
                </a:gs>
              </a:gsLst>
              <a:lin ang="7620000" scaled="1"/>
            </a:gra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1" name="旁门左道出品"/>
          <p:cNvSpPr/>
          <p:nvPr/>
        </p:nvSpPr>
        <p:spPr>
          <a:xfrm>
            <a:off x="6174740" y="4001770"/>
            <a:ext cx="2701925" cy="466725"/>
          </a:xfrm>
          <a:prstGeom prst="ellipse">
            <a:avLst/>
          </a:prstGeom>
          <a:noFill/>
          <a:ln w="6350" cap="rnd">
            <a:gradFill>
              <a:gsLst>
                <a:gs pos="59000">
                  <a:srgbClr val="4179EC">
                    <a:alpha val="0"/>
                  </a:srgbClr>
                </a:gs>
                <a:gs pos="100000">
                  <a:srgbClr val="4179EC">
                    <a:alpha val="80000"/>
                  </a:srgbClr>
                </a:gs>
              </a:gsLst>
              <a:lin ang="1860000" scaled="1"/>
            </a:gra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6864350" y="1859915"/>
            <a:ext cx="127000" cy="127000"/>
          </a:xfrm>
          <a:prstGeom prst="ellipse">
            <a:avLst/>
          </a:prstGeom>
          <a:gradFill>
            <a:gsLst>
              <a:gs pos="0">
                <a:srgbClr val="31A7D9"/>
              </a:gs>
              <a:gs pos="100000">
                <a:srgbClr val="15BA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8164830" y="1859915"/>
            <a:ext cx="127000" cy="127000"/>
          </a:xfrm>
          <a:prstGeom prst="ellipse">
            <a:avLst/>
          </a:prstGeom>
          <a:gradFill>
            <a:gsLst>
              <a:gs pos="0">
                <a:srgbClr val="31A7D9"/>
              </a:gs>
              <a:gs pos="100000">
                <a:srgbClr val="15BA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>
            <a:off x="5564505" y="2009775"/>
            <a:ext cx="127000" cy="127000"/>
          </a:xfrm>
          <a:prstGeom prst="ellipse">
            <a:avLst/>
          </a:prstGeom>
          <a:gradFill>
            <a:gsLst>
              <a:gs pos="0">
                <a:srgbClr val="31A7D9"/>
              </a:gs>
              <a:gs pos="100000">
                <a:srgbClr val="15BA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6347460" y="2739390"/>
            <a:ext cx="127000" cy="127000"/>
          </a:xfrm>
          <a:prstGeom prst="ellipse">
            <a:avLst/>
          </a:prstGeom>
          <a:gradFill>
            <a:gsLst>
              <a:gs pos="0">
                <a:srgbClr val="31A7D9"/>
              </a:gs>
              <a:gs pos="100000">
                <a:srgbClr val="15BA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8589010" y="2737485"/>
            <a:ext cx="127000" cy="127000"/>
          </a:xfrm>
          <a:prstGeom prst="ellipse">
            <a:avLst/>
          </a:prstGeom>
          <a:gradFill>
            <a:gsLst>
              <a:gs pos="0">
                <a:srgbClr val="31A7D9"/>
              </a:gs>
              <a:gs pos="100000">
                <a:srgbClr val="15BA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9380855" y="2009775"/>
            <a:ext cx="127000" cy="127000"/>
          </a:xfrm>
          <a:prstGeom prst="ellipse">
            <a:avLst/>
          </a:prstGeom>
          <a:gradFill>
            <a:gsLst>
              <a:gs pos="0">
                <a:srgbClr val="31A7D9"/>
              </a:gs>
              <a:gs pos="100000">
                <a:srgbClr val="15BA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5013325" y="1703070"/>
            <a:ext cx="12287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AI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知识库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271260" y="1553210"/>
            <a:ext cx="13144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企业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MES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系统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985125" y="1553210"/>
            <a:ext cx="4864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400">
                <a:solidFill>
                  <a:srgbClr val="15BAB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……</a:t>
            </a:r>
            <a:endParaRPr lang="en-US" sz="1400">
              <a:solidFill>
                <a:srgbClr val="15BAB1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8690610" y="1703070"/>
            <a:ext cx="15068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在线商城小程序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037195" y="2217420"/>
            <a:ext cx="1228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企业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网站搭建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796915" y="2217420"/>
            <a:ext cx="1228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CaseCrafter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软件测试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2277745" y="2384425"/>
            <a:ext cx="2558415" cy="0"/>
          </a:xfrm>
          <a:prstGeom prst="line">
            <a:avLst/>
          </a:prstGeom>
          <a:ln w="0">
            <a:solidFill>
              <a:srgbClr val="4179EC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23570" y="3183255"/>
            <a:ext cx="1501775" cy="460375"/>
            <a:chOff x="978" y="3257"/>
            <a:chExt cx="2365" cy="725"/>
          </a:xfrm>
        </p:grpSpPr>
        <p:sp>
          <p:nvSpPr>
            <p:cNvPr id="10" name="矩形 9"/>
            <p:cNvSpPr/>
            <p:nvPr/>
          </p:nvSpPr>
          <p:spPr>
            <a:xfrm>
              <a:off x="978" y="3755"/>
              <a:ext cx="2364" cy="221"/>
            </a:xfrm>
            <a:prstGeom prst="rect">
              <a:avLst/>
            </a:prstGeom>
            <a:solidFill>
              <a:srgbClr val="3671F6"/>
            </a:solidFill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79" y="3257"/>
              <a:ext cx="236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+mn-ea"/>
                </a:rPr>
                <a:t>软件服务</a:t>
              </a:r>
              <a:endParaRPr lang="zh-CN" altLang="en-US" sz="2400" b="1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0395" y="5416550"/>
            <a:ext cx="1501775" cy="460375"/>
            <a:chOff x="978" y="3257"/>
            <a:chExt cx="2365" cy="725"/>
          </a:xfrm>
        </p:grpSpPr>
        <p:sp>
          <p:nvSpPr>
            <p:cNvPr id="22" name="矩形 21"/>
            <p:cNvSpPr/>
            <p:nvPr/>
          </p:nvSpPr>
          <p:spPr>
            <a:xfrm>
              <a:off x="978" y="3755"/>
              <a:ext cx="2364" cy="221"/>
            </a:xfrm>
            <a:prstGeom prst="rect">
              <a:avLst/>
            </a:prstGeom>
            <a:solidFill>
              <a:srgbClr val="3671F6"/>
            </a:solidFill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79" y="3257"/>
              <a:ext cx="236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+mn-ea"/>
                </a:rPr>
                <a:t>云服务</a:t>
              </a:r>
              <a:endParaRPr lang="zh-CN" altLang="en-US" sz="2400" b="1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31" name="椭圆 30"/>
          <p:cNvSpPr/>
          <p:nvPr/>
        </p:nvSpPr>
        <p:spPr>
          <a:xfrm>
            <a:off x="7523480" y="4046220"/>
            <a:ext cx="127000" cy="127000"/>
          </a:xfrm>
          <a:prstGeom prst="ellipse">
            <a:avLst/>
          </a:prstGeom>
          <a:gradFill>
            <a:gsLst>
              <a:gs pos="0">
                <a:srgbClr val="1552D1">
                  <a:alpha val="100000"/>
                </a:srgbClr>
              </a:gs>
              <a:gs pos="100000">
                <a:srgbClr val="4179E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942455" y="3732530"/>
            <a:ext cx="12890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ToC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应用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36600" y="57467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PART ONE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08250" y="574675"/>
            <a:ext cx="146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PART TWO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79900" y="574675"/>
            <a:ext cx="1883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>
                <a:solidFill>
                  <a:srgbClr val="3671F6"/>
                </a:solidFill>
                <a:sym typeface="+mn-ea"/>
              </a:rPr>
              <a:t>PART THREE</a:t>
            </a:r>
            <a:endParaRPr lang="en-US" altLang="zh-CN">
              <a:solidFill>
                <a:srgbClr val="3671F6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982720"/>
            <a:ext cx="558863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服务案例</a:t>
            </a:r>
            <a:endParaRPr lang="zh-CN" altLang="en-US" sz="80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31520" y="5457190"/>
            <a:ext cx="8761730" cy="0"/>
          </a:xfrm>
          <a:prstGeom prst="line">
            <a:avLst/>
          </a:prstGeom>
          <a:ln w="34925">
            <a:gradFill>
              <a:gsLst>
                <a:gs pos="0">
                  <a:srgbClr val="3671F6"/>
                </a:gs>
                <a:gs pos="100000">
                  <a:srgbClr val="15BAB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56590" y="56718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客户案例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&amp;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+mn-ea"/>
              </a:rPr>
              <a:t>行业解决方案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0920" y="4764405"/>
            <a:ext cx="38341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en-US" altLang="zh-CN" sz="2400">
                <a:solidFill>
                  <a:srgbClr val="3671F6"/>
                </a:solidFill>
                <a:latin typeface="微软雅黑" panose="020B0503020204020204" charset="-122"/>
                <a:ea typeface="微软雅黑" panose="020B0503020204020204" charset="-122"/>
              </a:rPr>
              <a:t>CUSTOMER CASE</a:t>
            </a:r>
            <a:endParaRPr lang="en-US" altLang="zh-CN" sz="2400">
              <a:solidFill>
                <a:srgbClr val="367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9" name="图片 198" descr="T240429163814-PSD"/>
          <p:cNvPicPr>
            <a:picLocks noChangeAspect="1"/>
          </p:cNvPicPr>
          <p:nvPr/>
        </p:nvPicPr>
        <p:blipFill>
          <a:blip r:embed="rId1">
            <a:alphaModFix amt="10000"/>
          </a:blip>
          <a:srcRect/>
          <a:stretch>
            <a:fillRect/>
          </a:stretch>
        </p:blipFill>
        <p:spPr>
          <a:xfrm>
            <a:off x="6370955" y="1203325"/>
            <a:ext cx="5848985" cy="56546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81685" y="512445"/>
            <a:ext cx="56635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gradFill>
                  <a:gsLst>
                    <a:gs pos="0">
                      <a:srgbClr val="22BCAC"/>
                    </a:gs>
                    <a:gs pos="100000">
                      <a:srgbClr val="475AEE"/>
                    </a:gs>
                  </a:gsLst>
                  <a:lin ang="30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端木云服务</a:t>
            </a:r>
            <a:endParaRPr lang="zh-CN" altLang="en-US" sz="6000">
              <a:gradFill>
                <a:gsLst>
                  <a:gs pos="0">
                    <a:srgbClr val="06CB9B"/>
                  </a:gs>
                  <a:gs pos="100000">
                    <a:srgbClr val="475AEE"/>
                  </a:gs>
                </a:gsLst>
                <a:lin ang="30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可售解决方案与客户案例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81685" y="2513330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浙江水利水电勘测设计院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781685" y="2869565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数字赋能水利新发展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77570" y="3155950"/>
            <a:ext cx="2653665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端木软件智慧政务云服务解决方案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73125" y="4494530"/>
            <a:ext cx="2653665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端木软件传统零售业上云服务方案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781685" y="3851275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水星家纺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781685" y="4207510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传统制造零售业的求变破局之路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81685" y="5189855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创米互联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81685" y="5546090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以自建物联网平台，赋能智慧生活万物互联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877570" y="5832475"/>
            <a:ext cx="2192020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端木软件物联网云服务方案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4688840" y="2513330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深睿医疗科技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4688840" y="2869565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以智慧医疗让看病不再困难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4784725" y="3155950"/>
            <a:ext cx="2671445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端木软件智慧医疗云服务解决方案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688205" y="3823970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四川川投云链科技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688205" y="4180205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促进金融资源与产业端精准配置、高效对接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4777105" y="4494530"/>
            <a:ext cx="2540000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端木软件金融业云服务解决方案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688840" y="5189855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翰林科技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4688840" y="5546090"/>
            <a:ext cx="29184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以多样化智慧教育产品助力构建智慧校园平台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4784725" y="5832475"/>
            <a:ext cx="2596515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端木软件在线教育云服务解决方案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8473440" y="2515235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成都顺火互娱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473440" y="2871470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高效、安全、智能的游戏运营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8569325" y="3157855"/>
            <a:ext cx="2671445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端木软件游戏行业云服务解决方案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8472170" y="3851910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弗思特建筑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8472170" y="4208145"/>
            <a:ext cx="2692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跨国企业办公模式的智慧变革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8568055" y="4494530"/>
            <a:ext cx="2540000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端木软件无影智慧办公解决方案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8491220" y="5188585"/>
            <a:ext cx="281495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沐坤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8491220" y="5544820"/>
            <a:ext cx="29184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赋能</a:t>
            </a:r>
            <a:r>
              <a:rPr lang="zh-CN" altLang="en-US" sz="10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打造作业智能评阅系统</a:t>
            </a:r>
            <a:endParaRPr lang="zh-CN" altLang="en-US" sz="10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8587105" y="5831205"/>
            <a:ext cx="2596515" cy="279400"/>
          </a:xfrm>
          <a:prstGeom prst="rect">
            <a:avLst/>
          </a:prstGeom>
          <a:gradFill>
            <a:gsLst>
              <a:gs pos="0">
                <a:srgbClr val="2868EA"/>
              </a:gs>
              <a:gs pos="100000">
                <a:srgbClr val="24CEB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端木软件</a:t>
            </a:r>
            <a:r>
              <a:rPr lang="en-US" altLang="zh-CN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200">
                <a:latin typeface="微软雅黑 Light" panose="020B0502040204020203" charset="-122"/>
                <a:ea typeface="微软雅黑 Light" panose="020B0502040204020203" charset="-122"/>
                <a:cs typeface="微软雅黑" panose="020B0503020204020204" charset="-122"/>
                <a:sym typeface="+mn-ea"/>
              </a:rPr>
              <a:t>教育解决方案</a:t>
            </a:r>
            <a:endParaRPr lang="zh-CN" altLang="en-US" sz="1200">
              <a:latin typeface="微软雅黑 Light" panose="020B0502040204020203" charset="-122"/>
              <a:ea typeface="微软雅黑 Light" panose="020B0502040204020203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1231265" y="1489710"/>
            <a:ext cx="742188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1500" b="1">
                <a:gradFill>
                  <a:gsLst>
                    <a:gs pos="0">
                      <a:schemeClr val="bg1">
                        <a:alpha val="10000"/>
                      </a:schemeClr>
                    </a:gs>
                    <a:gs pos="91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</a:rPr>
              <a:t>THANKS</a:t>
            </a:r>
            <a:endParaRPr lang="en-US" altLang="zh-CN" sz="11500" b="1">
              <a:gradFill>
                <a:gsLst>
                  <a:gs pos="0">
                    <a:schemeClr val="bg1">
                      <a:alpha val="10000"/>
                    </a:schemeClr>
                  </a:gs>
                  <a:gs pos="91000">
                    <a:schemeClr val="bg1">
                      <a:alpha val="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9710" y="2296160"/>
            <a:ext cx="46062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  <a:sym typeface="+mn-ea"/>
              </a:rPr>
              <a:t>感谢观看</a:t>
            </a:r>
            <a:endParaRPr lang="zh-CN" altLang="en-US" sz="8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9710" y="3550920"/>
            <a:ext cx="5304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gradFill>
                  <a:gsLst>
                    <a:gs pos="0">
                      <a:schemeClr val="bg1">
                        <a:alpha val="62000"/>
                      </a:schemeClr>
                    </a:gs>
                    <a:gs pos="100000">
                      <a:srgbClr val="15BAB1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DUANMU SOFTWARE</a:t>
            </a:r>
            <a:endParaRPr lang="en-US" altLang="zh-CN" sz="3200" b="1"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15BAB1"/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602018],&quot;65&quot;:[20205081]}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46444,3504850,50008477,3505414],&quot;65&quot;:[20205081]}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39340],&quot;65&quot;:[20205081]}"/>
</p:tagLst>
</file>

<file path=ppt/tags/tag34.xml><?xml version="1.0" encoding="utf-8"?>
<p:tagLst xmlns:p="http://schemas.openxmlformats.org/presentationml/2006/main">
  <p:tag name="picid" val="{3b1afddb-ee21-46da-bb4f-d45bb4b8d84c}"/>
</p:tagLst>
</file>

<file path=ppt/tags/tag35.xml><?xml version="1.0" encoding="utf-8"?>
<p:tagLst xmlns:p="http://schemas.openxmlformats.org/presentationml/2006/main">
  <p:tag name="picid" val="{75fcf17f-e760-41df-a4eb-87ee3bb9e024}"/>
</p:tagLst>
</file>

<file path=ppt/tags/tag36.xml><?xml version="1.0" encoding="utf-8"?>
<p:tagLst xmlns:p="http://schemas.openxmlformats.org/presentationml/2006/main">
  <p:tag name="picid" val="{14904adb-0e38-4aab-a24c-7740098d0363}"/>
</p:tagLst>
</file>

<file path=ppt/tags/tag37.xml><?xml version="1.0" encoding="utf-8"?>
<p:tagLst xmlns:p="http://schemas.openxmlformats.org/presentationml/2006/main">
  <p:tag name="picid" val="{b13017d9-618f-4ac7-9eb4-7fef574f3693}"/>
</p:tagLst>
</file>

<file path=ppt/tags/tag38.xml><?xml version="1.0" encoding="utf-8"?>
<p:tagLst xmlns:p="http://schemas.openxmlformats.org/presentationml/2006/main">
  <p:tag name="picid" val="{0bb44576-cad4-4359-9d51-cb59e794ba02}"/>
</p:tagLst>
</file>

<file path=ppt/tags/tag39.xml><?xml version="1.0" encoding="utf-8"?>
<p:tagLst xmlns:p="http://schemas.openxmlformats.org/presentationml/2006/main">
  <p:tag name="picid" val="{57e30eee-33ab-4a46-ae72-d180e1e56691}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resource_record_key" val="{&quot;10&quot;:[21543097,21551124,21581391,4526941,4530443,20280983,20277378,20288668,3639277,20281619,21582009,20278180,3504136,3655861,50027660,50037756,4522304,20277582,20093111,3504178,50029494,21537274,21569594,4524166,21601058,21602268,50034409,4590462,21601830,21601669,21559244,3505097,4520033,4450795,21559253,21559601,3505106,3659036,4524151,21582607,50047996,50029645,50025759,4519714,21561292,21542535,21601081,20062930,50047009,50023236,3649412,3639273,4518795,3504309,4588837,3476677,21559309,20280649,50039340,21569611,4523837,4519705,21602018,3641576,50040391,50040392,50040213,50044147,50040586,50040399,50040386,50040231,50040217,50040209,50040206,50040266,50040355,50040381,50040144,21540333,3633624,4610341,4532506,21580072,20286838,3732417,3632281,3632276,3505173,21546444,3504850,50008477,3505414,4519002,4519001,21581289,50026891,50020971,50022793,21558684],&quot;12&quot;:[25073102,25004055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2832</Words>
  <Application>WPS 演示</Application>
  <PresentationFormat>宽屏</PresentationFormat>
  <Paragraphs>454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Wingdings</vt:lpstr>
      <vt:lpstr>微软雅黑 Light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瑾炎</cp:lastModifiedBy>
  <cp:revision>439</cp:revision>
  <dcterms:created xsi:type="dcterms:W3CDTF">2026-01-08T08:08:00Z</dcterms:created>
  <dcterms:modified xsi:type="dcterms:W3CDTF">2026-10-26T08:32:56Z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C48E87C96A924003903B43C9F59000BC_11</vt:lpwstr>
  </property>
</Properties>
</file>