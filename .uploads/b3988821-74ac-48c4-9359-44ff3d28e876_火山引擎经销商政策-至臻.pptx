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69" r:id="rId3"/>
    <p:sldId id="270" r:id="rId4"/>
    <p:sldId id="261" r:id="rId5"/>
    <p:sldId id="265" r:id="rId6"/>
    <p:sldId id="262" r:id="rId7"/>
    <p:sldId id="267" r:id="rId8"/>
  </p:sldIdLst>
  <p:sldSz cx="24384000" cy="13716000"/>
  <p:notesSz cx="6858000" cy="9144000"/>
  <p:custDataLst>
    <p:tags r:id="rId10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6BFE"/>
    <a:srgbClr val="77CFFF"/>
    <a:srgbClr val="7662FF"/>
    <a:srgbClr val="6167FF"/>
    <a:srgbClr val="0061EB"/>
    <a:srgbClr val="0A62FF"/>
    <a:srgbClr val="003EAE"/>
    <a:srgbClr val="00D1EA"/>
    <a:srgbClr val="1168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76"/>
  </p:normalViewPr>
  <p:slideViewPr>
    <p:cSldViewPr snapToGrid="0">
      <p:cViewPr varScale="1">
        <p:scale>
          <a:sx n="35" d="100"/>
          <a:sy n="35" d="100"/>
        </p:scale>
        <p:origin x="3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0" name="Shape 6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标题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12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有背景图案-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像" descr="图像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48" y="12855329"/>
            <a:ext cx="6096001" cy="251072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4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有背景图案-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已粘贴的影片.png" descr="已粘贴的影片.png"/>
          <p:cNvPicPr>
            <a:picLocks noChangeAspect="1"/>
          </p:cNvPicPr>
          <p:nvPr/>
        </p:nvPicPr>
        <p:blipFill>
          <a:blip r:embed="rId2">
            <a:alphaModFix amt="30237"/>
          </a:blip>
          <a:stretch>
            <a:fillRect/>
          </a:stretch>
        </p:blipFill>
        <p:spPr>
          <a:xfrm>
            <a:off x="-299871" y="-2633295"/>
            <a:ext cx="24983742" cy="18982590"/>
          </a:xfrm>
          <a:prstGeom prst="rect">
            <a:avLst/>
          </a:prstGeom>
          <a:ln w="12700">
            <a:miter lim="400000"/>
          </a:ln>
        </p:spPr>
      </p:pic>
      <p:sp>
        <p:nvSpPr>
          <p:cNvPr id="3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4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无背景图案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4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幻灯片标题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85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文本框 6"/>
          <p:cNvSpPr txBox="1"/>
          <p:nvPr/>
        </p:nvSpPr>
        <p:spPr>
          <a:xfrm>
            <a:off x="3028055" y="7052420"/>
            <a:ext cx="12595226" cy="1107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pc="1919">
                <a:solidFill>
                  <a:srgbClr val="1E2632"/>
                </a:solidFill>
                <a:latin typeface="FZLTHProS-M--GB1-0"/>
                <a:ea typeface="FZLTHProS-M--GB1-0"/>
                <a:cs typeface="FZLTHProS-M--GB1-0"/>
                <a:sym typeface="FZLTHProS-M--GB1-0"/>
              </a:defRPr>
            </a:lvl1pPr>
          </a:lstStyle>
          <a:p>
            <a:r>
              <a:rPr lang="zh-CN" altLang="en-US" sz="6000" dirty="0">
                <a:solidFill>
                  <a:schemeClr val="bg1"/>
                </a:solidFill>
                <a:latin typeface="汉仪雅酷黑 65W" panose="020B0604020202020204" charset="-122"/>
                <a:ea typeface="汉仪雅酷黑 65W" panose="020B0604020202020204" charset="-122"/>
                <a:cs typeface="汉仪中宋简" panose="02010600000101010101" charset="-128"/>
              </a:rPr>
              <a:t>江苏至臻经销商政策介绍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65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504" y="3731939"/>
            <a:ext cx="13408777" cy="16100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EBC2C-C279-836B-B1E5-CC6E88A7A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画框 2备份 16-2.png" descr="画框 2备份 16-2.png">
            <a:extLst>
              <a:ext uri="{FF2B5EF4-FFF2-40B4-BE49-F238E27FC236}">
                <a16:creationId xmlns:a16="http://schemas.microsoft.com/office/drawing/2014/main" id="{DBA0EB9E-44BB-BE07-2450-CE43D4AAE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文本框 4">
            <a:extLst>
              <a:ext uri="{FF2B5EF4-FFF2-40B4-BE49-F238E27FC236}">
                <a16:creationId xmlns:a16="http://schemas.microsoft.com/office/drawing/2014/main" id="{487B7394-966F-4CFD-988A-ABBF4B228270}"/>
              </a:ext>
            </a:extLst>
          </p:cNvPr>
          <p:cNvSpPr txBox="1"/>
          <p:nvPr/>
        </p:nvSpPr>
        <p:spPr>
          <a:xfrm>
            <a:off x="1490718" y="1627545"/>
            <a:ext cx="21402564" cy="1169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6400" spc="71">
                <a:solidFill>
                  <a:srgbClr val="000000"/>
                </a:solidFill>
                <a:latin typeface="FZLTHProS DemiBold"/>
                <a:ea typeface="FZLTHProS DemiBold"/>
                <a:cs typeface="FZLTHProS DemiBold"/>
                <a:sym typeface="FZLTHProS DemiBold"/>
              </a:defRPr>
            </a:pPr>
            <a:r>
              <a:rPr lang="zh-CN" altLang="en-US" b="1" dirty="0">
                <a:solidFill>
                  <a:schemeClr val="tx1"/>
                </a:solidFill>
              </a:rPr>
              <a:t>江苏至臻科技有限公司</a:t>
            </a:r>
          </a:p>
        </p:txBody>
      </p:sp>
      <p:sp>
        <p:nvSpPr>
          <p:cNvPr id="194" name="线条">
            <a:extLst>
              <a:ext uri="{FF2B5EF4-FFF2-40B4-BE49-F238E27FC236}">
                <a16:creationId xmlns:a16="http://schemas.microsoft.com/office/drawing/2014/main" id="{A70F4B44-CA5E-9B1D-7FD2-8127B0329CF7}"/>
              </a:ext>
            </a:extLst>
          </p:cNvPr>
          <p:cNvSpPr/>
          <p:nvPr/>
        </p:nvSpPr>
        <p:spPr>
          <a:xfrm flipV="1">
            <a:off x="14031377" y="5084396"/>
            <a:ext cx="1" cy="634690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5" name="3G         4G">
            <a:extLst>
              <a:ext uri="{FF2B5EF4-FFF2-40B4-BE49-F238E27FC236}">
                <a16:creationId xmlns:a16="http://schemas.microsoft.com/office/drawing/2014/main" id="{6770984A-786F-4021-D4D6-5FB8AF43C25B}"/>
              </a:ext>
            </a:extLst>
          </p:cNvPr>
          <p:cNvSpPr txBox="1"/>
          <p:nvPr/>
        </p:nvSpPr>
        <p:spPr>
          <a:xfrm>
            <a:off x="3117093" y="5458964"/>
            <a:ext cx="6962647" cy="815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20" tIns="45720" rIns="45720" bIns="45720">
            <a:spAutoFit/>
          </a:bodyPr>
          <a:lstStyle/>
          <a:p>
            <a:pPr defTabSz="1828800">
              <a:lnSpc>
                <a:spcPts val="6000"/>
              </a:lnSpc>
              <a:spcBef>
                <a:spcPts val="0"/>
              </a:spcBef>
              <a:defRPr sz="3600" spc="80">
                <a:solidFill>
                  <a:srgbClr val="434343"/>
                </a:solidFill>
                <a:latin typeface="FZLTHProS Light"/>
                <a:ea typeface="FZLTHProS Light"/>
                <a:cs typeface="FZLTHProS Light"/>
                <a:sym typeface="FZLTHProS Light"/>
              </a:defRPr>
            </a:pPr>
            <a:r>
              <a:rPr lang="zh-CN" altLang="en-US" sz="4400" b="1" dirty="0">
                <a:solidFill>
                  <a:srgbClr val="006AFF"/>
                </a:solidFill>
                <a:latin typeface="FZLTHProS-R--GB1-0"/>
              </a:rPr>
              <a:t>火山引擎</a:t>
            </a:r>
            <a:r>
              <a:rPr lang="en-US" altLang="zh-CN" sz="4400" b="1" dirty="0">
                <a:solidFill>
                  <a:srgbClr val="006AFF"/>
                </a:solidFill>
                <a:latin typeface="FZLTHProS-R--GB1-0"/>
              </a:rPr>
              <a:t>CLUB</a:t>
            </a:r>
            <a:r>
              <a:rPr lang="zh-CN" altLang="en-US" sz="4400" b="1" dirty="0">
                <a:solidFill>
                  <a:srgbClr val="006AFF"/>
                </a:solidFill>
                <a:latin typeface="FZLTHProS-R--GB1-0"/>
              </a:rPr>
              <a:t>级</a:t>
            </a:r>
            <a:r>
              <a:rPr lang="en-US" altLang="zh-CN" sz="4400" b="1" dirty="0">
                <a:solidFill>
                  <a:srgbClr val="006AFF"/>
                </a:solidFill>
                <a:latin typeface="FZLTHProS-R--GB1-0"/>
              </a:rPr>
              <a:t>VC</a:t>
            </a:r>
            <a:r>
              <a:rPr lang="zh-CN" altLang="en-US" sz="4400" b="1" dirty="0">
                <a:solidFill>
                  <a:srgbClr val="006AFF"/>
                </a:solidFill>
                <a:latin typeface="FZLTHProS-R--GB1-0"/>
              </a:rPr>
              <a:t>伙伴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693E30-9F25-7DEB-8629-4B592E8BB139}"/>
              </a:ext>
            </a:extLst>
          </p:cNvPr>
          <p:cNvSpPr txBox="1"/>
          <p:nvPr/>
        </p:nvSpPr>
        <p:spPr>
          <a:xfrm>
            <a:off x="3117093" y="7268868"/>
            <a:ext cx="9956741" cy="15587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indent="0" algn="l" fontAlgn="auto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6167FF"/>
                </a:solidFill>
                <a:latin typeface="+mn-ea"/>
                <a:cs typeface="+mn-ea"/>
                <a:sym typeface="微软雅黑" panose="020B0503020204020204" charset="-122"/>
              </a:rPr>
              <a:t>专业的云计算</a:t>
            </a:r>
          </a:p>
          <a:p>
            <a:pPr lvl="0" indent="0" algn="l" fontAlgn="auto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6167FF"/>
                </a:solidFill>
                <a:latin typeface="+mn-ea"/>
                <a:cs typeface="+mn-ea"/>
                <a:sym typeface="微软雅黑" panose="020B0503020204020204" charset="-122"/>
              </a:rPr>
              <a:t>及行业信息化服务提供商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3E06B2-989E-D866-2D69-FD94250F86A7}"/>
              </a:ext>
            </a:extLst>
          </p:cNvPr>
          <p:cNvSpPr txBox="1"/>
          <p:nvPr/>
        </p:nvSpPr>
        <p:spPr>
          <a:xfrm>
            <a:off x="3117093" y="9822309"/>
            <a:ext cx="9719548" cy="12144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 fontAlgn="auto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dirty="0">
                <a:solidFill>
                  <a:srgbClr val="7662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微软雅黑" panose="020B0503020204020204" charset="-122"/>
              </a:rPr>
              <a:t>以“云底座</a:t>
            </a:r>
            <a:r>
              <a:rPr lang="en-US" altLang="zh-CN" sz="2400" dirty="0">
                <a:solidFill>
                  <a:srgbClr val="7662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微软雅黑" panose="020B0503020204020204" charset="-122"/>
              </a:rPr>
              <a:t>+</a:t>
            </a:r>
            <a:r>
              <a:rPr lang="zh-CN" altLang="en-US" sz="2400" dirty="0">
                <a:solidFill>
                  <a:srgbClr val="7662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微软雅黑" panose="020B0503020204020204" charset="-122"/>
              </a:rPr>
              <a:t>全链路数字化赋能</a:t>
            </a:r>
            <a:r>
              <a:rPr lang="en-US" altLang="zh-CN" sz="2400" dirty="0">
                <a:solidFill>
                  <a:srgbClr val="7662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微软雅黑" panose="020B0503020204020204" charset="-122"/>
              </a:rPr>
              <a:t>+AI</a:t>
            </a:r>
            <a:r>
              <a:rPr lang="zh-CN" altLang="en-US" sz="2400" dirty="0">
                <a:solidFill>
                  <a:srgbClr val="7662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微软雅黑" panose="020B0503020204020204" charset="-122"/>
              </a:rPr>
              <a:t>智能升级”服务矩阵</a:t>
            </a:r>
          </a:p>
          <a:p>
            <a:pPr lvl="0" algn="l" fontAlgn="auto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dirty="0">
                <a:solidFill>
                  <a:srgbClr val="7662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微软雅黑" panose="020B0503020204020204" charset="-122"/>
              </a:rPr>
              <a:t>构建覆盖各行业企业全生命周期的数字化服务体系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9119509-4D5B-307A-FC30-992E3011E84C}"/>
              </a:ext>
            </a:extLst>
          </p:cNvPr>
          <p:cNvGrpSpPr/>
          <p:nvPr/>
        </p:nvGrpSpPr>
        <p:grpSpPr>
          <a:xfrm>
            <a:off x="15387109" y="4633385"/>
            <a:ext cx="6292339" cy="7246324"/>
            <a:chOff x="11412986" y="4541547"/>
            <a:chExt cx="6292339" cy="7246324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8902E5A-E18B-EA5C-D4FF-8FCDE37ACCD2}"/>
                </a:ext>
              </a:extLst>
            </p:cNvPr>
            <p:cNvSpPr txBox="1"/>
            <p:nvPr/>
          </p:nvSpPr>
          <p:spPr>
            <a:xfrm>
              <a:off x="14030529" y="4838344"/>
              <a:ext cx="1332230" cy="590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3600" b="1" dirty="0">
                  <a:solidFill>
                    <a:srgbClr val="1C6BF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8</a:t>
              </a:r>
              <a:r>
                <a:rPr lang="en-US" altLang="zh-CN" sz="2000" dirty="0">
                  <a:solidFill>
                    <a:srgbClr val="1C6BF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sz="1600" dirty="0">
                  <a:solidFill>
                    <a:srgbClr val="1C6BF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BE0FCBD-678C-53BD-0F83-264278DDE967}"/>
                </a:ext>
              </a:extLst>
            </p:cNvPr>
            <p:cNvSpPr txBox="1"/>
            <p:nvPr/>
          </p:nvSpPr>
          <p:spPr>
            <a:xfrm>
              <a:off x="14005993" y="7413345"/>
              <a:ext cx="2057400" cy="590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1C6BF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16</a:t>
              </a:r>
              <a:r>
                <a:rPr lang="en-US" altLang="zh-CN" sz="2000" dirty="0">
                  <a:solidFill>
                    <a:srgbClr val="1C6BF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sz="1600" dirty="0">
                  <a:solidFill>
                    <a:srgbClr val="1C6BF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大</a:t>
              </a:r>
            </a:p>
          </p:txBody>
        </p:sp>
        <p:pic>
          <p:nvPicPr>
            <p:cNvPr id="10" name="图片 26" descr="组织结构">
              <a:extLst>
                <a:ext uri="{FF2B5EF4-FFF2-40B4-BE49-F238E27FC236}">
                  <a16:creationId xmlns:a16="http://schemas.microsoft.com/office/drawing/2014/main" id="{0A1455D7-9FB2-D883-BA38-D40BB25EB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412986" y="4541547"/>
              <a:ext cx="2057400" cy="2057400"/>
            </a:xfrm>
            <a:prstGeom prst="rect">
              <a:avLst/>
            </a:prstGeom>
          </p:spPr>
        </p:pic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98AEE9FA-BBCE-ECE7-983C-DF541AE2B5DC}"/>
                </a:ext>
              </a:extLst>
            </p:cNvPr>
            <p:cNvCxnSpPr>
              <a:cxnSpLocks/>
            </p:cNvCxnSpPr>
            <p:nvPr/>
          </p:nvCxnSpPr>
          <p:spPr>
            <a:xfrm>
              <a:off x="13713373" y="4784758"/>
              <a:ext cx="0" cy="1570978"/>
            </a:xfrm>
            <a:prstGeom prst="line">
              <a:avLst/>
            </a:prstGeom>
            <a:ln>
              <a:solidFill>
                <a:srgbClr val="77CFFF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A2AFBB4-1DD6-B6F6-DDE1-ED4844D73C69}"/>
                </a:ext>
              </a:extLst>
            </p:cNvPr>
            <p:cNvSpPr txBox="1"/>
            <p:nvPr/>
          </p:nvSpPr>
          <p:spPr>
            <a:xfrm>
              <a:off x="14030529" y="5702218"/>
              <a:ext cx="2891472" cy="4801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2800" b="1" dirty="0">
                  <a:solidFill>
                    <a:srgbClr val="1C6BFE"/>
                  </a:solidFill>
                  <a:latin typeface="微软雅黑 Light" panose="020B0502040204020203" charset="-122"/>
                  <a:ea typeface="微软雅黑 Light" panose="020B0502040204020203" charset="-122"/>
                  <a:sym typeface="+mn-ea"/>
                </a:rPr>
                <a:t>成长历程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77356EF-7461-7901-D2D4-3E2ABDCF9A13}"/>
                </a:ext>
              </a:extLst>
            </p:cNvPr>
            <p:cNvSpPr txBox="1"/>
            <p:nvPr/>
          </p:nvSpPr>
          <p:spPr>
            <a:xfrm>
              <a:off x="14030530" y="8414769"/>
              <a:ext cx="3674795" cy="4801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2800" b="1" dirty="0">
                  <a:solidFill>
                    <a:srgbClr val="1C6BFE"/>
                  </a:solidFill>
                  <a:latin typeface="微软雅黑 Light" panose="020B0502040204020203" charset="-122"/>
                  <a:ea typeface="微软雅黑 Light" panose="020B0502040204020203" charset="-122"/>
                  <a:sym typeface="+mn-ea"/>
                </a:rPr>
                <a:t>全国本地化服务中心</a:t>
              </a:r>
            </a:p>
          </p:txBody>
        </p:sp>
        <p:pic>
          <p:nvPicPr>
            <p:cNvPr id="14" name="图片 34" descr="公司">
              <a:extLst>
                <a:ext uri="{FF2B5EF4-FFF2-40B4-BE49-F238E27FC236}">
                  <a16:creationId xmlns:a16="http://schemas.microsoft.com/office/drawing/2014/main" id="{C618816E-939D-0F78-A184-894F95190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455384" y="7137311"/>
              <a:ext cx="2057400" cy="2057400"/>
            </a:xfrm>
            <a:prstGeom prst="rect">
              <a:avLst/>
            </a:prstGeom>
          </p:spPr>
        </p:pic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D9D1091-0DF5-33D2-1495-3E13809DF057}"/>
                </a:ext>
              </a:extLst>
            </p:cNvPr>
            <p:cNvCxnSpPr>
              <a:cxnSpLocks/>
            </p:cNvCxnSpPr>
            <p:nvPr/>
          </p:nvCxnSpPr>
          <p:spPr>
            <a:xfrm>
              <a:off x="13713373" y="7287493"/>
              <a:ext cx="0" cy="1631559"/>
            </a:xfrm>
            <a:prstGeom prst="line">
              <a:avLst/>
            </a:prstGeom>
            <a:ln>
              <a:solidFill>
                <a:srgbClr val="77CFFF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6" name="图片 41" descr="潜在客户">
              <a:extLst>
                <a:ext uri="{FF2B5EF4-FFF2-40B4-BE49-F238E27FC236}">
                  <a16:creationId xmlns:a16="http://schemas.microsoft.com/office/drawing/2014/main" id="{68C5691E-0CD4-6D1B-EE70-A1188AB66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55384" y="9730471"/>
              <a:ext cx="2057400" cy="2057400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5535A17-D952-1394-45C9-89DD9FD634A2}"/>
                </a:ext>
              </a:extLst>
            </p:cNvPr>
            <p:cNvSpPr txBox="1"/>
            <p:nvPr/>
          </p:nvSpPr>
          <p:spPr>
            <a:xfrm>
              <a:off x="14008898" y="10117273"/>
              <a:ext cx="2057400" cy="590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1C6BF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20000+</a:t>
              </a:r>
              <a:endParaRPr lang="zh-CN" altLang="en-US" sz="1600" dirty="0">
                <a:solidFill>
                  <a:srgbClr val="1C6B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32FE209-8AF5-D21C-80F0-488F7A3ACB27}"/>
                </a:ext>
              </a:extLst>
            </p:cNvPr>
            <p:cNvSpPr txBox="1"/>
            <p:nvPr/>
          </p:nvSpPr>
          <p:spPr>
            <a:xfrm>
              <a:off x="14030529" y="10951249"/>
              <a:ext cx="3674795" cy="4801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2800" b="1" dirty="0">
                  <a:solidFill>
                    <a:srgbClr val="1C6BFE"/>
                  </a:solidFill>
                  <a:latin typeface="微软雅黑 Light" panose="020B0502040204020203" charset="-122"/>
                  <a:ea typeface="微软雅黑 Light" panose="020B0502040204020203" charset="-122"/>
                  <a:sym typeface="+mn-ea"/>
                </a:rPr>
                <a:t>服务客户</a:t>
              </a: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99A69D6F-D7DB-024A-9030-351FBB0C5512}"/>
                </a:ext>
              </a:extLst>
            </p:cNvPr>
            <p:cNvCxnSpPr>
              <a:cxnSpLocks/>
            </p:cNvCxnSpPr>
            <p:nvPr/>
          </p:nvCxnSpPr>
          <p:spPr>
            <a:xfrm>
              <a:off x="13713373" y="10039212"/>
              <a:ext cx="0" cy="1544875"/>
            </a:xfrm>
            <a:prstGeom prst="line">
              <a:avLst/>
            </a:prstGeom>
            <a:ln>
              <a:solidFill>
                <a:srgbClr val="77CFFF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693369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7B8DD-080B-0CEB-361C-3669B48A0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画框 2备份 23.png" descr="画框 2备份 23.png">
            <a:extLst>
              <a:ext uri="{FF2B5EF4-FFF2-40B4-BE49-F238E27FC236}">
                <a16:creationId xmlns:a16="http://schemas.microsoft.com/office/drawing/2014/main" id="{4B56EA39-4B6D-010A-1C5E-0A97D6083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火山引擎为字节跳动中国区业务提供云计算和AI服务">
            <a:extLst>
              <a:ext uri="{FF2B5EF4-FFF2-40B4-BE49-F238E27FC236}">
                <a16:creationId xmlns:a16="http://schemas.microsoft.com/office/drawing/2014/main" id="{3C666BAB-7FD5-1080-7079-1C302507C662}"/>
              </a:ext>
            </a:extLst>
          </p:cNvPr>
          <p:cNvSpPr txBox="1"/>
          <p:nvPr/>
        </p:nvSpPr>
        <p:spPr>
          <a:xfrm>
            <a:off x="7878446" y="1335861"/>
            <a:ext cx="8627105" cy="1087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6400" spc="71">
                <a:solidFill>
                  <a:srgbClr val="000000"/>
                </a:solidFill>
                <a:latin typeface="FZLTHProS DemiBold"/>
                <a:ea typeface="FZLTHProS DemiBold"/>
                <a:cs typeface="FZLTHProS DemiBold"/>
                <a:sym typeface="FZLTHProS DemiBold"/>
              </a:defRPr>
            </a:lvl1pPr>
          </a:lstStyle>
          <a:p>
            <a:r>
              <a:rPr lang="zh-CN" altLang="en-US" b="1" dirty="0"/>
              <a:t>火山引擎</a:t>
            </a:r>
            <a:r>
              <a:rPr lang="en-US" altLang="zh-CN" b="1" dirty="0"/>
              <a:t>CLUB</a:t>
            </a:r>
            <a:r>
              <a:rPr lang="zh-CN" altLang="en-US" b="1" dirty="0"/>
              <a:t>级</a:t>
            </a:r>
            <a:r>
              <a:rPr lang="en-US" altLang="zh-CN" b="1" dirty="0"/>
              <a:t>VC</a:t>
            </a:r>
            <a:r>
              <a:rPr lang="zh-CN" altLang="en-US" b="1" dirty="0"/>
              <a:t>伙伴</a:t>
            </a:r>
            <a:endParaRPr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84D71B5-FD3D-41E2-07CE-E4D300890F91}"/>
              </a:ext>
            </a:extLst>
          </p:cNvPr>
          <p:cNvGrpSpPr/>
          <p:nvPr/>
        </p:nvGrpSpPr>
        <p:grpSpPr>
          <a:xfrm>
            <a:off x="2451156" y="3468306"/>
            <a:ext cx="7074366" cy="964367"/>
            <a:chOff x="4033771" y="9605337"/>
            <a:chExt cx="7074366" cy="964367"/>
          </a:xfrm>
        </p:grpSpPr>
        <p:sp>
          <p:nvSpPr>
            <p:cNvPr id="2" name="PA-矩形: 圆角 14">
              <a:extLst>
                <a:ext uri="{FF2B5EF4-FFF2-40B4-BE49-F238E27FC236}">
                  <a16:creationId xmlns:a16="http://schemas.microsoft.com/office/drawing/2014/main" id="{C5C6A568-024E-FDC6-68E1-A7C0642DAA56}"/>
                </a:ext>
              </a:extLst>
            </p:cNvPr>
            <p:cNvSpPr/>
            <p:nvPr/>
          </p:nvSpPr>
          <p:spPr>
            <a:xfrm>
              <a:off x="4033771" y="9950745"/>
              <a:ext cx="258519" cy="273551"/>
            </a:xfrm>
            <a:prstGeom prst="roundRect">
              <a:avLst>
                <a:gd name="adj" fmla="val 50000"/>
              </a:avLst>
            </a:prstGeom>
            <a:solidFill>
              <a:srgbClr val="004CFF"/>
            </a:solidFill>
            <a:ln w="12700">
              <a:miter lim="400000"/>
            </a:ln>
          </p:spPr>
          <p:txBody>
            <a:bodyPr lIns="258122" tIns="258122" rIns="258122" bIns="258122" anchor="ctr"/>
            <a:lstStyle/>
            <a:p>
              <a:pPr algn="ctr" defTabSz="2584173">
                <a:lnSpc>
                  <a:spcPct val="100000"/>
                </a:lnSpc>
                <a:spcBef>
                  <a:spcPts val="0"/>
                </a:spcBef>
                <a:defRPr sz="500">
                  <a:latin typeface="ByteSans-Medium"/>
                  <a:ea typeface="ByteSans-Medium"/>
                  <a:cs typeface="ByteSans-Medium"/>
                  <a:sym typeface="ByteSans-Medium"/>
                </a:defRPr>
              </a:pPr>
              <a:endParaRPr/>
            </a:p>
          </p:txBody>
        </p:sp>
        <p:sp>
          <p:nvSpPr>
            <p:cNvPr id="3" name="1,200">
              <a:extLst>
                <a:ext uri="{FF2B5EF4-FFF2-40B4-BE49-F238E27FC236}">
                  <a16:creationId xmlns:a16="http://schemas.microsoft.com/office/drawing/2014/main" id="{124EBCF2-5CD0-B31A-D176-03B5913BAAB0}"/>
                </a:ext>
              </a:extLst>
            </p:cNvPr>
            <p:cNvSpPr txBox="1"/>
            <p:nvPr/>
          </p:nvSpPr>
          <p:spPr>
            <a:xfrm>
              <a:off x="4542237" y="9605337"/>
              <a:ext cx="6565900" cy="96436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 defTabSz="802529">
                <a:lnSpc>
                  <a:spcPct val="100000"/>
                </a:lnSpc>
                <a:spcBef>
                  <a:spcPts val="3300"/>
                </a:spcBef>
                <a:defRPr sz="5600">
                  <a:solidFill>
                    <a:srgbClr val="006AFF"/>
                  </a:solidFill>
                  <a:latin typeface="Byte Sans Medium"/>
                  <a:ea typeface="Byte Sans Medium"/>
                  <a:cs typeface="Byte Sans Medium"/>
                  <a:sym typeface="Byte Sans Medium"/>
                </a:defRPr>
              </a:lvl1pPr>
            </a:lstStyle>
            <a:p>
              <a:r>
                <a:rPr lang="zh-CN" altLang="en-US" dirty="0"/>
                <a:t>云重点产品年度激励</a:t>
              </a:r>
              <a:endParaRPr dirty="0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58D85EC-72DE-D843-2EC2-03BF9AEAFA56}"/>
              </a:ext>
            </a:extLst>
          </p:cNvPr>
          <p:cNvGrpSpPr/>
          <p:nvPr/>
        </p:nvGrpSpPr>
        <p:grpSpPr>
          <a:xfrm>
            <a:off x="2451156" y="7627786"/>
            <a:ext cx="6306528" cy="964367"/>
            <a:chOff x="4033771" y="9605337"/>
            <a:chExt cx="6306528" cy="964367"/>
          </a:xfrm>
        </p:grpSpPr>
        <p:sp>
          <p:nvSpPr>
            <p:cNvPr id="6" name="PA-矩形: 圆角 14">
              <a:extLst>
                <a:ext uri="{FF2B5EF4-FFF2-40B4-BE49-F238E27FC236}">
                  <a16:creationId xmlns:a16="http://schemas.microsoft.com/office/drawing/2014/main" id="{7C1B7FCA-55E6-2CFE-102A-A50AF9E4A481}"/>
                </a:ext>
              </a:extLst>
            </p:cNvPr>
            <p:cNvSpPr/>
            <p:nvPr/>
          </p:nvSpPr>
          <p:spPr>
            <a:xfrm>
              <a:off x="4033771" y="9950745"/>
              <a:ext cx="258519" cy="273551"/>
            </a:xfrm>
            <a:prstGeom prst="roundRect">
              <a:avLst>
                <a:gd name="adj" fmla="val 50000"/>
              </a:avLst>
            </a:prstGeom>
            <a:solidFill>
              <a:srgbClr val="004CFF"/>
            </a:solidFill>
            <a:ln w="12700">
              <a:miter lim="400000"/>
            </a:ln>
          </p:spPr>
          <p:txBody>
            <a:bodyPr lIns="258122" tIns="258122" rIns="258122" bIns="258122" anchor="ctr"/>
            <a:lstStyle/>
            <a:p>
              <a:pPr algn="ctr" defTabSz="2584173">
                <a:lnSpc>
                  <a:spcPct val="100000"/>
                </a:lnSpc>
                <a:spcBef>
                  <a:spcPts val="0"/>
                </a:spcBef>
                <a:defRPr sz="500">
                  <a:latin typeface="ByteSans-Medium"/>
                  <a:ea typeface="ByteSans-Medium"/>
                  <a:cs typeface="ByteSans-Medium"/>
                  <a:sym typeface="ByteSans-Medium"/>
                </a:defRPr>
              </a:pPr>
              <a:endParaRPr/>
            </a:p>
          </p:txBody>
        </p:sp>
        <p:sp>
          <p:nvSpPr>
            <p:cNvPr id="7" name="1,200">
              <a:extLst>
                <a:ext uri="{FF2B5EF4-FFF2-40B4-BE49-F238E27FC236}">
                  <a16:creationId xmlns:a16="http://schemas.microsoft.com/office/drawing/2014/main" id="{AF94BB9B-F1D4-0FDA-C69D-1782E5552D2A}"/>
                </a:ext>
              </a:extLst>
            </p:cNvPr>
            <p:cNvSpPr txBox="1"/>
            <p:nvPr/>
          </p:nvSpPr>
          <p:spPr>
            <a:xfrm>
              <a:off x="4542237" y="9605337"/>
              <a:ext cx="5798062" cy="96436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 defTabSz="802529">
                <a:lnSpc>
                  <a:spcPct val="100000"/>
                </a:lnSpc>
                <a:spcBef>
                  <a:spcPts val="3300"/>
                </a:spcBef>
                <a:defRPr sz="5600">
                  <a:solidFill>
                    <a:srgbClr val="006AFF"/>
                  </a:solidFill>
                  <a:latin typeface="Byte Sans Medium"/>
                  <a:ea typeface="Byte Sans Medium"/>
                  <a:cs typeface="Byte Sans Medium"/>
                  <a:sym typeface="Byte Sans Medium"/>
                </a:defRPr>
              </a:lvl1pPr>
            </a:lstStyle>
            <a:p>
              <a:r>
                <a:rPr lang="en-US" altLang="zh-CN" dirty="0"/>
                <a:t>MDF</a:t>
              </a:r>
              <a:r>
                <a:rPr lang="zh-CN" altLang="en-US" dirty="0"/>
                <a:t>市场发展基金</a:t>
              </a:r>
              <a:endParaRPr dirty="0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D89DE1AF-D08C-282C-1A4F-F027CC11FA11}"/>
              </a:ext>
            </a:extLst>
          </p:cNvPr>
          <p:cNvGrpSpPr/>
          <p:nvPr/>
        </p:nvGrpSpPr>
        <p:grpSpPr>
          <a:xfrm>
            <a:off x="15786303" y="3468305"/>
            <a:ext cx="7441454" cy="964367"/>
            <a:chOff x="4033771" y="9605337"/>
            <a:chExt cx="7441454" cy="964367"/>
          </a:xfrm>
        </p:grpSpPr>
        <p:sp>
          <p:nvSpPr>
            <p:cNvPr id="9" name="PA-矩形: 圆角 14">
              <a:extLst>
                <a:ext uri="{FF2B5EF4-FFF2-40B4-BE49-F238E27FC236}">
                  <a16:creationId xmlns:a16="http://schemas.microsoft.com/office/drawing/2014/main" id="{EF0A46B6-DC62-CAB4-5408-C3AE04C11E14}"/>
                </a:ext>
              </a:extLst>
            </p:cNvPr>
            <p:cNvSpPr/>
            <p:nvPr/>
          </p:nvSpPr>
          <p:spPr>
            <a:xfrm>
              <a:off x="4033771" y="9950745"/>
              <a:ext cx="258519" cy="273551"/>
            </a:xfrm>
            <a:prstGeom prst="roundRect">
              <a:avLst>
                <a:gd name="adj" fmla="val 50000"/>
              </a:avLst>
            </a:prstGeom>
            <a:solidFill>
              <a:srgbClr val="004CFF"/>
            </a:solidFill>
            <a:ln w="12700">
              <a:miter lim="400000"/>
            </a:ln>
          </p:spPr>
          <p:txBody>
            <a:bodyPr lIns="258122" tIns="258122" rIns="258122" bIns="258122" anchor="ctr"/>
            <a:lstStyle/>
            <a:p>
              <a:pPr algn="ctr" defTabSz="2584173">
                <a:lnSpc>
                  <a:spcPct val="100000"/>
                </a:lnSpc>
                <a:spcBef>
                  <a:spcPts val="0"/>
                </a:spcBef>
                <a:defRPr sz="500">
                  <a:latin typeface="ByteSans-Medium"/>
                  <a:ea typeface="ByteSans-Medium"/>
                  <a:cs typeface="ByteSans-Medium"/>
                  <a:sym typeface="ByteSans-Medium"/>
                </a:defRPr>
              </a:pPr>
              <a:endParaRPr/>
            </a:p>
          </p:txBody>
        </p:sp>
        <p:sp>
          <p:nvSpPr>
            <p:cNvPr id="10" name="1,200">
              <a:extLst>
                <a:ext uri="{FF2B5EF4-FFF2-40B4-BE49-F238E27FC236}">
                  <a16:creationId xmlns:a16="http://schemas.microsoft.com/office/drawing/2014/main" id="{B098FAF9-3088-C5C4-7B42-2AE0C3D74754}"/>
                </a:ext>
              </a:extLst>
            </p:cNvPr>
            <p:cNvSpPr txBox="1"/>
            <p:nvPr/>
          </p:nvSpPr>
          <p:spPr>
            <a:xfrm>
              <a:off x="4542237" y="9605337"/>
              <a:ext cx="6932988" cy="96436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 defTabSz="802529">
                <a:lnSpc>
                  <a:spcPct val="100000"/>
                </a:lnSpc>
                <a:spcBef>
                  <a:spcPts val="3300"/>
                </a:spcBef>
                <a:defRPr sz="5600">
                  <a:solidFill>
                    <a:srgbClr val="006AFF"/>
                  </a:solidFill>
                  <a:latin typeface="Byte Sans Medium"/>
                  <a:ea typeface="Byte Sans Medium"/>
                  <a:cs typeface="Byte Sans Medium"/>
                  <a:sym typeface="Byte Sans Medium"/>
                </a:defRPr>
              </a:lvl1pPr>
            </a:lstStyle>
            <a:p>
              <a:r>
                <a:rPr lang="zh-CN" altLang="en-US" dirty="0"/>
                <a:t>大模型年终</a:t>
              </a:r>
              <a:r>
                <a:rPr lang="en-US" altLang="zh-CN" dirty="0"/>
                <a:t>Bonus</a:t>
              </a:r>
              <a:r>
                <a:rPr lang="zh-CN" altLang="en-US" dirty="0"/>
                <a:t>激励</a:t>
              </a:r>
              <a:endParaRPr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914294D-EC89-5D98-597B-406E5AB1590D}"/>
              </a:ext>
            </a:extLst>
          </p:cNvPr>
          <p:cNvGrpSpPr/>
          <p:nvPr/>
        </p:nvGrpSpPr>
        <p:grpSpPr>
          <a:xfrm>
            <a:off x="15786303" y="7491010"/>
            <a:ext cx="5638075" cy="964367"/>
            <a:chOff x="4033771" y="9605337"/>
            <a:chExt cx="5638075" cy="964367"/>
          </a:xfrm>
        </p:grpSpPr>
        <p:sp>
          <p:nvSpPr>
            <p:cNvPr id="12" name="PA-矩形: 圆角 14">
              <a:extLst>
                <a:ext uri="{FF2B5EF4-FFF2-40B4-BE49-F238E27FC236}">
                  <a16:creationId xmlns:a16="http://schemas.microsoft.com/office/drawing/2014/main" id="{F7134DA3-00D7-698C-A283-51EC7B3B1B45}"/>
                </a:ext>
              </a:extLst>
            </p:cNvPr>
            <p:cNvSpPr/>
            <p:nvPr/>
          </p:nvSpPr>
          <p:spPr>
            <a:xfrm>
              <a:off x="4033771" y="9950745"/>
              <a:ext cx="258519" cy="273551"/>
            </a:xfrm>
            <a:prstGeom prst="roundRect">
              <a:avLst>
                <a:gd name="adj" fmla="val 50000"/>
              </a:avLst>
            </a:prstGeom>
            <a:solidFill>
              <a:srgbClr val="004CFF"/>
            </a:solidFill>
            <a:ln w="12700">
              <a:miter lim="400000"/>
            </a:ln>
          </p:spPr>
          <p:txBody>
            <a:bodyPr lIns="258122" tIns="258122" rIns="258122" bIns="258122" anchor="ctr"/>
            <a:lstStyle/>
            <a:p>
              <a:pPr algn="ctr" defTabSz="2584173">
                <a:lnSpc>
                  <a:spcPct val="100000"/>
                </a:lnSpc>
                <a:spcBef>
                  <a:spcPts val="0"/>
                </a:spcBef>
                <a:defRPr sz="500">
                  <a:latin typeface="ByteSans-Medium"/>
                  <a:ea typeface="ByteSans-Medium"/>
                  <a:cs typeface="ByteSans-Medium"/>
                  <a:sym typeface="ByteSans-Medium"/>
                </a:defRPr>
              </a:pPr>
              <a:endParaRPr/>
            </a:p>
          </p:txBody>
        </p:sp>
        <p:sp>
          <p:nvSpPr>
            <p:cNvPr id="13" name="1,200">
              <a:extLst>
                <a:ext uri="{FF2B5EF4-FFF2-40B4-BE49-F238E27FC236}">
                  <a16:creationId xmlns:a16="http://schemas.microsoft.com/office/drawing/2014/main" id="{5B91B18F-B935-D579-8F3B-1707882BA8A9}"/>
                </a:ext>
              </a:extLst>
            </p:cNvPr>
            <p:cNvSpPr txBox="1"/>
            <p:nvPr/>
          </p:nvSpPr>
          <p:spPr>
            <a:xfrm>
              <a:off x="4542237" y="9605337"/>
              <a:ext cx="5129609" cy="96436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 defTabSz="802529">
                <a:lnSpc>
                  <a:spcPct val="100000"/>
                </a:lnSpc>
                <a:spcBef>
                  <a:spcPts val="3300"/>
                </a:spcBef>
                <a:defRPr sz="5600">
                  <a:solidFill>
                    <a:srgbClr val="006AFF"/>
                  </a:solidFill>
                  <a:latin typeface="Byte Sans Medium"/>
                  <a:ea typeface="Byte Sans Medium"/>
                  <a:cs typeface="Byte Sans Medium"/>
                  <a:sym typeface="Byte Sans Medium"/>
                </a:defRPr>
              </a:lvl1pPr>
            </a:lstStyle>
            <a:p>
              <a:r>
                <a:rPr lang="zh-CN" altLang="en-US" dirty="0"/>
                <a:t>渠道代金券权益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19322884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pptding.png" descr="pptding.png"/>
          <p:cNvPicPr>
            <a:picLocks noChangeAspect="1"/>
          </p:cNvPicPr>
          <p:nvPr/>
        </p:nvPicPr>
        <p:blipFill>
          <a:blip r:embed="rId2">
            <a:alphaModFix amt="20205"/>
          </a:blip>
          <a:stretch>
            <a:fillRect/>
          </a:stretch>
        </p:blipFill>
        <p:spPr>
          <a:xfrm>
            <a:off x="0" y="17585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72" name="矩形"/>
          <p:cNvSpPr/>
          <p:nvPr/>
        </p:nvSpPr>
        <p:spPr>
          <a:xfrm>
            <a:off x="3638430" y="3628526"/>
            <a:ext cx="3429000" cy="127000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miter lim="400000"/>
          </a:ln>
          <a:effectLst>
            <a:outerShdw blurRad="127000" dist="50800" dir="2400000" rotWithShape="0">
              <a:srgbClr val="000000">
                <a:alpha val="5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73" name="矩形"/>
          <p:cNvSpPr/>
          <p:nvPr/>
        </p:nvSpPr>
        <p:spPr>
          <a:xfrm>
            <a:off x="17519567" y="3628526"/>
            <a:ext cx="3429001" cy="127000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miter lim="400000"/>
          </a:ln>
          <a:effectLst>
            <a:outerShdw blurRad="127000" dist="50800" dir="2400000" rotWithShape="0">
              <a:srgbClr val="000000">
                <a:alpha val="5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74" name="文本框 2"/>
          <p:cNvSpPr txBox="1"/>
          <p:nvPr/>
        </p:nvSpPr>
        <p:spPr>
          <a:xfrm>
            <a:off x="2871560" y="1511595"/>
            <a:ext cx="18614894" cy="923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FZLTHProS DemiBold"/>
                <a:ea typeface="FZLTHProS DemiBold"/>
                <a:cs typeface="FZLTHProS DemiBold"/>
                <a:sym typeface="FZLTHProS DemiBold"/>
              </a:defRPr>
            </a:lvl1pPr>
          </a:lstStyle>
          <a:p>
            <a:r>
              <a:rPr lang="zh-CN" altLang="en-US" b="1" dirty="0"/>
              <a:t>经销商佣金长度</a:t>
            </a:r>
            <a:endParaRPr b="1" dirty="0"/>
          </a:p>
        </p:txBody>
      </p:sp>
      <p:sp>
        <p:nvSpPr>
          <p:cNvPr id="275" name="PC时代"/>
          <p:cNvSpPr txBox="1"/>
          <p:nvPr/>
        </p:nvSpPr>
        <p:spPr>
          <a:xfrm>
            <a:off x="4793802" y="3899694"/>
            <a:ext cx="1118255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4000">
                <a:solidFill>
                  <a:srgbClr val="000000"/>
                </a:solidFill>
                <a:latin typeface="FZLTHProS-M--GB1-0"/>
                <a:ea typeface="FZLTHProS-M--GB1-0"/>
                <a:cs typeface="FZLTHProS-M--GB1-0"/>
                <a:sym typeface="FZLTHProS-M--GB1-0"/>
              </a:defRPr>
            </a:lvl1pPr>
          </a:lstStyle>
          <a:p>
            <a:r>
              <a:rPr lang="zh-CN" altLang="en-US" dirty="0"/>
              <a:t>产品</a:t>
            </a:r>
            <a:endParaRPr dirty="0"/>
          </a:p>
        </p:txBody>
      </p:sp>
      <p:sp>
        <p:nvSpPr>
          <p:cNvPr id="277" name="AI时代"/>
          <p:cNvSpPr txBox="1"/>
          <p:nvPr/>
        </p:nvSpPr>
        <p:spPr>
          <a:xfrm>
            <a:off x="18105691" y="3899694"/>
            <a:ext cx="2144177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4000">
                <a:solidFill>
                  <a:srgbClr val="006AFF"/>
                </a:solidFill>
                <a:latin typeface="FZLTHProS-M--GB1-0"/>
                <a:ea typeface="FZLTHProS-M--GB1-0"/>
                <a:cs typeface="FZLTHProS-M--GB1-0"/>
                <a:sym typeface="FZLTHProS-M--GB1-0"/>
              </a:defRPr>
            </a:lvl1pPr>
          </a:lstStyle>
          <a:p>
            <a:r>
              <a:rPr lang="zh-CN" altLang="en-US" dirty="0"/>
              <a:t>佣金长度</a:t>
            </a:r>
            <a:endParaRPr dirty="0"/>
          </a:p>
        </p:txBody>
      </p:sp>
      <p:sp>
        <p:nvSpPr>
          <p:cNvPr id="282" name="矩形"/>
          <p:cNvSpPr/>
          <p:nvPr/>
        </p:nvSpPr>
        <p:spPr>
          <a:xfrm>
            <a:off x="3175000" y="5766775"/>
            <a:ext cx="19050000" cy="101600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FFFFF">
                  <a:alpha val="30000"/>
                </a:srgbClr>
              </a:gs>
              <a:gs pos="48752">
                <a:srgbClr val="FFFFFF">
                  <a:alpha val="70000"/>
                </a:srgbClr>
              </a:gs>
              <a:gs pos="100000">
                <a:srgbClr val="FFFFFF">
                  <a:alpha val="30000"/>
                </a:srgbClr>
              </a:gs>
            </a:gsLst>
          </a:gradFill>
          <a:ln w="25400">
            <a:solidFill>
              <a:srgbClr val="FFFFFF"/>
            </a:solidFill>
            <a:miter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84" name="容器化、微服务、DevOps"/>
          <p:cNvSpPr txBox="1"/>
          <p:nvPr/>
        </p:nvSpPr>
        <p:spPr>
          <a:xfrm>
            <a:off x="11188992" y="6057605"/>
            <a:ext cx="990015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000000"/>
                </a:solidFill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pPr fontAlgn="ctr"/>
            <a:r>
              <a:rPr lang="en-US" altLang="zh-CN" dirty="0">
                <a:latin typeface="微软雅黑"/>
                <a:ea typeface="微软雅黑"/>
              </a:rPr>
              <a:t>≥95</a:t>
            </a:r>
            <a:r>
              <a:rPr lang="zh-CN" altLang="en-US" dirty="0">
                <a:latin typeface="微软雅黑"/>
                <a:ea typeface="微软雅黑"/>
              </a:rPr>
              <a:t>折</a:t>
            </a:r>
          </a:p>
        </p:txBody>
      </p:sp>
      <p:sp>
        <p:nvSpPr>
          <p:cNvPr id="285" name="矩形"/>
          <p:cNvSpPr/>
          <p:nvPr/>
        </p:nvSpPr>
        <p:spPr>
          <a:xfrm>
            <a:off x="16130561" y="5639775"/>
            <a:ext cx="6094439" cy="127000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93FF"/>
              </a:gs>
              <a:gs pos="100000">
                <a:srgbClr val="006AFF"/>
              </a:gs>
            </a:gsLst>
          </a:gradFill>
          <a:ln w="12700">
            <a:miter lim="400000"/>
          </a:ln>
          <a:effectLst>
            <a:outerShdw blurRad="127000" dist="50800" dir="2400000" rotWithShape="0">
              <a:srgbClr val="000000">
                <a:alpha val="2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86" name="大模型 + Agent开发平台"/>
          <p:cNvSpPr txBox="1"/>
          <p:nvPr/>
        </p:nvSpPr>
        <p:spPr>
          <a:xfrm>
            <a:off x="18556133" y="6043942"/>
            <a:ext cx="124329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20" tIns="45720" rIns="45720" bIns="45720">
            <a:spAutoFit/>
          </a:bodyPr>
          <a:lstStyle/>
          <a:p>
            <a:pPr algn="ctr" defTabSz="3744912">
              <a:lnSpc>
                <a:spcPct val="100000"/>
              </a:lnSpc>
              <a:spcBef>
                <a:spcPts val="0"/>
              </a:spcBef>
              <a:defRPr sz="2400">
                <a:latin typeface="FZLTHProS-R--GB1-0"/>
                <a:ea typeface="FZLTHProS-R--GB1-0"/>
                <a:cs typeface="FZLTHProS-R--GB1-0"/>
                <a:sym typeface="FZLTHProS-R--GB1-0"/>
              </a:defRPr>
            </a:pPr>
            <a:r>
              <a:rPr lang="zh-CN" altLang="en-US" b="1" dirty="0"/>
              <a:t>最高</a:t>
            </a:r>
            <a:r>
              <a:rPr lang="en-US" altLang="zh-CN" b="1" dirty="0"/>
              <a:t>70%</a:t>
            </a:r>
            <a:endParaRPr b="1" dirty="0"/>
          </a:p>
        </p:txBody>
      </p:sp>
      <p:sp>
        <p:nvSpPr>
          <p:cNvPr id="287" name="LAMP、SOA"/>
          <p:cNvSpPr txBox="1"/>
          <p:nvPr/>
        </p:nvSpPr>
        <p:spPr>
          <a:xfrm>
            <a:off x="3499082" y="6057605"/>
            <a:ext cx="3477876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000000"/>
                </a:solidFill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r>
              <a:rPr lang="zh-CN" altLang="en-US" b="1" dirty="0"/>
              <a:t>云重点核心产品（包月）</a:t>
            </a:r>
            <a:endParaRPr b="1" dirty="0"/>
          </a:p>
        </p:txBody>
      </p:sp>
      <p:sp>
        <p:nvSpPr>
          <p:cNvPr id="288" name="矩形"/>
          <p:cNvSpPr/>
          <p:nvPr/>
        </p:nvSpPr>
        <p:spPr>
          <a:xfrm>
            <a:off x="3175000" y="7289800"/>
            <a:ext cx="19050000" cy="1016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FFFFF">
                  <a:alpha val="30000"/>
                </a:srgbClr>
              </a:gs>
              <a:gs pos="48752">
                <a:srgbClr val="FFFFFF">
                  <a:alpha val="70000"/>
                </a:srgbClr>
              </a:gs>
              <a:gs pos="100000">
                <a:srgbClr val="FFFFFF">
                  <a:alpha val="30000"/>
                </a:srgbClr>
              </a:gs>
            </a:gsLst>
          </a:gradFill>
          <a:ln w="25400">
            <a:solidFill>
              <a:srgbClr val="FFFFFF"/>
            </a:solidFill>
            <a:miter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90" name="PB（结构化+非结构化）"/>
          <p:cNvSpPr txBox="1"/>
          <p:nvPr/>
        </p:nvSpPr>
        <p:spPr>
          <a:xfrm>
            <a:off x="11176169" y="7580629"/>
            <a:ext cx="1015663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000000"/>
                </a:solidFill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pPr fontAlgn="ctr"/>
            <a:r>
              <a:rPr lang="zh-CN" altLang="en-US" dirty="0">
                <a:latin typeface="微软雅黑"/>
                <a:ea typeface="微软雅黑"/>
              </a:rPr>
              <a:t>刊例价</a:t>
            </a:r>
          </a:p>
        </p:txBody>
      </p:sp>
      <p:sp>
        <p:nvSpPr>
          <p:cNvPr id="291" name="矩形"/>
          <p:cNvSpPr/>
          <p:nvPr/>
        </p:nvSpPr>
        <p:spPr>
          <a:xfrm>
            <a:off x="16130561" y="7162800"/>
            <a:ext cx="6094439" cy="1270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93FF"/>
              </a:gs>
              <a:gs pos="100000">
                <a:srgbClr val="006AFF"/>
              </a:gs>
            </a:gsLst>
          </a:gradFill>
          <a:ln w="12700">
            <a:miter lim="400000"/>
          </a:ln>
          <a:effectLst>
            <a:outerShdw blurRad="127000" dist="50800" dir="2400000" rotWithShape="0">
              <a:srgbClr val="000000">
                <a:alpha val="2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92" name="EB～ZB（多模态）"/>
          <p:cNvSpPr txBox="1"/>
          <p:nvPr/>
        </p:nvSpPr>
        <p:spPr>
          <a:xfrm>
            <a:off x="18556137" y="7566967"/>
            <a:ext cx="124329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r>
              <a:rPr lang="zh-CN" altLang="en-US" b="1" dirty="0"/>
              <a:t>最高</a:t>
            </a:r>
            <a:r>
              <a:rPr lang="en-US" altLang="zh-CN" b="1" dirty="0"/>
              <a:t>60%</a:t>
            </a:r>
            <a:endParaRPr b="1" dirty="0"/>
          </a:p>
        </p:txBody>
      </p:sp>
      <p:sp>
        <p:nvSpPr>
          <p:cNvPr id="294" name="矩形"/>
          <p:cNvSpPr/>
          <p:nvPr/>
        </p:nvSpPr>
        <p:spPr>
          <a:xfrm>
            <a:off x="3175000" y="8808491"/>
            <a:ext cx="19050000" cy="101600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FFFFF">
                  <a:alpha val="30000"/>
                </a:srgbClr>
              </a:gs>
              <a:gs pos="48752">
                <a:srgbClr val="FFFFFF">
                  <a:alpha val="70000"/>
                </a:srgbClr>
              </a:gs>
              <a:gs pos="100000">
                <a:srgbClr val="FFFFFF">
                  <a:alpha val="30000"/>
                </a:srgbClr>
              </a:gs>
            </a:gsLst>
          </a:gradFill>
          <a:ln w="25400">
            <a:solidFill>
              <a:srgbClr val="FFFFFF"/>
            </a:solidFill>
            <a:miter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96" name="PFLOPS（CPU + GPU）"/>
          <p:cNvSpPr txBox="1"/>
          <p:nvPr/>
        </p:nvSpPr>
        <p:spPr>
          <a:xfrm>
            <a:off x="11188992" y="9099321"/>
            <a:ext cx="990015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000000"/>
                </a:solidFill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pPr fontAlgn="ctr"/>
            <a:r>
              <a:rPr lang="en-US" altLang="zh-CN" dirty="0">
                <a:latin typeface="微软雅黑"/>
                <a:ea typeface="微软雅黑"/>
              </a:rPr>
              <a:t>≥95</a:t>
            </a:r>
            <a:r>
              <a:rPr lang="zh-CN" altLang="en-US" dirty="0">
                <a:latin typeface="微软雅黑"/>
                <a:ea typeface="微软雅黑"/>
              </a:rPr>
              <a:t>折</a:t>
            </a:r>
          </a:p>
        </p:txBody>
      </p:sp>
      <p:sp>
        <p:nvSpPr>
          <p:cNvPr id="297" name="矩形"/>
          <p:cNvSpPr/>
          <p:nvPr/>
        </p:nvSpPr>
        <p:spPr>
          <a:xfrm>
            <a:off x="16130561" y="8681491"/>
            <a:ext cx="6094439" cy="127000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93FF"/>
              </a:gs>
              <a:gs pos="100000">
                <a:srgbClr val="006AFF"/>
              </a:gs>
            </a:gsLst>
          </a:gradFill>
          <a:ln w="12700">
            <a:miter lim="400000"/>
          </a:ln>
          <a:effectLst>
            <a:outerShdw blurRad="127000" dist="50800" dir="2400000" rotWithShape="0">
              <a:srgbClr val="000000">
                <a:alpha val="2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98" name="EFLOPS～ZFLOPS（大规模GPU推理）"/>
          <p:cNvSpPr txBox="1"/>
          <p:nvPr/>
        </p:nvSpPr>
        <p:spPr>
          <a:xfrm>
            <a:off x="18556137" y="9085658"/>
            <a:ext cx="124329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r>
              <a:rPr lang="zh-CN" altLang="en-US" b="1" dirty="0"/>
              <a:t>最高</a:t>
            </a:r>
            <a:r>
              <a:rPr lang="en-US" altLang="zh-CN" b="1" dirty="0"/>
              <a:t>65%</a:t>
            </a:r>
            <a:endParaRPr b="1" dirty="0"/>
          </a:p>
        </p:txBody>
      </p:sp>
      <p:sp>
        <p:nvSpPr>
          <p:cNvPr id="299" name="TFLOPS（CPU）"/>
          <p:cNvSpPr txBox="1"/>
          <p:nvPr/>
        </p:nvSpPr>
        <p:spPr>
          <a:xfrm>
            <a:off x="3987196" y="9099321"/>
            <a:ext cx="2501647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000000"/>
                </a:solidFill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r>
              <a:rPr lang="en-US" altLang="zh-CN" b="1" dirty="0"/>
              <a:t>AI</a:t>
            </a:r>
            <a:r>
              <a:rPr lang="zh-CN" altLang="en-US" b="1" dirty="0"/>
              <a:t>模型与应用工具</a:t>
            </a:r>
            <a:endParaRPr b="1" dirty="0"/>
          </a:p>
        </p:txBody>
      </p:sp>
      <p:sp>
        <p:nvSpPr>
          <p:cNvPr id="300" name="矩形"/>
          <p:cNvSpPr/>
          <p:nvPr/>
        </p:nvSpPr>
        <p:spPr>
          <a:xfrm>
            <a:off x="3175000" y="10329485"/>
            <a:ext cx="19050000" cy="101600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FFFFF">
                  <a:alpha val="30000"/>
                </a:srgbClr>
              </a:gs>
              <a:gs pos="48752">
                <a:srgbClr val="FFFFFF">
                  <a:alpha val="70000"/>
                </a:srgbClr>
              </a:gs>
              <a:gs pos="100000">
                <a:srgbClr val="FFFFFF">
                  <a:alpha val="30000"/>
                </a:srgbClr>
              </a:gs>
            </a:gsLst>
          </a:gradFill>
          <a:ln w="25400">
            <a:solidFill>
              <a:srgbClr val="FFFFFF"/>
            </a:solidFill>
            <a:miter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02" name="对抗恶意应用、社会工程"/>
          <p:cNvSpPr txBox="1"/>
          <p:nvPr/>
        </p:nvSpPr>
        <p:spPr>
          <a:xfrm>
            <a:off x="11022280" y="10620315"/>
            <a:ext cx="1323439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000000"/>
                </a:solidFill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r>
              <a:rPr lang="zh-CN" altLang="en-US" dirty="0"/>
              <a:t>特价折扣</a:t>
            </a:r>
            <a:endParaRPr dirty="0"/>
          </a:p>
        </p:txBody>
      </p:sp>
      <p:sp>
        <p:nvSpPr>
          <p:cNvPr id="303" name="矩形"/>
          <p:cNvSpPr/>
          <p:nvPr/>
        </p:nvSpPr>
        <p:spPr>
          <a:xfrm>
            <a:off x="16130561" y="10202485"/>
            <a:ext cx="6094439" cy="127000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93FF"/>
              </a:gs>
              <a:gs pos="100000">
                <a:srgbClr val="006AFF"/>
              </a:gs>
            </a:gsLst>
          </a:gradFill>
          <a:ln w="12700">
            <a:miter lim="400000"/>
          </a:ln>
          <a:effectLst>
            <a:outerShdw blurRad="127000" dist="50800" dir="2400000" rotWithShape="0">
              <a:srgbClr val="000000">
                <a:alpha val="2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04" name="AI对抗智能化自动攻击"/>
          <p:cNvSpPr txBox="1"/>
          <p:nvPr/>
        </p:nvSpPr>
        <p:spPr>
          <a:xfrm>
            <a:off x="18516058" y="10620315"/>
            <a:ext cx="1323439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r>
              <a:rPr lang="zh-CN" altLang="en-US" b="1" dirty="0"/>
              <a:t>审批为准</a:t>
            </a:r>
            <a:endParaRPr b="1" dirty="0"/>
          </a:p>
        </p:txBody>
      </p:sp>
      <p:sp>
        <p:nvSpPr>
          <p:cNvPr id="305" name="对抗黑客、病毒"/>
          <p:cNvSpPr txBox="1"/>
          <p:nvPr/>
        </p:nvSpPr>
        <p:spPr>
          <a:xfrm>
            <a:off x="4576300" y="10620315"/>
            <a:ext cx="1323439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000000"/>
                </a:solidFill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r>
              <a:rPr lang="zh-CN" altLang="en-US" b="1" dirty="0"/>
              <a:t>特殊产品</a:t>
            </a:r>
            <a:endParaRPr b="1" dirty="0"/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EDD31AFF-CFB8-EED8-A8B5-A4497A83570E}"/>
              </a:ext>
            </a:extLst>
          </p:cNvPr>
          <p:cNvSpPr/>
          <p:nvPr/>
        </p:nvSpPr>
        <p:spPr>
          <a:xfrm>
            <a:off x="10090030" y="3628526"/>
            <a:ext cx="3429000" cy="127000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miter lim="400000"/>
          </a:ln>
          <a:effectLst>
            <a:outerShdw blurRad="127000" dist="50800" dir="2400000" rotWithShape="0">
              <a:srgbClr val="000000">
                <a:alpha val="5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" name="Mobile时代">
            <a:extLst>
              <a:ext uri="{FF2B5EF4-FFF2-40B4-BE49-F238E27FC236}">
                <a16:creationId xmlns:a16="http://schemas.microsoft.com/office/drawing/2014/main" id="{8AAF5927-58D0-168F-BA2F-78E2BB3C377C}"/>
              </a:ext>
            </a:extLst>
          </p:cNvPr>
          <p:cNvSpPr txBox="1"/>
          <p:nvPr/>
        </p:nvSpPr>
        <p:spPr>
          <a:xfrm>
            <a:off x="10732441" y="3899694"/>
            <a:ext cx="2144177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4000">
                <a:solidFill>
                  <a:srgbClr val="000000"/>
                </a:solidFill>
                <a:latin typeface="FZLTHProS-M--GB1-0"/>
                <a:ea typeface="FZLTHProS-M--GB1-0"/>
                <a:cs typeface="FZLTHProS-M--GB1-0"/>
                <a:sym typeface="FZLTHProS-M--GB1-0"/>
              </a:defRPr>
            </a:lvl1pPr>
          </a:lstStyle>
          <a:p>
            <a:r>
              <a:rPr lang="zh-CN" altLang="en-US" dirty="0"/>
              <a:t>消费折扣</a:t>
            </a:r>
            <a:r>
              <a:rPr lang="en-US" altLang="zh-CN" dirty="0"/>
              <a:t>	</a:t>
            </a:r>
            <a:endParaRPr dirty="0"/>
          </a:p>
        </p:txBody>
      </p:sp>
      <p:sp>
        <p:nvSpPr>
          <p:cNvPr id="5" name="LAMP、SOA">
            <a:extLst>
              <a:ext uri="{FF2B5EF4-FFF2-40B4-BE49-F238E27FC236}">
                <a16:creationId xmlns:a16="http://schemas.microsoft.com/office/drawing/2014/main" id="{15423B1A-DA5F-D173-3815-14A0D4E80715}"/>
              </a:ext>
            </a:extLst>
          </p:cNvPr>
          <p:cNvSpPr txBox="1"/>
          <p:nvPr/>
        </p:nvSpPr>
        <p:spPr>
          <a:xfrm>
            <a:off x="3493537" y="7651024"/>
            <a:ext cx="3477876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000000"/>
                </a:solidFill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r>
              <a:rPr lang="zh-CN" altLang="en-US" b="1" dirty="0"/>
              <a:t>云重点核心产品（包年）</a:t>
            </a:r>
            <a:endParaRPr b="1"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画框 2备份 10.png" descr="画框 2备份 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2" name="pptding.png" descr="pptding.png"/>
          <p:cNvPicPr>
            <a:picLocks noChangeAspect="1"/>
          </p:cNvPicPr>
          <p:nvPr/>
        </p:nvPicPr>
        <p:blipFill>
          <a:blip r:embed="rId3">
            <a:alphaModFix amt="20205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63" name="矩形"/>
          <p:cNvSpPr/>
          <p:nvPr/>
        </p:nvSpPr>
        <p:spPr>
          <a:xfrm>
            <a:off x="12567511" y="6037191"/>
            <a:ext cx="2286001" cy="76058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0F3F5"/>
              </a:gs>
              <a:gs pos="30751">
                <a:srgbClr val="FFFFFF"/>
              </a:gs>
              <a:gs pos="72104">
                <a:srgbClr val="FFFFFF"/>
              </a:gs>
              <a:gs pos="100000">
                <a:srgbClr val="F1F3F6"/>
              </a:gs>
            </a:gsLst>
          </a:gradFill>
          <a:ln w="25400">
            <a:solidFill>
              <a:srgbClr val="FFFFFF"/>
            </a:solidFill>
            <a:miter lim="400000"/>
          </a:ln>
          <a:effectLst>
            <a:outerShdw blurRad="355600" rotWithShape="0">
              <a:srgbClr val="000000">
                <a:alpha val="3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64" name="矩形"/>
          <p:cNvSpPr/>
          <p:nvPr/>
        </p:nvSpPr>
        <p:spPr>
          <a:xfrm>
            <a:off x="9530488" y="6037191"/>
            <a:ext cx="2286001" cy="76058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0F3F5"/>
              </a:gs>
              <a:gs pos="30751">
                <a:srgbClr val="FFFFFF"/>
              </a:gs>
              <a:gs pos="72104">
                <a:srgbClr val="FFFFFF"/>
              </a:gs>
              <a:gs pos="100000">
                <a:srgbClr val="F1F3F6"/>
              </a:gs>
            </a:gsLst>
          </a:gradFill>
          <a:ln w="25400">
            <a:solidFill>
              <a:srgbClr val="FFFFFF"/>
            </a:solidFill>
            <a:miter lim="400000"/>
          </a:ln>
          <a:effectLst>
            <a:outerShdw blurRad="355600" rotWithShape="0">
              <a:srgbClr val="000000">
                <a:alpha val="3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65" name="矩形"/>
          <p:cNvSpPr/>
          <p:nvPr/>
        </p:nvSpPr>
        <p:spPr>
          <a:xfrm>
            <a:off x="7468372" y="5157351"/>
            <a:ext cx="2286001" cy="76058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0F3F5"/>
              </a:gs>
              <a:gs pos="30751">
                <a:srgbClr val="FFFFFF"/>
              </a:gs>
              <a:gs pos="72104">
                <a:srgbClr val="FFFFFF"/>
              </a:gs>
              <a:gs pos="100000">
                <a:srgbClr val="F1F3F6"/>
              </a:gs>
            </a:gsLst>
          </a:gradFill>
          <a:ln w="25400">
            <a:solidFill>
              <a:srgbClr val="FFFFFF"/>
            </a:solidFill>
            <a:miter lim="400000"/>
          </a:ln>
          <a:effectLst>
            <a:outerShdw blurRad="355600" rotWithShape="0">
              <a:srgbClr val="000000">
                <a:alpha val="3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66" name="火山引擎 AI基础设施"/>
          <p:cNvSpPr txBox="1"/>
          <p:nvPr/>
        </p:nvSpPr>
        <p:spPr>
          <a:xfrm>
            <a:off x="10601819" y="1563277"/>
            <a:ext cx="3180358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FZLTHProS DemiBold"/>
                <a:ea typeface="FZLTHProS DemiBold"/>
                <a:cs typeface="FZLTHProS DemiBold"/>
                <a:sym typeface="FZLTHProS DemiBold"/>
              </a:defRPr>
            </a:lvl1pPr>
          </a:lstStyle>
          <a:p>
            <a:r>
              <a:rPr lang="zh-CN" altLang="en-US" b="1" dirty="0"/>
              <a:t>经销商收益</a:t>
            </a:r>
            <a:endParaRPr b="1" dirty="0"/>
          </a:p>
        </p:txBody>
      </p:sp>
      <p:sp>
        <p:nvSpPr>
          <p:cNvPr id="468" name="矩形"/>
          <p:cNvSpPr/>
          <p:nvPr/>
        </p:nvSpPr>
        <p:spPr>
          <a:xfrm>
            <a:off x="10160000" y="3701351"/>
            <a:ext cx="4064000" cy="101600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93FF"/>
              </a:gs>
              <a:gs pos="100000">
                <a:srgbClr val="006AFF"/>
              </a:gs>
            </a:gsLst>
          </a:gradFill>
          <a:ln w="12700">
            <a:miter lim="400000"/>
          </a:ln>
          <a:effectLst>
            <a:outerShdw blurRad="127000" dist="50800" dir="2400000" rotWithShape="0">
              <a:srgbClr val="000000">
                <a:alpha val="2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69" name="AgentKit"/>
          <p:cNvSpPr txBox="1"/>
          <p:nvPr/>
        </p:nvSpPr>
        <p:spPr>
          <a:xfrm>
            <a:off x="11530279" y="3903281"/>
            <a:ext cx="1323439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3200">
                <a:latin typeface="ByteSans-Medium"/>
                <a:ea typeface="ByteSans-Medium"/>
                <a:cs typeface="ByteSans-Medium"/>
                <a:sym typeface="ByteSans-Medium"/>
              </a:defRPr>
            </a:lvl1pPr>
          </a:lstStyle>
          <a:p>
            <a:r>
              <a:rPr lang="zh-CN" altLang="en-US" dirty="0"/>
              <a:t>高佣金</a:t>
            </a:r>
            <a:endParaRPr dirty="0"/>
          </a:p>
        </p:txBody>
      </p:sp>
      <p:sp>
        <p:nvSpPr>
          <p:cNvPr id="472" name="快速集成"/>
          <p:cNvSpPr txBox="1"/>
          <p:nvPr/>
        </p:nvSpPr>
        <p:spPr>
          <a:xfrm>
            <a:off x="10011769" y="6200314"/>
            <a:ext cx="1323439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006AFF"/>
                </a:solidFill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r>
              <a:rPr lang="zh-CN" altLang="en-US" dirty="0"/>
              <a:t>季度佣金</a:t>
            </a:r>
            <a:endParaRPr dirty="0"/>
          </a:p>
        </p:txBody>
      </p:sp>
      <p:sp>
        <p:nvSpPr>
          <p:cNvPr id="473" name="Tool Use &amp; MCP"/>
          <p:cNvSpPr txBox="1"/>
          <p:nvPr/>
        </p:nvSpPr>
        <p:spPr>
          <a:xfrm>
            <a:off x="13048791" y="6200314"/>
            <a:ext cx="1323439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006AFF"/>
                </a:solidFill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r>
              <a:rPr lang="zh-CN" altLang="en-US" dirty="0"/>
              <a:t>专项佣金</a:t>
            </a:r>
            <a:endParaRPr dirty="0"/>
          </a:p>
        </p:txBody>
      </p:sp>
      <p:sp>
        <p:nvSpPr>
          <p:cNvPr id="474" name="矩形"/>
          <p:cNvSpPr/>
          <p:nvPr/>
        </p:nvSpPr>
        <p:spPr>
          <a:xfrm>
            <a:off x="14629627" y="5157351"/>
            <a:ext cx="2286001" cy="76058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0F3F5"/>
              </a:gs>
              <a:gs pos="30751">
                <a:srgbClr val="FFFFFF"/>
              </a:gs>
              <a:gs pos="72104">
                <a:srgbClr val="FFFFFF"/>
              </a:gs>
              <a:gs pos="100000">
                <a:srgbClr val="F1F3F6"/>
              </a:gs>
            </a:gsLst>
          </a:gradFill>
          <a:ln w="25400">
            <a:solidFill>
              <a:srgbClr val="FFFFFF"/>
            </a:solidFill>
            <a:miter lim="400000"/>
          </a:ln>
          <a:effectLst>
            <a:outerShdw blurRad="355600" rotWithShape="0">
              <a:srgbClr val="000000">
                <a:alpha val="3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75" name="长短记忆"/>
          <p:cNvSpPr txBox="1"/>
          <p:nvPr/>
        </p:nvSpPr>
        <p:spPr>
          <a:xfrm>
            <a:off x="15110908" y="5320474"/>
            <a:ext cx="1323439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006AFF"/>
                </a:solidFill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r>
              <a:rPr lang="zh-CN" altLang="en-US" dirty="0"/>
              <a:t>年度佣金</a:t>
            </a:r>
            <a:endParaRPr dirty="0"/>
          </a:p>
        </p:txBody>
      </p:sp>
      <p:sp>
        <p:nvSpPr>
          <p:cNvPr id="476" name="矩形"/>
          <p:cNvSpPr/>
          <p:nvPr/>
        </p:nvSpPr>
        <p:spPr>
          <a:xfrm>
            <a:off x="6747192" y="9664336"/>
            <a:ext cx="2286001" cy="76058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0F3F5"/>
              </a:gs>
              <a:gs pos="30751">
                <a:srgbClr val="FFFFFF"/>
              </a:gs>
              <a:gs pos="72104">
                <a:srgbClr val="FFFFFF"/>
              </a:gs>
              <a:gs pos="100000">
                <a:srgbClr val="F1F3F6"/>
              </a:gs>
            </a:gsLst>
          </a:gradFill>
          <a:ln w="25400">
            <a:solidFill>
              <a:srgbClr val="FFFFFF"/>
            </a:solidFill>
            <a:miter lim="400000"/>
          </a:ln>
          <a:effectLst>
            <a:outerShdw blurRad="355600" rotWithShape="0">
              <a:srgbClr val="000000">
                <a:alpha val="3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77" name="矩形"/>
          <p:cNvSpPr/>
          <p:nvPr/>
        </p:nvSpPr>
        <p:spPr>
          <a:xfrm>
            <a:off x="3710170" y="9664336"/>
            <a:ext cx="2286001" cy="76058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0F3F5"/>
              </a:gs>
              <a:gs pos="30751">
                <a:srgbClr val="FFFFFF"/>
              </a:gs>
              <a:gs pos="72104">
                <a:srgbClr val="FFFFFF"/>
              </a:gs>
              <a:gs pos="100000">
                <a:srgbClr val="F1F3F6"/>
              </a:gs>
            </a:gsLst>
          </a:gradFill>
          <a:ln w="25400">
            <a:solidFill>
              <a:srgbClr val="FFFFFF"/>
            </a:solidFill>
            <a:miter lim="400000"/>
          </a:ln>
          <a:effectLst>
            <a:outerShdw blurRad="355600" rotWithShape="0">
              <a:srgbClr val="000000">
                <a:alpha val="3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78" name="矩形"/>
          <p:cNvSpPr/>
          <p:nvPr/>
        </p:nvSpPr>
        <p:spPr>
          <a:xfrm>
            <a:off x="1648053" y="8784496"/>
            <a:ext cx="2286001" cy="76058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0F3F5"/>
              </a:gs>
              <a:gs pos="30751">
                <a:srgbClr val="FFFFFF"/>
              </a:gs>
              <a:gs pos="72104">
                <a:srgbClr val="FFFFFF"/>
              </a:gs>
              <a:gs pos="100000">
                <a:srgbClr val="F1F3F6"/>
              </a:gs>
            </a:gsLst>
          </a:gradFill>
          <a:ln w="25400">
            <a:solidFill>
              <a:srgbClr val="FFFFFF"/>
            </a:solidFill>
            <a:miter lim="400000"/>
          </a:ln>
          <a:effectLst>
            <a:outerShdw blurRad="355600" rotWithShape="0">
              <a:srgbClr val="000000">
                <a:alpha val="3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479" name="矩形"/>
          <p:cNvSpPr/>
          <p:nvPr/>
        </p:nvSpPr>
        <p:spPr>
          <a:xfrm>
            <a:off x="4339682" y="7328496"/>
            <a:ext cx="4064001" cy="101600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93FF"/>
              </a:gs>
              <a:gs pos="100000">
                <a:srgbClr val="006AFF"/>
              </a:gs>
            </a:gsLst>
          </a:gradFill>
          <a:ln w="12700">
            <a:miter lim="400000"/>
          </a:ln>
          <a:effectLst>
            <a:outerShdw blurRad="127000" dist="50800" dir="2400000" rotWithShape="0">
              <a:srgbClr val="000000">
                <a:alpha val="2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80" name="TrainingKit"/>
          <p:cNvSpPr txBox="1"/>
          <p:nvPr/>
        </p:nvSpPr>
        <p:spPr>
          <a:xfrm>
            <a:off x="5709962" y="7530426"/>
            <a:ext cx="1323439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3200">
                <a:latin typeface="ByteSans-Medium"/>
                <a:ea typeface="ByteSans-Medium"/>
                <a:cs typeface="ByteSans-Medium"/>
                <a:sym typeface="ByteSans-Medium"/>
              </a:defRPr>
            </a:lvl1pPr>
          </a:lstStyle>
          <a:p>
            <a:r>
              <a:rPr lang="zh-CN" altLang="en-US" dirty="0"/>
              <a:t>新市场</a:t>
            </a:r>
            <a:endParaRPr dirty="0"/>
          </a:p>
        </p:txBody>
      </p:sp>
      <p:sp>
        <p:nvSpPr>
          <p:cNvPr id="483" name="一键诊断"/>
          <p:cNvSpPr txBox="1"/>
          <p:nvPr/>
        </p:nvSpPr>
        <p:spPr>
          <a:xfrm>
            <a:off x="2129335" y="8953969"/>
            <a:ext cx="1323439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006AFF"/>
                </a:solidFill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r>
              <a:rPr lang="zh-CN" altLang="en-US" dirty="0"/>
              <a:t>国家政策</a:t>
            </a:r>
            <a:endParaRPr dirty="0"/>
          </a:p>
        </p:txBody>
      </p:sp>
      <p:sp>
        <p:nvSpPr>
          <p:cNvPr id="484" name="线性加速"/>
          <p:cNvSpPr txBox="1"/>
          <p:nvPr/>
        </p:nvSpPr>
        <p:spPr>
          <a:xfrm>
            <a:off x="4191451" y="9827459"/>
            <a:ext cx="1323439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006AFF"/>
                </a:solidFill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r>
              <a:rPr lang="zh-CN" altLang="en-US" dirty="0"/>
              <a:t>企业转型</a:t>
            </a:r>
            <a:endParaRPr dirty="0"/>
          </a:p>
        </p:txBody>
      </p:sp>
      <p:sp>
        <p:nvSpPr>
          <p:cNvPr id="485" name="veRL集成"/>
          <p:cNvSpPr txBox="1"/>
          <p:nvPr/>
        </p:nvSpPr>
        <p:spPr>
          <a:xfrm>
            <a:off x="7408810" y="9827459"/>
            <a:ext cx="962764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006AFF"/>
                </a:solidFill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r>
              <a:rPr lang="en-US" dirty="0"/>
              <a:t>AI</a:t>
            </a:r>
            <a:r>
              <a:rPr lang="zh-CN" altLang="en-US" dirty="0"/>
              <a:t>市场</a:t>
            </a:r>
            <a:endParaRPr dirty="0"/>
          </a:p>
        </p:txBody>
      </p:sp>
      <p:sp>
        <p:nvSpPr>
          <p:cNvPr id="486" name="矩形"/>
          <p:cNvSpPr/>
          <p:nvPr/>
        </p:nvSpPr>
        <p:spPr>
          <a:xfrm>
            <a:off x="8809309" y="8784496"/>
            <a:ext cx="2286001" cy="76058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0F3F5"/>
              </a:gs>
              <a:gs pos="30751">
                <a:srgbClr val="FFFFFF"/>
              </a:gs>
              <a:gs pos="72104">
                <a:srgbClr val="FFFFFF"/>
              </a:gs>
              <a:gs pos="100000">
                <a:srgbClr val="F1F3F6"/>
              </a:gs>
            </a:gsLst>
          </a:gradFill>
          <a:ln w="25400">
            <a:solidFill>
              <a:srgbClr val="FFFFFF"/>
            </a:solidFill>
            <a:miter lim="400000"/>
          </a:ln>
          <a:effectLst>
            <a:outerShdw blurRad="355600" rotWithShape="0">
              <a:srgbClr val="000000">
                <a:alpha val="3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87" name="高并发SandBox"/>
          <p:cNvSpPr txBox="1"/>
          <p:nvPr/>
        </p:nvSpPr>
        <p:spPr>
          <a:xfrm>
            <a:off x="9301812" y="8953969"/>
            <a:ext cx="1300997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006AFF"/>
                </a:solidFill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r>
              <a:rPr lang="en-US" dirty="0"/>
              <a:t>MDF</a:t>
            </a:r>
            <a:r>
              <a:rPr lang="zh-CN" altLang="en-US" dirty="0"/>
              <a:t>支持</a:t>
            </a:r>
            <a:endParaRPr dirty="0"/>
          </a:p>
        </p:txBody>
      </p:sp>
      <p:sp>
        <p:nvSpPr>
          <p:cNvPr id="488" name="矩形"/>
          <p:cNvSpPr/>
          <p:nvPr/>
        </p:nvSpPr>
        <p:spPr>
          <a:xfrm>
            <a:off x="18353490" y="9664336"/>
            <a:ext cx="2286001" cy="76058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0F3F5"/>
              </a:gs>
              <a:gs pos="30751">
                <a:srgbClr val="FFFFFF"/>
              </a:gs>
              <a:gs pos="72104">
                <a:srgbClr val="FFFFFF"/>
              </a:gs>
              <a:gs pos="100000">
                <a:srgbClr val="F1F3F6"/>
              </a:gs>
            </a:gsLst>
          </a:gradFill>
          <a:ln w="25400">
            <a:solidFill>
              <a:srgbClr val="FFFFFF"/>
            </a:solidFill>
            <a:miter lim="400000"/>
          </a:ln>
          <a:effectLst>
            <a:outerShdw blurRad="355600" rotWithShape="0">
              <a:srgbClr val="000000">
                <a:alpha val="3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89" name="矩形"/>
          <p:cNvSpPr/>
          <p:nvPr/>
        </p:nvSpPr>
        <p:spPr>
          <a:xfrm>
            <a:off x="15316469" y="9664336"/>
            <a:ext cx="2286001" cy="76058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0F3F5"/>
              </a:gs>
              <a:gs pos="30751">
                <a:srgbClr val="FFFFFF"/>
              </a:gs>
              <a:gs pos="72104">
                <a:srgbClr val="FFFFFF"/>
              </a:gs>
              <a:gs pos="100000">
                <a:srgbClr val="F1F3F6"/>
              </a:gs>
            </a:gsLst>
          </a:gradFill>
          <a:ln w="25400">
            <a:solidFill>
              <a:srgbClr val="FFFFFF"/>
            </a:solidFill>
            <a:miter lim="400000"/>
          </a:ln>
          <a:effectLst>
            <a:outerShdw blurRad="355600" rotWithShape="0">
              <a:srgbClr val="000000">
                <a:alpha val="3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90" name="矩形"/>
          <p:cNvSpPr/>
          <p:nvPr/>
        </p:nvSpPr>
        <p:spPr>
          <a:xfrm>
            <a:off x="13254352" y="8784496"/>
            <a:ext cx="2286001" cy="76058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0F3F5"/>
              </a:gs>
              <a:gs pos="30751">
                <a:srgbClr val="FFFFFF"/>
              </a:gs>
              <a:gs pos="72104">
                <a:srgbClr val="FFFFFF"/>
              </a:gs>
              <a:gs pos="100000">
                <a:srgbClr val="F1F3F6"/>
              </a:gs>
            </a:gsLst>
          </a:gradFill>
          <a:ln w="25400">
            <a:solidFill>
              <a:srgbClr val="FFFFFF"/>
            </a:solidFill>
            <a:miter lim="400000"/>
          </a:ln>
          <a:effectLst>
            <a:outerShdw blurRad="355600" rotWithShape="0">
              <a:srgbClr val="000000">
                <a:alpha val="3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491" name="矩形"/>
          <p:cNvSpPr/>
          <p:nvPr/>
        </p:nvSpPr>
        <p:spPr>
          <a:xfrm>
            <a:off x="15945978" y="7352238"/>
            <a:ext cx="4064001" cy="101600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93FF"/>
              </a:gs>
              <a:gs pos="100000">
                <a:srgbClr val="006AFF"/>
              </a:gs>
            </a:gsLst>
          </a:gradFill>
          <a:ln w="12700">
            <a:miter lim="400000"/>
          </a:ln>
          <a:effectLst>
            <a:outerShdw blurRad="127000" dist="50800" dir="2400000" rotWithShape="0">
              <a:srgbClr val="000000">
                <a:alpha val="2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92" name="ServingKit"/>
          <p:cNvSpPr txBox="1"/>
          <p:nvPr/>
        </p:nvSpPr>
        <p:spPr>
          <a:xfrm>
            <a:off x="17316260" y="7530427"/>
            <a:ext cx="1323439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3200">
                <a:latin typeface="ByteSans-Medium"/>
                <a:ea typeface="ByteSans-Medium"/>
                <a:cs typeface="ByteSans-Medium"/>
                <a:sym typeface="ByteSans-Medium"/>
              </a:defRPr>
            </a:lvl1pPr>
          </a:lstStyle>
          <a:p>
            <a:r>
              <a:rPr lang="zh-CN" altLang="en-US" dirty="0"/>
              <a:t>新生态</a:t>
            </a:r>
            <a:endParaRPr dirty="0"/>
          </a:p>
        </p:txBody>
      </p:sp>
      <p:sp>
        <p:nvSpPr>
          <p:cNvPr id="493" name="广泛生态支持"/>
          <p:cNvSpPr txBox="1"/>
          <p:nvPr/>
        </p:nvSpPr>
        <p:spPr>
          <a:xfrm>
            <a:off x="13581745" y="8953969"/>
            <a:ext cx="1631216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006AFF"/>
                </a:solidFill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r>
              <a:rPr lang="zh-CN" altLang="en-US" dirty="0"/>
              <a:t>豆包大模型</a:t>
            </a:r>
            <a:endParaRPr dirty="0"/>
          </a:p>
        </p:txBody>
      </p:sp>
      <p:sp>
        <p:nvSpPr>
          <p:cNvPr id="494" name="算子优化"/>
          <p:cNvSpPr txBox="1"/>
          <p:nvPr/>
        </p:nvSpPr>
        <p:spPr>
          <a:xfrm>
            <a:off x="15735233" y="9827459"/>
            <a:ext cx="1448474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006AFF"/>
                </a:solidFill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r>
              <a:rPr lang="en-US" dirty="0"/>
              <a:t>A</a:t>
            </a:r>
            <a:r>
              <a:rPr lang="en-US" altLang="zh-CN" dirty="0"/>
              <a:t>gent</a:t>
            </a:r>
            <a:r>
              <a:rPr lang="zh-CN" altLang="en-US" dirty="0"/>
              <a:t>构建</a:t>
            </a:r>
            <a:endParaRPr dirty="0"/>
          </a:p>
        </p:txBody>
      </p:sp>
      <p:sp>
        <p:nvSpPr>
          <p:cNvPr id="495" name="分离并行架构"/>
          <p:cNvSpPr txBox="1"/>
          <p:nvPr/>
        </p:nvSpPr>
        <p:spPr>
          <a:xfrm>
            <a:off x="19020720" y="9827459"/>
            <a:ext cx="951544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006AFF"/>
                </a:solidFill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r>
              <a:rPr lang="en-US" dirty="0"/>
              <a:t>BI</a:t>
            </a:r>
            <a:r>
              <a:rPr lang="zh-CN" altLang="en-US" dirty="0"/>
              <a:t>支持</a:t>
            </a:r>
            <a:endParaRPr dirty="0"/>
          </a:p>
        </p:txBody>
      </p:sp>
      <p:sp>
        <p:nvSpPr>
          <p:cNvPr id="496" name="矩形"/>
          <p:cNvSpPr/>
          <p:nvPr/>
        </p:nvSpPr>
        <p:spPr>
          <a:xfrm>
            <a:off x="20415608" y="8784496"/>
            <a:ext cx="2286001" cy="76058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0F3F5"/>
              </a:gs>
              <a:gs pos="30751">
                <a:srgbClr val="FFFFFF"/>
              </a:gs>
              <a:gs pos="72104">
                <a:srgbClr val="FFFFFF"/>
              </a:gs>
              <a:gs pos="100000">
                <a:srgbClr val="F1F3F6"/>
              </a:gs>
            </a:gsLst>
          </a:gradFill>
          <a:ln w="25400">
            <a:solidFill>
              <a:srgbClr val="FFFFFF"/>
            </a:solidFill>
            <a:miter lim="400000"/>
          </a:ln>
          <a:effectLst>
            <a:outerShdw blurRad="355600" rotWithShape="0">
              <a:srgbClr val="000000">
                <a:alpha val="3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97" name="权重下载加速"/>
          <p:cNvSpPr txBox="1"/>
          <p:nvPr/>
        </p:nvSpPr>
        <p:spPr>
          <a:xfrm>
            <a:off x="20589113" y="8953969"/>
            <a:ext cx="193899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006AFF"/>
                </a:solidFill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r>
              <a:rPr lang="zh-CN" altLang="en-US" dirty="0"/>
              <a:t>算力基础设施</a:t>
            </a:r>
            <a:endParaRPr dirty="0"/>
          </a:p>
        </p:txBody>
      </p:sp>
      <p:sp>
        <p:nvSpPr>
          <p:cNvPr id="505" name="豆包大模型"/>
          <p:cNvSpPr txBox="1"/>
          <p:nvPr/>
        </p:nvSpPr>
        <p:spPr>
          <a:xfrm>
            <a:off x="7949653" y="5320474"/>
            <a:ext cx="1323439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>
            <a:lvl1pPr algn="ctr" defTabSz="374491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006AFF"/>
                </a:solidFill>
                <a:latin typeface="FZLTHProS-R--GB1-0"/>
                <a:ea typeface="FZLTHProS-R--GB1-0"/>
                <a:cs typeface="FZLTHProS-R--GB1-0"/>
                <a:sym typeface="FZLTHProS-R--GB1-0"/>
              </a:defRPr>
            </a:lvl1pPr>
          </a:lstStyle>
          <a:p>
            <a:r>
              <a:rPr lang="zh-CN" altLang="en-US" dirty="0"/>
              <a:t>月度佣金</a:t>
            </a:r>
            <a:endParaRPr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画框 2备份 20.png" descr="画框 2备份 20.png">
            <a:extLst>
              <a:ext uri="{FF2B5EF4-FFF2-40B4-BE49-F238E27FC236}">
                <a16:creationId xmlns:a16="http://schemas.microsoft.com/office/drawing/2014/main" id="{760857B4-6104-5B01-DF79-063E96CD11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7" name="pptding.png" descr="pptding.png"/>
          <p:cNvPicPr>
            <a:picLocks noChangeAspect="1"/>
          </p:cNvPicPr>
          <p:nvPr/>
        </p:nvPicPr>
        <p:blipFill>
          <a:blip r:embed="rId3">
            <a:alphaModFix amt="20205"/>
          </a:blip>
          <a:stretch>
            <a:fillRect/>
          </a:stretch>
        </p:blipFill>
        <p:spPr>
          <a:xfrm>
            <a:off x="0" y="-158261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08" name="文本框 2"/>
          <p:cNvSpPr txBox="1"/>
          <p:nvPr/>
        </p:nvSpPr>
        <p:spPr>
          <a:xfrm>
            <a:off x="2884553" y="1580954"/>
            <a:ext cx="18614894" cy="923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FZLTHProS DemiBold"/>
                <a:ea typeface="FZLTHProS DemiBold"/>
                <a:cs typeface="FZLTHProS DemiBold"/>
                <a:sym typeface="FZLTHProS DemiBold"/>
              </a:defRPr>
            </a:lvl1pPr>
          </a:lstStyle>
          <a:p>
            <a:r>
              <a:rPr lang="zh-CN" altLang="en-US" b="1" dirty="0"/>
              <a:t>注册流程</a:t>
            </a:r>
            <a:endParaRPr b="1" dirty="0"/>
          </a:p>
        </p:txBody>
      </p:sp>
      <p:sp>
        <p:nvSpPr>
          <p:cNvPr id="6" name="矩形">
            <a:extLst>
              <a:ext uri="{FF2B5EF4-FFF2-40B4-BE49-F238E27FC236}">
                <a16:creationId xmlns:a16="http://schemas.microsoft.com/office/drawing/2014/main" id="{4D05B7CF-7804-084B-39DD-848617B41F62}"/>
              </a:ext>
            </a:extLst>
          </p:cNvPr>
          <p:cNvSpPr/>
          <p:nvPr/>
        </p:nvSpPr>
        <p:spPr>
          <a:xfrm>
            <a:off x="3200184" y="5332786"/>
            <a:ext cx="2540001" cy="355600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93FF"/>
              </a:gs>
              <a:gs pos="100000">
                <a:srgbClr val="006AFF"/>
              </a:gs>
            </a:gsLst>
          </a:gradFill>
          <a:ln w="12700">
            <a:miter lim="400000"/>
          </a:ln>
          <a:effectLst>
            <a:outerShdw blurRad="127000" dist="50800" dir="2400000" rotWithShape="0">
              <a:srgbClr val="000000">
                <a:alpha val="2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" name="更好…">
            <a:extLst>
              <a:ext uri="{FF2B5EF4-FFF2-40B4-BE49-F238E27FC236}">
                <a16:creationId xmlns:a16="http://schemas.microsoft.com/office/drawing/2014/main" id="{44F312AD-D2D6-CA27-1DCA-0E157D580881}"/>
              </a:ext>
            </a:extLst>
          </p:cNvPr>
          <p:cNvSpPr txBox="1"/>
          <p:nvPr/>
        </p:nvSpPr>
        <p:spPr>
          <a:xfrm>
            <a:off x="3603281" y="6125575"/>
            <a:ext cx="1733808" cy="1825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/>
          <a:p>
            <a:pPr algn="ctr" defTabSz="3744912">
              <a:lnSpc>
                <a:spcPct val="120000"/>
              </a:lnSpc>
              <a:spcBef>
                <a:spcPts val="0"/>
              </a:spcBef>
              <a:defRPr sz="3200">
                <a:latin typeface="FZLTHProS-R--GB1-0"/>
                <a:ea typeface="FZLTHProS-R--GB1-0"/>
                <a:cs typeface="FZLTHProS-R--GB1-0"/>
                <a:sym typeface="FZLTHProS-R--GB1-0"/>
              </a:defRPr>
            </a:pPr>
            <a:r>
              <a:rPr lang="zh-CN" altLang="zh-CN" sz="3200" b="1" dirty="0">
                <a:sym typeface="FZLTHProS-R--GB1-0"/>
              </a:rPr>
              <a:t>优选伙伴</a:t>
            </a:r>
            <a:endParaRPr lang="en-US" altLang="zh-CN" sz="3200" b="1" dirty="0">
              <a:sym typeface="FZLTHProS-R--GB1-0"/>
            </a:endParaRPr>
          </a:p>
          <a:p>
            <a:pPr algn="ctr" defTabSz="3744912">
              <a:lnSpc>
                <a:spcPct val="120000"/>
              </a:lnSpc>
              <a:spcBef>
                <a:spcPts val="0"/>
              </a:spcBef>
              <a:defRPr sz="3200">
                <a:latin typeface="FZLTHProS-R--GB1-0"/>
                <a:ea typeface="FZLTHProS-R--GB1-0"/>
                <a:cs typeface="FZLTHProS-R--GB1-0"/>
                <a:sym typeface="FZLTHProS-R--GB1-0"/>
              </a:defRPr>
            </a:pPr>
            <a:r>
              <a:rPr lang="zh-CN" altLang="zh-CN" sz="3200" b="1" dirty="0">
                <a:sym typeface="FZLTHProS-R--GB1-0"/>
              </a:rPr>
              <a:t>邀请链接</a:t>
            </a:r>
            <a:endParaRPr lang="en-US" altLang="zh-CN" sz="3200" b="1" dirty="0">
              <a:sym typeface="FZLTHProS-R--GB1-0"/>
            </a:endParaRPr>
          </a:p>
          <a:p>
            <a:pPr algn="ctr" defTabSz="3744912">
              <a:lnSpc>
                <a:spcPct val="120000"/>
              </a:lnSpc>
              <a:spcBef>
                <a:spcPts val="0"/>
              </a:spcBef>
              <a:defRPr sz="3200">
                <a:latin typeface="FZLTHProS-R--GB1-0"/>
                <a:ea typeface="FZLTHProS-R--GB1-0"/>
                <a:cs typeface="FZLTHProS-R--GB1-0"/>
                <a:sym typeface="FZLTHProS-R--GB1-0"/>
              </a:defRPr>
            </a:pPr>
            <a:r>
              <a:rPr lang="zh-CN" altLang="en-US" sz="3200" b="1" dirty="0">
                <a:sym typeface="FZLTHProS-R--GB1-0"/>
              </a:rPr>
              <a:t>进行注册</a:t>
            </a:r>
            <a:endParaRPr dirty="0"/>
          </a:p>
        </p:txBody>
      </p:sp>
      <p:sp>
        <p:nvSpPr>
          <p:cNvPr id="8" name="矩形">
            <a:extLst>
              <a:ext uri="{FF2B5EF4-FFF2-40B4-BE49-F238E27FC236}">
                <a16:creationId xmlns:a16="http://schemas.microsoft.com/office/drawing/2014/main" id="{21E28C5C-9D2C-6C1E-6B2E-65CEF61B5121}"/>
              </a:ext>
            </a:extLst>
          </p:cNvPr>
          <p:cNvSpPr/>
          <p:nvPr/>
        </p:nvSpPr>
        <p:spPr>
          <a:xfrm>
            <a:off x="7467384" y="5332786"/>
            <a:ext cx="2540001" cy="355600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93FF"/>
              </a:gs>
              <a:gs pos="100000">
                <a:srgbClr val="006AFF"/>
              </a:gs>
            </a:gsLst>
          </a:gradFill>
          <a:ln w="12700">
            <a:miter lim="400000"/>
          </a:ln>
          <a:effectLst>
            <a:outerShdw blurRad="127000" dist="50800" dir="2400000" rotWithShape="0">
              <a:srgbClr val="000000">
                <a:alpha val="2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9" name="更好…">
            <a:extLst>
              <a:ext uri="{FF2B5EF4-FFF2-40B4-BE49-F238E27FC236}">
                <a16:creationId xmlns:a16="http://schemas.microsoft.com/office/drawing/2014/main" id="{A4ED40E0-5CA0-8F40-D19B-DA3C896986B3}"/>
              </a:ext>
            </a:extLst>
          </p:cNvPr>
          <p:cNvSpPr txBox="1"/>
          <p:nvPr/>
        </p:nvSpPr>
        <p:spPr>
          <a:xfrm>
            <a:off x="7791133" y="6562146"/>
            <a:ext cx="1892505" cy="1234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/>
          <a:p>
            <a:pPr algn="ctr" defTabSz="3744912">
              <a:lnSpc>
                <a:spcPct val="120000"/>
              </a:lnSpc>
              <a:spcBef>
                <a:spcPts val="0"/>
              </a:spcBef>
              <a:defRPr sz="3200">
                <a:latin typeface="FZLTHProS-R--GB1-0"/>
                <a:ea typeface="FZLTHProS-R--GB1-0"/>
                <a:cs typeface="FZLTHProS-R--GB1-0"/>
                <a:sym typeface="FZLTHProS-R--GB1-0"/>
              </a:defRPr>
            </a:pPr>
            <a:r>
              <a:rPr lang="zh-CN" altLang="en-US" b="1" dirty="0"/>
              <a:t>登录关联</a:t>
            </a:r>
            <a:r>
              <a:rPr lang="en-US" altLang="zh-CN" b="1" dirty="0"/>
              <a:t>/</a:t>
            </a:r>
          </a:p>
          <a:p>
            <a:pPr algn="ctr" defTabSz="3744912">
              <a:lnSpc>
                <a:spcPct val="120000"/>
              </a:lnSpc>
              <a:spcBef>
                <a:spcPts val="0"/>
              </a:spcBef>
              <a:defRPr sz="3200">
                <a:latin typeface="FZLTHProS-R--GB1-0"/>
                <a:ea typeface="FZLTHProS-R--GB1-0"/>
                <a:cs typeface="FZLTHProS-R--GB1-0"/>
                <a:sym typeface="FZLTHProS-R--GB1-0"/>
              </a:defRPr>
            </a:pPr>
            <a:r>
              <a:rPr lang="zh-CN" altLang="en-US" b="1" dirty="0"/>
              <a:t>注册关联</a:t>
            </a:r>
            <a:endParaRPr b="1" dirty="0"/>
          </a:p>
        </p:txBody>
      </p:sp>
      <p:sp>
        <p:nvSpPr>
          <p:cNvPr id="12" name="PA-箭头: 上 11">
            <a:extLst>
              <a:ext uri="{FF2B5EF4-FFF2-40B4-BE49-F238E27FC236}">
                <a16:creationId xmlns:a16="http://schemas.microsoft.com/office/drawing/2014/main" id="{7D947E91-CD1A-9AE5-2CCD-48075CED5703}"/>
              </a:ext>
            </a:extLst>
          </p:cNvPr>
          <p:cNvSpPr/>
          <p:nvPr/>
        </p:nvSpPr>
        <p:spPr>
          <a:xfrm rot="5400000">
            <a:off x="6280630" y="6639054"/>
            <a:ext cx="646307" cy="10810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448"/>
                </a:moveTo>
                <a:lnTo>
                  <a:pt x="11000" y="0"/>
                </a:lnTo>
                <a:lnTo>
                  <a:pt x="0" y="7448"/>
                </a:lnTo>
                <a:lnTo>
                  <a:pt x="5515" y="7448"/>
                </a:lnTo>
                <a:lnTo>
                  <a:pt x="5515" y="21600"/>
                </a:lnTo>
                <a:lnTo>
                  <a:pt x="16085" y="21600"/>
                </a:lnTo>
                <a:lnTo>
                  <a:pt x="16085" y="7448"/>
                </a:lnTo>
                <a:lnTo>
                  <a:pt x="21600" y="7448"/>
                </a:lnTo>
                <a:close/>
              </a:path>
            </a:pathLst>
          </a:custGeom>
          <a:gradFill>
            <a:gsLst>
              <a:gs pos="46000">
                <a:srgbClr val="0A6AFF"/>
              </a:gs>
              <a:gs pos="86000">
                <a:srgbClr val="6464FF">
                  <a:alpha val="0"/>
                </a:srgbClr>
              </a:gs>
            </a:gsLst>
            <a:lin ang="5400000"/>
          </a:gradFill>
          <a:ln w="12700">
            <a:miter lim="400000"/>
          </a:ln>
          <a:effectLst>
            <a:outerShdw blurRad="990600" dist="635000" rotWithShape="0">
              <a:srgbClr val="3586EC">
                <a:alpha val="40000"/>
              </a:srgbClr>
            </a:outerShdw>
          </a:effectLst>
        </p:spPr>
        <p:txBody>
          <a:bodyPr lIns="516245" tIns="516245" rIns="516245" bIns="516245" anchor="ctr"/>
          <a:lstStyle/>
          <a:p>
            <a:pPr algn="ctr" defTabSz="5168347">
              <a:lnSpc>
                <a:spcPct val="100000"/>
              </a:lnSpc>
              <a:spcBef>
                <a:spcPts val="0"/>
              </a:spcBef>
              <a:defRPr sz="15600">
                <a:latin typeface="ByteSans-Medium"/>
                <a:ea typeface="ByteSans-Medium"/>
                <a:cs typeface="ByteSans-Medium"/>
                <a:sym typeface="ByteSans-Medium"/>
              </a:defRPr>
            </a:pPr>
            <a:endParaRPr/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D8835D38-5836-4B96-CBE8-766D5880D317}"/>
              </a:ext>
            </a:extLst>
          </p:cNvPr>
          <p:cNvSpPr/>
          <p:nvPr/>
        </p:nvSpPr>
        <p:spPr>
          <a:xfrm>
            <a:off x="11734584" y="5332786"/>
            <a:ext cx="2540001" cy="355600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93FF"/>
              </a:gs>
              <a:gs pos="100000">
                <a:srgbClr val="006AFF"/>
              </a:gs>
            </a:gsLst>
          </a:gradFill>
          <a:ln w="12700">
            <a:miter lim="400000"/>
          </a:ln>
          <a:effectLst>
            <a:outerShdw blurRad="127000" dist="50800" dir="2400000" rotWithShape="0">
              <a:srgbClr val="000000">
                <a:alpha val="2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7" name="更好…">
            <a:extLst>
              <a:ext uri="{FF2B5EF4-FFF2-40B4-BE49-F238E27FC236}">
                <a16:creationId xmlns:a16="http://schemas.microsoft.com/office/drawing/2014/main" id="{95022300-938B-1A98-1472-ED4A5BB8B8FB}"/>
              </a:ext>
            </a:extLst>
          </p:cNvPr>
          <p:cNvSpPr txBox="1"/>
          <p:nvPr/>
        </p:nvSpPr>
        <p:spPr>
          <a:xfrm>
            <a:off x="12137681" y="6562146"/>
            <a:ext cx="1733808" cy="1232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/>
          <a:p>
            <a:pPr algn="ctr" defTabSz="3744912">
              <a:lnSpc>
                <a:spcPct val="120000"/>
              </a:lnSpc>
              <a:spcBef>
                <a:spcPts val="0"/>
              </a:spcBef>
              <a:defRPr sz="3200">
                <a:latin typeface="FZLTHProS-R--GB1-0"/>
                <a:ea typeface="FZLTHProS-R--GB1-0"/>
                <a:cs typeface="FZLTHProS-R--GB1-0"/>
                <a:sym typeface="FZLTHProS-R--GB1-0"/>
              </a:defRPr>
            </a:pPr>
            <a:r>
              <a:rPr lang="zh-CN" altLang="en-US" b="1" dirty="0"/>
              <a:t>企业</a:t>
            </a:r>
            <a:endParaRPr lang="en-US" altLang="zh-CN" b="1" dirty="0"/>
          </a:p>
          <a:p>
            <a:pPr algn="ctr" defTabSz="3744912">
              <a:lnSpc>
                <a:spcPct val="120000"/>
              </a:lnSpc>
              <a:spcBef>
                <a:spcPts val="0"/>
              </a:spcBef>
              <a:defRPr sz="3200">
                <a:latin typeface="FZLTHProS-R--GB1-0"/>
                <a:ea typeface="FZLTHProS-R--GB1-0"/>
                <a:cs typeface="FZLTHProS-R--GB1-0"/>
                <a:sym typeface="FZLTHProS-R--GB1-0"/>
              </a:defRPr>
            </a:pPr>
            <a:r>
              <a:rPr lang="zh-CN" altLang="en-US" b="1" dirty="0"/>
              <a:t>实名认证</a:t>
            </a:r>
            <a:endParaRPr b="1" dirty="0"/>
          </a:p>
        </p:txBody>
      </p:sp>
      <p:sp>
        <p:nvSpPr>
          <p:cNvPr id="18" name="PA-箭头: 上 11">
            <a:extLst>
              <a:ext uri="{FF2B5EF4-FFF2-40B4-BE49-F238E27FC236}">
                <a16:creationId xmlns:a16="http://schemas.microsoft.com/office/drawing/2014/main" id="{D10AD453-CC6E-61FA-7190-8D47FE67DB69}"/>
              </a:ext>
            </a:extLst>
          </p:cNvPr>
          <p:cNvSpPr/>
          <p:nvPr/>
        </p:nvSpPr>
        <p:spPr>
          <a:xfrm rot="5400000">
            <a:off x="10547830" y="6639054"/>
            <a:ext cx="646307" cy="10810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448"/>
                </a:moveTo>
                <a:lnTo>
                  <a:pt x="11000" y="0"/>
                </a:lnTo>
                <a:lnTo>
                  <a:pt x="0" y="7448"/>
                </a:lnTo>
                <a:lnTo>
                  <a:pt x="5515" y="7448"/>
                </a:lnTo>
                <a:lnTo>
                  <a:pt x="5515" y="21600"/>
                </a:lnTo>
                <a:lnTo>
                  <a:pt x="16085" y="21600"/>
                </a:lnTo>
                <a:lnTo>
                  <a:pt x="16085" y="7448"/>
                </a:lnTo>
                <a:lnTo>
                  <a:pt x="21600" y="7448"/>
                </a:lnTo>
                <a:close/>
              </a:path>
            </a:pathLst>
          </a:custGeom>
          <a:gradFill>
            <a:gsLst>
              <a:gs pos="46000">
                <a:srgbClr val="0A6AFF"/>
              </a:gs>
              <a:gs pos="86000">
                <a:srgbClr val="6464FF">
                  <a:alpha val="0"/>
                </a:srgbClr>
              </a:gs>
            </a:gsLst>
            <a:lin ang="5400000"/>
          </a:gradFill>
          <a:ln w="12700">
            <a:miter lim="400000"/>
          </a:ln>
          <a:effectLst>
            <a:outerShdw blurRad="990600" dist="635000" rotWithShape="0">
              <a:srgbClr val="3586EC">
                <a:alpha val="40000"/>
              </a:srgbClr>
            </a:outerShdw>
          </a:effectLst>
        </p:spPr>
        <p:txBody>
          <a:bodyPr lIns="516245" tIns="516245" rIns="516245" bIns="516245" anchor="ctr"/>
          <a:lstStyle/>
          <a:p>
            <a:pPr algn="ctr" defTabSz="5168347">
              <a:lnSpc>
                <a:spcPct val="100000"/>
              </a:lnSpc>
              <a:spcBef>
                <a:spcPts val="0"/>
              </a:spcBef>
              <a:defRPr sz="15600">
                <a:latin typeface="ByteSans-Medium"/>
                <a:ea typeface="ByteSans-Medium"/>
                <a:cs typeface="ByteSans-Medium"/>
                <a:sym typeface="ByteSans-Medium"/>
              </a:defRPr>
            </a:pPr>
            <a:endParaRPr/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71BFCC35-BA7A-A796-69B4-BB7446BB2E1A}"/>
              </a:ext>
            </a:extLst>
          </p:cNvPr>
          <p:cNvSpPr/>
          <p:nvPr/>
        </p:nvSpPr>
        <p:spPr>
          <a:xfrm>
            <a:off x="16001784" y="5332786"/>
            <a:ext cx="2540001" cy="355600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93FF"/>
              </a:gs>
              <a:gs pos="100000">
                <a:srgbClr val="006AFF"/>
              </a:gs>
            </a:gsLst>
          </a:gradFill>
          <a:ln w="12700">
            <a:miter lim="400000"/>
          </a:ln>
          <a:effectLst>
            <a:outerShdw blurRad="127000" dist="50800" dir="2400000" rotWithShape="0">
              <a:srgbClr val="000000">
                <a:alpha val="2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9" name="更好…">
            <a:extLst>
              <a:ext uri="{FF2B5EF4-FFF2-40B4-BE49-F238E27FC236}">
                <a16:creationId xmlns:a16="http://schemas.microsoft.com/office/drawing/2014/main" id="{4DF520FA-E060-F45D-6582-85BE6E34B238}"/>
              </a:ext>
            </a:extLst>
          </p:cNvPr>
          <p:cNvSpPr txBox="1"/>
          <p:nvPr/>
        </p:nvSpPr>
        <p:spPr>
          <a:xfrm>
            <a:off x="16404883" y="6562146"/>
            <a:ext cx="1733808" cy="1232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/>
          <a:p>
            <a:pPr algn="ctr" defTabSz="3744912">
              <a:lnSpc>
                <a:spcPct val="120000"/>
              </a:lnSpc>
              <a:spcBef>
                <a:spcPts val="0"/>
              </a:spcBef>
              <a:defRPr sz="3200">
                <a:latin typeface="FZLTHProS-R--GB1-0"/>
                <a:ea typeface="FZLTHProS-R--GB1-0"/>
                <a:cs typeface="FZLTHProS-R--GB1-0"/>
                <a:sym typeface="FZLTHProS-R--GB1-0"/>
              </a:defRPr>
            </a:pPr>
            <a:r>
              <a:rPr lang="zh-CN" altLang="en-US" b="1" dirty="0"/>
              <a:t>审核通过</a:t>
            </a:r>
            <a:endParaRPr lang="en-US" altLang="zh-CN" b="1" dirty="0"/>
          </a:p>
          <a:p>
            <a:pPr algn="ctr" defTabSz="3744912">
              <a:lnSpc>
                <a:spcPct val="120000"/>
              </a:lnSpc>
              <a:spcBef>
                <a:spcPts val="0"/>
              </a:spcBef>
              <a:defRPr sz="3200">
                <a:latin typeface="FZLTHProS-R--GB1-0"/>
                <a:ea typeface="FZLTHProS-R--GB1-0"/>
                <a:cs typeface="FZLTHProS-R--GB1-0"/>
                <a:sym typeface="FZLTHProS-R--GB1-0"/>
              </a:defRPr>
            </a:pPr>
            <a:r>
              <a:rPr lang="zh-CN" altLang="en-US" b="1" dirty="0"/>
              <a:t>完成注册</a:t>
            </a:r>
            <a:endParaRPr b="1" dirty="0"/>
          </a:p>
        </p:txBody>
      </p:sp>
      <p:sp>
        <p:nvSpPr>
          <p:cNvPr id="20" name="PA-箭头: 上 11">
            <a:extLst>
              <a:ext uri="{FF2B5EF4-FFF2-40B4-BE49-F238E27FC236}">
                <a16:creationId xmlns:a16="http://schemas.microsoft.com/office/drawing/2014/main" id="{52270B95-8B3A-7BED-3D35-38977A0BCF95}"/>
              </a:ext>
            </a:extLst>
          </p:cNvPr>
          <p:cNvSpPr/>
          <p:nvPr/>
        </p:nvSpPr>
        <p:spPr>
          <a:xfrm rot="5400000">
            <a:off x="14815030" y="6639054"/>
            <a:ext cx="646307" cy="10810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448"/>
                </a:moveTo>
                <a:lnTo>
                  <a:pt x="11000" y="0"/>
                </a:lnTo>
                <a:lnTo>
                  <a:pt x="0" y="7448"/>
                </a:lnTo>
                <a:lnTo>
                  <a:pt x="5515" y="7448"/>
                </a:lnTo>
                <a:lnTo>
                  <a:pt x="5515" y="21600"/>
                </a:lnTo>
                <a:lnTo>
                  <a:pt x="16085" y="21600"/>
                </a:lnTo>
                <a:lnTo>
                  <a:pt x="16085" y="7448"/>
                </a:lnTo>
                <a:lnTo>
                  <a:pt x="21600" y="7448"/>
                </a:lnTo>
                <a:close/>
              </a:path>
            </a:pathLst>
          </a:custGeom>
          <a:gradFill>
            <a:gsLst>
              <a:gs pos="46000">
                <a:srgbClr val="0A6AFF"/>
              </a:gs>
              <a:gs pos="86000">
                <a:srgbClr val="6464FF">
                  <a:alpha val="0"/>
                </a:srgbClr>
              </a:gs>
            </a:gsLst>
            <a:lin ang="5400000"/>
          </a:gradFill>
          <a:ln w="12700">
            <a:miter lim="400000"/>
          </a:ln>
          <a:effectLst>
            <a:outerShdw blurRad="990600" dist="635000" rotWithShape="0">
              <a:srgbClr val="3586EC">
                <a:alpha val="40000"/>
              </a:srgbClr>
            </a:outerShdw>
          </a:effectLst>
        </p:spPr>
        <p:txBody>
          <a:bodyPr lIns="516245" tIns="516245" rIns="516245" bIns="516245" anchor="ctr"/>
          <a:lstStyle/>
          <a:p>
            <a:pPr algn="ctr" defTabSz="5168347">
              <a:lnSpc>
                <a:spcPct val="100000"/>
              </a:lnSpc>
              <a:spcBef>
                <a:spcPts val="0"/>
              </a:spcBef>
              <a:defRPr sz="15600">
                <a:latin typeface="ByteSans-Medium"/>
                <a:ea typeface="ByteSans-Medium"/>
                <a:cs typeface="ByteSans-Medium"/>
                <a:sym typeface="ByteSans-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PA-文本框 4">
            <a:extLst>
              <a:ext uri="{FF2B5EF4-FFF2-40B4-BE49-F238E27FC236}">
                <a16:creationId xmlns:a16="http://schemas.microsoft.com/office/drawing/2014/main" id="{D5E3F346-E555-8898-9626-FF0EAED703F8}"/>
              </a:ext>
            </a:extLst>
          </p:cNvPr>
          <p:cNvSpPr txBox="1"/>
          <p:nvPr/>
        </p:nvSpPr>
        <p:spPr>
          <a:xfrm>
            <a:off x="3814307" y="5291834"/>
            <a:ext cx="13749206" cy="49498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 defTabSz="9570741">
              <a:lnSpc>
                <a:spcPct val="100000"/>
              </a:lnSpc>
              <a:spcBef>
                <a:spcPts val="0"/>
              </a:spcBef>
              <a:defRPr sz="4400">
                <a:solidFill>
                  <a:srgbClr val="006AFF"/>
                </a:solidFill>
                <a:latin typeface="FZLTHProS SemiBold"/>
                <a:ea typeface="FZLTHProS SemiBold"/>
                <a:cs typeface="FZLTHProS SemiBold"/>
                <a:sym typeface="FZLTHProS SemiBold"/>
              </a:defRPr>
            </a:lvl1pPr>
          </a:lstStyle>
          <a:p>
            <a:r>
              <a:rPr lang="zh-CN" altLang="en-US" sz="16600" dirty="0">
                <a:solidFill>
                  <a:srgbClr val="0061EB"/>
                </a:solidFill>
              </a:rPr>
              <a:t>感谢观看</a:t>
            </a:r>
            <a:endParaRPr sz="16600" dirty="0">
              <a:solidFill>
                <a:srgbClr val="0061EB"/>
              </a:solidFill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7EDA57C0A5F6CE007BC00D75C21E6043B5F2EB88B7837B3CA2806600D295D643" val="[{&quot;GradientColorId&quot;:&quot;&quot;,&quot;IsFree&quot;:true,&quot;IsGradient&quot;:false,&quot;ImagePath&quot;:&quot;&quot;,&quot;GradientColor&quot;:null,&quot;SimpleColor&quot;:&quot;#00B0F0&quot;}]"/>
</p:tagLst>
</file>

<file path=ppt/theme/theme1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1607</TotalTime>
  <Words>198</Words>
  <Application>Microsoft Office PowerPoint</Application>
  <PresentationFormat>自定义</PresentationFormat>
  <Paragraphs>61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FZLTHProS-R--GB1-0</vt:lpstr>
      <vt:lpstr>Helvetica Neue</vt:lpstr>
      <vt:lpstr>等线</vt:lpstr>
      <vt:lpstr>汉仪雅酷黑 65W</vt:lpstr>
      <vt:lpstr>微软雅黑</vt:lpstr>
      <vt:lpstr>微软雅黑 Light</vt:lpstr>
      <vt:lpstr>Arial</vt:lpstr>
      <vt:lpstr>20_BasicBlack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王宇轩</dc:creator>
  <cp:lastModifiedBy>宇轩 王</cp:lastModifiedBy>
  <cp:revision>24</cp:revision>
  <dcterms:modified xsi:type="dcterms:W3CDTF">2026-03-11T07:05:07Z</dcterms:modified>
</cp:coreProperties>
</file>