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4.svg" ContentType="image/svg+xml"/>
  <Override PartName="/ppt/media/image116.svg" ContentType="image/svg+xml"/>
  <Override PartName="/ppt/media/image118.svg" ContentType="image/svg+xml"/>
  <Override PartName="/ppt/media/image120.svg" ContentType="image/svg+xml"/>
  <Override PartName="/ppt/media/image123.svg" ContentType="image/svg+xml"/>
  <Override PartName="/ppt/media/image125.svg" ContentType="image/svg+xml"/>
  <Override PartName="/ppt/media/image127.svg" ContentType="image/svg+xml"/>
  <Override PartName="/ppt/media/image131.svg" ContentType="image/svg+xml"/>
  <Override PartName="/ppt/media/image133.svg" ContentType="image/svg+xml"/>
  <Override PartName="/ppt/media/image136.svg" ContentType="image/svg+xml"/>
  <Override PartName="/ppt/media/image138.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49.svg" ContentType="image/svg+xml"/>
  <Override PartName="/ppt/media/image15.svg" ContentType="image/svg+xml"/>
  <Override PartName="/ppt/media/image150.svg" ContentType="image/svg+xml"/>
  <Override PartName="/ppt/media/image151.svg" ContentType="image/svg+xml"/>
  <Override PartName="/ppt/media/image153.svg" ContentType="image/svg+xml"/>
  <Override PartName="/ppt/media/image155.svg" ContentType="image/svg+xml"/>
  <Override PartName="/ppt/media/image159.svg" ContentType="image/svg+xml"/>
  <Override PartName="/ppt/media/image161.svg" ContentType="image/svg+xml"/>
  <Override PartName="/ppt/media/image162.svg" ContentType="image/svg+xml"/>
  <Override PartName="/ppt/media/image163.svg" ContentType="image/svg+xml"/>
  <Override PartName="/ppt/media/image165.svg" ContentType="image/svg+xml"/>
  <Override PartName="/ppt/media/image167.svg" ContentType="image/svg+xml"/>
  <Override PartName="/ppt/media/image17.svg" ContentType="image/svg+xml"/>
  <Override PartName="/ppt/media/image174.svg" ContentType="image/svg+xml"/>
  <Override PartName="/ppt/media/image176.svg" ContentType="image/svg+xml"/>
  <Override PartName="/ppt/media/image184.svg" ContentType="image/svg+xml"/>
  <Override PartName="/ppt/media/image186.svg" ContentType="image/svg+xml"/>
  <Override PartName="/ppt/media/image188.svg" ContentType="image/svg+xml"/>
  <Override PartName="/ppt/media/image19.svg" ContentType="image/svg+xml"/>
  <Override PartName="/ppt/media/image191.svg" ContentType="image/svg+xml"/>
  <Override PartName="/ppt/media/image193.svg" ContentType="image/svg+xml"/>
  <Override PartName="/ppt/media/image195.svg" ContentType="image/svg+xml"/>
  <Override PartName="/ppt/media/image197.svg" ContentType="image/svg+xml"/>
  <Override PartName="/ppt/media/image199.svg" ContentType="image/svg+xml"/>
  <Override PartName="/ppt/media/image201.svg" ContentType="image/svg+xml"/>
  <Override PartName="/ppt/media/image204.svg" ContentType="image/svg+xml"/>
  <Override PartName="/ppt/media/image206.svg" ContentType="image/svg+xml"/>
  <Override PartName="/ppt/media/image208.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30.svg" ContentType="image/svg+xml"/>
  <Override PartName="/ppt/media/image31.svg" ContentType="image/svg+xml"/>
  <Override PartName="/ppt/media/image32.svg" ContentType="image/svg+xml"/>
  <Override PartName="/ppt/media/image35.svg" ContentType="image/svg+xml"/>
  <Override PartName="/ppt/media/image37.svg" ContentType="image/svg+xml"/>
  <Override PartName="/ppt/media/image39.svg" ContentType="image/svg+xml"/>
  <Override PartName="/ppt/media/image43.svg" ContentType="image/svg+xml"/>
  <Override PartName="/ppt/media/image47.svg" ContentType="image/svg+xml"/>
  <Override PartName="/ppt/media/image49.svg" ContentType="image/svg+xml"/>
  <Override PartName="/ppt/media/image5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1"/>
  </p:notesMasterIdLst>
  <p:handoutMasterIdLst>
    <p:handoutMasterId r:id="rId42"/>
  </p:handoutMasterIdLst>
  <p:sldIdLst>
    <p:sldId id="559" r:id="rId3"/>
    <p:sldId id="562" r:id="rId4"/>
    <p:sldId id="527" r:id="rId5"/>
    <p:sldId id="529" r:id="rId6"/>
    <p:sldId id="535" r:id="rId7"/>
    <p:sldId id="531" r:id="rId8"/>
    <p:sldId id="532" r:id="rId9"/>
    <p:sldId id="563" r:id="rId10"/>
    <p:sldId id="533" r:id="rId11"/>
    <p:sldId id="564" r:id="rId12"/>
    <p:sldId id="561" r:id="rId13"/>
    <p:sldId id="517" r:id="rId14"/>
    <p:sldId id="518" r:id="rId15"/>
    <p:sldId id="521" r:id="rId16"/>
    <p:sldId id="522" r:id="rId17"/>
    <p:sldId id="523" r:id="rId18"/>
    <p:sldId id="524" r:id="rId19"/>
    <p:sldId id="525" r:id="rId20"/>
    <p:sldId id="565" r:id="rId21"/>
    <p:sldId id="566" r:id="rId22"/>
    <p:sldId id="567" r:id="rId23"/>
    <p:sldId id="573" r:id="rId24"/>
    <p:sldId id="568" r:id="rId25"/>
    <p:sldId id="574" r:id="rId26"/>
    <p:sldId id="569" r:id="rId27"/>
    <p:sldId id="575" r:id="rId28"/>
    <p:sldId id="570" r:id="rId29"/>
    <p:sldId id="576" r:id="rId30"/>
    <p:sldId id="571" r:id="rId31"/>
    <p:sldId id="577" r:id="rId32"/>
    <p:sldId id="572" r:id="rId33"/>
    <p:sldId id="578" r:id="rId34"/>
    <p:sldId id="579" r:id="rId35"/>
    <p:sldId id="581" r:id="rId36"/>
    <p:sldId id="580" r:id="rId37"/>
    <p:sldId id="582" r:id="rId38"/>
    <p:sldId id="443" r:id="rId39"/>
    <p:sldId id="350" r:id="rId40"/>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40" userDrawn="1">
          <p15:clr>
            <a:srgbClr val="A4A3A4"/>
          </p15:clr>
        </p15:guide>
        <p15:guide id="2" pos="32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EE8FD"/>
    <a:srgbClr val="FFF6F0"/>
    <a:srgbClr val="FEF0E7"/>
    <a:srgbClr val="F9D5BE"/>
    <a:srgbClr val="D1DFFC"/>
    <a:srgbClr val="E0F5F2"/>
    <a:srgbClr val="59CDBE"/>
    <a:srgbClr val="2258DA"/>
    <a:srgbClr val="24CEBC"/>
    <a:srgbClr val="9AE3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740"/>
        <p:guide pos="329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tags" Target="tags/tag92.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notesMaster" Target="notesMasters/notesMaster1.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摄图网_402687613_日出山顶的美丽景色(非企业商用)"/>
          <p:cNvPicPr>
            <a:picLocks noChangeAspect="1"/>
          </p:cNvPicPr>
          <p:nvPr userDrawn="1"/>
        </p:nvPicPr>
        <p:blipFill>
          <a:blip r:embed="rId2">
            <a:grayscl/>
          </a:blip>
          <a:srcRect t="15546"/>
          <a:stretch>
            <a:fillRect/>
          </a:stretch>
        </p:blipFill>
        <p:spPr>
          <a:xfrm>
            <a:off x="-635" y="0"/>
            <a:ext cx="12192000" cy="6858000"/>
          </a:xfrm>
          <a:prstGeom prst="rect">
            <a:avLst/>
          </a:prstGeom>
        </p:spPr>
      </p:pic>
      <p:sp>
        <p:nvSpPr>
          <p:cNvPr id="2" name="矩形 1"/>
          <p:cNvSpPr/>
          <p:nvPr userDrawn="1"/>
        </p:nvSpPr>
        <p:spPr>
          <a:xfrm>
            <a:off x="0" y="0"/>
            <a:ext cx="12191365" cy="6858000"/>
          </a:xfrm>
          <a:prstGeom prst="rect">
            <a:avLst/>
          </a:prstGeom>
          <a:gradFill>
            <a:gsLst>
              <a:gs pos="0">
                <a:srgbClr val="2461F5">
                  <a:alpha val="80000"/>
                </a:srgbClr>
              </a:gs>
              <a:gs pos="100000">
                <a:srgbClr val="2461F5">
                  <a:alpha val="90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chemeClr val="bg1">
                      <a:alpha val="62000"/>
                    </a:schemeClr>
                  </a:gs>
                  <a:gs pos="100000">
                    <a:srgbClr val="15BAB1"/>
                  </a:gs>
                </a:gsLst>
                <a:lin ang="5400000" scaled="0"/>
              </a:gradFill>
            </a:endParaRPr>
          </a:p>
        </p:txBody>
      </p:sp>
      <p:sp>
        <p:nvSpPr>
          <p:cNvPr id="7" name="任意多边形: 形状 11"/>
          <p:cNvSpPr/>
          <p:nvPr userDrawn="1"/>
        </p:nvSpPr>
        <p:spPr>
          <a:xfrm>
            <a:off x="9900058" y="1096840"/>
            <a:ext cx="1256633" cy="723251"/>
          </a:xfrm>
          <a:custGeom>
            <a:avLst/>
            <a:gdLst>
              <a:gd name="connsiteX0" fmla="*/ 24239 w 1256633"/>
              <a:gd name="connsiteY0" fmla="*/ -99 h 723251"/>
              <a:gd name="connsiteX1" fmla="*/ 49380 w 1256633"/>
              <a:gd name="connsiteY1" fmla="*/ 25116 h 723251"/>
              <a:gd name="connsiteX2" fmla="*/ 24166 w 1256633"/>
              <a:gd name="connsiteY2" fmla="*/ 50258 h 723251"/>
              <a:gd name="connsiteX3" fmla="*/ -976 w 1256633"/>
              <a:gd name="connsiteY3" fmla="*/ 25073 h 723251"/>
              <a:gd name="connsiteX4" fmla="*/ 24185 w 1256633"/>
              <a:gd name="connsiteY4" fmla="*/ -99 h 723251"/>
              <a:gd name="connsiteX5" fmla="*/ 24240 w 1256633"/>
              <a:gd name="connsiteY5" fmla="*/ -99 h 723251"/>
              <a:gd name="connsiteX6" fmla="*/ 158231 w 1256633"/>
              <a:gd name="connsiteY6" fmla="*/ -99 h 723251"/>
              <a:gd name="connsiteX7" fmla="*/ 183434 w 1256633"/>
              <a:gd name="connsiteY7" fmla="*/ 25055 h 723251"/>
              <a:gd name="connsiteX8" fmla="*/ 158281 w 1256633"/>
              <a:gd name="connsiteY8" fmla="*/ 50258 h 723251"/>
              <a:gd name="connsiteX9" fmla="*/ 133078 w 1256633"/>
              <a:gd name="connsiteY9" fmla="*/ 25104 h 723251"/>
              <a:gd name="connsiteX10" fmla="*/ 133078 w 1256633"/>
              <a:gd name="connsiteY10" fmla="*/ 25073 h 723251"/>
              <a:gd name="connsiteX11" fmla="*/ 158231 w 1256633"/>
              <a:gd name="connsiteY11" fmla="*/ -99 h 723251"/>
              <a:gd name="connsiteX12" fmla="*/ 292285 w 1256633"/>
              <a:gd name="connsiteY12" fmla="*/ -99 h 723251"/>
              <a:gd name="connsiteX13" fmla="*/ 317427 w 1256633"/>
              <a:gd name="connsiteY13" fmla="*/ 25116 h 723251"/>
              <a:gd name="connsiteX14" fmla="*/ 292212 w 1256633"/>
              <a:gd name="connsiteY14" fmla="*/ 50258 h 723251"/>
              <a:gd name="connsiteX15" fmla="*/ 267071 w 1256633"/>
              <a:gd name="connsiteY15" fmla="*/ 25073 h 723251"/>
              <a:gd name="connsiteX16" fmla="*/ 292232 w 1256633"/>
              <a:gd name="connsiteY16" fmla="*/ -99 h 723251"/>
              <a:gd name="connsiteX17" fmla="*/ 292287 w 1256633"/>
              <a:gd name="connsiteY17" fmla="*/ -99 h 723251"/>
              <a:gd name="connsiteX18" fmla="*/ 426095 w 1256633"/>
              <a:gd name="connsiteY18" fmla="*/ -99 h 723251"/>
              <a:gd name="connsiteX19" fmla="*/ 451481 w 1256633"/>
              <a:gd name="connsiteY19" fmla="*/ 24871 h 723251"/>
              <a:gd name="connsiteX20" fmla="*/ 426510 w 1256633"/>
              <a:gd name="connsiteY20" fmla="*/ 50256 h 723251"/>
              <a:gd name="connsiteX21" fmla="*/ 401125 w 1256633"/>
              <a:gd name="connsiteY21" fmla="*/ 25285 h 723251"/>
              <a:gd name="connsiteX22" fmla="*/ 401123 w 1256633"/>
              <a:gd name="connsiteY22" fmla="*/ 25073 h 723251"/>
              <a:gd name="connsiteX23" fmla="*/ 426052 w 1256633"/>
              <a:gd name="connsiteY23" fmla="*/ -99 h 723251"/>
              <a:gd name="connsiteX24" fmla="*/ 426095 w 1256633"/>
              <a:gd name="connsiteY24" fmla="*/ -99 h 723251"/>
              <a:gd name="connsiteX25" fmla="*/ 560149 w 1256633"/>
              <a:gd name="connsiteY25" fmla="*/ -99 h 723251"/>
              <a:gd name="connsiteX26" fmla="*/ 585474 w 1256633"/>
              <a:gd name="connsiteY26" fmla="*/ 24933 h 723251"/>
              <a:gd name="connsiteX27" fmla="*/ 560442 w 1256633"/>
              <a:gd name="connsiteY27" fmla="*/ 50257 h 723251"/>
              <a:gd name="connsiteX28" fmla="*/ 535118 w 1256633"/>
              <a:gd name="connsiteY28" fmla="*/ 25225 h 723251"/>
              <a:gd name="connsiteX29" fmla="*/ 535118 w 1256633"/>
              <a:gd name="connsiteY29" fmla="*/ 25073 h 723251"/>
              <a:gd name="connsiteX30" fmla="*/ 560119 w 1256633"/>
              <a:gd name="connsiteY30" fmla="*/ -99 h 723251"/>
              <a:gd name="connsiteX31" fmla="*/ 560151 w 1256633"/>
              <a:gd name="connsiteY31" fmla="*/ -99 h 723251"/>
              <a:gd name="connsiteX32" fmla="*/ 694142 w 1256633"/>
              <a:gd name="connsiteY32" fmla="*/ -99 h 723251"/>
              <a:gd name="connsiteX33" fmla="*/ 719528 w 1256633"/>
              <a:gd name="connsiteY33" fmla="*/ 24871 h 723251"/>
              <a:gd name="connsiteX34" fmla="*/ 694557 w 1256633"/>
              <a:gd name="connsiteY34" fmla="*/ 50256 h 723251"/>
              <a:gd name="connsiteX35" fmla="*/ 669172 w 1256633"/>
              <a:gd name="connsiteY35" fmla="*/ 25285 h 723251"/>
              <a:gd name="connsiteX36" fmla="*/ 669170 w 1256633"/>
              <a:gd name="connsiteY36" fmla="*/ 25073 h 723251"/>
              <a:gd name="connsiteX37" fmla="*/ 694099 w 1256633"/>
              <a:gd name="connsiteY37" fmla="*/ -99 h 723251"/>
              <a:gd name="connsiteX38" fmla="*/ 694142 w 1256633"/>
              <a:gd name="connsiteY38" fmla="*/ -99 h 723251"/>
              <a:gd name="connsiteX39" fmla="*/ 24239 w 1256633"/>
              <a:gd name="connsiteY39" fmla="*/ 134314 h 723251"/>
              <a:gd name="connsiteX40" fmla="*/ 49770 w 1256633"/>
              <a:gd name="connsiteY40" fmla="*/ 159529 h 723251"/>
              <a:gd name="connsiteX41" fmla="*/ 24555 w 1256633"/>
              <a:gd name="connsiteY41" fmla="*/ 185060 h 723251"/>
              <a:gd name="connsiteX42" fmla="*/ -976 w 1256633"/>
              <a:gd name="connsiteY42" fmla="*/ 159845 h 723251"/>
              <a:gd name="connsiteX43" fmla="*/ -976 w 1256633"/>
              <a:gd name="connsiteY43" fmla="*/ 159688 h 723251"/>
              <a:gd name="connsiteX44" fmla="*/ 24190 w 1256633"/>
              <a:gd name="connsiteY44" fmla="*/ 134314 h 723251"/>
              <a:gd name="connsiteX45" fmla="*/ 24239 w 1256633"/>
              <a:gd name="connsiteY45" fmla="*/ 134314 h 723251"/>
              <a:gd name="connsiteX46" fmla="*/ 158231 w 1256633"/>
              <a:gd name="connsiteY46" fmla="*/ 134314 h 723251"/>
              <a:gd name="connsiteX47" fmla="*/ 183824 w 1256633"/>
              <a:gd name="connsiteY47" fmla="*/ 159467 h 723251"/>
              <a:gd name="connsiteX48" fmla="*/ 158670 w 1256633"/>
              <a:gd name="connsiteY48" fmla="*/ 185059 h 723251"/>
              <a:gd name="connsiteX49" fmla="*/ 133078 w 1256633"/>
              <a:gd name="connsiteY49" fmla="*/ 159906 h 723251"/>
              <a:gd name="connsiteX50" fmla="*/ 133077 w 1256633"/>
              <a:gd name="connsiteY50" fmla="*/ 159687 h 723251"/>
              <a:gd name="connsiteX51" fmla="*/ 158230 w 1256633"/>
              <a:gd name="connsiteY51" fmla="*/ 134314 h 723251"/>
              <a:gd name="connsiteX52" fmla="*/ 292285 w 1256633"/>
              <a:gd name="connsiteY52" fmla="*/ 134314 h 723251"/>
              <a:gd name="connsiteX53" fmla="*/ 317816 w 1256633"/>
              <a:gd name="connsiteY53" fmla="*/ 159529 h 723251"/>
              <a:gd name="connsiteX54" fmla="*/ 292602 w 1256633"/>
              <a:gd name="connsiteY54" fmla="*/ 185060 h 723251"/>
              <a:gd name="connsiteX55" fmla="*/ 267071 w 1256633"/>
              <a:gd name="connsiteY55" fmla="*/ 159845 h 723251"/>
              <a:gd name="connsiteX56" fmla="*/ 267071 w 1256633"/>
              <a:gd name="connsiteY56" fmla="*/ 159688 h 723251"/>
              <a:gd name="connsiteX57" fmla="*/ 292236 w 1256633"/>
              <a:gd name="connsiteY57" fmla="*/ 134314 h 723251"/>
              <a:gd name="connsiteX58" fmla="*/ 292285 w 1256633"/>
              <a:gd name="connsiteY58" fmla="*/ 134314 h 723251"/>
              <a:gd name="connsiteX59" fmla="*/ 426095 w 1256633"/>
              <a:gd name="connsiteY59" fmla="*/ 134314 h 723251"/>
              <a:gd name="connsiteX60" fmla="*/ 451879 w 1256633"/>
              <a:gd name="connsiteY60" fmla="*/ 159282 h 723251"/>
              <a:gd name="connsiteX61" fmla="*/ 426912 w 1256633"/>
              <a:gd name="connsiteY61" fmla="*/ 185066 h 723251"/>
              <a:gd name="connsiteX62" fmla="*/ 401128 w 1256633"/>
              <a:gd name="connsiteY62" fmla="*/ 160098 h 723251"/>
              <a:gd name="connsiteX63" fmla="*/ 401125 w 1256633"/>
              <a:gd name="connsiteY63" fmla="*/ 159687 h 723251"/>
              <a:gd name="connsiteX64" fmla="*/ 426058 w 1256633"/>
              <a:gd name="connsiteY64" fmla="*/ 134314 h 723251"/>
              <a:gd name="connsiteX65" fmla="*/ 426097 w 1256633"/>
              <a:gd name="connsiteY65" fmla="*/ 134314 h 723251"/>
              <a:gd name="connsiteX66" fmla="*/ 560149 w 1256633"/>
              <a:gd name="connsiteY66" fmla="*/ 134314 h 723251"/>
              <a:gd name="connsiteX67" fmla="*/ 585862 w 1256633"/>
              <a:gd name="connsiteY67" fmla="*/ 159344 h 723251"/>
              <a:gd name="connsiteX68" fmla="*/ 560832 w 1256633"/>
              <a:gd name="connsiteY68" fmla="*/ 185056 h 723251"/>
              <a:gd name="connsiteX69" fmla="*/ 535119 w 1256633"/>
              <a:gd name="connsiteY69" fmla="*/ 160026 h 723251"/>
              <a:gd name="connsiteX70" fmla="*/ 535116 w 1256633"/>
              <a:gd name="connsiteY70" fmla="*/ 159687 h 723251"/>
              <a:gd name="connsiteX71" fmla="*/ 560122 w 1256633"/>
              <a:gd name="connsiteY71" fmla="*/ 134314 h 723251"/>
              <a:gd name="connsiteX72" fmla="*/ 560148 w 1256633"/>
              <a:gd name="connsiteY72" fmla="*/ 134314 h 723251"/>
              <a:gd name="connsiteX73" fmla="*/ 694142 w 1256633"/>
              <a:gd name="connsiteY73" fmla="*/ 134314 h 723251"/>
              <a:gd name="connsiteX74" fmla="*/ 719926 w 1256633"/>
              <a:gd name="connsiteY74" fmla="*/ 159282 h 723251"/>
              <a:gd name="connsiteX75" fmla="*/ 694958 w 1256633"/>
              <a:gd name="connsiteY75" fmla="*/ 185066 h 723251"/>
              <a:gd name="connsiteX76" fmla="*/ 669175 w 1256633"/>
              <a:gd name="connsiteY76" fmla="*/ 160098 h 723251"/>
              <a:gd name="connsiteX77" fmla="*/ 669172 w 1256633"/>
              <a:gd name="connsiteY77" fmla="*/ 159687 h 723251"/>
              <a:gd name="connsiteX78" fmla="*/ 694105 w 1256633"/>
              <a:gd name="connsiteY78" fmla="*/ 134314 h 723251"/>
              <a:gd name="connsiteX79" fmla="*/ 694144 w 1256633"/>
              <a:gd name="connsiteY79" fmla="*/ 134314 h 723251"/>
              <a:gd name="connsiteX80" fmla="*/ 24239 w 1256633"/>
              <a:gd name="connsiteY80" fmla="*/ 269123 h 723251"/>
              <a:gd name="connsiteX81" fmla="*/ 49380 w 1256633"/>
              <a:gd name="connsiteY81" fmla="*/ 294338 h 723251"/>
              <a:gd name="connsiteX82" fmla="*/ 24166 w 1256633"/>
              <a:gd name="connsiteY82" fmla="*/ 319480 h 723251"/>
              <a:gd name="connsiteX83" fmla="*/ -976 w 1256633"/>
              <a:gd name="connsiteY83" fmla="*/ 294301 h 723251"/>
              <a:gd name="connsiteX84" fmla="*/ 24178 w 1256633"/>
              <a:gd name="connsiteY84" fmla="*/ 269123 h 723251"/>
              <a:gd name="connsiteX85" fmla="*/ 24239 w 1256633"/>
              <a:gd name="connsiteY85" fmla="*/ 269123 h 723251"/>
              <a:gd name="connsiteX86" fmla="*/ 158231 w 1256633"/>
              <a:gd name="connsiteY86" fmla="*/ 269123 h 723251"/>
              <a:gd name="connsiteX87" fmla="*/ 183434 w 1256633"/>
              <a:gd name="connsiteY87" fmla="*/ 294277 h 723251"/>
              <a:gd name="connsiteX88" fmla="*/ 158281 w 1256633"/>
              <a:gd name="connsiteY88" fmla="*/ 319480 h 723251"/>
              <a:gd name="connsiteX89" fmla="*/ 133078 w 1256633"/>
              <a:gd name="connsiteY89" fmla="*/ 294326 h 723251"/>
              <a:gd name="connsiteX90" fmla="*/ 133078 w 1256633"/>
              <a:gd name="connsiteY90" fmla="*/ 294301 h 723251"/>
              <a:gd name="connsiteX91" fmla="*/ 158231 w 1256633"/>
              <a:gd name="connsiteY91" fmla="*/ 269123 h 723251"/>
              <a:gd name="connsiteX92" fmla="*/ 292285 w 1256633"/>
              <a:gd name="connsiteY92" fmla="*/ 269123 h 723251"/>
              <a:gd name="connsiteX93" fmla="*/ 317427 w 1256633"/>
              <a:gd name="connsiteY93" fmla="*/ 294338 h 723251"/>
              <a:gd name="connsiteX94" fmla="*/ 292212 w 1256633"/>
              <a:gd name="connsiteY94" fmla="*/ 319480 h 723251"/>
              <a:gd name="connsiteX95" fmla="*/ 267071 w 1256633"/>
              <a:gd name="connsiteY95" fmla="*/ 294301 h 723251"/>
              <a:gd name="connsiteX96" fmla="*/ 292224 w 1256633"/>
              <a:gd name="connsiteY96" fmla="*/ 269123 h 723251"/>
              <a:gd name="connsiteX97" fmla="*/ 292285 w 1256633"/>
              <a:gd name="connsiteY97" fmla="*/ 269123 h 723251"/>
              <a:gd name="connsiteX98" fmla="*/ 426095 w 1256633"/>
              <a:gd name="connsiteY98" fmla="*/ 269123 h 723251"/>
              <a:gd name="connsiteX99" fmla="*/ 451481 w 1256633"/>
              <a:gd name="connsiteY99" fmla="*/ 294093 h 723251"/>
              <a:gd name="connsiteX100" fmla="*/ 426510 w 1256633"/>
              <a:gd name="connsiteY100" fmla="*/ 319478 h 723251"/>
              <a:gd name="connsiteX101" fmla="*/ 401125 w 1256633"/>
              <a:gd name="connsiteY101" fmla="*/ 294508 h 723251"/>
              <a:gd name="connsiteX102" fmla="*/ 401123 w 1256633"/>
              <a:gd name="connsiteY102" fmla="*/ 294301 h 723251"/>
              <a:gd name="connsiteX103" fmla="*/ 426046 w 1256633"/>
              <a:gd name="connsiteY103" fmla="*/ 269123 h 723251"/>
              <a:gd name="connsiteX104" fmla="*/ 426095 w 1256633"/>
              <a:gd name="connsiteY104" fmla="*/ 269123 h 723251"/>
              <a:gd name="connsiteX105" fmla="*/ 560149 w 1256633"/>
              <a:gd name="connsiteY105" fmla="*/ 269123 h 723251"/>
              <a:gd name="connsiteX106" fmla="*/ 585474 w 1256633"/>
              <a:gd name="connsiteY106" fmla="*/ 294155 h 723251"/>
              <a:gd name="connsiteX107" fmla="*/ 560442 w 1256633"/>
              <a:gd name="connsiteY107" fmla="*/ 319479 h 723251"/>
              <a:gd name="connsiteX108" fmla="*/ 535118 w 1256633"/>
              <a:gd name="connsiteY108" fmla="*/ 294447 h 723251"/>
              <a:gd name="connsiteX109" fmla="*/ 535118 w 1256633"/>
              <a:gd name="connsiteY109" fmla="*/ 294301 h 723251"/>
              <a:gd name="connsiteX110" fmla="*/ 560114 w 1256633"/>
              <a:gd name="connsiteY110" fmla="*/ 269123 h 723251"/>
              <a:gd name="connsiteX111" fmla="*/ 560151 w 1256633"/>
              <a:gd name="connsiteY111" fmla="*/ 269123 h 723251"/>
              <a:gd name="connsiteX112" fmla="*/ 694142 w 1256633"/>
              <a:gd name="connsiteY112" fmla="*/ 269123 h 723251"/>
              <a:gd name="connsiteX113" fmla="*/ 719528 w 1256633"/>
              <a:gd name="connsiteY113" fmla="*/ 294093 h 723251"/>
              <a:gd name="connsiteX114" fmla="*/ 694557 w 1256633"/>
              <a:gd name="connsiteY114" fmla="*/ 319478 h 723251"/>
              <a:gd name="connsiteX115" fmla="*/ 669172 w 1256633"/>
              <a:gd name="connsiteY115" fmla="*/ 294508 h 723251"/>
              <a:gd name="connsiteX116" fmla="*/ 669170 w 1256633"/>
              <a:gd name="connsiteY116" fmla="*/ 294301 h 723251"/>
              <a:gd name="connsiteX117" fmla="*/ 694093 w 1256633"/>
              <a:gd name="connsiteY117" fmla="*/ 269123 h 723251"/>
              <a:gd name="connsiteX118" fmla="*/ 694142 w 1256633"/>
              <a:gd name="connsiteY118" fmla="*/ 269123 h 723251"/>
              <a:gd name="connsiteX119" fmla="*/ 828013 w 1256633"/>
              <a:gd name="connsiteY119" fmla="*/ -81 h 723251"/>
              <a:gd name="connsiteX120" fmla="*/ 853155 w 1256633"/>
              <a:gd name="connsiteY120" fmla="*/ 25134 h 723251"/>
              <a:gd name="connsiteX121" fmla="*/ 827940 w 1256633"/>
              <a:gd name="connsiteY121" fmla="*/ 50276 h 723251"/>
              <a:gd name="connsiteX122" fmla="*/ 802799 w 1256633"/>
              <a:gd name="connsiteY122" fmla="*/ 25091 h 723251"/>
              <a:gd name="connsiteX123" fmla="*/ 827940 w 1256633"/>
              <a:gd name="connsiteY123" fmla="*/ -99 h 723251"/>
              <a:gd name="connsiteX124" fmla="*/ 828013 w 1256633"/>
              <a:gd name="connsiteY124" fmla="*/ -99 h 723251"/>
              <a:gd name="connsiteX125" fmla="*/ 962006 w 1256633"/>
              <a:gd name="connsiteY125" fmla="*/ -81 h 723251"/>
              <a:gd name="connsiteX126" fmla="*/ 987208 w 1256633"/>
              <a:gd name="connsiteY126" fmla="*/ 25073 h 723251"/>
              <a:gd name="connsiteX127" fmla="*/ 962055 w 1256633"/>
              <a:gd name="connsiteY127" fmla="*/ 50276 h 723251"/>
              <a:gd name="connsiteX128" fmla="*/ 936853 w 1256633"/>
              <a:gd name="connsiteY128" fmla="*/ 25122 h 723251"/>
              <a:gd name="connsiteX129" fmla="*/ 936853 w 1256633"/>
              <a:gd name="connsiteY129" fmla="*/ 25091 h 723251"/>
              <a:gd name="connsiteX130" fmla="*/ 961994 w 1256633"/>
              <a:gd name="connsiteY130" fmla="*/ -99 h 723251"/>
              <a:gd name="connsiteX131" fmla="*/ 962006 w 1256633"/>
              <a:gd name="connsiteY131" fmla="*/ -99 h 723251"/>
              <a:gd name="connsiteX132" fmla="*/ 828013 w 1256633"/>
              <a:gd name="connsiteY132" fmla="*/ 134332 h 723251"/>
              <a:gd name="connsiteX133" fmla="*/ 853544 w 1256633"/>
              <a:gd name="connsiteY133" fmla="*/ 159547 h 723251"/>
              <a:gd name="connsiteX134" fmla="*/ 828330 w 1256633"/>
              <a:gd name="connsiteY134" fmla="*/ 185078 h 723251"/>
              <a:gd name="connsiteX135" fmla="*/ 802799 w 1256633"/>
              <a:gd name="connsiteY135" fmla="*/ 159864 h 723251"/>
              <a:gd name="connsiteX136" fmla="*/ 802799 w 1256633"/>
              <a:gd name="connsiteY136" fmla="*/ 159706 h 723251"/>
              <a:gd name="connsiteX137" fmla="*/ 827946 w 1256633"/>
              <a:gd name="connsiteY137" fmla="*/ 134314 h 723251"/>
              <a:gd name="connsiteX138" fmla="*/ 828013 w 1256633"/>
              <a:gd name="connsiteY138" fmla="*/ 134314 h 723251"/>
              <a:gd name="connsiteX139" fmla="*/ 962006 w 1256633"/>
              <a:gd name="connsiteY139" fmla="*/ 134332 h 723251"/>
              <a:gd name="connsiteX140" fmla="*/ 987598 w 1256633"/>
              <a:gd name="connsiteY140" fmla="*/ 159485 h 723251"/>
              <a:gd name="connsiteX141" fmla="*/ 962445 w 1256633"/>
              <a:gd name="connsiteY141" fmla="*/ 185077 h 723251"/>
              <a:gd name="connsiteX142" fmla="*/ 936853 w 1256633"/>
              <a:gd name="connsiteY142" fmla="*/ 159924 h 723251"/>
              <a:gd name="connsiteX143" fmla="*/ 936851 w 1256633"/>
              <a:gd name="connsiteY143" fmla="*/ 159706 h 723251"/>
              <a:gd name="connsiteX144" fmla="*/ 961999 w 1256633"/>
              <a:gd name="connsiteY144" fmla="*/ 134314 h 723251"/>
              <a:gd name="connsiteX145" fmla="*/ 962005 w 1256633"/>
              <a:gd name="connsiteY145" fmla="*/ 134314 h 723251"/>
              <a:gd name="connsiteX146" fmla="*/ 828013 w 1256633"/>
              <a:gd name="connsiteY146" fmla="*/ 269141 h 723251"/>
              <a:gd name="connsiteX147" fmla="*/ 853155 w 1256633"/>
              <a:gd name="connsiteY147" fmla="*/ 294356 h 723251"/>
              <a:gd name="connsiteX148" fmla="*/ 827940 w 1256633"/>
              <a:gd name="connsiteY148" fmla="*/ 319498 h 723251"/>
              <a:gd name="connsiteX149" fmla="*/ 802799 w 1256633"/>
              <a:gd name="connsiteY149" fmla="*/ 294320 h 723251"/>
              <a:gd name="connsiteX150" fmla="*/ 827934 w 1256633"/>
              <a:gd name="connsiteY150" fmla="*/ 269123 h 723251"/>
              <a:gd name="connsiteX151" fmla="*/ 828013 w 1256633"/>
              <a:gd name="connsiteY151" fmla="*/ 269123 h 723251"/>
              <a:gd name="connsiteX152" fmla="*/ 962006 w 1256633"/>
              <a:gd name="connsiteY152" fmla="*/ 269141 h 723251"/>
              <a:gd name="connsiteX153" fmla="*/ 987208 w 1256633"/>
              <a:gd name="connsiteY153" fmla="*/ 294295 h 723251"/>
              <a:gd name="connsiteX154" fmla="*/ 962055 w 1256633"/>
              <a:gd name="connsiteY154" fmla="*/ 319498 h 723251"/>
              <a:gd name="connsiteX155" fmla="*/ 936853 w 1256633"/>
              <a:gd name="connsiteY155" fmla="*/ 294344 h 723251"/>
              <a:gd name="connsiteX156" fmla="*/ 936853 w 1256633"/>
              <a:gd name="connsiteY156" fmla="*/ 294320 h 723251"/>
              <a:gd name="connsiteX157" fmla="*/ 961988 w 1256633"/>
              <a:gd name="connsiteY157" fmla="*/ 269123 h 723251"/>
              <a:gd name="connsiteX158" fmla="*/ 962006 w 1256633"/>
              <a:gd name="connsiteY158" fmla="*/ 269123 h 723251"/>
              <a:gd name="connsiteX159" fmla="*/ 1096060 w 1256633"/>
              <a:gd name="connsiteY159" fmla="*/ -63 h 723251"/>
              <a:gd name="connsiteX160" fmla="*/ 1121201 w 1256633"/>
              <a:gd name="connsiteY160" fmla="*/ 25152 h 723251"/>
              <a:gd name="connsiteX161" fmla="*/ 1095987 w 1256633"/>
              <a:gd name="connsiteY161" fmla="*/ 50294 h 723251"/>
              <a:gd name="connsiteX162" fmla="*/ 1070846 w 1256633"/>
              <a:gd name="connsiteY162" fmla="*/ 25110 h 723251"/>
              <a:gd name="connsiteX163" fmla="*/ 1095969 w 1256633"/>
              <a:gd name="connsiteY163" fmla="*/ -99 h 723251"/>
              <a:gd name="connsiteX164" fmla="*/ 1096060 w 1256633"/>
              <a:gd name="connsiteY164" fmla="*/ -99 h 723251"/>
              <a:gd name="connsiteX165" fmla="*/ 1230053 w 1256633"/>
              <a:gd name="connsiteY165" fmla="*/ -63 h 723251"/>
              <a:gd name="connsiteX166" fmla="*/ 1255255 w 1256633"/>
              <a:gd name="connsiteY166" fmla="*/ 25091 h 723251"/>
              <a:gd name="connsiteX167" fmla="*/ 1230102 w 1256633"/>
              <a:gd name="connsiteY167" fmla="*/ 50294 h 723251"/>
              <a:gd name="connsiteX168" fmla="*/ 1204899 w 1256633"/>
              <a:gd name="connsiteY168" fmla="*/ 25140 h 723251"/>
              <a:gd name="connsiteX169" fmla="*/ 1204899 w 1256633"/>
              <a:gd name="connsiteY169" fmla="*/ 25110 h 723251"/>
              <a:gd name="connsiteX170" fmla="*/ 1230047 w 1256633"/>
              <a:gd name="connsiteY170" fmla="*/ -99 h 723251"/>
              <a:gd name="connsiteX171" fmla="*/ 1230053 w 1256633"/>
              <a:gd name="connsiteY171" fmla="*/ -99 h 723251"/>
              <a:gd name="connsiteX172" fmla="*/ 1096060 w 1256633"/>
              <a:gd name="connsiteY172" fmla="*/ 134350 h 723251"/>
              <a:gd name="connsiteX173" fmla="*/ 1121591 w 1256633"/>
              <a:gd name="connsiteY173" fmla="*/ 159565 h 723251"/>
              <a:gd name="connsiteX174" fmla="*/ 1096377 w 1256633"/>
              <a:gd name="connsiteY174" fmla="*/ 185096 h 723251"/>
              <a:gd name="connsiteX175" fmla="*/ 1070846 w 1256633"/>
              <a:gd name="connsiteY175" fmla="*/ 159882 h 723251"/>
              <a:gd name="connsiteX176" fmla="*/ 1070846 w 1256633"/>
              <a:gd name="connsiteY176" fmla="*/ 159724 h 723251"/>
              <a:gd name="connsiteX177" fmla="*/ 1095975 w 1256633"/>
              <a:gd name="connsiteY177" fmla="*/ 134314 h 723251"/>
              <a:gd name="connsiteX178" fmla="*/ 1096061 w 1256633"/>
              <a:gd name="connsiteY178" fmla="*/ 134314 h 723251"/>
              <a:gd name="connsiteX179" fmla="*/ 1230053 w 1256633"/>
              <a:gd name="connsiteY179" fmla="*/ 134350 h 723251"/>
              <a:gd name="connsiteX180" fmla="*/ 1255645 w 1256633"/>
              <a:gd name="connsiteY180" fmla="*/ 159504 h 723251"/>
              <a:gd name="connsiteX181" fmla="*/ 1230491 w 1256633"/>
              <a:gd name="connsiteY181" fmla="*/ 185095 h 723251"/>
              <a:gd name="connsiteX182" fmla="*/ 1204899 w 1256633"/>
              <a:gd name="connsiteY182" fmla="*/ 159942 h 723251"/>
              <a:gd name="connsiteX183" fmla="*/ 1204898 w 1256633"/>
              <a:gd name="connsiteY183" fmla="*/ 159724 h 723251"/>
              <a:gd name="connsiteX184" fmla="*/ 1230051 w 1256633"/>
              <a:gd name="connsiteY184" fmla="*/ 134314 h 723251"/>
              <a:gd name="connsiteX185" fmla="*/ 1230051 w 1256633"/>
              <a:gd name="connsiteY185" fmla="*/ 134314 h 723251"/>
              <a:gd name="connsiteX186" fmla="*/ 1096060 w 1256633"/>
              <a:gd name="connsiteY186" fmla="*/ 269160 h 723251"/>
              <a:gd name="connsiteX187" fmla="*/ 1121201 w 1256633"/>
              <a:gd name="connsiteY187" fmla="*/ 294374 h 723251"/>
              <a:gd name="connsiteX188" fmla="*/ 1095987 w 1256633"/>
              <a:gd name="connsiteY188" fmla="*/ 319516 h 723251"/>
              <a:gd name="connsiteX189" fmla="*/ 1070846 w 1256633"/>
              <a:gd name="connsiteY189" fmla="*/ 294338 h 723251"/>
              <a:gd name="connsiteX190" fmla="*/ 1095963 w 1256633"/>
              <a:gd name="connsiteY190" fmla="*/ 269123 h 723251"/>
              <a:gd name="connsiteX191" fmla="*/ 1096061 w 1256633"/>
              <a:gd name="connsiteY191" fmla="*/ 269123 h 723251"/>
              <a:gd name="connsiteX192" fmla="*/ 1230053 w 1256633"/>
              <a:gd name="connsiteY192" fmla="*/ 269160 h 723251"/>
              <a:gd name="connsiteX193" fmla="*/ 1255255 w 1256633"/>
              <a:gd name="connsiteY193" fmla="*/ 294314 h 723251"/>
              <a:gd name="connsiteX194" fmla="*/ 1230102 w 1256633"/>
              <a:gd name="connsiteY194" fmla="*/ 319517 h 723251"/>
              <a:gd name="connsiteX195" fmla="*/ 1204899 w 1256633"/>
              <a:gd name="connsiteY195" fmla="*/ 294362 h 723251"/>
              <a:gd name="connsiteX196" fmla="*/ 1204899 w 1256633"/>
              <a:gd name="connsiteY196" fmla="*/ 294338 h 723251"/>
              <a:gd name="connsiteX197" fmla="*/ 1230041 w 1256633"/>
              <a:gd name="connsiteY197" fmla="*/ 269123 h 723251"/>
              <a:gd name="connsiteX198" fmla="*/ 1230053 w 1256633"/>
              <a:gd name="connsiteY198" fmla="*/ 269123 h 723251"/>
              <a:gd name="connsiteX199" fmla="*/ 24239 w 1256633"/>
              <a:gd name="connsiteY199" fmla="*/ 403536 h 723251"/>
              <a:gd name="connsiteX200" fmla="*/ 49380 w 1256633"/>
              <a:gd name="connsiteY200" fmla="*/ 428751 h 723251"/>
              <a:gd name="connsiteX201" fmla="*/ 24166 w 1256633"/>
              <a:gd name="connsiteY201" fmla="*/ 453893 h 723251"/>
              <a:gd name="connsiteX202" fmla="*/ -976 w 1256633"/>
              <a:gd name="connsiteY202" fmla="*/ 428714 h 723251"/>
              <a:gd name="connsiteX203" fmla="*/ 24178 w 1256633"/>
              <a:gd name="connsiteY203" fmla="*/ 403536 h 723251"/>
              <a:gd name="connsiteX204" fmla="*/ 24239 w 1256633"/>
              <a:gd name="connsiteY204" fmla="*/ 403536 h 723251"/>
              <a:gd name="connsiteX205" fmla="*/ 158231 w 1256633"/>
              <a:gd name="connsiteY205" fmla="*/ 403536 h 723251"/>
              <a:gd name="connsiteX206" fmla="*/ 183434 w 1256633"/>
              <a:gd name="connsiteY206" fmla="*/ 428690 h 723251"/>
              <a:gd name="connsiteX207" fmla="*/ 158281 w 1256633"/>
              <a:gd name="connsiteY207" fmla="*/ 453893 h 723251"/>
              <a:gd name="connsiteX208" fmla="*/ 133078 w 1256633"/>
              <a:gd name="connsiteY208" fmla="*/ 428739 h 723251"/>
              <a:gd name="connsiteX209" fmla="*/ 133078 w 1256633"/>
              <a:gd name="connsiteY209" fmla="*/ 428715 h 723251"/>
              <a:gd name="connsiteX210" fmla="*/ 158231 w 1256633"/>
              <a:gd name="connsiteY210" fmla="*/ 403536 h 723251"/>
              <a:gd name="connsiteX211" fmla="*/ 292285 w 1256633"/>
              <a:gd name="connsiteY211" fmla="*/ 403536 h 723251"/>
              <a:gd name="connsiteX212" fmla="*/ 317427 w 1256633"/>
              <a:gd name="connsiteY212" fmla="*/ 428751 h 723251"/>
              <a:gd name="connsiteX213" fmla="*/ 292212 w 1256633"/>
              <a:gd name="connsiteY213" fmla="*/ 453893 h 723251"/>
              <a:gd name="connsiteX214" fmla="*/ 267071 w 1256633"/>
              <a:gd name="connsiteY214" fmla="*/ 428714 h 723251"/>
              <a:gd name="connsiteX215" fmla="*/ 292224 w 1256633"/>
              <a:gd name="connsiteY215" fmla="*/ 403536 h 723251"/>
              <a:gd name="connsiteX216" fmla="*/ 292285 w 1256633"/>
              <a:gd name="connsiteY216" fmla="*/ 403536 h 723251"/>
              <a:gd name="connsiteX217" fmla="*/ 426095 w 1256633"/>
              <a:gd name="connsiteY217" fmla="*/ 403536 h 723251"/>
              <a:gd name="connsiteX218" fmla="*/ 451481 w 1256633"/>
              <a:gd name="connsiteY218" fmla="*/ 428507 h 723251"/>
              <a:gd name="connsiteX219" fmla="*/ 426510 w 1256633"/>
              <a:gd name="connsiteY219" fmla="*/ 453891 h 723251"/>
              <a:gd name="connsiteX220" fmla="*/ 401125 w 1256633"/>
              <a:gd name="connsiteY220" fmla="*/ 428921 h 723251"/>
              <a:gd name="connsiteX221" fmla="*/ 401123 w 1256633"/>
              <a:gd name="connsiteY221" fmla="*/ 428714 h 723251"/>
              <a:gd name="connsiteX222" fmla="*/ 426046 w 1256633"/>
              <a:gd name="connsiteY222" fmla="*/ 403536 h 723251"/>
              <a:gd name="connsiteX223" fmla="*/ 426095 w 1256633"/>
              <a:gd name="connsiteY223" fmla="*/ 403536 h 723251"/>
              <a:gd name="connsiteX224" fmla="*/ 560149 w 1256633"/>
              <a:gd name="connsiteY224" fmla="*/ 403536 h 723251"/>
              <a:gd name="connsiteX225" fmla="*/ 585474 w 1256633"/>
              <a:gd name="connsiteY225" fmla="*/ 428568 h 723251"/>
              <a:gd name="connsiteX226" fmla="*/ 560442 w 1256633"/>
              <a:gd name="connsiteY226" fmla="*/ 453892 h 723251"/>
              <a:gd name="connsiteX227" fmla="*/ 535118 w 1256633"/>
              <a:gd name="connsiteY227" fmla="*/ 428860 h 723251"/>
              <a:gd name="connsiteX228" fmla="*/ 535118 w 1256633"/>
              <a:gd name="connsiteY228" fmla="*/ 428715 h 723251"/>
              <a:gd name="connsiteX229" fmla="*/ 560114 w 1256633"/>
              <a:gd name="connsiteY229" fmla="*/ 403536 h 723251"/>
              <a:gd name="connsiteX230" fmla="*/ 560151 w 1256633"/>
              <a:gd name="connsiteY230" fmla="*/ 403536 h 723251"/>
              <a:gd name="connsiteX231" fmla="*/ 694142 w 1256633"/>
              <a:gd name="connsiteY231" fmla="*/ 403536 h 723251"/>
              <a:gd name="connsiteX232" fmla="*/ 719528 w 1256633"/>
              <a:gd name="connsiteY232" fmla="*/ 428507 h 723251"/>
              <a:gd name="connsiteX233" fmla="*/ 694557 w 1256633"/>
              <a:gd name="connsiteY233" fmla="*/ 453891 h 723251"/>
              <a:gd name="connsiteX234" fmla="*/ 669172 w 1256633"/>
              <a:gd name="connsiteY234" fmla="*/ 428921 h 723251"/>
              <a:gd name="connsiteX235" fmla="*/ 669170 w 1256633"/>
              <a:gd name="connsiteY235" fmla="*/ 428714 h 723251"/>
              <a:gd name="connsiteX236" fmla="*/ 694093 w 1256633"/>
              <a:gd name="connsiteY236" fmla="*/ 403536 h 723251"/>
              <a:gd name="connsiteX237" fmla="*/ 694142 w 1256633"/>
              <a:gd name="connsiteY237" fmla="*/ 403536 h 723251"/>
              <a:gd name="connsiteX238" fmla="*/ 24239 w 1256633"/>
              <a:gd name="connsiteY238" fmla="*/ 537949 h 723251"/>
              <a:gd name="connsiteX239" fmla="*/ 49782 w 1256633"/>
              <a:gd name="connsiteY239" fmla="*/ 563164 h 723251"/>
              <a:gd name="connsiteX240" fmla="*/ 24567 w 1256633"/>
              <a:gd name="connsiteY240" fmla="*/ 588707 h 723251"/>
              <a:gd name="connsiteX241" fmla="*/ -976 w 1256633"/>
              <a:gd name="connsiteY241" fmla="*/ 563493 h 723251"/>
              <a:gd name="connsiteX242" fmla="*/ -976 w 1256633"/>
              <a:gd name="connsiteY242" fmla="*/ 563322 h 723251"/>
              <a:gd name="connsiteX243" fmla="*/ 24190 w 1256633"/>
              <a:gd name="connsiteY243" fmla="*/ 537949 h 723251"/>
              <a:gd name="connsiteX244" fmla="*/ 24239 w 1256633"/>
              <a:gd name="connsiteY244" fmla="*/ 537949 h 723251"/>
              <a:gd name="connsiteX245" fmla="*/ 158231 w 1256633"/>
              <a:gd name="connsiteY245" fmla="*/ 537949 h 723251"/>
              <a:gd name="connsiteX246" fmla="*/ 183835 w 1256633"/>
              <a:gd name="connsiteY246" fmla="*/ 563102 h 723251"/>
              <a:gd name="connsiteX247" fmla="*/ 158682 w 1256633"/>
              <a:gd name="connsiteY247" fmla="*/ 588706 h 723251"/>
              <a:gd name="connsiteX248" fmla="*/ 133078 w 1256633"/>
              <a:gd name="connsiteY248" fmla="*/ 563553 h 723251"/>
              <a:gd name="connsiteX249" fmla="*/ 133077 w 1256633"/>
              <a:gd name="connsiteY249" fmla="*/ 563322 h 723251"/>
              <a:gd name="connsiteX250" fmla="*/ 158230 w 1256633"/>
              <a:gd name="connsiteY250" fmla="*/ 537949 h 723251"/>
              <a:gd name="connsiteX251" fmla="*/ 292285 w 1256633"/>
              <a:gd name="connsiteY251" fmla="*/ 537949 h 723251"/>
              <a:gd name="connsiteX252" fmla="*/ 317828 w 1256633"/>
              <a:gd name="connsiteY252" fmla="*/ 563164 h 723251"/>
              <a:gd name="connsiteX253" fmla="*/ 292614 w 1256633"/>
              <a:gd name="connsiteY253" fmla="*/ 588707 h 723251"/>
              <a:gd name="connsiteX254" fmla="*/ 267071 w 1256633"/>
              <a:gd name="connsiteY254" fmla="*/ 563493 h 723251"/>
              <a:gd name="connsiteX255" fmla="*/ 267071 w 1256633"/>
              <a:gd name="connsiteY255" fmla="*/ 563322 h 723251"/>
              <a:gd name="connsiteX256" fmla="*/ 292236 w 1256633"/>
              <a:gd name="connsiteY256" fmla="*/ 537949 h 723251"/>
              <a:gd name="connsiteX257" fmla="*/ 292285 w 1256633"/>
              <a:gd name="connsiteY257" fmla="*/ 537949 h 723251"/>
              <a:gd name="connsiteX258" fmla="*/ 426095 w 1256633"/>
              <a:gd name="connsiteY258" fmla="*/ 537949 h 723251"/>
              <a:gd name="connsiteX259" fmla="*/ 451879 w 1256633"/>
              <a:gd name="connsiteY259" fmla="*/ 562917 h 723251"/>
              <a:gd name="connsiteX260" fmla="*/ 426912 w 1256633"/>
              <a:gd name="connsiteY260" fmla="*/ 588702 h 723251"/>
              <a:gd name="connsiteX261" fmla="*/ 401128 w 1256633"/>
              <a:gd name="connsiteY261" fmla="*/ 563733 h 723251"/>
              <a:gd name="connsiteX262" fmla="*/ 401125 w 1256633"/>
              <a:gd name="connsiteY262" fmla="*/ 563322 h 723251"/>
              <a:gd name="connsiteX263" fmla="*/ 426058 w 1256633"/>
              <a:gd name="connsiteY263" fmla="*/ 537949 h 723251"/>
              <a:gd name="connsiteX264" fmla="*/ 426097 w 1256633"/>
              <a:gd name="connsiteY264" fmla="*/ 537949 h 723251"/>
              <a:gd name="connsiteX265" fmla="*/ 560149 w 1256633"/>
              <a:gd name="connsiteY265" fmla="*/ 537949 h 723251"/>
              <a:gd name="connsiteX266" fmla="*/ 585874 w 1256633"/>
              <a:gd name="connsiteY266" fmla="*/ 562979 h 723251"/>
              <a:gd name="connsiteX267" fmla="*/ 560844 w 1256633"/>
              <a:gd name="connsiteY267" fmla="*/ 588703 h 723251"/>
              <a:gd name="connsiteX268" fmla="*/ 535119 w 1256633"/>
              <a:gd name="connsiteY268" fmla="*/ 563673 h 723251"/>
              <a:gd name="connsiteX269" fmla="*/ 535116 w 1256633"/>
              <a:gd name="connsiteY269" fmla="*/ 563322 h 723251"/>
              <a:gd name="connsiteX270" fmla="*/ 560122 w 1256633"/>
              <a:gd name="connsiteY270" fmla="*/ 537949 h 723251"/>
              <a:gd name="connsiteX271" fmla="*/ 560148 w 1256633"/>
              <a:gd name="connsiteY271" fmla="*/ 537949 h 723251"/>
              <a:gd name="connsiteX272" fmla="*/ 694142 w 1256633"/>
              <a:gd name="connsiteY272" fmla="*/ 537949 h 723251"/>
              <a:gd name="connsiteX273" fmla="*/ 719926 w 1256633"/>
              <a:gd name="connsiteY273" fmla="*/ 562917 h 723251"/>
              <a:gd name="connsiteX274" fmla="*/ 694958 w 1256633"/>
              <a:gd name="connsiteY274" fmla="*/ 588702 h 723251"/>
              <a:gd name="connsiteX275" fmla="*/ 669175 w 1256633"/>
              <a:gd name="connsiteY275" fmla="*/ 563733 h 723251"/>
              <a:gd name="connsiteX276" fmla="*/ 669172 w 1256633"/>
              <a:gd name="connsiteY276" fmla="*/ 563322 h 723251"/>
              <a:gd name="connsiteX277" fmla="*/ 694105 w 1256633"/>
              <a:gd name="connsiteY277" fmla="*/ 537949 h 723251"/>
              <a:gd name="connsiteX278" fmla="*/ 694144 w 1256633"/>
              <a:gd name="connsiteY278" fmla="*/ 537949 h 723251"/>
              <a:gd name="connsiteX279" fmla="*/ 24239 w 1256633"/>
              <a:gd name="connsiteY279" fmla="*/ 672758 h 723251"/>
              <a:gd name="connsiteX280" fmla="*/ 49380 w 1256633"/>
              <a:gd name="connsiteY280" fmla="*/ 697973 h 723251"/>
              <a:gd name="connsiteX281" fmla="*/ 24166 w 1256633"/>
              <a:gd name="connsiteY281" fmla="*/ 723115 h 723251"/>
              <a:gd name="connsiteX282" fmla="*/ -976 w 1256633"/>
              <a:gd name="connsiteY282" fmla="*/ 697937 h 723251"/>
              <a:gd name="connsiteX283" fmla="*/ 24178 w 1256633"/>
              <a:gd name="connsiteY283" fmla="*/ 672758 h 723251"/>
              <a:gd name="connsiteX284" fmla="*/ 24239 w 1256633"/>
              <a:gd name="connsiteY284" fmla="*/ 672758 h 723251"/>
              <a:gd name="connsiteX285" fmla="*/ 158231 w 1256633"/>
              <a:gd name="connsiteY285" fmla="*/ 672758 h 723251"/>
              <a:gd name="connsiteX286" fmla="*/ 183434 w 1256633"/>
              <a:gd name="connsiteY286" fmla="*/ 697912 h 723251"/>
              <a:gd name="connsiteX287" fmla="*/ 158281 w 1256633"/>
              <a:gd name="connsiteY287" fmla="*/ 723115 h 723251"/>
              <a:gd name="connsiteX288" fmla="*/ 133078 w 1256633"/>
              <a:gd name="connsiteY288" fmla="*/ 697961 h 723251"/>
              <a:gd name="connsiteX289" fmla="*/ 133078 w 1256633"/>
              <a:gd name="connsiteY289" fmla="*/ 697937 h 723251"/>
              <a:gd name="connsiteX290" fmla="*/ 158231 w 1256633"/>
              <a:gd name="connsiteY290" fmla="*/ 672758 h 723251"/>
              <a:gd name="connsiteX291" fmla="*/ 292285 w 1256633"/>
              <a:gd name="connsiteY291" fmla="*/ 672758 h 723251"/>
              <a:gd name="connsiteX292" fmla="*/ 317427 w 1256633"/>
              <a:gd name="connsiteY292" fmla="*/ 697973 h 723251"/>
              <a:gd name="connsiteX293" fmla="*/ 292212 w 1256633"/>
              <a:gd name="connsiteY293" fmla="*/ 723115 h 723251"/>
              <a:gd name="connsiteX294" fmla="*/ 267071 w 1256633"/>
              <a:gd name="connsiteY294" fmla="*/ 697937 h 723251"/>
              <a:gd name="connsiteX295" fmla="*/ 292224 w 1256633"/>
              <a:gd name="connsiteY295" fmla="*/ 672758 h 723251"/>
              <a:gd name="connsiteX296" fmla="*/ 292285 w 1256633"/>
              <a:gd name="connsiteY296" fmla="*/ 672758 h 723251"/>
              <a:gd name="connsiteX297" fmla="*/ 426095 w 1256633"/>
              <a:gd name="connsiteY297" fmla="*/ 672758 h 723251"/>
              <a:gd name="connsiteX298" fmla="*/ 451481 w 1256633"/>
              <a:gd name="connsiteY298" fmla="*/ 697729 h 723251"/>
              <a:gd name="connsiteX299" fmla="*/ 426510 w 1256633"/>
              <a:gd name="connsiteY299" fmla="*/ 723113 h 723251"/>
              <a:gd name="connsiteX300" fmla="*/ 401125 w 1256633"/>
              <a:gd name="connsiteY300" fmla="*/ 698143 h 723251"/>
              <a:gd name="connsiteX301" fmla="*/ 401123 w 1256633"/>
              <a:gd name="connsiteY301" fmla="*/ 697937 h 723251"/>
              <a:gd name="connsiteX302" fmla="*/ 426046 w 1256633"/>
              <a:gd name="connsiteY302" fmla="*/ 672758 h 723251"/>
              <a:gd name="connsiteX303" fmla="*/ 426095 w 1256633"/>
              <a:gd name="connsiteY303" fmla="*/ 672758 h 723251"/>
              <a:gd name="connsiteX304" fmla="*/ 560149 w 1256633"/>
              <a:gd name="connsiteY304" fmla="*/ 672758 h 723251"/>
              <a:gd name="connsiteX305" fmla="*/ 585474 w 1256633"/>
              <a:gd name="connsiteY305" fmla="*/ 697790 h 723251"/>
              <a:gd name="connsiteX306" fmla="*/ 560442 w 1256633"/>
              <a:gd name="connsiteY306" fmla="*/ 723114 h 723251"/>
              <a:gd name="connsiteX307" fmla="*/ 535118 w 1256633"/>
              <a:gd name="connsiteY307" fmla="*/ 698082 h 723251"/>
              <a:gd name="connsiteX308" fmla="*/ 535118 w 1256633"/>
              <a:gd name="connsiteY308" fmla="*/ 697937 h 723251"/>
              <a:gd name="connsiteX309" fmla="*/ 560114 w 1256633"/>
              <a:gd name="connsiteY309" fmla="*/ 672758 h 723251"/>
              <a:gd name="connsiteX310" fmla="*/ 560151 w 1256633"/>
              <a:gd name="connsiteY310" fmla="*/ 672758 h 723251"/>
              <a:gd name="connsiteX311" fmla="*/ 694142 w 1256633"/>
              <a:gd name="connsiteY311" fmla="*/ 672758 h 723251"/>
              <a:gd name="connsiteX312" fmla="*/ 719528 w 1256633"/>
              <a:gd name="connsiteY312" fmla="*/ 697729 h 723251"/>
              <a:gd name="connsiteX313" fmla="*/ 694557 w 1256633"/>
              <a:gd name="connsiteY313" fmla="*/ 723113 h 723251"/>
              <a:gd name="connsiteX314" fmla="*/ 669172 w 1256633"/>
              <a:gd name="connsiteY314" fmla="*/ 698143 h 723251"/>
              <a:gd name="connsiteX315" fmla="*/ 669170 w 1256633"/>
              <a:gd name="connsiteY315" fmla="*/ 697937 h 723251"/>
              <a:gd name="connsiteX316" fmla="*/ 694093 w 1256633"/>
              <a:gd name="connsiteY316" fmla="*/ 672758 h 723251"/>
              <a:gd name="connsiteX317" fmla="*/ 694142 w 1256633"/>
              <a:gd name="connsiteY317" fmla="*/ 672758 h 723251"/>
              <a:gd name="connsiteX318" fmla="*/ 828013 w 1256633"/>
              <a:gd name="connsiteY318" fmla="*/ 403554 h 723251"/>
              <a:gd name="connsiteX319" fmla="*/ 853155 w 1256633"/>
              <a:gd name="connsiteY319" fmla="*/ 428769 h 723251"/>
              <a:gd name="connsiteX320" fmla="*/ 827940 w 1256633"/>
              <a:gd name="connsiteY320" fmla="*/ 453911 h 723251"/>
              <a:gd name="connsiteX321" fmla="*/ 802799 w 1256633"/>
              <a:gd name="connsiteY321" fmla="*/ 428733 h 723251"/>
              <a:gd name="connsiteX322" fmla="*/ 827934 w 1256633"/>
              <a:gd name="connsiteY322" fmla="*/ 403536 h 723251"/>
              <a:gd name="connsiteX323" fmla="*/ 828013 w 1256633"/>
              <a:gd name="connsiteY323" fmla="*/ 403536 h 723251"/>
              <a:gd name="connsiteX324" fmla="*/ 962006 w 1256633"/>
              <a:gd name="connsiteY324" fmla="*/ 403554 h 723251"/>
              <a:gd name="connsiteX325" fmla="*/ 987208 w 1256633"/>
              <a:gd name="connsiteY325" fmla="*/ 428709 h 723251"/>
              <a:gd name="connsiteX326" fmla="*/ 962055 w 1256633"/>
              <a:gd name="connsiteY326" fmla="*/ 453911 h 723251"/>
              <a:gd name="connsiteX327" fmla="*/ 936853 w 1256633"/>
              <a:gd name="connsiteY327" fmla="*/ 428757 h 723251"/>
              <a:gd name="connsiteX328" fmla="*/ 936853 w 1256633"/>
              <a:gd name="connsiteY328" fmla="*/ 428733 h 723251"/>
              <a:gd name="connsiteX329" fmla="*/ 961988 w 1256633"/>
              <a:gd name="connsiteY329" fmla="*/ 403536 h 723251"/>
              <a:gd name="connsiteX330" fmla="*/ 962006 w 1256633"/>
              <a:gd name="connsiteY330" fmla="*/ 403536 h 723251"/>
              <a:gd name="connsiteX331" fmla="*/ 828013 w 1256633"/>
              <a:gd name="connsiteY331" fmla="*/ 537968 h 723251"/>
              <a:gd name="connsiteX332" fmla="*/ 853556 w 1256633"/>
              <a:gd name="connsiteY332" fmla="*/ 563182 h 723251"/>
              <a:gd name="connsiteX333" fmla="*/ 828342 w 1256633"/>
              <a:gd name="connsiteY333" fmla="*/ 588726 h 723251"/>
              <a:gd name="connsiteX334" fmla="*/ 802799 w 1256633"/>
              <a:gd name="connsiteY334" fmla="*/ 563511 h 723251"/>
              <a:gd name="connsiteX335" fmla="*/ 802799 w 1256633"/>
              <a:gd name="connsiteY335" fmla="*/ 563341 h 723251"/>
              <a:gd name="connsiteX336" fmla="*/ 827946 w 1256633"/>
              <a:gd name="connsiteY336" fmla="*/ 537949 h 723251"/>
              <a:gd name="connsiteX337" fmla="*/ 828013 w 1256633"/>
              <a:gd name="connsiteY337" fmla="*/ 537949 h 723251"/>
              <a:gd name="connsiteX338" fmla="*/ 962006 w 1256633"/>
              <a:gd name="connsiteY338" fmla="*/ 537968 h 723251"/>
              <a:gd name="connsiteX339" fmla="*/ 987610 w 1256633"/>
              <a:gd name="connsiteY339" fmla="*/ 563121 h 723251"/>
              <a:gd name="connsiteX340" fmla="*/ 962457 w 1256633"/>
              <a:gd name="connsiteY340" fmla="*/ 588724 h 723251"/>
              <a:gd name="connsiteX341" fmla="*/ 936853 w 1256633"/>
              <a:gd name="connsiteY341" fmla="*/ 563571 h 723251"/>
              <a:gd name="connsiteX342" fmla="*/ 936851 w 1256633"/>
              <a:gd name="connsiteY342" fmla="*/ 563341 h 723251"/>
              <a:gd name="connsiteX343" fmla="*/ 961999 w 1256633"/>
              <a:gd name="connsiteY343" fmla="*/ 537949 h 723251"/>
              <a:gd name="connsiteX344" fmla="*/ 962005 w 1256633"/>
              <a:gd name="connsiteY344" fmla="*/ 537949 h 723251"/>
              <a:gd name="connsiteX345" fmla="*/ 828013 w 1256633"/>
              <a:gd name="connsiteY345" fmla="*/ 672777 h 723251"/>
              <a:gd name="connsiteX346" fmla="*/ 853155 w 1256633"/>
              <a:gd name="connsiteY346" fmla="*/ 697992 h 723251"/>
              <a:gd name="connsiteX347" fmla="*/ 827940 w 1256633"/>
              <a:gd name="connsiteY347" fmla="*/ 723133 h 723251"/>
              <a:gd name="connsiteX348" fmla="*/ 802799 w 1256633"/>
              <a:gd name="connsiteY348" fmla="*/ 697955 h 723251"/>
              <a:gd name="connsiteX349" fmla="*/ 827934 w 1256633"/>
              <a:gd name="connsiteY349" fmla="*/ 672758 h 723251"/>
              <a:gd name="connsiteX350" fmla="*/ 828013 w 1256633"/>
              <a:gd name="connsiteY350" fmla="*/ 672758 h 723251"/>
              <a:gd name="connsiteX351" fmla="*/ 962006 w 1256633"/>
              <a:gd name="connsiteY351" fmla="*/ 672777 h 723251"/>
              <a:gd name="connsiteX352" fmla="*/ 987208 w 1256633"/>
              <a:gd name="connsiteY352" fmla="*/ 697931 h 723251"/>
              <a:gd name="connsiteX353" fmla="*/ 962055 w 1256633"/>
              <a:gd name="connsiteY353" fmla="*/ 723134 h 723251"/>
              <a:gd name="connsiteX354" fmla="*/ 936853 w 1256633"/>
              <a:gd name="connsiteY354" fmla="*/ 697980 h 723251"/>
              <a:gd name="connsiteX355" fmla="*/ 936853 w 1256633"/>
              <a:gd name="connsiteY355" fmla="*/ 697955 h 723251"/>
              <a:gd name="connsiteX356" fmla="*/ 961988 w 1256633"/>
              <a:gd name="connsiteY356" fmla="*/ 672758 h 723251"/>
              <a:gd name="connsiteX357" fmla="*/ 962006 w 1256633"/>
              <a:gd name="connsiteY357" fmla="*/ 672758 h 723251"/>
              <a:gd name="connsiteX358" fmla="*/ 1096060 w 1256633"/>
              <a:gd name="connsiteY358" fmla="*/ 403573 h 723251"/>
              <a:gd name="connsiteX359" fmla="*/ 1121201 w 1256633"/>
              <a:gd name="connsiteY359" fmla="*/ 428788 h 723251"/>
              <a:gd name="connsiteX360" fmla="*/ 1095987 w 1256633"/>
              <a:gd name="connsiteY360" fmla="*/ 453929 h 723251"/>
              <a:gd name="connsiteX361" fmla="*/ 1070846 w 1256633"/>
              <a:gd name="connsiteY361" fmla="*/ 428751 h 723251"/>
              <a:gd name="connsiteX362" fmla="*/ 1095963 w 1256633"/>
              <a:gd name="connsiteY362" fmla="*/ 403536 h 723251"/>
              <a:gd name="connsiteX363" fmla="*/ 1096061 w 1256633"/>
              <a:gd name="connsiteY363" fmla="*/ 403536 h 723251"/>
              <a:gd name="connsiteX364" fmla="*/ 1230053 w 1256633"/>
              <a:gd name="connsiteY364" fmla="*/ 403573 h 723251"/>
              <a:gd name="connsiteX365" fmla="*/ 1255255 w 1256633"/>
              <a:gd name="connsiteY365" fmla="*/ 428727 h 723251"/>
              <a:gd name="connsiteX366" fmla="*/ 1230102 w 1256633"/>
              <a:gd name="connsiteY366" fmla="*/ 453930 h 723251"/>
              <a:gd name="connsiteX367" fmla="*/ 1204899 w 1256633"/>
              <a:gd name="connsiteY367" fmla="*/ 428776 h 723251"/>
              <a:gd name="connsiteX368" fmla="*/ 1204899 w 1256633"/>
              <a:gd name="connsiteY368" fmla="*/ 428751 h 723251"/>
              <a:gd name="connsiteX369" fmla="*/ 1230041 w 1256633"/>
              <a:gd name="connsiteY369" fmla="*/ 403536 h 723251"/>
              <a:gd name="connsiteX370" fmla="*/ 1230053 w 1256633"/>
              <a:gd name="connsiteY370" fmla="*/ 403536 h 723251"/>
              <a:gd name="connsiteX371" fmla="*/ 1096060 w 1256633"/>
              <a:gd name="connsiteY371" fmla="*/ 537986 h 723251"/>
              <a:gd name="connsiteX372" fmla="*/ 1121603 w 1256633"/>
              <a:gd name="connsiteY372" fmla="*/ 563200 h 723251"/>
              <a:gd name="connsiteX373" fmla="*/ 1096389 w 1256633"/>
              <a:gd name="connsiteY373" fmla="*/ 588744 h 723251"/>
              <a:gd name="connsiteX374" fmla="*/ 1070846 w 1256633"/>
              <a:gd name="connsiteY374" fmla="*/ 563529 h 723251"/>
              <a:gd name="connsiteX375" fmla="*/ 1070846 w 1256633"/>
              <a:gd name="connsiteY375" fmla="*/ 563359 h 723251"/>
              <a:gd name="connsiteX376" fmla="*/ 1095975 w 1256633"/>
              <a:gd name="connsiteY376" fmla="*/ 537950 h 723251"/>
              <a:gd name="connsiteX377" fmla="*/ 1096061 w 1256633"/>
              <a:gd name="connsiteY377" fmla="*/ 537949 h 723251"/>
              <a:gd name="connsiteX378" fmla="*/ 1230053 w 1256633"/>
              <a:gd name="connsiteY378" fmla="*/ 537986 h 723251"/>
              <a:gd name="connsiteX379" fmla="*/ 1255657 w 1256633"/>
              <a:gd name="connsiteY379" fmla="*/ 563139 h 723251"/>
              <a:gd name="connsiteX380" fmla="*/ 1230503 w 1256633"/>
              <a:gd name="connsiteY380" fmla="*/ 588743 h 723251"/>
              <a:gd name="connsiteX381" fmla="*/ 1204899 w 1256633"/>
              <a:gd name="connsiteY381" fmla="*/ 563590 h 723251"/>
              <a:gd name="connsiteX382" fmla="*/ 1204898 w 1256633"/>
              <a:gd name="connsiteY382" fmla="*/ 563359 h 723251"/>
              <a:gd name="connsiteX383" fmla="*/ 1230051 w 1256633"/>
              <a:gd name="connsiteY383" fmla="*/ 537949 h 723251"/>
              <a:gd name="connsiteX384" fmla="*/ 1230051 w 1256633"/>
              <a:gd name="connsiteY384" fmla="*/ 537949 h 723251"/>
              <a:gd name="connsiteX385" fmla="*/ 1096060 w 1256633"/>
              <a:gd name="connsiteY385" fmla="*/ 672795 h 723251"/>
              <a:gd name="connsiteX386" fmla="*/ 1121201 w 1256633"/>
              <a:gd name="connsiteY386" fmla="*/ 698010 h 723251"/>
              <a:gd name="connsiteX387" fmla="*/ 1095987 w 1256633"/>
              <a:gd name="connsiteY387" fmla="*/ 723152 h 723251"/>
              <a:gd name="connsiteX388" fmla="*/ 1070846 w 1256633"/>
              <a:gd name="connsiteY388" fmla="*/ 697973 h 723251"/>
              <a:gd name="connsiteX389" fmla="*/ 1095963 w 1256633"/>
              <a:gd name="connsiteY389" fmla="*/ 672758 h 723251"/>
              <a:gd name="connsiteX390" fmla="*/ 1096061 w 1256633"/>
              <a:gd name="connsiteY390" fmla="*/ 672758 h 723251"/>
              <a:gd name="connsiteX391" fmla="*/ 1230053 w 1256633"/>
              <a:gd name="connsiteY391" fmla="*/ 672795 h 723251"/>
              <a:gd name="connsiteX392" fmla="*/ 1255255 w 1256633"/>
              <a:gd name="connsiteY392" fmla="*/ 697949 h 723251"/>
              <a:gd name="connsiteX393" fmla="*/ 1230102 w 1256633"/>
              <a:gd name="connsiteY393" fmla="*/ 723152 h 723251"/>
              <a:gd name="connsiteX394" fmla="*/ 1204899 w 1256633"/>
              <a:gd name="connsiteY394" fmla="*/ 697998 h 723251"/>
              <a:gd name="connsiteX395" fmla="*/ 1204899 w 1256633"/>
              <a:gd name="connsiteY395" fmla="*/ 697973 h 723251"/>
              <a:gd name="connsiteX396" fmla="*/ 1230041 w 1256633"/>
              <a:gd name="connsiteY396" fmla="*/ 672758 h 723251"/>
              <a:gd name="connsiteX397" fmla="*/ 1230053 w 1256633"/>
              <a:gd name="connsiteY397" fmla="*/ 672758 h 723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Lst>
            <a:rect l="l" t="t" r="r" b="b"/>
            <a:pathLst>
              <a:path w="1256633" h="723251">
                <a:moveTo>
                  <a:pt x="24239" y="-99"/>
                </a:moveTo>
                <a:cubicBezTo>
                  <a:pt x="38145" y="-79"/>
                  <a:pt x="49401" y="11210"/>
                  <a:pt x="49380" y="25116"/>
                </a:cubicBezTo>
                <a:cubicBezTo>
                  <a:pt x="49359" y="39021"/>
                  <a:pt x="38070" y="50278"/>
                  <a:pt x="24166" y="50258"/>
                </a:cubicBezTo>
                <a:cubicBezTo>
                  <a:pt x="10272" y="50238"/>
                  <a:pt x="-980" y="38967"/>
                  <a:pt x="-976" y="25073"/>
                </a:cubicBezTo>
                <a:cubicBezTo>
                  <a:pt x="-979" y="11174"/>
                  <a:pt x="10285" y="-96"/>
                  <a:pt x="24185" y="-99"/>
                </a:cubicBezTo>
                <a:cubicBezTo>
                  <a:pt x="24203" y="-99"/>
                  <a:pt x="24222" y="-99"/>
                  <a:pt x="24240" y="-99"/>
                </a:cubicBezTo>
                <a:close/>
                <a:moveTo>
                  <a:pt x="158231" y="-99"/>
                </a:moveTo>
                <a:cubicBezTo>
                  <a:pt x="172138" y="-113"/>
                  <a:pt x="183421" y="11149"/>
                  <a:pt x="183434" y="25055"/>
                </a:cubicBezTo>
                <a:cubicBezTo>
                  <a:pt x="183447" y="38961"/>
                  <a:pt x="172185" y="50244"/>
                  <a:pt x="158281" y="50258"/>
                </a:cubicBezTo>
                <a:cubicBezTo>
                  <a:pt x="144375" y="50271"/>
                  <a:pt x="133091" y="39009"/>
                  <a:pt x="133078" y="25104"/>
                </a:cubicBezTo>
                <a:cubicBezTo>
                  <a:pt x="133078" y="25093"/>
                  <a:pt x="133078" y="25083"/>
                  <a:pt x="133078" y="25073"/>
                </a:cubicBezTo>
                <a:cubicBezTo>
                  <a:pt x="133081" y="11179"/>
                  <a:pt x="144339" y="-86"/>
                  <a:pt x="158231" y="-99"/>
                </a:cubicBezTo>
                <a:close/>
                <a:moveTo>
                  <a:pt x="292285" y="-99"/>
                </a:moveTo>
                <a:cubicBezTo>
                  <a:pt x="306191" y="-79"/>
                  <a:pt x="317448" y="11210"/>
                  <a:pt x="317427" y="25116"/>
                </a:cubicBezTo>
                <a:cubicBezTo>
                  <a:pt x="317406" y="39021"/>
                  <a:pt x="306117" y="50278"/>
                  <a:pt x="292212" y="50258"/>
                </a:cubicBezTo>
                <a:cubicBezTo>
                  <a:pt x="278318" y="50238"/>
                  <a:pt x="267067" y="38967"/>
                  <a:pt x="267071" y="25073"/>
                </a:cubicBezTo>
                <a:cubicBezTo>
                  <a:pt x="267068" y="11174"/>
                  <a:pt x="278332" y="-96"/>
                  <a:pt x="292232" y="-99"/>
                </a:cubicBezTo>
                <a:cubicBezTo>
                  <a:pt x="292250" y="-99"/>
                  <a:pt x="292269" y="-99"/>
                  <a:pt x="292287" y="-99"/>
                </a:cubicBezTo>
                <a:close/>
                <a:moveTo>
                  <a:pt x="426095" y="-99"/>
                </a:moveTo>
                <a:cubicBezTo>
                  <a:pt x="440000" y="-213"/>
                  <a:pt x="451366" y="10966"/>
                  <a:pt x="451481" y="24871"/>
                </a:cubicBezTo>
                <a:cubicBezTo>
                  <a:pt x="451595" y="38777"/>
                  <a:pt x="440415" y="50142"/>
                  <a:pt x="426510" y="50256"/>
                </a:cubicBezTo>
                <a:cubicBezTo>
                  <a:pt x="412606" y="50370"/>
                  <a:pt x="401239" y="39191"/>
                  <a:pt x="401125" y="25285"/>
                </a:cubicBezTo>
                <a:cubicBezTo>
                  <a:pt x="401125" y="25215"/>
                  <a:pt x="401123" y="25144"/>
                  <a:pt x="401123" y="25073"/>
                </a:cubicBezTo>
                <a:cubicBezTo>
                  <a:pt x="401056" y="11238"/>
                  <a:pt x="412216" y="-32"/>
                  <a:pt x="426052" y="-99"/>
                </a:cubicBezTo>
                <a:cubicBezTo>
                  <a:pt x="426067" y="-99"/>
                  <a:pt x="426080" y="-99"/>
                  <a:pt x="426095" y="-99"/>
                </a:cubicBezTo>
                <a:close/>
                <a:moveTo>
                  <a:pt x="560149" y="-99"/>
                </a:moveTo>
                <a:cubicBezTo>
                  <a:pt x="574055" y="-180"/>
                  <a:pt x="585393" y="11027"/>
                  <a:pt x="585474" y="24933"/>
                </a:cubicBezTo>
                <a:cubicBezTo>
                  <a:pt x="585554" y="38838"/>
                  <a:pt x="574347" y="50176"/>
                  <a:pt x="560442" y="50257"/>
                </a:cubicBezTo>
                <a:cubicBezTo>
                  <a:pt x="546536" y="50338"/>
                  <a:pt x="535198" y="39131"/>
                  <a:pt x="535118" y="25225"/>
                </a:cubicBezTo>
                <a:cubicBezTo>
                  <a:pt x="535118" y="25175"/>
                  <a:pt x="535118" y="25124"/>
                  <a:pt x="535118" y="25073"/>
                </a:cubicBezTo>
                <a:cubicBezTo>
                  <a:pt x="535070" y="11218"/>
                  <a:pt x="546264" y="-52"/>
                  <a:pt x="560119" y="-99"/>
                </a:cubicBezTo>
                <a:cubicBezTo>
                  <a:pt x="560130" y="-99"/>
                  <a:pt x="560140" y="-99"/>
                  <a:pt x="560151" y="-99"/>
                </a:cubicBezTo>
                <a:close/>
                <a:moveTo>
                  <a:pt x="694142" y="-99"/>
                </a:moveTo>
                <a:cubicBezTo>
                  <a:pt x="708047" y="-213"/>
                  <a:pt x="719413" y="10966"/>
                  <a:pt x="719528" y="24871"/>
                </a:cubicBezTo>
                <a:cubicBezTo>
                  <a:pt x="719642" y="38777"/>
                  <a:pt x="708462" y="50142"/>
                  <a:pt x="694557" y="50256"/>
                </a:cubicBezTo>
                <a:cubicBezTo>
                  <a:pt x="680652" y="50370"/>
                  <a:pt x="669286" y="39191"/>
                  <a:pt x="669172" y="25285"/>
                </a:cubicBezTo>
                <a:cubicBezTo>
                  <a:pt x="669172" y="25215"/>
                  <a:pt x="669170" y="25144"/>
                  <a:pt x="669170" y="25073"/>
                </a:cubicBezTo>
                <a:cubicBezTo>
                  <a:pt x="669103" y="11238"/>
                  <a:pt x="680263" y="-32"/>
                  <a:pt x="694099" y="-99"/>
                </a:cubicBezTo>
                <a:cubicBezTo>
                  <a:pt x="694114" y="-99"/>
                  <a:pt x="694127" y="-99"/>
                  <a:pt x="694142" y="-99"/>
                </a:cubicBezTo>
                <a:close/>
                <a:moveTo>
                  <a:pt x="24239" y="134314"/>
                </a:moveTo>
                <a:cubicBezTo>
                  <a:pt x="38252" y="134226"/>
                  <a:pt x="49682" y="145515"/>
                  <a:pt x="49770" y="159529"/>
                </a:cubicBezTo>
                <a:cubicBezTo>
                  <a:pt x="49857" y="173542"/>
                  <a:pt x="38568" y="184972"/>
                  <a:pt x="24555" y="185060"/>
                </a:cubicBezTo>
                <a:cubicBezTo>
                  <a:pt x="10542" y="185147"/>
                  <a:pt x="-888" y="173858"/>
                  <a:pt x="-976" y="159845"/>
                </a:cubicBezTo>
                <a:cubicBezTo>
                  <a:pt x="-976" y="159793"/>
                  <a:pt x="-976" y="159740"/>
                  <a:pt x="-976" y="159688"/>
                </a:cubicBezTo>
                <a:cubicBezTo>
                  <a:pt x="-1032" y="145731"/>
                  <a:pt x="10234" y="134371"/>
                  <a:pt x="24190" y="134314"/>
                </a:cubicBezTo>
                <a:cubicBezTo>
                  <a:pt x="24206" y="134314"/>
                  <a:pt x="24222" y="134314"/>
                  <a:pt x="24239" y="134314"/>
                </a:cubicBezTo>
                <a:close/>
                <a:moveTo>
                  <a:pt x="158231" y="134314"/>
                </a:moveTo>
                <a:cubicBezTo>
                  <a:pt x="172245" y="134193"/>
                  <a:pt x="183702" y="145454"/>
                  <a:pt x="183824" y="159467"/>
                </a:cubicBezTo>
                <a:cubicBezTo>
                  <a:pt x="183944" y="173480"/>
                  <a:pt x="172683" y="184938"/>
                  <a:pt x="158670" y="185059"/>
                </a:cubicBezTo>
                <a:cubicBezTo>
                  <a:pt x="144657" y="185180"/>
                  <a:pt x="133200" y="173919"/>
                  <a:pt x="133078" y="159906"/>
                </a:cubicBezTo>
                <a:cubicBezTo>
                  <a:pt x="133078" y="159833"/>
                  <a:pt x="133077" y="159760"/>
                  <a:pt x="133077" y="159687"/>
                </a:cubicBezTo>
                <a:cubicBezTo>
                  <a:pt x="133026" y="145739"/>
                  <a:pt x="144282" y="134384"/>
                  <a:pt x="158230" y="134314"/>
                </a:cubicBezTo>
                <a:close/>
                <a:moveTo>
                  <a:pt x="292285" y="134314"/>
                </a:moveTo>
                <a:cubicBezTo>
                  <a:pt x="306298" y="134226"/>
                  <a:pt x="317729" y="145515"/>
                  <a:pt x="317816" y="159529"/>
                </a:cubicBezTo>
                <a:cubicBezTo>
                  <a:pt x="317904" y="173542"/>
                  <a:pt x="306615" y="184972"/>
                  <a:pt x="292602" y="185060"/>
                </a:cubicBezTo>
                <a:cubicBezTo>
                  <a:pt x="278589" y="185147"/>
                  <a:pt x="267159" y="173858"/>
                  <a:pt x="267071" y="159845"/>
                </a:cubicBezTo>
                <a:cubicBezTo>
                  <a:pt x="267071" y="159793"/>
                  <a:pt x="267071" y="159740"/>
                  <a:pt x="267071" y="159688"/>
                </a:cubicBezTo>
                <a:cubicBezTo>
                  <a:pt x="267014" y="145731"/>
                  <a:pt x="278281" y="134371"/>
                  <a:pt x="292236" y="134314"/>
                </a:cubicBezTo>
                <a:cubicBezTo>
                  <a:pt x="292253" y="134314"/>
                  <a:pt x="292269" y="134314"/>
                  <a:pt x="292285" y="134314"/>
                </a:cubicBezTo>
                <a:close/>
                <a:moveTo>
                  <a:pt x="426095" y="134314"/>
                </a:moveTo>
                <a:cubicBezTo>
                  <a:pt x="440110" y="134089"/>
                  <a:pt x="451655" y="145267"/>
                  <a:pt x="451879" y="159282"/>
                </a:cubicBezTo>
                <a:cubicBezTo>
                  <a:pt x="452105" y="173297"/>
                  <a:pt x="440926" y="184841"/>
                  <a:pt x="426912" y="185066"/>
                </a:cubicBezTo>
                <a:cubicBezTo>
                  <a:pt x="412897" y="185292"/>
                  <a:pt x="401352" y="174113"/>
                  <a:pt x="401128" y="160098"/>
                </a:cubicBezTo>
                <a:cubicBezTo>
                  <a:pt x="401126" y="159961"/>
                  <a:pt x="401125" y="159824"/>
                  <a:pt x="401125" y="159687"/>
                </a:cubicBezTo>
                <a:cubicBezTo>
                  <a:pt x="401003" y="145796"/>
                  <a:pt x="412167" y="134436"/>
                  <a:pt x="426058" y="134314"/>
                </a:cubicBezTo>
                <a:cubicBezTo>
                  <a:pt x="426072" y="134314"/>
                  <a:pt x="426083" y="134314"/>
                  <a:pt x="426097" y="134314"/>
                </a:cubicBezTo>
                <a:close/>
                <a:moveTo>
                  <a:pt x="560149" y="134314"/>
                </a:moveTo>
                <a:cubicBezTo>
                  <a:pt x="574161" y="134126"/>
                  <a:pt x="585673" y="145332"/>
                  <a:pt x="585862" y="159344"/>
                </a:cubicBezTo>
                <a:cubicBezTo>
                  <a:pt x="586051" y="173356"/>
                  <a:pt x="574843" y="184868"/>
                  <a:pt x="560832" y="185056"/>
                </a:cubicBezTo>
                <a:cubicBezTo>
                  <a:pt x="546820" y="185244"/>
                  <a:pt x="535308" y="174038"/>
                  <a:pt x="535119" y="160026"/>
                </a:cubicBezTo>
                <a:cubicBezTo>
                  <a:pt x="535118" y="159913"/>
                  <a:pt x="535116" y="159800"/>
                  <a:pt x="535116" y="159687"/>
                </a:cubicBezTo>
                <a:cubicBezTo>
                  <a:pt x="535015" y="145775"/>
                  <a:pt x="546210" y="134415"/>
                  <a:pt x="560122" y="134314"/>
                </a:cubicBezTo>
                <a:cubicBezTo>
                  <a:pt x="560131" y="134314"/>
                  <a:pt x="560139" y="134314"/>
                  <a:pt x="560148" y="134314"/>
                </a:cubicBezTo>
                <a:close/>
                <a:moveTo>
                  <a:pt x="694142" y="134314"/>
                </a:moveTo>
                <a:cubicBezTo>
                  <a:pt x="708157" y="134089"/>
                  <a:pt x="719701" y="145267"/>
                  <a:pt x="719926" y="159282"/>
                </a:cubicBezTo>
                <a:cubicBezTo>
                  <a:pt x="720152" y="173297"/>
                  <a:pt x="708973" y="184841"/>
                  <a:pt x="694958" y="185066"/>
                </a:cubicBezTo>
                <a:cubicBezTo>
                  <a:pt x="680944" y="185292"/>
                  <a:pt x="669399" y="174113"/>
                  <a:pt x="669175" y="160098"/>
                </a:cubicBezTo>
                <a:cubicBezTo>
                  <a:pt x="669173" y="159961"/>
                  <a:pt x="669172" y="159824"/>
                  <a:pt x="669172" y="159687"/>
                </a:cubicBezTo>
                <a:cubicBezTo>
                  <a:pt x="669050" y="145796"/>
                  <a:pt x="680214" y="134436"/>
                  <a:pt x="694105" y="134314"/>
                </a:cubicBezTo>
                <a:cubicBezTo>
                  <a:pt x="694118" y="134314"/>
                  <a:pt x="694130" y="134314"/>
                  <a:pt x="694144" y="134314"/>
                </a:cubicBezTo>
                <a:close/>
                <a:moveTo>
                  <a:pt x="24239" y="269123"/>
                </a:moveTo>
                <a:cubicBezTo>
                  <a:pt x="38145" y="269143"/>
                  <a:pt x="49401" y="280432"/>
                  <a:pt x="49380" y="294338"/>
                </a:cubicBezTo>
                <a:cubicBezTo>
                  <a:pt x="49359" y="308243"/>
                  <a:pt x="38070" y="319500"/>
                  <a:pt x="24166" y="319480"/>
                </a:cubicBezTo>
                <a:cubicBezTo>
                  <a:pt x="10275" y="319460"/>
                  <a:pt x="-976" y="308193"/>
                  <a:pt x="-976" y="294301"/>
                </a:cubicBezTo>
                <a:cubicBezTo>
                  <a:pt x="-983" y="280402"/>
                  <a:pt x="10279" y="269129"/>
                  <a:pt x="24178" y="269123"/>
                </a:cubicBezTo>
                <a:cubicBezTo>
                  <a:pt x="24198" y="269123"/>
                  <a:pt x="24218" y="269123"/>
                  <a:pt x="24239" y="269123"/>
                </a:cubicBezTo>
                <a:close/>
                <a:moveTo>
                  <a:pt x="158231" y="269123"/>
                </a:moveTo>
                <a:cubicBezTo>
                  <a:pt x="172138" y="269110"/>
                  <a:pt x="183421" y="280371"/>
                  <a:pt x="183434" y="294277"/>
                </a:cubicBezTo>
                <a:cubicBezTo>
                  <a:pt x="183447" y="308183"/>
                  <a:pt x="172185" y="319467"/>
                  <a:pt x="158281" y="319480"/>
                </a:cubicBezTo>
                <a:cubicBezTo>
                  <a:pt x="144375" y="319493"/>
                  <a:pt x="133091" y="308231"/>
                  <a:pt x="133078" y="294326"/>
                </a:cubicBezTo>
                <a:cubicBezTo>
                  <a:pt x="133078" y="294318"/>
                  <a:pt x="133078" y="294310"/>
                  <a:pt x="133078" y="294301"/>
                </a:cubicBezTo>
                <a:cubicBezTo>
                  <a:pt x="133078" y="280405"/>
                  <a:pt x="144336" y="269136"/>
                  <a:pt x="158231" y="269123"/>
                </a:cubicBezTo>
                <a:close/>
                <a:moveTo>
                  <a:pt x="292285" y="269123"/>
                </a:moveTo>
                <a:cubicBezTo>
                  <a:pt x="306191" y="269143"/>
                  <a:pt x="317448" y="280432"/>
                  <a:pt x="317427" y="294338"/>
                </a:cubicBezTo>
                <a:cubicBezTo>
                  <a:pt x="317406" y="308243"/>
                  <a:pt x="306117" y="319500"/>
                  <a:pt x="292212" y="319480"/>
                </a:cubicBezTo>
                <a:cubicBezTo>
                  <a:pt x="278321" y="319460"/>
                  <a:pt x="267071" y="308193"/>
                  <a:pt x="267071" y="294301"/>
                </a:cubicBezTo>
                <a:cubicBezTo>
                  <a:pt x="267064" y="280402"/>
                  <a:pt x="278326" y="269129"/>
                  <a:pt x="292224" y="269123"/>
                </a:cubicBezTo>
                <a:cubicBezTo>
                  <a:pt x="292245" y="269123"/>
                  <a:pt x="292265" y="269123"/>
                  <a:pt x="292285" y="269123"/>
                </a:cubicBezTo>
                <a:close/>
                <a:moveTo>
                  <a:pt x="426095" y="269123"/>
                </a:moveTo>
                <a:cubicBezTo>
                  <a:pt x="440000" y="269009"/>
                  <a:pt x="451366" y="280188"/>
                  <a:pt x="451481" y="294093"/>
                </a:cubicBezTo>
                <a:cubicBezTo>
                  <a:pt x="451595" y="307999"/>
                  <a:pt x="440415" y="319364"/>
                  <a:pt x="426510" y="319478"/>
                </a:cubicBezTo>
                <a:cubicBezTo>
                  <a:pt x="412606" y="319592"/>
                  <a:pt x="401239" y="308413"/>
                  <a:pt x="401125" y="294508"/>
                </a:cubicBezTo>
                <a:cubicBezTo>
                  <a:pt x="401125" y="294439"/>
                  <a:pt x="401123" y="294370"/>
                  <a:pt x="401123" y="294301"/>
                </a:cubicBezTo>
                <a:cubicBezTo>
                  <a:pt x="401052" y="280466"/>
                  <a:pt x="412210" y="269194"/>
                  <a:pt x="426046" y="269123"/>
                </a:cubicBezTo>
                <a:cubicBezTo>
                  <a:pt x="426063" y="269123"/>
                  <a:pt x="426079" y="269123"/>
                  <a:pt x="426095" y="269123"/>
                </a:cubicBezTo>
                <a:close/>
                <a:moveTo>
                  <a:pt x="560149" y="269123"/>
                </a:moveTo>
                <a:cubicBezTo>
                  <a:pt x="574055" y="269042"/>
                  <a:pt x="585393" y="280249"/>
                  <a:pt x="585474" y="294155"/>
                </a:cubicBezTo>
                <a:cubicBezTo>
                  <a:pt x="585554" y="308060"/>
                  <a:pt x="574347" y="319398"/>
                  <a:pt x="560442" y="319479"/>
                </a:cubicBezTo>
                <a:cubicBezTo>
                  <a:pt x="546536" y="319560"/>
                  <a:pt x="535198" y="308353"/>
                  <a:pt x="535118" y="294447"/>
                </a:cubicBezTo>
                <a:cubicBezTo>
                  <a:pt x="535118" y="294399"/>
                  <a:pt x="535118" y="294350"/>
                  <a:pt x="535118" y="294301"/>
                </a:cubicBezTo>
                <a:cubicBezTo>
                  <a:pt x="535067" y="280446"/>
                  <a:pt x="546258" y="269173"/>
                  <a:pt x="560114" y="269123"/>
                </a:cubicBezTo>
                <a:cubicBezTo>
                  <a:pt x="560125" y="269123"/>
                  <a:pt x="560137" y="269123"/>
                  <a:pt x="560151" y="269123"/>
                </a:cubicBezTo>
                <a:close/>
                <a:moveTo>
                  <a:pt x="694142" y="269123"/>
                </a:moveTo>
                <a:cubicBezTo>
                  <a:pt x="708047" y="269009"/>
                  <a:pt x="719413" y="280188"/>
                  <a:pt x="719528" y="294093"/>
                </a:cubicBezTo>
                <a:cubicBezTo>
                  <a:pt x="719642" y="307999"/>
                  <a:pt x="708462" y="319364"/>
                  <a:pt x="694557" y="319478"/>
                </a:cubicBezTo>
                <a:cubicBezTo>
                  <a:pt x="680652" y="319592"/>
                  <a:pt x="669286" y="308413"/>
                  <a:pt x="669172" y="294508"/>
                </a:cubicBezTo>
                <a:cubicBezTo>
                  <a:pt x="669172" y="294439"/>
                  <a:pt x="669170" y="294370"/>
                  <a:pt x="669170" y="294301"/>
                </a:cubicBezTo>
                <a:cubicBezTo>
                  <a:pt x="669099" y="280466"/>
                  <a:pt x="680257" y="269194"/>
                  <a:pt x="694093" y="269123"/>
                </a:cubicBezTo>
                <a:cubicBezTo>
                  <a:pt x="694109" y="269123"/>
                  <a:pt x="694126" y="269123"/>
                  <a:pt x="694142" y="269123"/>
                </a:cubicBezTo>
                <a:close/>
                <a:moveTo>
                  <a:pt x="828013" y="-81"/>
                </a:moveTo>
                <a:cubicBezTo>
                  <a:pt x="841919" y="-61"/>
                  <a:pt x="853175" y="11228"/>
                  <a:pt x="853155" y="25134"/>
                </a:cubicBezTo>
                <a:cubicBezTo>
                  <a:pt x="853134" y="39040"/>
                  <a:pt x="841845" y="50296"/>
                  <a:pt x="827940" y="50276"/>
                </a:cubicBezTo>
                <a:cubicBezTo>
                  <a:pt x="814046" y="50256"/>
                  <a:pt x="802794" y="38985"/>
                  <a:pt x="802799" y="25091"/>
                </a:cubicBezTo>
                <a:cubicBezTo>
                  <a:pt x="802785" y="11192"/>
                  <a:pt x="814042" y="-86"/>
                  <a:pt x="827940" y="-99"/>
                </a:cubicBezTo>
                <a:cubicBezTo>
                  <a:pt x="827964" y="-99"/>
                  <a:pt x="827989" y="-99"/>
                  <a:pt x="828013" y="-99"/>
                </a:cubicBezTo>
                <a:close/>
                <a:moveTo>
                  <a:pt x="962006" y="-81"/>
                </a:moveTo>
                <a:cubicBezTo>
                  <a:pt x="975912" y="-94"/>
                  <a:pt x="987195" y="11168"/>
                  <a:pt x="987208" y="25073"/>
                </a:cubicBezTo>
                <a:cubicBezTo>
                  <a:pt x="987222" y="38979"/>
                  <a:pt x="975960" y="50263"/>
                  <a:pt x="962055" y="50276"/>
                </a:cubicBezTo>
                <a:cubicBezTo>
                  <a:pt x="948149" y="50289"/>
                  <a:pt x="936866" y="39028"/>
                  <a:pt x="936853" y="25122"/>
                </a:cubicBezTo>
                <a:cubicBezTo>
                  <a:pt x="936853" y="25112"/>
                  <a:pt x="936853" y="25102"/>
                  <a:pt x="936853" y="25091"/>
                </a:cubicBezTo>
                <a:cubicBezTo>
                  <a:pt x="936839" y="11192"/>
                  <a:pt x="948095" y="-86"/>
                  <a:pt x="961994" y="-99"/>
                </a:cubicBezTo>
                <a:cubicBezTo>
                  <a:pt x="961999" y="-99"/>
                  <a:pt x="962002" y="-99"/>
                  <a:pt x="962006" y="-99"/>
                </a:cubicBezTo>
                <a:close/>
                <a:moveTo>
                  <a:pt x="828013" y="134332"/>
                </a:moveTo>
                <a:cubicBezTo>
                  <a:pt x="842026" y="134245"/>
                  <a:pt x="853456" y="145534"/>
                  <a:pt x="853544" y="159547"/>
                </a:cubicBezTo>
                <a:cubicBezTo>
                  <a:pt x="853632" y="173560"/>
                  <a:pt x="842343" y="184991"/>
                  <a:pt x="828330" y="185078"/>
                </a:cubicBezTo>
                <a:cubicBezTo>
                  <a:pt x="814317" y="185166"/>
                  <a:pt x="802886" y="173877"/>
                  <a:pt x="802799" y="159864"/>
                </a:cubicBezTo>
                <a:cubicBezTo>
                  <a:pt x="802799" y="159811"/>
                  <a:pt x="802799" y="159758"/>
                  <a:pt x="802799" y="159706"/>
                </a:cubicBezTo>
                <a:cubicBezTo>
                  <a:pt x="802732" y="145750"/>
                  <a:pt x="813991" y="134382"/>
                  <a:pt x="827946" y="134314"/>
                </a:cubicBezTo>
                <a:cubicBezTo>
                  <a:pt x="827968" y="134314"/>
                  <a:pt x="827991" y="134314"/>
                  <a:pt x="828013" y="134314"/>
                </a:cubicBezTo>
                <a:close/>
                <a:moveTo>
                  <a:pt x="962006" y="134332"/>
                </a:moveTo>
                <a:cubicBezTo>
                  <a:pt x="976019" y="134211"/>
                  <a:pt x="987476" y="145473"/>
                  <a:pt x="987598" y="159485"/>
                </a:cubicBezTo>
                <a:cubicBezTo>
                  <a:pt x="987718" y="173498"/>
                  <a:pt x="976458" y="184956"/>
                  <a:pt x="962445" y="185077"/>
                </a:cubicBezTo>
                <a:cubicBezTo>
                  <a:pt x="948432" y="185198"/>
                  <a:pt x="936975" y="173937"/>
                  <a:pt x="936853" y="159924"/>
                </a:cubicBezTo>
                <a:cubicBezTo>
                  <a:pt x="936853" y="159851"/>
                  <a:pt x="936851" y="159778"/>
                  <a:pt x="936851" y="159706"/>
                </a:cubicBezTo>
                <a:cubicBezTo>
                  <a:pt x="936784" y="145749"/>
                  <a:pt x="948042" y="134381"/>
                  <a:pt x="961999" y="134314"/>
                </a:cubicBezTo>
                <a:cubicBezTo>
                  <a:pt x="962000" y="134314"/>
                  <a:pt x="962003" y="134314"/>
                  <a:pt x="962005" y="134314"/>
                </a:cubicBezTo>
                <a:close/>
                <a:moveTo>
                  <a:pt x="828013" y="269141"/>
                </a:moveTo>
                <a:cubicBezTo>
                  <a:pt x="841919" y="269162"/>
                  <a:pt x="853175" y="280451"/>
                  <a:pt x="853155" y="294356"/>
                </a:cubicBezTo>
                <a:cubicBezTo>
                  <a:pt x="853134" y="308262"/>
                  <a:pt x="841845" y="319518"/>
                  <a:pt x="827940" y="319498"/>
                </a:cubicBezTo>
                <a:cubicBezTo>
                  <a:pt x="814049" y="319478"/>
                  <a:pt x="802799" y="308211"/>
                  <a:pt x="802799" y="294320"/>
                </a:cubicBezTo>
                <a:cubicBezTo>
                  <a:pt x="802782" y="280421"/>
                  <a:pt x="814036" y="269140"/>
                  <a:pt x="827934" y="269123"/>
                </a:cubicBezTo>
                <a:cubicBezTo>
                  <a:pt x="827961" y="269123"/>
                  <a:pt x="827988" y="269123"/>
                  <a:pt x="828013" y="269123"/>
                </a:cubicBezTo>
                <a:close/>
                <a:moveTo>
                  <a:pt x="962006" y="269141"/>
                </a:moveTo>
                <a:cubicBezTo>
                  <a:pt x="975912" y="269128"/>
                  <a:pt x="987195" y="280390"/>
                  <a:pt x="987208" y="294295"/>
                </a:cubicBezTo>
                <a:cubicBezTo>
                  <a:pt x="987222" y="308201"/>
                  <a:pt x="975960" y="319485"/>
                  <a:pt x="962055" y="319498"/>
                </a:cubicBezTo>
                <a:cubicBezTo>
                  <a:pt x="948149" y="319512"/>
                  <a:pt x="936866" y="308250"/>
                  <a:pt x="936853" y="294344"/>
                </a:cubicBezTo>
                <a:cubicBezTo>
                  <a:pt x="936853" y="294336"/>
                  <a:pt x="936853" y="294328"/>
                  <a:pt x="936853" y="294320"/>
                </a:cubicBezTo>
                <a:cubicBezTo>
                  <a:pt x="936836" y="280421"/>
                  <a:pt x="948090" y="269140"/>
                  <a:pt x="961988" y="269123"/>
                </a:cubicBezTo>
                <a:cubicBezTo>
                  <a:pt x="961994" y="269123"/>
                  <a:pt x="962000" y="269123"/>
                  <a:pt x="962006" y="269123"/>
                </a:cubicBezTo>
                <a:close/>
                <a:moveTo>
                  <a:pt x="1096060" y="-63"/>
                </a:moveTo>
                <a:cubicBezTo>
                  <a:pt x="1109966" y="-42"/>
                  <a:pt x="1121222" y="11247"/>
                  <a:pt x="1121201" y="25152"/>
                </a:cubicBezTo>
                <a:cubicBezTo>
                  <a:pt x="1121181" y="39058"/>
                  <a:pt x="1109892" y="50314"/>
                  <a:pt x="1095987" y="50294"/>
                </a:cubicBezTo>
                <a:cubicBezTo>
                  <a:pt x="1082093" y="50274"/>
                  <a:pt x="1070841" y="39003"/>
                  <a:pt x="1070846" y="25110"/>
                </a:cubicBezTo>
                <a:cubicBezTo>
                  <a:pt x="1070822" y="11211"/>
                  <a:pt x="1082071" y="-76"/>
                  <a:pt x="1095969" y="-99"/>
                </a:cubicBezTo>
                <a:cubicBezTo>
                  <a:pt x="1095999" y="-99"/>
                  <a:pt x="1096030" y="-99"/>
                  <a:pt x="1096060" y="-99"/>
                </a:cubicBezTo>
                <a:close/>
                <a:moveTo>
                  <a:pt x="1230053" y="-63"/>
                </a:moveTo>
                <a:cubicBezTo>
                  <a:pt x="1243959" y="-76"/>
                  <a:pt x="1255242" y="11186"/>
                  <a:pt x="1255255" y="25091"/>
                </a:cubicBezTo>
                <a:cubicBezTo>
                  <a:pt x="1255269" y="38997"/>
                  <a:pt x="1244006" y="50281"/>
                  <a:pt x="1230102" y="50294"/>
                </a:cubicBezTo>
                <a:cubicBezTo>
                  <a:pt x="1216196" y="50308"/>
                  <a:pt x="1204913" y="39046"/>
                  <a:pt x="1204899" y="25140"/>
                </a:cubicBezTo>
                <a:cubicBezTo>
                  <a:pt x="1204899" y="25130"/>
                  <a:pt x="1204899" y="25120"/>
                  <a:pt x="1204899" y="25110"/>
                </a:cubicBezTo>
                <a:cubicBezTo>
                  <a:pt x="1204883" y="11204"/>
                  <a:pt x="1216142" y="-82"/>
                  <a:pt x="1230047" y="-99"/>
                </a:cubicBezTo>
                <a:cubicBezTo>
                  <a:pt x="1230048" y="-99"/>
                  <a:pt x="1230051" y="-99"/>
                  <a:pt x="1230053" y="-99"/>
                </a:cubicBezTo>
                <a:close/>
                <a:moveTo>
                  <a:pt x="1096060" y="134350"/>
                </a:moveTo>
                <a:cubicBezTo>
                  <a:pt x="1110073" y="134263"/>
                  <a:pt x="1121503" y="145552"/>
                  <a:pt x="1121591" y="159565"/>
                </a:cubicBezTo>
                <a:cubicBezTo>
                  <a:pt x="1121679" y="173578"/>
                  <a:pt x="1110390" y="185009"/>
                  <a:pt x="1096377" y="185096"/>
                </a:cubicBezTo>
                <a:cubicBezTo>
                  <a:pt x="1082364" y="185184"/>
                  <a:pt x="1070933" y="173895"/>
                  <a:pt x="1070846" y="159882"/>
                </a:cubicBezTo>
                <a:cubicBezTo>
                  <a:pt x="1070846" y="159829"/>
                  <a:pt x="1070846" y="159777"/>
                  <a:pt x="1070846" y="159724"/>
                </a:cubicBezTo>
                <a:cubicBezTo>
                  <a:pt x="1070768" y="145768"/>
                  <a:pt x="1082019" y="134392"/>
                  <a:pt x="1095975" y="134314"/>
                </a:cubicBezTo>
                <a:cubicBezTo>
                  <a:pt x="1096003" y="134314"/>
                  <a:pt x="1096032" y="134314"/>
                  <a:pt x="1096061" y="134314"/>
                </a:cubicBezTo>
                <a:close/>
                <a:moveTo>
                  <a:pt x="1230053" y="134350"/>
                </a:moveTo>
                <a:cubicBezTo>
                  <a:pt x="1244066" y="134229"/>
                  <a:pt x="1255523" y="145491"/>
                  <a:pt x="1255645" y="159504"/>
                </a:cubicBezTo>
                <a:cubicBezTo>
                  <a:pt x="1255765" y="173516"/>
                  <a:pt x="1244505" y="184974"/>
                  <a:pt x="1230491" y="185095"/>
                </a:cubicBezTo>
                <a:cubicBezTo>
                  <a:pt x="1216478" y="185217"/>
                  <a:pt x="1205021" y="173955"/>
                  <a:pt x="1204899" y="159942"/>
                </a:cubicBezTo>
                <a:cubicBezTo>
                  <a:pt x="1204899" y="159869"/>
                  <a:pt x="1204898" y="159797"/>
                  <a:pt x="1204898" y="159724"/>
                </a:cubicBezTo>
                <a:cubicBezTo>
                  <a:pt x="1204827" y="145761"/>
                  <a:pt x="1216089" y="134385"/>
                  <a:pt x="1230051" y="134314"/>
                </a:cubicBezTo>
                <a:cubicBezTo>
                  <a:pt x="1230051" y="134314"/>
                  <a:pt x="1230051" y="134314"/>
                  <a:pt x="1230051" y="134314"/>
                </a:cubicBezTo>
                <a:close/>
                <a:moveTo>
                  <a:pt x="1096060" y="269160"/>
                </a:moveTo>
                <a:cubicBezTo>
                  <a:pt x="1109966" y="269180"/>
                  <a:pt x="1121222" y="280469"/>
                  <a:pt x="1121201" y="294374"/>
                </a:cubicBezTo>
                <a:cubicBezTo>
                  <a:pt x="1121181" y="308280"/>
                  <a:pt x="1109892" y="319537"/>
                  <a:pt x="1095987" y="319516"/>
                </a:cubicBezTo>
                <a:cubicBezTo>
                  <a:pt x="1082096" y="319496"/>
                  <a:pt x="1070846" y="308229"/>
                  <a:pt x="1070846" y="294338"/>
                </a:cubicBezTo>
                <a:cubicBezTo>
                  <a:pt x="1070819" y="280439"/>
                  <a:pt x="1082065" y="269150"/>
                  <a:pt x="1095963" y="269123"/>
                </a:cubicBezTo>
                <a:cubicBezTo>
                  <a:pt x="1095996" y="269123"/>
                  <a:pt x="1096029" y="269123"/>
                  <a:pt x="1096061" y="269123"/>
                </a:cubicBezTo>
                <a:close/>
                <a:moveTo>
                  <a:pt x="1230053" y="269160"/>
                </a:moveTo>
                <a:cubicBezTo>
                  <a:pt x="1243959" y="269146"/>
                  <a:pt x="1255242" y="280408"/>
                  <a:pt x="1255255" y="294314"/>
                </a:cubicBezTo>
                <a:cubicBezTo>
                  <a:pt x="1255269" y="308219"/>
                  <a:pt x="1244006" y="319503"/>
                  <a:pt x="1230102" y="319517"/>
                </a:cubicBezTo>
                <a:cubicBezTo>
                  <a:pt x="1216196" y="319530"/>
                  <a:pt x="1204913" y="308268"/>
                  <a:pt x="1204899" y="294362"/>
                </a:cubicBezTo>
                <a:cubicBezTo>
                  <a:pt x="1204899" y="294354"/>
                  <a:pt x="1204899" y="294346"/>
                  <a:pt x="1204899" y="294338"/>
                </a:cubicBezTo>
                <a:cubicBezTo>
                  <a:pt x="1204879" y="280432"/>
                  <a:pt x="1216136" y="269143"/>
                  <a:pt x="1230041" y="269123"/>
                </a:cubicBezTo>
                <a:cubicBezTo>
                  <a:pt x="1230045" y="269123"/>
                  <a:pt x="1230048" y="269123"/>
                  <a:pt x="1230053" y="269123"/>
                </a:cubicBezTo>
                <a:close/>
                <a:moveTo>
                  <a:pt x="24239" y="403536"/>
                </a:moveTo>
                <a:cubicBezTo>
                  <a:pt x="38145" y="403556"/>
                  <a:pt x="49401" y="414845"/>
                  <a:pt x="49380" y="428751"/>
                </a:cubicBezTo>
                <a:cubicBezTo>
                  <a:pt x="49359" y="442657"/>
                  <a:pt x="38070" y="453913"/>
                  <a:pt x="24166" y="453893"/>
                </a:cubicBezTo>
                <a:cubicBezTo>
                  <a:pt x="10275" y="453873"/>
                  <a:pt x="-976" y="442606"/>
                  <a:pt x="-976" y="428714"/>
                </a:cubicBezTo>
                <a:cubicBezTo>
                  <a:pt x="-983" y="414815"/>
                  <a:pt x="10279" y="403543"/>
                  <a:pt x="24178" y="403536"/>
                </a:cubicBezTo>
                <a:cubicBezTo>
                  <a:pt x="24198" y="403536"/>
                  <a:pt x="24218" y="403536"/>
                  <a:pt x="24239" y="403536"/>
                </a:cubicBezTo>
                <a:close/>
                <a:moveTo>
                  <a:pt x="158231" y="403536"/>
                </a:moveTo>
                <a:cubicBezTo>
                  <a:pt x="172138" y="403523"/>
                  <a:pt x="183421" y="414785"/>
                  <a:pt x="183434" y="428690"/>
                </a:cubicBezTo>
                <a:cubicBezTo>
                  <a:pt x="183447" y="442596"/>
                  <a:pt x="172185" y="453880"/>
                  <a:pt x="158281" y="453893"/>
                </a:cubicBezTo>
                <a:cubicBezTo>
                  <a:pt x="144375" y="453906"/>
                  <a:pt x="133091" y="442645"/>
                  <a:pt x="133078" y="428739"/>
                </a:cubicBezTo>
                <a:cubicBezTo>
                  <a:pt x="133078" y="428731"/>
                  <a:pt x="133078" y="428723"/>
                  <a:pt x="133078" y="428715"/>
                </a:cubicBezTo>
                <a:cubicBezTo>
                  <a:pt x="133078" y="414818"/>
                  <a:pt x="144336" y="403549"/>
                  <a:pt x="158231" y="403536"/>
                </a:cubicBezTo>
                <a:close/>
                <a:moveTo>
                  <a:pt x="292285" y="403536"/>
                </a:moveTo>
                <a:cubicBezTo>
                  <a:pt x="306191" y="403556"/>
                  <a:pt x="317448" y="414845"/>
                  <a:pt x="317427" y="428751"/>
                </a:cubicBezTo>
                <a:cubicBezTo>
                  <a:pt x="317406" y="442657"/>
                  <a:pt x="306117" y="453913"/>
                  <a:pt x="292212" y="453893"/>
                </a:cubicBezTo>
                <a:cubicBezTo>
                  <a:pt x="278321" y="453873"/>
                  <a:pt x="267071" y="442606"/>
                  <a:pt x="267071" y="428714"/>
                </a:cubicBezTo>
                <a:cubicBezTo>
                  <a:pt x="267064" y="414815"/>
                  <a:pt x="278326" y="403543"/>
                  <a:pt x="292224" y="403536"/>
                </a:cubicBezTo>
                <a:cubicBezTo>
                  <a:pt x="292245" y="403536"/>
                  <a:pt x="292265" y="403536"/>
                  <a:pt x="292285" y="403536"/>
                </a:cubicBezTo>
                <a:close/>
                <a:moveTo>
                  <a:pt x="426095" y="403536"/>
                </a:moveTo>
                <a:cubicBezTo>
                  <a:pt x="440000" y="403422"/>
                  <a:pt x="451366" y="414601"/>
                  <a:pt x="451481" y="428507"/>
                </a:cubicBezTo>
                <a:cubicBezTo>
                  <a:pt x="451595" y="442412"/>
                  <a:pt x="440415" y="453777"/>
                  <a:pt x="426510" y="453891"/>
                </a:cubicBezTo>
                <a:cubicBezTo>
                  <a:pt x="412606" y="454005"/>
                  <a:pt x="401239" y="442826"/>
                  <a:pt x="401125" y="428921"/>
                </a:cubicBezTo>
                <a:cubicBezTo>
                  <a:pt x="401125" y="428852"/>
                  <a:pt x="401123" y="428783"/>
                  <a:pt x="401123" y="428714"/>
                </a:cubicBezTo>
                <a:cubicBezTo>
                  <a:pt x="401052" y="414879"/>
                  <a:pt x="412210" y="403607"/>
                  <a:pt x="426046" y="403536"/>
                </a:cubicBezTo>
                <a:cubicBezTo>
                  <a:pt x="426063" y="403536"/>
                  <a:pt x="426079" y="403536"/>
                  <a:pt x="426095" y="403536"/>
                </a:cubicBezTo>
                <a:close/>
                <a:moveTo>
                  <a:pt x="560149" y="403536"/>
                </a:moveTo>
                <a:cubicBezTo>
                  <a:pt x="574055" y="403455"/>
                  <a:pt x="585393" y="414662"/>
                  <a:pt x="585474" y="428568"/>
                </a:cubicBezTo>
                <a:cubicBezTo>
                  <a:pt x="585554" y="442473"/>
                  <a:pt x="574347" y="453811"/>
                  <a:pt x="560442" y="453892"/>
                </a:cubicBezTo>
                <a:cubicBezTo>
                  <a:pt x="546536" y="453973"/>
                  <a:pt x="535198" y="442766"/>
                  <a:pt x="535118" y="428860"/>
                </a:cubicBezTo>
                <a:cubicBezTo>
                  <a:pt x="535118" y="428812"/>
                  <a:pt x="535118" y="428763"/>
                  <a:pt x="535118" y="428715"/>
                </a:cubicBezTo>
                <a:cubicBezTo>
                  <a:pt x="535067" y="414859"/>
                  <a:pt x="546258" y="403587"/>
                  <a:pt x="560114" y="403536"/>
                </a:cubicBezTo>
                <a:cubicBezTo>
                  <a:pt x="560125" y="403536"/>
                  <a:pt x="560137" y="403536"/>
                  <a:pt x="560151" y="403536"/>
                </a:cubicBezTo>
                <a:close/>
                <a:moveTo>
                  <a:pt x="694142" y="403536"/>
                </a:moveTo>
                <a:cubicBezTo>
                  <a:pt x="708047" y="403422"/>
                  <a:pt x="719413" y="414601"/>
                  <a:pt x="719528" y="428507"/>
                </a:cubicBezTo>
                <a:cubicBezTo>
                  <a:pt x="719642" y="442412"/>
                  <a:pt x="708462" y="453777"/>
                  <a:pt x="694557" y="453891"/>
                </a:cubicBezTo>
                <a:cubicBezTo>
                  <a:pt x="680652" y="454005"/>
                  <a:pt x="669286" y="442826"/>
                  <a:pt x="669172" y="428921"/>
                </a:cubicBezTo>
                <a:cubicBezTo>
                  <a:pt x="669172" y="428852"/>
                  <a:pt x="669170" y="428783"/>
                  <a:pt x="669170" y="428714"/>
                </a:cubicBezTo>
                <a:cubicBezTo>
                  <a:pt x="669099" y="414879"/>
                  <a:pt x="680257" y="403607"/>
                  <a:pt x="694093" y="403536"/>
                </a:cubicBezTo>
                <a:cubicBezTo>
                  <a:pt x="694109" y="403536"/>
                  <a:pt x="694126" y="403536"/>
                  <a:pt x="694142" y="403536"/>
                </a:cubicBezTo>
                <a:close/>
                <a:moveTo>
                  <a:pt x="24239" y="537949"/>
                </a:moveTo>
                <a:cubicBezTo>
                  <a:pt x="38255" y="537858"/>
                  <a:pt x="49691" y="549147"/>
                  <a:pt x="49782" y="563164"/>
                </a:cubicBezTo>
                <a:cubicBezTo>
                  <a:pt x="49872" y="577180"/>
                  <a:pt x="38583" y="588616"/>
                  <a:pt x="24567" y="588707"/>
                </a:cubicBezTo>
                <a:cubicBezTo>
                  <a:pt x="10551" y="588798"/>
                  <a:pt x="-885" y="577509"/>
                  <a:pt x="-976" y="563493"/>
                </a:cubicBezTo>
                <a:cubicBezTo>
                  <a:pt x="-976" y="563436"/>
                  <a:pt x="-976" y="563379"/>
                  <a:pt x="-976" y="563322"/>
                </a:cubicBezTo>
                <a:cubicBezTo>
                  <a:pt x="-1032" y="549366"/>
                  <a:pt x="10234" y="538006"/>
                  <a:pt x="24190" y="537949"/>
                </a:cubicBezTo>
                <a:cubicBezTo>
                  <a:pt x="24206" y="537949"/>
                  <a:pt x="24222" y="537949"/>
                  <a:pt x="24239" y="537949"/>
                </a:cubicBezTo>
                <a:close/>
                <a:moveTo>
                  <a:pt x="158231" y="537949"/>
                </a:moveTo>
                <a:cubicBezTo>
                  <a:pt x="172248" y="537825"/>
                  <a:pt x="183711" y="549086"/>
                  <a:pt x="183835" y="563102"/>
                </a:cubicBezTo>
                <a:cubicBezTo>
                  <a:pt x="183960" y="577118"/>
                  <a:pt x="172698" y="588582"/>
                  <a:pt x="158682" y="588706"/>
                </a:cubicBezTo>
                <a:cubicBezTo>
                  <a:pt x="144666" y="588831"/>
                  <a:pt x="133203" y="577569"/>
                  <a:pt x="133078" y="563553"/>
                </a:cubicBezTo>
                <a:cubicBezTo>
                  <a:pt x="133078" y="563476"/>
                  <a:pt x="133077" y="563399"/>
                  <a:pt x="133077" y="563322"/>
                </a:cubicBezTo>
                <a:cubicBezTo>
                  <a:pt x="133026" y="549374"/>
                  <a:pt x="144282" y="538020"/>
                  <a:pt x="158230" y="537949"/>
                </a:cubicBezTo>
                <a:close/>
                <a:moveTo>
                  <a:pt x="292285" y="537949"/>
                </a:moveTo>
                <a:cubicBezTo>
                  <a:pt x="306301" y="537858"/>
                  <a:pt x="317738" y="549147"/>
                  <a:pt x="317828" y="563164"/>
                </a:cubicBezTo>
                <a:cubicBezTo>
                  <a:pt x="317919" y="577180"/>
                  <a:pt x="306630" y="588616"/>
                  <a:pt x="292614" y="588707"/>
                </a:cubicBezTo>
                <a:cubicBezTo>
                  <a:pt x="278598" y="588798"/>
                  <a:pt x="267162" y="577509"/>
                  <a:pt x="267071" y="563493"/>
                </a:cubicBezTo>
                <a:cubicBezTo>
                  <a:pt x="267071" y="563436"/>
                  <a:pt x="267071" y="563379"/>
                  <a:pt x="267071" y="563322"/>
                </a:cubicBezTo>
                <a:cubicBezTo>
                  <a:pt x="267014" y="549366"/>
                  <a:pt x="278281" y="538006"/>
                  <a:pt x="292236" y="537949"/>
                </a:cubicBezTo>
                <a:cubicBezTo>
                  <a:pt x="292253" y="537949"/>
                  <a:pt x="292269" y="537949"/>
                  <a:pt x="292285" y="537949"/>
                </a:cubicBezTo>
                <a:close/>
                <a:moveTo>
                  <a:pt x="426095" y="537949"/>
                </a:moveTo>
                <a:cubicBezTo>
                  <a:pt x="440110" y="537724"/>
                  <a:pt x="451655" y="548903"/>
                  <a:pt x="451879" y="562917"/>
                </a:cubicBezTo>
                <a:cubicBezTo>
                  <a:pt x="452105" y="576932"/>
                  <a:pt x="440926" y="588476"/>
                  <a:pt x="426912" y="588702"/>
                </a:cubicBezTo>
                <a:cubicBezTo>
                  <a:pt x="412897" y="588927"/>
                  <a:pt x="401352" y="577748"/>
                  <a:pt x="401128" y="563733"/>
                </a:cubicBezTo>
                <a:cubicBezTo>
                  <a:pt x="401126" y="563596"/>
                  <a:pt x="401125" y="563459"/>
                  <a:pt x="401125" y="563322"/>
                </a:cubicBezTo>
                <a:cubicBezTo>
                  <a:pt x="401003" y="549431"/>
                  <a:pt x="412167" y="538071"/>
                  <a:pt x="426058" y="537949"/>
                </a:cubicBezTo>
                <a:cubicBezTo>
                  <a:pt x="426072" y="537949"/>
                  <a:pt x="426083" y="537949"/>
                  <a:pt x="426097" y="537949"/>
                </a:cubicBezTo>
                <a:close/>
                <a:moveTo>
                  <a:pt x="560149" y="537949"/>
                </a:moveTo>
                <a:cubicBezTo>
                  <a:pt x="574165" y="537757"/>
                  <a:pt x="585682" y="548964"/>
                  <a:pt x="585874" y="562979"/>
                </a:cubicBezTo>
                <a:cubicBezTo>
                  <a:pt x="586065" y="576995"/>
                  <a:pt x="574860" y="588512"/>
                  <a:pt x="560844" y="588703"/>
                </a:cubicBezTo>
                <a:cubicBezTo>
                  <a:pt x="546828" y="588895"/>
                  <a:pt x="535311" y="577689"/>
                  <a:pt x="535119" y="563673"/>
                </a:cubicBezTo>
                <a:cubicBezTo>
                  <a:pt x="535118" y="563557"/>
                  <a:pt x="535116" y="563440"/>
                  <a:pt x="535116" y="563322"/>
                </a:cubicBezTo>
                <a:cubicBezTo>
                  <a:pt x="535015" y="549411"/>
                  <a:pt x="546210" y="538051"/>
                  <a:pt x="560122" y="537949"/>
                </a:cubicBezTo>
                <a:cubicBezTo>
                  <a:pt x="560131" y="537949"/>
                  <a:pt x="560139" y="537949"/>
                  <a:pt x="560148" y="537949"/>
                </a:cubicBezTo>
                <a:close/>
                <a:moveTo>
                  <a:pt x="694142" y="537949"/>
                </a:moveTo>
                <a:cubicBezTo>
                  <a:pt x="708157" y="537724"/>
                  <a:pt x="719701" y="548903"/>
                  <a:pt x="719926" y="562917"/>
                </a:cubicBezTo>
                <a:cubicBezTo>
                  <a:pt x="720152" y="576932"/>
                  <a:pt x="708973" y="588476"/>
                  <a:pt x="694958" y="588702"/>
                </a:cubicBezTo>
                <a:cubicBezTo>
                  <a:pt x="680944" y="588927"/>
                  <a:pt x="669399" y="577748"/>
                  <a:pt x="669175" y="563733"/>
                </a:cubicBezTo>
                <a:cubicBezTo>
                  <a:pt x="669173" y="563596"/>
                  <a:pt x="669172" y="563459"/>
                  <a:pt x="669172" y="563322"/>
                </a:cubicBezTo>
                <a:cubicBezTo>
                  <a:pt x="669050" y="549431"/>
                  <a:pt x="680214" y="538071"/>
                  <a:pt x="694105" y="537949"/>
                </a:cubicBezTo>
                <a:cubicBezTo>
                  <a:pt x="694118" y="537949"/>
                  <a:pt x="694130" y="537949"/>
                  <a:pt x="694144" y="537949"/>
                </a:cubicBezTo>
                <a:close/>
                <a:moveTo>
                  <a:pt x="24239" y="672758"/>
                </a:moveTo>
                <a:cubicBezTo>
                  <a:pt x="38145" y="672779"/>
                  <a:pt x="49401" y="684068"/>
                  <a:pt x="49380" y="697973"/>
                </a:cubicBezTo>
                <a:cubicBezTo>
                  <a:pt x="49359" y="711879"/>
                  <a:pt x="38070" y="723135"/>
                  <a:pt x="24166" y="723115"/>
                </a:cubicBezTo>
                <a:cubicBezTo>
                  <a:pt x="10275" y="723095"/>
                  <a:pt x="-976" y="711828"/>
                  <a:pt x="-976" y="697937"/>
                </a:cubicBezTo>
                <a:cubicBezTo>
                  <a:pt x="-983" y="684038"/>
                  <a:pt x="10279" y="672765"/>
                  <a:pt x="24178" y="672758"/>
                </a:cubicBezTo>
                <a:cubicBezTo>
                  <a:pt x="24198" y="672758"/>
                  <a:pt x="24218" y="672758"/>
                  <a:pt x="24239" y="672758"/>
                </a:cubicBezTo>
                <a:close/>
                <a:moveTo>
                  <a:pt x="158231" y="672758"/>
                </a:moveTo>
                <a:cubicBezTo>
                  <a:pt x="172138" y="672745"/>
                  <a:pt x="183421" y="684007"/>
                  <a:pt x="183434" y="697912"/>
                </a:cubicBezTo>
                <a:cubicBezTo>
                  <a:pt x="183447" y="711818"/>
                  <a:pt x="172185" y="723102"/>
                  <a:pt x="158281" y="723115"/>
                </a:cubicBezTo>
                <a:cubicBezTo>
                  <a:pt x="144375" y="723129"/>
                  <a:pt x="133091" y="711867"/>
                  <a:pt x="133078" y="697961"/>
                </a:cubicBezTo>
                <a:cubicBezTo>
                  <a:pt x="133078" y="697953"/>
                  <a:pt x="133078" y="697945"/>
                  <a:pt x="133078" y="697937"/>
                </a:cubicBezTo>
                <a:cubicBezTo>
                  <a:pt x="133078" y="684041"/>
                  <a:pt x="144336" y="672772"/>
                  <a:pt x="158231" y="672758"/>
                </a:cubicBezTo>
                <a:close/>
                <a:moveTo>
                  <a:pt x="292285" y="672758"/>
                </a:moveTo>
                <a:cubicBezTo>
                  <a:pt x="306191" y="672779"/>
                  <a:pt x="317448" y="684068"/>
                  <a:pt x="317427" y="697973"/>
                </a:cubicBezTo>
                <a:cubicBezTo>
                  <a:pt x="317406" y="711879"/>
                  <a:pt x="306117" y="723135"/>
                  <a:pt x="292212" y="723115"/>
                </a:cubicBezTo>
                <a:cubicBezTo>
                  <a:pt x="278321" y="723095"/>
                  <a:pt x="267071" y="711828"/>
                  <a:pt x="267071" y="697937"/>
                </a:cubicBezTo>
                <a:cubicBezTo>
                  <a:pt x="267064" y="684038"/>
                  <a:pt x="278326" y="672765"/>
                  <a:pt x="292224" y="672758"/>
                </a:cubicBezTo>
                <a:cubicBezTo>
                  <a:pt x="292245" y="672758"/>
                  <a:pt x="292265" y="672758"/>
                  <a:pt x="292285" y="672758"/>
                </a:cubicBezTo>
                <a:close/>
                <a:moveTo>
                  <a:pt x="426095" y="672758"/>
                </a:moveTo>
                <a:cubicBezTo>
                  <a:pt x="440000" y="672644"/>
                  <a:pt x="451366" y="683824"/>
                  <a:pt x="451481" y="697729"/>
                </a:cubicBezTo>
                <a:cubicBezTo>
                  <a:pt x="451595" y="711634"/>
                  <a:pt x="440415" y="722999"/>
                  <a:pt x="426510" y="723113"/>
                </a:cubicBezTo>
                <a:cubicBezTo>
                  <a:pt x="412606" y="723228"/>
                  <a:pt x="401239" y="712048"/>
                  <a:pt x="401125" y="698143"/>
                </a:cubicBezTo>
                <a:cubicBezTo>
                  <a:pt x="401125" y="698074"/>
                  <a:pt x="401123" y="698005"/>
                  <a:pt x="401123" y="697937"/>
                </a:cubicBezTo>
                <a:cubicBezTo>
                  <a:pt x="401052" y="684102"/>
                  <a:pt x="412210" y="672829"/>
                  <a:pt x="426046" y="672758"/>
                </a:cubicBezTo>
                <a:cubicBezTo>
                  <a:pt x="426063" y="672758"/>
                  <a:pt x="426079" y="672758"/>
                  <a:pt x="426095" y="672758"/>
                </a:cubicBezTo>
                <a:close/>
                <a:moveTo>
                  <a:pt x="560149" y="672758"/>
                </a:moveTo>
                <a:cubicBezTo>
                  <a:pt x="574055" y="672678"/>
                  <a:pt x="585393" y="683885"/>
                  <a:pt x="585474" y="697790"/>
                </a:cubicBezTo>
                <a:cubicBezTo>
                  <a:pt x="585554" y="711696"/>
                  <a:pt x="574347" y="723034"/>
                  <a:pt x="560442" y="723114"/>
                </a:cubicBezTo>
                <a:cubicBezTo>
                  <a:pt x="546536" y="723195"/>
                  <a:pt x="535198" y="711988"/>
                  <a:pt x="535118" y="698082"/>
                </a:cubicBezTo>
                <a:cubicBezTo>
                  <a:pt x="535118" y="698034"/>
                  <a:pt x="535118" y="697985"/>
                  <a:pt x="535118" y="697937"/>
                </a:cubicBezTo>
                <a:cubicBezTo>
                  <a:pt x="535067" y="684082"/>
                  <a:pt x="546258" y="672809"/>
                  <a:pt x="560114" y="672758"/>
                </a:cubicBezTo>
                <a:cubicBezTo>
                  <a:pt x="560125" y="672758"/>
                  <a:pt x="560137" y="672758"/>
                  <a:pt x="560151" y="672758"/>
                </a:cubicBezTo>
                <a:close/>
                <a:moveTo>
                  <a:pt x="694142" y="672758"/>
                </a:moveTo>
                <a:cubicBezTo>
                  <a:pt x="708047" y="672644"/>
                  <a:pt x="719413" y="683824"/>
                  <a:pt x="719528" y="697729"/>
                </a:cubicBezTo>
                <a:cubicBezTo>
                  <a:pt x="719642" y="711634"/>
                  <a:pt x="708462" y="722999"/>
                  <a:pt x="694557" y="723113"/>
                </a:cubicBezTo>
                <a:cubicBezTo>
                  <a:pt x="680652" y="723228"/>
                  <a:pt x="669286" y="712048"/>
                  <a:pt x="669172" y="698143"/>
                </a:cubicBezTo>
                <a:cubicBezTo>
                  <a:pt x="669172" y="698074"/>
                  <a:pt x="669170" y="698005"/>
                  <a:pt x="669170" y="697937"/>
                </a:cubicBezTo>
                <a:cubicBezTo>
                  <a:pt x="669099" y="684102"/>
                  <a:pt x="680257" y="672829"/>
                  <a:pt x="694093" y="672758"/>
                </a:cubicBezTo>
                <a:cubicBezTo>
                  <a:pt x="694109" y="672758"/>
                  <a:pt x="694126" y="672758"/>
                  <a:pt x="694142" y="672758"/>
                </a:cubicBezTo>
                <a:close/>
                <a:moveTo>
                  <a:pt x="828013" y="403554"/>
                </a:moveTo>
                <a:cubicBezTo>
                  <a:pt x="841919" y="403575"/>
                  <a:pt x="853175" y="414864"/>
                  <a:pt x="853155" y="428769"/>
                </a:cubicBezTo>
                <a:cubicBezTo>
                  <a:pt x="853134" y="442675"/>
                  <a:pt x="841845" y="453932"/>
                  <a:pt x="827940" y="453911"/>
                </a:cubicBezTo>
                <a:cubicBezTo>
                  <a:pt x="814049" y="453891"/>
                  <a:pt x="802799" y="442624"/>
                  <a:pt x="802799" y="428733"/>
                </a:cubicBezTo>
                <a:cubicBezTo>
                  <a:pt x="802782" y="414834"/>
                  <a:pt x="814036" y="403553"/>
                  <a:pt x="827934" y="403536"/>
                </a:cubicBezTo>
                <a:cubicBezTo>
                  <a:pt x="827961" y="403536"/>
                  <a:pt x="827988" y="403536"/>
                  <a:pt x="828013" y="403536"/>
                </a:cubicBezTo>
                <a:close/>
                <a:moveTo>
                  <a:pt x="962006" y="403554"/>
                </a:moveTo>
                <a:cubicBezTo>
                  <a:pt x="975912" y="403541"/>
                  <a:pt x="987195" y="414803"/>
                  <a:pt x="987208" y="428709"/>
                </a:cubicBezTo>
                <a:cubicBezTo>
                  <a:pt x="987222" y="442614"/>
                  <a:pt x="975960" y="453898"/>
                  <a:pt x="962055" y="453911"/>
                </a:cubicBezTo>
                <a:cubicBezTo>
                  <a:pt x="948149" y="453925"/>
                  <a:pt x="936866" y="442663"/>
                  <a:pt x="936853" y="428757"/>
                </a:cubicBezTo>
                <a:cubicBezTo>
                  <a:pt x="936853" y="428749"/>
                  <a:pt x="936853" y="428741"/>
                  <a:pt x="936853" y="428733"/>
                </a:cubicBezTo>
                <a:cubicBezTo>
                  <a:pt x="936836" y="414834"/>
                  <a:pt x="948090" y="403553"/>
                  <a:pt x="961988" y="403536"/>
                </a:cubicBezTo>
                <a:cubicBezTo>
                  <a:pt x="961994" y="403536"/>
                  <a:pt x="962000" y="403536"/>
                  <a:pt x="962006" y="403536"/>
                </a:cubicBezTo>
                <a:close/>
                <a:moveTo>
                  <a:pt x="828013" y="537968"/>
                </a:moveTo>
                <a:cubicBezTo>
                  <a:pt x="842029" y="537877"/>
                  <a:pt x="853465" y="549166"/>
                  <a:pt x="853556" y="563182"/>
                </a:cubicBezTo>
                <a:cubicBezTo>
                  <a:pt x="853647" y="577199"/>
                  <a:pt x="842358" y="588635"/>
                  <a:pt x="828342" y="588726"/>
                </a:cubicBezTo>
                <a:cubicBezTo>
                  <a:pt x="814326" y="588816"/>
                  <a:pt x="802889" y="577527"/>
                  <a:pt x="802799" y="563511"/>
                </a:cubicBezTo>
                <a:cubicBezTo>
                  <a:pt x="802799" y="563454"/>
                  <a:pt x="802799" y="563398"/>
                  <a:pt x="802799" y="563341"/>
                </a:cubicBezTo>
                <a:cubicBezTo>
                  <a:pt x="802732" y="549385"/>
                  <a:pt x="813991" y="538017"/>
                  <a:pt x="827946" y="537949"/>
                </a:cubicBezTo>
                <a:cubicBezTo>
                  <a:pt x="827968" y="537949"/>
                  <a:pt x="827991" y="537949"/>
                  <a:pt x="828013" y="537949"/>
                </a:cubicBezTo>
                <a:close/>
                <a:moveTo>
                  <a:pt x="962006" y="537968"/>
                </a:moveTo>
                <a:cubicBezTo>
                  <a:pt x="976022" y="537843"/>
                  <a:pt x="987485" y="549105"/>
                  <a:pt x="987610" y="563121"/>
                </a:cubicBezTo>
                <a:cubicBezTo>
                  <a:pt x="987735" y="577137"/>
                  <a:pt x="976473" y="588600"/>
                  <a:pt x="962457" y="588724"/>
                </a:cubicBezTo>
                <a:cubicBezTo>
                  <a:pt x="948440" y="588849"/>
                  <a:pt x="936977" y="577587"/>
                  <a:pt x="936853" y="563571"/>
                </a:cubicBezTo>
                <a:cubicBezTo>
                  <a:pt x="936853" y="563495"/>
                  <a:pt x="936851" y="563418"/>
                  <a:pt x="936851" y="563341"/>
                </a:cubicBezTo>
                <a:cubicBezTo>
                  <a:pt x="936784" y="549385"/>
                  <a:pt x="948042" y="538017"/>
                  <a:pt x="961999" y="537949"/>
                </a:cubicBezTo>
                <a:cubicBezTo>
                  <a:pt x="962000" y="537949"/>
                  <a:pt x="962003" y="537949"/>
                  <a:pt x="962005" y="537949"/>
                </a:cubicBezTo>
                <a:close/>
                <a:moveTo>
                  <a:pt x="828013" y="672777"/>
                </a:moveTo>
                <a:cubicBezTo>
                  <a:pt x="841919" y="672797"/>
                  <a:pt x="853175" y="684086"/>
                  <a:pt x="853155" y="697992"/>
                </a:cubicBezTo>
                <a:cubicBezTo>
                  <a:pt x="853134" y="711897"/>
                  <a:pt x="841845" y="723154"/>
                  <a:pt x="827940" y="723133"/>
                </a:cubicBezTo>
                <a:cubicBezTo>
                  <a:pt x="814049" y="723113"/>
                  <a:pt x="802799" y="711847"/>
                  <a:pt x="802799" y="697955"/>
                </a:cubicBezTo>
                <a:cubicBezTo>
                  <a:pt x="802782" y="684056"/>
                  <a:pt x="814036" y="672775"/>
                  <a:pt x="827934" y="672758"/>
                </a:cubicBezTo>
                <a:cubicBezTo>
                  <a:pt x="827961" y="672758"/>
                  <a:pt x="827988" y="672758"/>
                  <a:pt x="828013" y="672758"/>
                </a:cubicBezTo>
                <a:close/>
                <a:moveTo>
                  <a:pt x="962006" y="672777"/>
                </a:moveTo>
                <a:cubicBezTo>
                  <a:pt x="975912" y="672763"/>
                  <a:pt x="987195" y="684025"/>
                  <a:pt x="987208" y="697931"/>
                </a:cubicBezTo>
                <a:cubicBezTo>
                  <a:pt x="987222" y="711836"/>
                  <a:pt x="975960" y="723120"/>
                  <a:pt x="962055" y="723134"/>
                </a:cubicBezTo>
                <a:cubicBezTo>
                  <a:pt x="948149" y="723147"/>
                  <a:pt x="936866" y="711885"/>
                  <a:pt x="936853" y="697980"/>
                </a:cubicBezTo>
                <a:cubicBezTo>
                  <a:pt x="936853" y="697971"/>
                  <a:pt x="936853" y="697963"/>
                  <a:pt x="936853" y="697955"/>
                </a:cubicBezTo>
                <a:cubicBezTo>
                  <a:pt x="936836" y="684056"/>
                  <a:pt x="948090" y="672775"/>
                  <a:pt x="961988" y="672758"/>
                </a:cubicBezTo>
                <a:cubicBezTo>
                  <a:pt x="961994" y="672758"/>
                  <a:pt x="962000" y="672758"/>
                  <a:pt x="962006" y="672758"/>
                </a:cubicBezTo>
                <a:close/>
                <a:moveTo>
                  <a:pt x="1096060" y="403573"/>
                </a:moveTo>
                <a:cubicBezTo>
                  <a:pt x="1109966" y="403593"/>
                  <a:pt x="1121222" y="414882"/>
                  <a:pt x="1121201" y="428788"/>
                </a:cubicBezTo>
                <a:cubicBezTo>
                  <a:pt x="1121181" y="442693"/>
                  <a:pt x="1109892" y="453950"/>
                  <a:pt x="1095987" y="453929"/>
                </a:cubicBezTo>
                <a:cubicBezTo>
                  <a:pt x="1082096" y="453909"/>
                  <a:pt x="1070846" y="442643"/>
                  <a:pt x="1070846" y="428751"/>
                </a:cubicBezTo>
                <a:cubicBezTo>
                  <a:pt x="1070819" y="414852"/>
                  <a:pt x="1082065" y="403563"/>
                  <a:pt x="1095963" y="403536"/>
                </a:cubicBezTo>
                <a:cubicBezTo>
                  <a:pt x="1095996" y="403536"/>
                  <a:pt x="1096029" y="403536"/>
                  <a:pt x="1096061" y="403536"/>
                </a:cubicBezTo>
                <a:close/>
                <a:moveTo>
                  <a:pt x="1230053" y="403573"/>
                </a:moveTo>
                <a:cubicBezTo>
                  <a:pt x="1243959" y="403559"/>
                  <a:pt x="1255242" y="414821"/>
                  <a:pt x="1255255" y="428727"/>
                </a:cubicBezTo>
                <a:cubicBezTo>
                  <a:pt x="1255269" y="442632"/>
                  <a:pt x="1244006" y="453916"/>
                  <a:pt x="1230102" y="453930"/>
                </a:cubicBezTo>
                <a:cubicBezTo>
                  <a:pt x="1216196" y="453943"/>
                  <a:pt x="1204913" y="442681"/>
                  <a:pt x="1204899" y="428776"/>
                </a:cubicBezTo>
                <a:cubicBezTo>
                  <a:pt x="1204899" y="428767"/>
                  <a:pt x="1204899" y="428759"/>
                  <a:pt x="1204899" y="428751"/>
                </a:cubicBezTo>
                <a:cubicBezTo>
                  <a:pt x="1204879" y="414845"/>
                  <a:pt x="1216136" y="403556"/>
                  <a:pt x="1230041" y="403536"/>
                </a:cubicBezTo>
                <a:cubicBezTo>
                  <a:pt x="1230045" y="403536"/>
                  <a:pt x="1230048" y="403536"/>
                  <a:pt x="1230053" y="403536"/>
                </a:cubicBezTo>
                <a:close/>
                <a:moveTo>
                  <a:pt x="1096060" y="537986"/>
                </a:moveTo>
                <a:cubicBezTo>
                  <a:pt x="1110076" y="537895"/>
                  <a:pt x="1121512" y="549184"/>
                  <a:pt x="1121603" y="563200"/>
                </a:cubicBezTo>
                <a:cubicBezTo>
                  <a:pt x="1121694" y="577217"/>
                  <a:pt x="1110405" y="588653"/>
                  <a:pt x="1096389" y="588744"/>
                </a:cubicBezTo>
                <a:cubicBezTo>
                  <a:pt x="1082372" y="588835"/>
                  <a:pt x="1070936" y="577546"/>
                  <a:pt x="1070846" y="563529"/>
                </a:cubicBezTo>
                <a:cubicBezTo>
                  <a:pt x="1070846" y="563472"/>
                  <a:pt x="1070846" y="563416"/>
                  <a:pt x="1070846" y="563359"/>
                </a:cubicBezTo>
                <a:cubicBezTo>
                  <a:pt x="1070768" y="549403"/>
                  <a:pt x="1082019" y="538027"/>
                  <a:pt x="1095975" y="537950"/>
                </a:cubicBezTo>
                <a:cubicBezTo>
                  <a:pt x="1096003" y="537949"/>
                  <a:pt x="1096032" y="537949"/>
                  <a:pt x="1096061" y="537949"/>
                </a:cubicBezTo>
                <a:close/>
                <a:moveTo>
                  <a:pt x="1230053" y="537986"/>
                </a:moveTo>
                <a:cubicBezTo>
                  <a:pt x="1244069" y="537861"/>
                  <a:pt x="1255532" y="549123"/>
                  <a:pt x="1255657" y="563139"/>
                </a:cubicBezTo>
                <a:cubicBezTo>
                  <a:pt x="1255782" y="577155"/>
                  <a:pt x="1244519" y="588618"/>
                  <a:pt x="1230503" y="588743"/>
                </a:cubicBezTo>
                <a:cubicBezTo>
                  <a:pt x="1216487" y="588867"/>
                  <a:pt x="1205024" y="577606"/>
                  <a:pt x="1204899" y="563590"/>
                </a:cubicBezTo>
                <a:cubicBezTo>
                  <a:pt x="1204899" y="563513"/>
                  <a:pt x="1204898" y="563436"/>
                  <a:pt x="1204898" y="563359"/>
                </a:cubicBezTo>
                <a:cubicBezTo>
                  <a:pt x="1204827" y="549396"/>
                  <a:pt x="1216089" y="538020"/>
                  <a:pt x="1230051" y="537949"/>
                </a:cubicBezTo>
                <a:cubicBezTo>
                  <a:pt x="1230051" y="537949"/>
                  <a:pt x="1230051" y="537949"/>
                  <a:pt x="1230051" y="537949"/>
                </a:cubicBezTo>
                <a:close/>
                <a:moveTo>
                  <a:pt x="1096060" y="672795"/>
                </a:moveTo>
                <a:cubicBezTo>
                  <a:pt x="1109966" y="672815"/>
                  <a:pt x="1121222" y="684104"/>
                  <a:pt x="1121201" y="698010"/>
                </a:cubicBezTo>
                <a:cubicBezTo>
                  <a:pt x="1121181" y="711915"/>
                  <a:pt x="1109892" y="723172"/>
                  <a:pt x="1095987" y="723152"/>
                </a:cubicBezTo>
                <a:cubicBezTo>
                  <a:pt x="1082096" y="723132"/>
                  <a:pt x="1070846" y="711865"/>
                  <a:pt x="1070846" y="697973"/>
                </a:cubicBezTo>
                <a:cubicBezTo>
                  <a:pt x="1070819" y="684074"/>
                  <a:pt x="1082065" y="672785"/>
                  <a:pt x="1095963" y="672758"/>
                </a:cubicBezTo>
                <a:cubicBezTo>
                  <a:pt x="1095996" y="672758"/>
                  <a:pt x="1096029" y="672758"/>
                  <a:pt x="1096061" y="672758"/>
                </a:cubicBezTo>
                <a:close/>
                <a:moveTo>
                  <a:pt x="1230053" y="672795"/>
                </a:moveTo>
                <a:cubicBezTo>
                  <a:pt x="1243959" y="672781"/>
                  <a:pt x="1255242" y="684043"/>
                  <a:pt x="1255255" y="697949"/>
                </a:cubicBezTo>
                <a:cubicBezTo>
                  <a:pt x="1255269" y="711855"/>
                  <a:pt x="1244006" y="723138"/>
                  <a:pt x="1230102" y="723152"/>
                </a:cubicBezTo>
                <a:cubicBezTo>
                  <a:pt x="1216196" y="723165"/>
                  <a:pt x="1204913" y="711903"/>
                  <a:pt x="1204899" y="697998"/>
                </a:cubicBezTo>
                <a:cubicBezTo>
                  <a:pt x="1204899" y="697990"/>
                  <a:pt x="1204899" y="697982"/>
                  <a:pt x="1204899" y="697973"/>
                </a:cubicBezTo>
                <a:cubicBezTo>
                  <a:pt x="1204879" y="684068"/>
                  <a:pt x="1216136" y="672779"/>
                  <a:pt x="1230041" y="672758"/>
                </a:cubicBezTo>
                <a:cubicBezTo>
                  <a:pt x="1230045" y="672758"/>
                  <a:pt x="1230048" y="672758"/>
                  <a:pt x="1230053" y="672758"/>
                </a:cubicBezTo>
                <a:close/>
              </a:path>
            </a:pathLst>
          </a:custGeom>
          <a:solidFill>
            <a:srgbClr val="7ADCFF">
              <a:alpha val="50000"/>
            </a:srgbClr>
          </a:solidFill>
          <a:ln w="6088" cap="flat">
            <a:noFill/>
            <a:prstDash val="solid"/>
            <a:miter/>
          </a:ln>
        </p:spPr>
        <p:txBody>
          <a:bodyPr rtlCol="0" anchor="ctr"/>
          <a:p>
            <a:endParaRPr lang="zh-CN" altLang="en-US">
              <a:cs typeface="微软雅黑" panose="020B0503020204020204" charset="-122"/>
            </a:endParaRPr>
          </a:p>
        </p:txBody>
      </p:sp>
      <p:sp>
        <p:nvSpPr>
          <p:cNvPr id="8" name="任意多边形: 形状 10"/>
          <p:cNvSpPr/>
          <p:nvPr userDrawn="1"/>
        </p:nvSpPr>
        <p:spPr>
          <a:xfrm>
            <a:off x="789393" y="5994415"/>
            <a:ext cx="951654" cy="241065"/>
          </a:xfrm>
          <a:custGeom>
            <a:avLst/>
            <a:gdLst>
              <a:gd name="connsiteX0" fmla="*/ 18027 w 951654"/>
              <a:gd name="connsiteY0" fmla="*/ -100 h 241065"/>
              <a:gd name="connsiteX1" fmla="*/ 37090 w 951654"/>
              <a:gd name="connsiteY1" fmla="*/ 18903 h 241065"/>
              <a:gd name="connsiteX2" fmla="*/ 18088 w 951654"/>
              <a:gd name="connsiteY2" fmla="*/ 37966 h 241065"/>
              <a:gd name="connsiteX3" fmla="*/ -976 w 951654"/>
              <a:gd name="connsiteY3" fmla="*/ 18964 h 241065"/>
              <a:gd name="connsiteX4" fmla="*/ -976 w 951654"/>
              <a:gd name="connsiteY4" fmla="*/ 18903 h 241065"/>
              <a:gd name="connsiteX5" fmla="*/ 17917 w 951654"/>
              <a:gd name="connsiteY5" fmla="*/ -100 h 241065"/>
              <a:gd name="connsiteX6" fmla="*/ 18027 w 951654"/>
              <a:gd name="connsiteY6" fmla="*/ -100 h 241065"/>
              <a:gd name="connsiteX7" fmla="*/ 119557 w 951654"/>
              <a:gd name="connsiteY7" fmla="*/ -100 h 241065"/>
              <a:gd name="connsiteX8" fmla="*/ 138560 w 951654"/>
              <a:gd name="connsiteY8" fmla="*/ 18964 h 241065"/>
              <a:gd name="connsiteX9" fmla="*/ 119496 w 951654"/>
              <a:gd name="connsiteY9" fmla="*/ 37966 h 241065"/>
              <a:gd name="connsiteX10" fmla="*/ 100493 w 951654"/>
              <a:gd name="connsiteY10" fmla="*/ 18903 h 241065"/>
              <a:gd name="connsiteX11" fmla="*/ 119472 w 951654"/>
              <a:gd name="connsiteY11" fmla="*/ -100 h 241065"/>
              <a:gd name="connsiteX12" fmla="*/ 119557 w 951654"/>
              <a:gd name="connsiteY12" fmla="*/ -100 h 241065"/>
              <a:gd name="connsiteX13" fmla="*/ 221026 w 951654"/>
              <a:gd name="connsiteY13" fmla="*/ -100 h 241065"/>
              <a:gd name="connsiteX14" fmla="*/ 240090 w 951654"/>
              <a:gd name="connsiteY14" fmla="*/ 18903 h 241065"/>
              <a:gd name="connsiteX15" fmla="*/ 221087 w 951654"/>
              <a:gd name="connsiteY15" fmla="*/ 37966 h 241065"/>
              <a:gd name="connsiteX16" fmla="*/ 202024 w 951654"/>
              <a:gd name="connsiteY16" fmla="*/ 18964 h 241065"/>
              <a:gd name="connsiteX17" fmla="*/ 202024 w 951654"/>
              <a:gd name="connsiteY17" fmla="*/ 18903 h 241065"/>
              <a:gd name="connsiteX18" fmla="*/ 221026 w 951654"/>
              <a:gd name="connsiteY18" fmla="*/ -100 h 241065"/>
              <a:gd name="connsiteX19" fmla="*/ 322556 w 951654"/>
              <a:gd name="connsiteY19" fmla="*/ -100 h 241065"/>
              <a:gd name="connsiteX20" fmla="*/ 341620 w 951654"/>
              <a:gd name="connsiteY20" fmla="*/ 18903 h 241065"/>
              <a:gd name="connsiteX21" fmla="*/ 322617 w 951654"/>
              <a:gd name="connsiteY21" fmla="*/ 37966 h 241065"/>
              <a:gd name="connsiteX22" fmla="*/ 303553 w 951654"/>
              <a:gd name="connsiteY22" fmla="*/ 18964 h 241065"/>
              <a:gd name="connsiteX23" fmla="*/ 303553 w 951654"/>
              <a:gd name="connsiteY23" fmla="*/ 18903 h 241065"/>
              <a:gd name="connsiteX24" fmla="*/ 322556 w 951654"/>
              <a:gd name="connsiteY24" fmla="*/ -100 h 241065"/>
              <a:gd name="connsiteX25" fmla="*/ 424086 w 951654"/>
              <a:gd name="connsiteY25" fmla="*/ -100 h 241065"/>
              <a:gd name="connsiteX26" fmla="*/ 443089 w 951654"/>
              <a:gd name="connsiteY26" fmla="*/ 18964 h 241065"/>
              <a:gd name="connsiteX27" fmla="*/ 424025 w 951654"/>
              <a:gd name="connsiteY27" fmla="*/ 37966 h 241065"/>
              <a:gd name="connsiteX28" fmla="*/ 405023 w 951654"/>
              <a:gd name="connsiteY28" fmla="*/ 18903 h 241065"/>
              <a:gd name="connsiteX29" fmla="*/ 424001 w 951654"/>
              <a:gd name="connsiteY29" fmla="*/ -100 h 241065"/>
              <a:gd name="connsiteX30" fmla="*/ 424086 w 951654"/>
              <a:gd name="connsiteY30" fmla="*/ -100 h 241065"/>
              <a:gd name="connsiteX31" fmla="*/ 525556 w 951654"/>
              <a:gd name="connsiteY31" fmla="*/ -100 h 241065"/>
              <a:gd name="connsiteX32" fmla="*/ 544619 w 951654"/>
              <a:gd name="connsiteY32" fmla="*/ 18903 h 241065"/>
              <a:gd name="connsiteX33" fmla="*/ 525617 w 951654"/>
              <a:gd name="connsiteY33" fmla="*/ 37966 h 241065"/>
              <a:gd name="connsiteX34" fmla="*/ 506553 w 951654"/>
              <a:gd name="connsiteY34" fmla="*/ 18964 h 241065"/>
              <a:gd name="connsiteX35" fmla="*/ 506553 w 951654"/>
              <a:gd name="connsiteY35" fmla="*/ 18903 h 241065"/>
              <a:gd name="connsiteX36" fmla="*/ 525556 w 951654"/>
              <a:gd name="connsiteY36" fmla="*/ -100 h 241065"/>
              <a:gd name="connsiteX37" fmla="*/ 18027 w 951654"/>
              <a:gd name="connsiteY37" fmla="*/ 101369 h 241065"/>
              <a:gd name="connsiteX38" fmla="*/ 37090 w 951654"/>
              <a:gd name="connsiteY38" fmla="*/ 120372 h 241065"/>
              <a:gd name="connsiteX39" fmla="*/ 18088 w 951654"/>
              <a:gd name="connsiteY39" fmla="*/ 139436 h 241065"/>
              <a:gd name="connsiteX40" fmla="*/ -976 w 951654"/>
              <a:gd name="connsiteY40" fmla="*/ 120433 h 241065"/>
              <a:gd name="connsiteX41" fmla="*/ 17966 w 951654"/>
              <a:gd name="connsiteY41" fmla="*/ 101369 h 241065"/>
              <a:gd name="connsiteX42" fmla="*/ 18027 w 951654"/>
              <a:gd name="connsiteY42" fmla="*/ 101369 h 241065"/>
              <a:gd name="connsiteX43" fmla="*/ 119557 w 951654"/>
              <a:gd name="connsiteY43" fmla="*/ 101369 h 241065"/>
              <a:gd name="connsiteX44" fmla="*/ 138560 w 951654"/>
              <a:gd name="connsiteY44" fmla="*/ 120433 h 241065"/>
              <a:gd name="connsiteX45" fmla="*/ 119496 w 951654"/>
              <a:gd name="connsiteY45" fmla="*/ 139436 h 241065"/>
              <a:gd name="connsiteX46" fmla="*/ 100493 w 951654"/>
              <a:gd name="connsiteY46" fmla="*/ 120433 h 241065"/>
              <a:gd name="connsiteX47" fmla="*/ 119508 w 951654"/>
              <a:gd name="connsiteY47" fmla="*/ 101369 h 241065"/>
              <a:gd name="connsiteX48" fmla="*/ 119557 w 951654"/>
              <a:gd name="connsiteY48" fmla="*/ 101369 h 241065"/>
              <a:gd name="connsiteX49" fmla="*/ 221026 w 951654"/>
              <a:gd name="connsiteY49" fmla="*/ 101369 h 241065"/>
              <a:gd name="connsiteX50" fmla="*/ 240090 w 951654"/>
              <a:gd name="connsiteY50" fmla="*/ 120372 h 241065"/>
              <a:gd name="connsiteX51" fmla="*/ 221087 w 951654"/>
              <a:gd name="connsiteY51" fmla="*/ 139436 h 241065"/>
              <a:gd name="connsiteX52" fmla="*/ 202024 w 951654"/>
              <a:gd name="connsiteY52" fmla="*/ 120433 h 241065"/>
              <a:gd name="connsiteX53" fmla="*/ 221026 w 951654"/>
              <a:gd name="connsiteY53" fmla="*/ 101369 h 241065"/>
              <a:gd name="connsiteX54" fmla="*/ 322556 w 951654"/>
              <a:gd name="connsiteY54" fmla="*/ 101369 h 241065"/>
              <a:gd name="connsiteX55" fmla="*/ 341620 w 951654"/>
              <a:gd name="connsiteY55" fmla="*/ 120372 h 241065"/>
              <a:gd name="connsiteX56" fmla="*/ 322617 w 951654"/>
              <a:gd name="connsiteY56" fmla="*/ 139436 h 241065"/>
              <a:gd name="connsiteX57" fmla="*/ 303553 w 951654"/>
              <a:gd name="connsiteY57" fmla="*/ 120433 h 241065"/>
              <a:gd name="connsiteX58" fmla="*/ 322556 w 951654"/>
              <a:gd name="connsiteY58" fmla="*/ 101369 h 241065"/>
              <a:gd name="connsiteX59" fmla="*/ 424086 w 951654"/>
              <a:gd name="connsiteY59" fmla="*/ 101369 h 241065"/>
              <a:gd name="connsiteX60" fmla="*/ 443089 w 951654"/>
              <a:gd name="connsiteY60" fmla="*/ 120433 h 241065"/>
              <a:gd name="connsiteX61" fmla="*/ 424025 w 951654"/>
              <a:gd name="connsiteY61" fmla="*/ 139436 h 241065"/>
              <a:gd name="connsiteX62" fmla="*/ 405023 w 951654"/>
              <a:gd name="connsiteY62" fmla="*/ 120433 h 241065"/>
              <a:gd name="connsiteX63" fmla="*/ 424037 w 951654"/>
              <a:gd name="connsiteY63" fmla="*/ 101369 h 241065"/>
              <a:gd name="connsiteX64" fmla="*/ 424086 w 951654"/>
              <a:gd name="connsiteY64" fmla="*/ 101369 h 241065"/>
              <a:gd name="connsiteX65" fmla="*/ 525556 w 951654"/>
              <a:gd name="connsiteY65" fmla="*/ 101369 h 241065"/>
              <a:gd name="connsiteX66" fmla="*/ 544619 w 951654"/>
              <a:gd name="connsiteY66" fmla="*/ 120372 h 241065"/>
              <a:gd name="connsiteX67" fmla="*/ 525617 w 951654"/>
              <a:gd name="connsiteY67" fmla="*/ 139436 h 241065"/>
              <a:gd name="connsiteX68" fmla="*/ 506553 w 951654"/>
              <a:gd name="connsiteY68" fmla="*/ 120433 h 241065"/>
              <a:gd name="connsiteX69" fmla="*/ 525556 w 951654"/>
              <a:gd name="connsiteY69" fmla="*/ 101369 h 241065"/>
              <a:gd name="connsiteX70" fmla="*/ 18027 w 951654"/>
              <a:gd name="connsiteY70" fmla="*/ 202900 h 241065"/>
              <a:gd name="connsiteX71" fmla="*/ 37090 w 951654"/>
              <a:gd name="connsiteY71" fmla="*/ 221902 h 241065"/>
              <a:gd name="connsiteX72" fmla="*/ 18088 w 951654"/>
              <a:gd name="connsiteY72" fmla="*/ 240966 h 241065"/>
              <a:gd name="connsiteX73" fmla="*/ -976 w 951654"/>
              <a:gd name="connsiteY73" fmla="*/ 221963 h 241065"/>
              <a:gd name="connsiteX74" fmla="*/ -976 w 951654"/>
              <a:gd name="connsiteY74" fmla="*/ 221902 h 241065"/>
              <a:gd name="connsiteX75" fmla="*/ 18002 w 951654"/>
              <a:gd name="connsiteY75" fmla="*/ 202900 h 241065"/>
              <a:gd name="connsiteX76" fmla="*/ 18027 w 951654"/>
              <a:gd name="connsiteY76" fmla="*/ 202900 h 241065"/>
              <a:gd name="connsiteX77" fmla="*/ 119557 w 951654"/>
              <a:gd name="connsiteY77" fmla="*/ 202900 h 241065"/>
              <a:gd name="connsiteX78" fmla="*/ 138560 w 951654"/>
              <a:gd name="connsiteY78" fmla="*/ 221963 h 241065"/>
              <a:gd name="connsiteX79" fmla="*/ 119496 w 951654"/>
              <a:gd name="connsiteY79" fmla="*/ 240966 h 241065"/>
              <a:gd name="connsiteX80" fmla="*/ 100493 w 951654"/>
              <a:gd name="connsiteY80" fmla="*/ 221902 h 241065"/>
              <a:gd name="connsiteX81" fmla="*/ 119545 w 951654"/>
              <a:gd name="connsiteY81" fmla="*/ 202900 h 241065"/>
              <a:gd name="connsiteX82" fmla="*/ 119557 w 951654"/>
              <a:gd name="connsiteY82" fmla="*/ 202900 h 241065"/>
              <a:gd name="connsiteX83" fmla="*/ 221026 w 951654"/>
              <a:gd name="connsiteY83" fmla="*/ 202900 h 241065"/>
              <a:gd name="connsiteX84" fmla="*/ 240090 w 951654"/>
              <a:gd name="connsiteY84" fmla="*/ 221902 h 241065"/>
              <a:gd name="connsiteX85" fmla="*/ 221087 w 951654"/>
              <a:gd name="connsiteY85" fmla="*/ 240966 h 241065"/>
              <a:gd name="connsiteX86" fmla="*/ 202024 w 951654"/>
              <a:gd name="connsiteY86" fmla="*/ 221963 h 241065"/>
              <a:gd name="connsiteX87" fmla="*/ 202024 w 951654"/>
              <a:gd name="connsiteY87" fmla="*/ 221902 h 241065"/>
              <a:gd name="connsiteX88" fmla="*/ 221026 w 951654"/>
              <a:gd name="connsiteY88" fmla="*/ 202900 h 241065"/>
              <a:gd name="connsiteX89" fmla="*/ 322556 w 951654"/>
              <a:gd name="connsiteY89" fmla="*/ 202900 h 241065"/>
              <a:gd name="connsiteX90" fmla="*/ 341620 w 951654"/>
              <a:gd name="connsiteY90" fmla="*/ 221902 h 241065"/>
              <a:gd name="connsiteX91" fmla="*/ 322617 w 951654"/>
              <a:gd name="connsiteY91" fmla="*/ 240966 h 241065"/>
              <a:gd name="connsiteX92" fmla="*/ 303553 w 951654"/>
              <a:gd name="connsiteY92" fmla="*/ 221963 h 241065"/>
              <a:gd name="connsiteX93" fmla="*/ 303553 w 951654"/>
              <a:gd name="connsiteY93" fmla="*/ 221902 h 241065"/>
              <a:gd name="connsiteX94" fmla="*/ 322556 w 951654"/>
              <a:gd name="connsiteY94" fmla="*/ 202900 h 241065"/>
              <a:gd name="connsiteX95" fmla="*/ 424086 w 951654"/>
              <a:gd name="connsiteY95" fmla="*/ 202900 h 241065"/>
              <a:gd name="connsiteX96" fmla="*/ 443089 w 951654"/>
              <a:gd name="connsiteY96" fmla="*/ 221963 h 241065"/>
              <a:gd name="connsiteX97" fmla="*/ 424025 w 951654"/>
              <a:gd name="connsiteY97" fmla="*/ 240966 h 241065"/>
              <a:gd name="connsiteX98" fmla="*/ 405023 w 951654"/>
              <a:gd name="connsiteY98" fmla="*/ 221902 h 241065"/>
              <a:gd name="connsiteX99" fmla="*/ 424074 w 951654"/>
              <a:gd name="connsiteY99" fmla="*/ 202900 h 241065"/>
              <a:gd name="connsiteX100" fmla="*/ 424086 w 951654"/>
              <a:gd name="connsiteY100" fmla="*/ 202900 h 241065"/>
              <a:gd name="connsiteX101" fmla="*/ 525556 w 951654"/>
              <a:gd name="connsiteY101" fmla="*/ 202900 h 241065"/>
              <a:gd name="connsiteX102" fmla="*/ 544619 w 951654"/>
              <a:gd name="connsiteY102" fmla="*/ 221902 h 241065"/>
              <a:gd name="connsiteX103" fmla="*/ 525617 w 951654"/>
              <a:gd name="connsiteY103" fmla="*/ 240966 h 241065"/>
              <a:gd name="connsiteX104" fmla="*/ 506553 w 951654"/>
              <a:gd name="connsiteY104" fmla="*/ 221963 h 241065"/>
              <a:gd name="connsiteX105" fmla="*/ 506553 w 951654"/>
              <a:gd name="connsiteY105" fmla="*/ 221902 h 241065"/>
              <a:gd name="connsiteX106" fmla="*/ 525556 w 951654"/>
              <a:gd name="connsiteY106" fmla="*/ 202900 h 241065"/>
              <a:gd name="connsiteX107" fmla="*/ 627085 w 951654"/>
              <a:gd name="connsiteY107" fmla="*/ -100 h 241065"/>
              <a:gd name="connsiteX108" fmla="*/ 646149 w 951654"/>
              <a:gd name="connsiteY108" fmla="*/ 18903 h 241065"/>
              <a:gd name="connsiteX109" fmla="*/ 627146 w 951654"/>
              <a:gd name="connsiteY109" fmla="*/ 37966 h 241065"/>
              <a:gd name="connsiteX110" fmla="*/ 608083 w 951654"/>
              <a:gd name="connsiteY110" fmla="*/ 18964 h 241065"/>
              <a:gd name="connsiteX111" fmla="*/ 608083 w 951654"/>
              <a:gd name="connsiteY111" fmla="*/ 18903 h 241065"/>
              <a:gd name="connsiteX112" fmla="*/ 627085 w 951654"/>
              <a:gd name="connsiteY112" fmla="*/ -100 h 241065"/>
              <a:gd name="connsiteX113" fmla="*/ 728616 w 951654"/>
              <a:gd name="connsiteY113" fmla="*/ -100 h 241065"/>
              <a:gd name="connsiteX114" fmla="*/ 747618 w 951654"/>
              <a:gd name="connsiteY114" fmla="*/ 18964 h 241065"/>
              <a:gd name="connsiteX115" fmla="*/ 728555 w 951654"/>
              <a:gd name="connsiteY115" fmla="*/ 37966 h 241065"/>
              <a:gd name="connsiteX116" fmla="*/ 709552 w 951654"/>
              <a:gd name="connsiteY116" fmla="*/ 18903 h 241065"/>
              <a:gd name="connsiteX117" fmla="*/ 728445 w 951654"/>
              <a:gd name="connsiteY117" fmla="*/ -100 h 241065"/>
              <a:gd name="connsiteX118" fmla="*/ 728616 w 951654"/>
              <a:gd name="connsiteY118" fmla="*/ -100 h 241065"/>
              <a:gd name="connsiteX119" fmla="*/ 627085 w 951654"/>
              <a:gd name="connsiteY119" fmla="*/ 101369 h 241065"/>
              <a:gd name="connsiteX120" fmla="*/ 646149 w 951654"/>
              <a:gd name="connsiteY120" fmla="*/ 120372 h 241065"/>
              <a:gd name="connsiteX121" fmla="*/ 627146 w 951654"/>
              <a:gd name="connsiteY121" fmla="*/ 139436 h 241065"/>
              <a:gd name="connsiteX122" fmla="*/ 608083 w 951654"/>
              <a:gd name="connsiteY122" fmla="*/ 120433 h 241065"/>
              <a:gd name="connsiteX123" fmla="*/ 627085 w 951654"/>
              <a:gd name="connsiteY123" fmla="*/ 101369 h 241065"/>
              <a:gd name="connsiteX124" fmla="*/ 728616 w 951654"/>
              <a:gd name="connsiteY124" fmla="*/ 101369 h 241065"/>
              <a:gd name="connsiteX125" fmla="*/ 747618 w 951654"/>
              <a:gd name="connsiteY125" fmla="*/ 120433 h 241065"/>
              <a:gd name="connsiteX126" fmla="*/ 728555 w 951654"/>
              <a:gd name="connsiteY126" fmla="*/ 139436 h 241065"/>
              <a:gd name="connsiteX127" fmla="*/ 709552 w 951654"/>
              <a:gd name="connsiteY127" fmla="*/ 120433 h 241065"/>
              <a:gd name="connsiteX128" fmla="*/ 728494 w 951654"/>
              <a:gd name="connsiteY128" fmla="*/ 101369 h 241065"/>
              <a:gd name="connsiteX129" fmla="*/ 728616 w 951654"/>
              <a:gd name="connsiteY129" fmla="*/ 101369 h 241065"/>
              <a:gd name="connsiteX130" fmla="*/ 627085 w 951654"/>
              <a:gd name="connsiteY130" fmla="*/ 202900 h 241065"/>
              <a:gd name="connsiteX131" fmla="*/ 646149 w 951654"/>
              <a:gd name="connsiteY131" fmla="*/ 221902 h 241065"/>
              <a:gd name="connsiteX132" fmla="*/ 627146 w 951654"/>
              <a:gd name="connsiteY132" fmla="*/ 240966 h 241065"/>
              <a:gd name="connsiteX133" fmla="*/ 608083 w 951654"/>
              <a:gd name="connsiteY133" fmla="*/ 221963 h 241065"/>
              <a:gd name="connsiteX134" fmla="*/ 608083 w 951654"/>
              <a:gd name="connsiteY134" fmla="*/ 221902 h 241065"/>
              <a:gd name="connsiteX135" fmla="*/ 627085 w 951654"/>
              <a:gd name="connsiteY135" fmla="*/ 202900 h 241065"/>
              <a:gd name="connsiteX136" fmla="*/ 728616 w 951654"/>
              <a:gd name="connsiteY136" fmla="*/ 202900 h 241065"/>
              <a:gd name="connsiteX137" fmla="*/ 747618 w 951654"/>
              <a:gd name="connsiteY137" fmla="*/ 221963 h 241065"/>
              <a:gd name="connsiteX138" fmla="*/ 728555 w 951654"/>
              <a:gd name="connsiteY138" fmla="*/ 240966 h 241065"/>
              <a:gd name="connsiteX139" fmla="*/ 709552 w 951654"/>
              <a:gd name="connsiteY139" fmla="*/ 221902 h 241065"/>
              <a:gd name="connsiteX140" fmla="*/ 728530 w 951654"/>
              <a:gd name="connsiteY140" fmla="*/ 202900 h 241065"/>
              <a:gd name="connsiteX141" fmla="*/ 728616 w 951654"/>
              <a:gd name="connsiteY141" fmla="*/ 202900 h 241065"/>
              <a:gd name="connsiteX142" fmla="*/ 830146 w 951654"/>
              <a:gd name="connsiteY142" fmla="*/ -100 h 241065"/>
              <a:gd name="connsiteX143" fmla="*/ 849149 w 951654"/>
              <a:gd name="connsiteY143" fmla="*/ 18964 h 241065"/>
              <a:gd name="connsiteX144" fmla="*/ 830085 w 951654"/>
              <a:gd name="connsiteY144" fmla="*/ 37966 h 241065"/>
              <a:gd name="connsiteX145" fmla="*/ 811082 w 951654"/>
              <a:gd name="connsiteY145" fmla="*/ 18903 h 241065"/>
              <a:gd name="connsiteX146" fmla="*/ 830061 w 951654"/>
              <a:gd name="connsiteY146" fmla="*/ -100 h 241065"/>
              <a:gd name="connsiteX147" fmla="*/ 830146 w 951654"/>
              <a:gd name="connsiteY147" fmla="*/ -100 h 241065"/>
              <a:gd name="connsiteX148" fmla="*/ 931615 w 951654"/>
              <a:gd name="connsiteY148" fmla="*/ -100 h 241065"/>
              <a:gd name="connsiteX149" fmla="*/ 950678 w 951654"/>
              <a:gd name="connsiteY149" fmla="*/ 18903 h 241065"/>
              <a:gd name="connsiteX150" fmla="*/ 931676 w 951654"/>
              <a:gd name="connsiteY150" fmla="*/ 37966 h 241065"/>
              <a:gd name="connsiteX151" fmla="*/ 912612 w 951654"/>
              <a:gd name="connsiteY151" fmla="*/ 18964 h 241065"/>
              <a:gd name="connsiteX152" fmla="*/ 912612 w 951654"/>
              <a:gd name="connsiteY152" fmla="*/ 18903 h 241065"/>
              <a:gd name="connsiteX153" fmla="*/ 931615 w 951654"/>
              <a:gd name="connsiteY153" fmla="*/ -100 h 241065"/>
              <a:gd name="connsiteX154" fmla="*/ 830146 w 951654"/>
              <a:gd name="connsiteY154" fmla="*/ 101369 h 241065"/>
              <a:gd name="connsiteX155" fmla="*/ 849149 w 951654"/>
              <a:gd name="connsiteY155" fmla="*/ 120433 h 241065"/>
              <a:gd name="connsiteX156" fmla="*/ 830085 w 951654"/>
              <a:gd name="connsiteY156" fmla="*/ 139436 h 241065"/>
              <a:gd name="connsiteX157" fmla="*/ 811082 w 951654"/>
              <a:gd name="connsiteY157" fmla="*/ 120433 h 241065"/>
              <a:gd name="connsiteX158" fmla="*/ 830097 w 951654"/>
              <a:gd name="connsiteY158" fmla="*/ 101369 h 241065"/>
              <a:gd name="connsiteX159" fmla="*/ 830146 w 951654"/>
              <a:gd name="connsiteY159" fmla="*/ 101369 h 241065"/>
              <a:gd name="connsiteX160" fmla="*/ 931615 w 951654"/>
              <a:gd name="connsiteY160" fmla="*/ 101369 h 241065"/>
              <a:gd name="connsiteX161" fmla="*/ 950678 w 951654"/>
              <a:gd name="connsiteY161" fmla="*/ 120372 h 241065"/>
              <a:gd name="connsiteX162" fmla="*/ 931676 w 951654"/>
              <a:gd name="connsiteY162" fmla="*/ 139436 h 241065"/>
              <a:gd name="connsiteX163" fmla="*/ 912612 w 951654"/>
              <a:gd name="connsiteY163" fmla="*/ 120433 h 241065"/>
              <a:gd name="connsiteX164" fmla="*/ 931615 w 951654"/>
              <a:gd name="connsiteY164" fmla="*/ 101369 h 241065"/>
              <a:gd name="connsiteX165" fmla="*/ 830146 w 951654"/>
              <a:gd name="connsiteY165" fmla="*/ 202900 h 241065"/>
              <a:gd name="connsiteX166" fmla="*/ 849149 w 951654"/>
              <a:gd name="connsiteY166" fmla="*/ 221963 h 241065"/>
              <a:gd name="connsiteX167" fmla="*/ 830085 w 951654"/>
              <a:gd name="connsiteY167" fmla="*/ 240966 h 241065"/>
              <a:gd name="connsiteX168" fmla="*/ 811082 w 951654"/>
              <a:gd name="connsiteY168" fmla="*/ 221902 h 241065"/>
              <a:gd name="connsiteX169" fmla="*/ 830134 w 951654"/>
              <a:gd name="connsiteY169" fmla="*/ 202900 h 241065"/>
              <a:gd name="connsiteX170" fmla="*/ 830146 w 951654"/>
              <a:gd name="connsiteY170" fmla="*/ 202900 h 241065"/>
              <a:gd name="connsiteX171" fmla="*/ 931615 w 951654"/>
              <a:gd name="connsiteY171" fmla="*/ 202900 h 241065"/>
              <a:gd name="connsiteX172" fmla="*/ 950678 w 951654"/>
              <a:gd name="connsiteY172" fmla="*/ 221902 h 241065"/>
              <a:gd name="connsiteX173" fmla="*/ 931676 w 951654"/>
              <a:gd name="connsiteY173" fmla="*/ 240966 h 241065"/>
              <a:gd name="connsiteX174" fmla="*/ 912612 w 951654"/>
              <a:gd name="connsiteY174" fmla="*/ 221963 h 241065"/>
              <a:gd name="connsiteX175" fmla="*/ 912612 w 951654"/>
              <a:gd name="connsiteY175" fmla="*/ 221902 h 241065"/>
              <a:gd name="connsiteX176" fmla="*/ 931615 w 951654"/>
              <a:gd name="connsiteY176" fmla="*/ 202900 h 241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951654" h="241065">
                <a:moveTo>
                  <a:pt x="18027" y="-100"/>
                </a:moveTo>
                <a:cubicBezTo>
                  <a:pt x="28538" y="-117"/>
                  <a:pt x="37073" y="8391"/>
                  <a:pt x="37090" y="18903"/>
                </a:cubicBezTo>
                <a:cubicBezTo>
                  <a:pt x="37107" y="29414"/>
                  <a:pt x="28599" y="37949"/>
                  <a:pt x="18088" y="37966"/>
                </a:cubicBezTo>
                <a:cubicBezTo>
                  <a:pt x="7576" y="37983"/>
                  <a:pt x="-959" y="29475"/>
                  <a:pt x="-976" y="18964"/>
                </a:cubicBezTo>
                <a:cubicBezTo>
                  <a:pt x="-976" y="18944"/>
                  <a:pt x="-976" y="18923"/>
                  <a:pt x="-976" y="18903"/>
                </a:cubicBezTo>
                <a:cubicBezTo>
                  <a:pt x="-1006" y="8438"/>
                  <a:pt x="7452" y="-69"/>
                  <a:pt x="17917" y="-100"/>
                </a:cubicBezTo>
                <a:cubicBezTo>
                  <a:pt x="17953" y="-100"/>
                  <a:pt x="17990" y="-100"/>
                  <a:pt x="18027" y="-100"/>
                </a:cubicBezTo>
                <a:close/>
                <a:moveTo>
                  <a:pt x="119557" y="-100"/>
                </a:moveTo>
                <a:cubicBezTo>
                  <a:pt x="130068" y="-83"/>
                  <a:pt x="138577" y="8452"/>
                  <a:pt x="138560" y="18964"/>
                </a:cubicBezTo>
                <a:cubicBezTo>
                  <a:pt x="138543" y="29475"/>
                  <a:pt x="130008" y="37983"/>
                  <a:pt x="119496" y="37966"/>
                </a:cubicBezTo>
                <a:cubicBezTo>
                  <a:pt x="108985" y="37949"/>
                  <a:pt x="100476" y="29415"/>
                  <a:pt x="100493" y="18903"/>
                </a:cubicBezTo>
                <a:cubicBezTo>
                  <a:pt x="100487" y="8414"/>
                  <a:pt x="108983" y="-93"/>
                  <a:pt x="119472" y="-100"/>
                </a:cubicBezTo>
                <a:cubicBezTo>
                  <a:pt x="119500" y="-100"/>
                  <a:pt x="119529" y="-100"/>
                  <a:pt x="119557" y="-100"/>
                </a:cubicBezTo>
                <a:close/>
                <a:moveTo>
                  <a:pt x="221026" y="-100"/>
                </a:moveTo>
                <a:cubicBezTo>
                  <a:pt x="231538" y="-117"/>
                  <a:pt x="240073" y="8391"/>
                  <a:pt x="240090" y="18903"/>
                </a:cubicBezTo>
                <a:cubicBezTo>
                  <a:pt x="240107" y="29414"/>
                  <a:pt x="231599" y="37949"/>
                  <a:pt x="221087" y="37966"/>
                </a:cubicBezTo>
                <a:cubicBezTo>
                  <a:pt x="210576" y="37983"/>
                  <a:pt x="202041" y="29475"/>
                  <a:pt x="202024" y="18964"/>
                </a:cubicBezTo>
                <a:cubicBezTo>
                  <a:pt x="202024" y="18944"/>
                  <a:pt x="202024" y="18923"/>
                  <a:pt x="202024" y="18903"/>
                </a:cubicBezTo>
                <a:cubicBezTo>
                  <a:pt x="202024" y="8408"/>
                  <a:pt x="210531" y="-100"/>
                  <a:pt x="221026" y="-100"/>
                </a:cubicBezTo>
                <a:close/>
                <a:moveTo>
                  <a:pt x="322556" y="-100"/>
                </a:moveTo>
                <a:cubicBezTo>
                  <a:pt x="333067" y="-117"/>
                  <a:pt x="341602" y="8391"/>
                  <a:pt x="341620" y="18903"/>
                </a:cubicBezTo>
                <a:cubicBezTo>
                  <a:pt x="341637" y="29414"/>
                  <a:pt x="333128" y="37949"/>
                  <a:pt x="322617" y="37966"/>
                </a:cubicBezTo>
                <a:cubicBezTo>
                  <a:pt x="312106" y="37983"/>
                  <a:pt x="303571" y="29475"/>
                  <a:pt x="303553" y="18964"/>
                </a:cubicBezTo>
                <a:cubicBezTo>
                  <a:pt x="303553" y="18944"/>
                  <a:pt x="303553" y="18923"/>
                  <a:pt x="303553" y="18903"/>
                </a:cubicBezTo>
                <a:cubicBezTo>
                  <a:pt x="303553" y="8408"/>
                  <a:pt x="312061" y="-100"/>
                  <a:pt x="322556" y="-100"/>
                </a:cubicBezTo>
                <a:close/>
                <a:moveTo>
                  <a:pt x="424086" y="-100"/>
                </a:moveTo>
                <a:cubicBezTo>
                  <a:pt x="434598" y="-83"/>
                  <a:pt x="443106" y="8452"/>
                  <a:pt x="443089" y="18964"/>
                </a:cubicBezTo>
                <a:cubicBezTo>
                  <a:pt x="443072" y="29475"/>
                  <a:pt x="434537" y="37983"/>
                  <a:pt x="424025" y="37966"/>
                </a:cubicBezTo>
                <a:cubicBezTo>
                  <a:pt x="413514" y="37949"/>
                  <a:pt x="405006" y="29415"/>
                  <a:pt x="405023" y="18903"/>
                </a:cubicBezTo>
                <a:cubicBezTo>
                  <a:pt x="405016" y="8414"/>
                  <a:pt x="413513" y="-93"/>
                  <a:pt x="424001" y="-100"/>
                </a:cubicBezTo>
                <a:cubicBezTo>
                  <a:pt x="424029" y="-100"/>
                  <a:pt x="424058" y="-100"/>
                  <a:pt x="424086" y="-100"/>
                </a:cubicBezTo>
                <a:close/>
                <a:moveTo>
                  <a:pt x="525556" y="-100"/>
                </a:moveTo>
                <a:cubicBezTo>
                  <a:pt x="536067" y="-117"/>
                  <a:pt x="544602" y="8391"/>
                  <a:pt x="544619" y="18903"/>
                </a:cubicBezTo>
                <a:cubicBezTo>
                  <a:pt x="544636" y="29414"/>
                  <a:pt x="536128" y="37949"/>
                  <a:pt x="525617" y="37966"/>
                </a:cubicBezTo>
                <a:cubicBezTo>
                  <a:pt x="515105" y="37983"/>
                  <a:pt x="506570" y="29475"/>
                  <a:pt x="506553" y="18964"/>
                </a:cubicBezTo>
                <a:cubicBezTo>
                  <a:pt x="506553" y="18944"/>
                  <a:pt x="506553" y="18923"/>
                  <a:pt x="506553" y="18903"/>
                </a:cubicBezTo>
                <a:cubicBezTo>
                  <a:pt x="506553" y="8408"/>
                  <a:pt x="515061" y="-100"/>
                  <a:pt x="525556" y="-100"/>
                </a:cubicBezTo>
                <a:close/>
                <a:moveTo>
                  <a:pt x="18027" y="101369"/>
                </a:moveTo>
                <a:cubicBezTo>
                  <a:pt x="28538" y="101352"/>
                  <a:pt x="37073" y="109861"/>
                  <a:pt x="37090" y="120372"/>
                </a:cubicBezTo>
                <a:cubicBezTo>
                  <a:pt x="37107" y="130883"/>
                  <a:pt x="28599" y="139418"/>
                  <a:pt x="18088" y="139436"/>
                </a:cubicBezTo>
                <a:cubicBezTo>
                  <a:pt x="7576" y="139453"/>
                  <a:pt x="-959" y="130944"/>
                  <a:pt x="-976" y="120433"/>
                </a:cubicBezTo>
                <a:cubicBezTo>
                  <a:pt x="-1009" y="109938"/>
                  <a:pt x="7471" y="101403"/>
                  <a:pt x="17966" y="101369"/>
                </a:cubicBezTo>
                <a:cubicBezTo>
                  <a:pt x="17986" y="101369"/>
                  <a:pt x="18007" y="101369"/>
                  <a:pt x="18027" y="101369"/>
                </a:cubicBezTo>
                <a:close/>
                <a:moveTo>
                  <a:pt x="119557" y="101369"/>
                </a:moveTo>
                <a:cubicBezTo>
                  <a:pt x="130068" y="101387"/>
                  <a:pt x="138577" y="109921"/>
                  <a:pt x="138560" y="120433"/>
                </a:cubicBezTo>
                <a:cubicBezTo>
                  <a:pt x="138543" y="130944"/>
                  <a:pt x="130008" y="139453"/>
                  <a:pt x="119496" y="139436"/>
                </a:cubicBezTo>
                <a:cubicBezTo>
                  <a:pt x="109009" y="139418"/>
                  <a:pt x="100511" y="130920"/>
                  <a:pt x="100493" y="120433"/>
                </a:cubicBezTo>
                <a:cubicBezTo>
                  <a:pt x="100480" y="109918"/>
                  <a:pt x="108993" y="101383"/>
                  <a:pt x="119508" y="101369"/>
                </a:cubicBezTo>
                <a:cubicBezTo>
                  <a:pt x="119524" y="101369"/>
                  <a:pt x="119541" y="101369"/>
                  <a:pt x="119557" y="101369"/>
                </a:cubicBezTo>
                <a:close/>
                <a:moveTo>
                  <a:pt x="221026" y="101369"/>
                </a:moveTo>
                <a:cubicBezTo>
                  <a:pt x="231538" y="101352"/>
                  <a:pt x="240073" y="109861"/>
                  <a:pt x="240090" y="120372"/>
                </a:cubicBezTo>
                <a:cubicBezTo>
                  <a:pt x="240107" y="130883"/>
                  <a:pt x="231599" y="139418"/>
                  <a:pt x="221087" y="139436"/>
                </a:cubicBezTo>
                <a:cubicBezTo>
                  <a:pt x="210576" y="139453"/>
                  <a:pt x="202041" y="130944"/>
                  <a:pt x="202024" y="120433"/>
                </a:cubicBezTo>
                <a:cubicBezTo>
                  <a:pt x="202017" y="109925"/>
                  <a:pt x="210519" y="101396"/>
                  <a:pt x="221026" y="101369"/>
                </a:cubicBezTo>
                <a:close/>
                <a:moveTo>
                  <a:pt x="322556" y="101369"/>
                </a:moveTo>
                <a:cubicBezTo>
                  <a:pt x="333067" y="101352"/>
                  <a:pt x="341602" y="109861"/>
                  <a:pt x="341620" y="120372"/>
                </a:cubicBezTo>
                <a:cubicBezTo>
                  <a:pt x="341637" y="130883"/>
                  <a:pt x="333128" y="139418"/>
                  <a:pt x="322617" y="139436"/>
                </a:cubicBezTo>
                <a:cubicBezTo>
                  <a:pt x="312106" y="139453"/>
                  <a:pt x="303571" y="130944"/>
                  <a:pt x="303553" y="120433"/>
                </a:cubicBezTo>
                <a:cubicBezTo>
                  <a:pt x="303547" y="109925"/>
                  <a:pt x="312048" y="101396"/>
                  <a:pt x="322556" y="101369"/>
                </a:cubicBezTo>
                <a:close/>
                <a:moveTo>
                  <a:pt x="424086" y="101369"/>
                </a:moveTo>
                <a:cubicBezTo>
                  <a:pt x="434598" y="101387"/>
                  <a:pt x="443106" y="109921"/>
                  <a:pt x="443089" y="120433"/>
                </a:cubicBezTo>
                <a:cubicBezTo>
                  <a:pt x="443072" y="130944"/>
                  <a:pt x="434537" y="139453"/>
                  <a:pt x="424025" y="139436"/>
                </a:cubicBezTo>
                <a:cubicBezTo>
                  <a:pt x="413538" y="139418"/>
                  <a:pt x="405040" y="130920"/>
                  <a:pt x="405023" y="120433"/>
                </a:cubicBezTo>
                <a:cubicBezTo>
                  <a:pt x="405009" y="109918"/>
                  <a:pt x="413522" y="101383"/>
                  <a:pt x="424037" y="101369"/>
                </a:cubicBezTo>
                <a:cubicBezTo>
                  <a:pt x="424054" y="101369"/>
                  <a:pt x="424070" y="101369"/>
                  <a:pt x="424086" y="101369"/>
                </a:cubicBezTo>
                <a:close/>
                <a:moveTo>
                  <a:pt x="525556" y="101369"/>
                </a:moveTo>
                <a:cubicBezTo>
                  <a:pt x="536067" y="101352"/>
                  <a:pt x="544602" y="109861"/>
                  <a:pt x="544619" y="120372"/>
                </a:cubicBezTo>
                <a:cubicBezTo>
                  <a:pt x="544636" y="130883"/>
                  <a:pt x="536128" y="139418"/>
                  <a:pt x="525617" y="139436"/>
                </a:cubicBezTo>
                <a:cubicBezTo>
                  <a:pt x="515105" y="139453"/>
                  <a:pt x="506570" y="130944"/>
                  <a:pt x="506553" y="120433"/>
                </a:cubicBezTo>
                <a:cubicBezTo>
                  <a:pt x="506546" y="109925"/>
                  <a:pt x="515048" y="101396"/>
                  <a:pt x="525556" y="101369"/>
                </a:cubicBezTo>
                <a:close/>
                <a:moveTo>
                  <a:pt x="18027" y="202900"/>
                </a:moveTo>
                <a:cubicBezTo>
                  <a:pt x="28538" y="202883"/>
                  <a:pt x="37073" y="211391"/>
                  <a:pt x="37090" y="221902"/>
                </a:cubicBezTo>
                <a:cubicBezTo>
                  <a:pt x="37107" y="232414"/>
                  <a:pt x="28599" y="240949"/>
                  <a:pt x="18088" y="240966"/>
                </a:cubicBezTo>
                <a:cubicBezTo>
                  <a:pt x="7576" y="240983"/>
                  <a:pt x="-959" y="232475"/>
                  <a:pt x="-976" y="221963"/>
                </a:cubicBezTo>
                <a:cubicBezTo>
                  <a:pt x="-976" y="221943"/>
                  <a:pt x="-976" y="221922"/>
                  <a:pt x="-976" y="221902"/>
                </a:cubicBezTo>
                <a:cubicBezTo>
                  <a:pt x="-983" y="211414"/>
                  <a:pt x="7514" y="202906"/>
                  <a:pt x="18002" y="202900"/>
                </a:cubicBezTo>
                <a:cubicBezTo>
                  <a:pt x="18010" y="202900"/>
                  <a:pt x="18019" y="202900"/>
                  <a:pt x="18027" y="202900"/>
                </a:cubicBezTo>
                <a:close/>
                <a:moveTo>
                  <a:pt x="119557" y="202900"/>
                </a:moveTo>
                <a:cubicBezTo>
                  <a:pt x="130068" y="202917"/>
                  <a:pt x="138577" y="211451"/>
                  <a:pt x="138560" y="221963"/>
                </a:cubicBezTo>
                <a:cubicBezTo>
                  <a:pt x="138543" y="232475"/>
                  <a:pt x="130008" y="240983"/>
                  <a:pt x="119496" y="240966"/>
                </a:cubicBezTo>
                <a:cubicBezTo>
                  <a:pt x="108985" y="240949"/>
                  <a:pt x="100476" y="232414"/>
                  <a:pt x="100493" y="221902"/>
                </a:cubicBezTo>
                <a:cubicBezTo>
                  <a:pt x="100507" y="211394"/>
                  <a:pt x="109037" y="202886"/>
                  <a:pt x="119545" y="202900"/>
                </a:cubicBezTo>
                <a:cubicBezTo>
                  <a:pt x="119549" y="202900"/>
                  <a:pt x="119553" y="202900"/>
                  <a:pt x="119557" y="202900"/>
                </a:cubicBezTo>
                <a:close/>
                <a:moveTo>
                  <a:pt x="221026" y="202900"/>
                </a:moveTo>
                <a:cubicBezTo>
                  <a:pt x="231538" y="202883"/>
                  <a:pt x="240073" y="211391"/>
                  <a:pt x="240090" y="221902"/>
                </a:cubicBezTo>
                <a:cubicBezTo>
                  <a:pt x="240107" y="232414"/>
                  <a:pt x="231599" y="240949"/>
                  <a:pt x="221087" y="240966"/>
                </a:cubicBezTo>
                <a:cubicBezTo>
                  <a:pt x="210576" y="240983"/>
                  <a:pt x="202041" y="232475"/>
                  <a:pt x="202024" y="221963"/>
                </a:cubicBezTo>
                <a:cubicBezTo>
                  <a:pt x="202024" y="221943"/>
                  <a:pt x="202024" y="221922"/>
                  <a:pt x="202024" y="221902"/>
                </a:cubicBezTo>
                <a:cubicBezTo>
                  <a:pt x="202044" y="211416"/>
                  <a:pt x="210540" y="202920"/>
                  <a:pt x="221026" y="202900"/>
                </a:cubicBezTo>
                <a:close/>
                <a:moveTo>
                  <a:pt x="322556" y="202900"/>
                </a:moveTo>
                <a:cubicBezTo>
                  <a:pt x="333067" y="202883"/>
                  <a:pt x="341602" y="211391"/>
                  <a:pt x="341620" y="221902"/>
                </a:cubicBezTo>
                <a:cubicBezTo>
                  <a:pt x="341637" y="232414"/>
                  <a:pt x="333128" y="240949"/>
                  <a:pt x="322617" y="240966"/>
                </a:cubicBezTo>
                <a:cubicBezTo>
                  <a:pt x="312106" y="240983"/>
                  <a:pt x="303571" y="232475"/>
                  <a:pt x="303553" y="221963"/>
                </a:cubicBezTo>
                <a:cubicBezTo>
                  <a:pt x="303553" y="221943"/>
                  <a:pt x="303553" y="221922"/>
                  <a:pt x="303553" y="221902"/>
                </a:cubicBezTo>
                <a:cubicBezTo>
                  <a:pt x="303573" y="211416"/>
                  <a:pt x="312069" y="202920"/>
                  <a:pt x="322556" y="202900"/>
                </a:cubicBezTo>
                <a:close/>
                <a:moveTo>
                  <a:pt x="424086" y="202900"/>
                </a:moveTo>
                <a:cubicBezTo>
                  <a:pt x="434598" y="202917"/>
                  <a:pt x="443106" y="211451"/>
                  <a:pt x="443089" y="221963"/>
                </a:cubicBezTo>
                <a:cubicBezTo>
                  <a:pt x="443072" y="232475"/>
                  <a:pt x="434537" y="240983"/>
                  <a:pt x="424025" y="240966"/>
                </a:cubicBezTo>
                <a:cubicBezTo>
                  <a:pt x="413514" y="240949"/>
                  <a:pt x="405006" y="232414"/>
                  <a:pt x="405023" y="221902"/>
                </a:cubicBezTo>
                <a:cubicBezTo>
                  <a:pt x="405036" y="211394"/>
                  <a:pt x="413566" y="202886"/>
                  <a:pt x="424074" y="202900"/>
                </a:cubicBezTo>
                <a:cubicBezTo>
                  <a:pt x="424078" y="202900"/>
                  <a:pt x="424083" y="202900"/>
                  <a:pt x="424086" y="202900"/>
                </a:cubicBezTo>
                <a:close/>
                <a:moveTo>
                  <a:pt x="525556" y="202900"/>
                </a:moveTo>
                <a:cubicBezTo>
                  <a:pt x="536067" y="202883"/>
                  <a:pt x="544602" y="211391"/>
                  <a:pt x="544619" y="221902"/>
                </a:cubicBezTo>
                <a:cubicBezTo>
                  <a:pt x="544636" y="232414"/>
                  <a:pt x="536128" y="240949"/>
                  <a:pt x="525617" y="240966"/>
                </a:cubicBezTo>
                <a:cubicBezTo>
                  <a:pt x="515105" y="240983"/>
                  <a:pt x="506570" y="232475"/>
                  <a:pt x="506553" y="221963"/>
                </a:cubicBezTo>
                <a:cubicBezTo>
                  <a:pt x="506553" y="221943"/>
                  <a:pt x="506553" y="221922"/>
                  <a:pt x="506553" y="221902"/>
                </a:cubicBezTo>
                <a:cubicBezTo>
                  <a:pt x="506573" y="211416"/>
                  <a:pt x="515069" y="202920"/>
                  <a:pt x="525556" y="202900"/>
                </a:cubicBezTo>
                <a:close/>
                <a:moveTo>
                  <a:pt x="627085" y="-100"/>
                </a:moveTo>
                <a:cubicBezTo>
                  <a:pt x="637597" y="-117"/>
                  <a:pt x="646132" y="8391"/>
                  <a:pt x="646149" y="18903"/>
                </a:cubicBezTo>
                <a:cubicBezTo>
                  <a:pt x="646166" y="29414"/>
                  <a:pt x="637658" y="37949"/>
                  <a:pt x="627146" y="37966"/>
                </a:cubicBezTo>
                <a:cubicBezTo>
                  <a:pt x="616635" y="37983"/>
                  <a:pt x="608100" y="29475"/>
                  <a:pt x="608083" y="18964"/>
                </a:cubicBezTo>
                <a:cubicBezTo>
                  <a:pt x="608083" y="18944"/>
                  <a:pt x="608083" y="18923"/>
                  <a:pt x="608083" y="18903"/>
                </a:cubicBezTo>
                <a:cubicBezTo>
                  <a:pt x="608083" y="8408"/>
                  <a:pt x="616590" y="-100"/>
                  <a:pt x="627085" y="-100"/>
                </a:cubicBezTo>
                <a:close/>
                <a:moveTo>
                  <a:pt x="728616" y="-100"/>
                </a:moveTo>
                <a:cubicBezTo>
                  <a:pt x="739127" y="-83"/>
                  <a:pt x="747635" y="8452"/>
                  <a:pt x="747618" y="18964"/>
                </a:cubicBezTo>
                <a:cubicBezTo>
                  <a:pt x="747601" y="29475"/>
                  <a:pt x="739067" y="37983"/>
                  <a:pt x="728555" y="37966"/>
                </a:cubicBezTo>
                <a:cubicBezTo>
                  <a:pt x="718043" y="37949"/>
                  <a:pt x="709535" y="29415"/>
                  <a:pt x="709552" y="18903"/>
                </a:cubicBezTo>
                <a:cubicBezTo>
                  <a:pt x="709522" y="8438"/>
                  <a:pt x="717980" y="-69"/>
                  <a:pt x="728445" y="-100"/>
                </a:cubicBezTo>
                <a:cubicBezTo>
                  <a:pt x="728502" y="-100"/>
                  <a:pt x="728558" y="-100"/>
                  <a:pt x="728616" y="-100"/>
                </a:cubicBezTo>
                <a:close/>
                <a:moveTo>
                  <a:pt x="627085" y="101369"/>
                </a:moveTo>
                <a:cubicBezTo>
                  <a:pt x="637597" y="101352"/>
                  <a:pt x="646132" y="109861"/>
                  <a:pt x="646149" y="120372"/>
                </a:cubicBezTo>
                <a:cubicBezTo>
                  <a:pt x="646166" y="130883"/>
                  <a:pt x="637658" y="139418"/>
                  <a:pt x="627146" y="139436"/>
                </a:cubicBezTo>
                <a:cubicBezTo>
                  <a:pt x="616635" y="139453"/>
                  <a:pt x="608100" y="130944"/>
                  <a:pt x="608083" y="120433"/>
                </a:cubicBezTo>
                <a:cubicBezTo>
                  <a:pt x="608076" y="109925"/>
                  <a:pt x="616578" y="101396"/>
                  <a:pt x="627085" y="101369"/>
                </a:cubicBezTo>
                <a:close/>
                <a:moveTo>
                  <a:pt x="728616" y="101369"/>
                </a:moveTo>
                <a:cubicBezTo>
                  <a:pt x="739127" y="101387"/>
                  <a:pt x="747635" y="109921"/>
                  <a:pt x="747618" y="120433"/>
                </a:cubicBezTo>
                <a:cubicBezTo>
                  <a:pt x="747601" y="130944"/>
                  <a:pt x="739067" y="139453"/>
                  <a:pt x="728555" y="139436"/>
                </a:cubicBezTo>
                <a:cubicBezTo>
                  <a:pt x="718067" y="139418"/>
                  <a:pt x="709569" y="130920"/>
                  <a:pt x="709552" y="120433"/>
                </a:cubicBezTo>
                <a:cubicBezTo>
                  <a:pt x="709519" y="109938"/>
                  <a:pt x="717999" y="101403"/>
                  <a:pt x="728494" y="101369"/>
                </a:cubicBezTo>
                <a:cubicBezTo>
                  <a:pt x="728535" y="101369"/>
                  <a:pt x="728575" y="101369"/>
                  <a:pt x="728616" y="101369"/>
                </a:cubicBezTo>
                <a:close/>
                <a:moveTo>
                  <a:pt x="627085" y="202900"/>
                </a:moveTo>
                <a:cubicBezTo>
                  <a:pt x="637597" y="202883"/>
                  <a:pt x="646132" y="211391"/>
                  <a:pt x="646149" y="221902"/>
                </a:cubicBezTo>
                <a:cubicBezTo>
                  <a:pt x="646166" y="232414"/>
                  <a:pt x="637658" y="240949"/>
                  <a:pt x="627146" y="240966"/>
                </a:cubicBezTo>
                <a:cubicBezTo>
                  <a:pt x="616635" y="240983"/>
                  <a:pt x="608100" y="232475"/>
                  <a:pt x="608083" y="221963"/>
                </a:cubicBezTo>
                <a:cubicBezTo>
                  <a:pt x="608083" y="221943"/>
                  <a:pt x="608083" y="221922"/>
                  <a:pt x="608083" y="221902"/>
                </a:cubicBezTo>
                <a:cubicBezTo>
                  <a:pt x="608103" y="211416"/>
                  <a:pt x="616599" y="202920"/>
                  <a:pt x="627085" y="202900"/>
                </a:cubicBezTo>
                <a:close/>
                <a:moveTo>
                  <a:pt x="728616" y="202900"/>
                </a:moveTo>
                <a:cubicBezTo>
                  <a:pt x="739127" y="202917"/>
                  <a:pt x="747635" y="211451"/>
                  <a:pt x="747618" y="221963"/>
                </a:cubicBezTo>
                <a:cubicBezTo>
                  <a:pt x="747601" y="232475"/>
                  <a:pt x="739067" y="240983"/>
                  <a:pt x="728555" y="240966"/>
                </a:cubicBezTo>
                <a:cubicBezTo>
                  <a:pt x="718043" y="240949"/>
                  <a:pt x="709535" y="232414"/>
                  <a:pt x="709552" y="221902"/>
                </a:cubicBezTo>
                <a:cubicBezTo>
                  <a:pt x="709545" y="211414"/>
                  <a:pt x="718042" y="202906"/>
                  <a:pt x="728530" y="202900"/>
                </a:cubicBezTo>
                <a:cubicBezTo>
                  <a:pt x="728558" y="202900"/>
                  <a:pt x="728587" y="202900"/>
                  <a:pt x="728616" y="202900"/>
                </a:cubicBezTo>
                <a:close/>
                <a:moveTo>
                  <a:pt x="830146" y="-100"/>
                </a:moveTo>
                <a:cubicBezTo>
                  <a:pt x="840657" y="-83"/>
                  <a:pt x="849166" y="8452"/>
                  <a:pt x="849149" y="18964"/>
                </a:cubicBezTo>
                <a:cubicBezTo>
                  <a:pt x="849132" y="29475"/>
                  <a:pt x="840597" y="37983"/>
                  <a:pt x="830085" y="37966"/>
                </a:cubicBezTo>
                <a:cubicBezTo>
                  <a:pt x="819574" y="37949"/>
                  <a:pt x="811065" y="29415"/>
                  <a:pt x="811082" y="18903"/>
                </a:cubicBezTo>
                <a:cubicBezTo>
                  <a:pt x="811076" y="8414"/>
                  <a:pt x="819572" y="-93"/>
                  <a:pt x="830061" y="-100"/>
                </a:cubicBezTo>
                <a:cubicBezTo>
                  <a:pt x="830089" y="-100"/>
                  <a:pt x="830118" y="-100"/>
                  <a:pt x="830146" y="-100"/>
                </a:cubicBezTo>
                <a:close/>
                <a:moveTo>
                  <a:pt x="931615" y="-100"/>
                </a:moveTo>
                <a:cubicBezTo>
                  <a:pt x="942126" y="-117"/>
                  <a:pt x="950661" y="8391"/>
                  <a:pt x="950678" y="18903"/>
                </a:cubicBezTo>
                <a:cubicBezTo>
                  <a:pt x="950695" y="29414"/>
                  <a:pt x="942187" y="37949"/>
                  <a:pt x="931676" y="37966"/>
                </a:cubicBezTo>
                <a:cubicBezTo>
                  <a:pt x="921164" y="37983"/>
                  <a:pt x="912629" y="29475"/>
                  <a:pt x="912612" y="18964"/>
                </a:cubicBezTo>
                <a:cubicBezTo>
                  <a:pt x="912612" y="18944"/>
                  <a:pt x="912612" y="18923"/>
                  <a:pt x="912612" y="18903"/>
                </a:cubicBezTo>
                <a:cubicBezTo>
                  <a:pt x="912612" y="8408"/>
                  <a:pt x="921120" y="-100"/>
                  <a:pt x="931615" y="-100"/>
                </a:cubicBezTo>
                <a:close/>
                <a:moveTo>
                  <a:pt x="830146" y="101369"/>
                </a:moveTo>
                <a:cubicBezTo>
                  <a:pt x="840657" y="101387"/>
                  <a:pt x="849166" y="109921"/>
                  <a:pt x="849149" y="120433"/>
                </a:cubicBezTo>
                <a:cubicBezTo>
                  <a:pt x="849132" y="130944"/>
                  <a:pt x="840597" y="139453"/>
                  <a:pt x="830085" y="139436"/>
                </a:cubicBezTo>
                <a:cubicBezTo>
                  <a:pt x="819598" y="139418"/>
                  <a:pt x="811100" y="130920"/>
                  <a:pt x="811082" y="120433"/>
                </a:cubicBezTo>
                <a:cubicBezTo>
                  <a:pt x="811069" y="109918"/>
                  <a:pt x="819582" y="101383"/>
                  <a:pt x="830097" y="101369"/>
                </a:cubicBezTo>
                <a:cubicBezTo>
                  <a:pt x="830113" y="101369"/>
                  <a:pt x="830130" y="101369"/>
                  <a:pt x="830146" y="101369"/>
                </a:cubicBezTo>
                <a:close/>
                <a:moveTo>
                  <a:pt x="931615" y="101369"/>
                </a:moveTo>
                <a:cubicBezTo>
                  <a:pt x="942126" y="101352"/>
                  <a:pt x="950661" y="109861"/>
                  <a:pt x="950678" y="120372"/>
                </a:cubicBezTo>
                <a:cubicBezTo>
                  <a:pt x="950695" y="130883"/>
                  <a:pt x="942187" y="139418"/>
                  <a:pt x="931676" y="139436"/>
                </a:cubicBezTo>
                <a:cubicBezTo>
                  <a:pt x="921164" y="139453"/>
                  <a:pt x="912629" y="130944"/>
                  <a:pt x="912612" y="120433"/>
                </a:cubicBezTo>
                <a:cubicBezTo>
                  <a:pt x="912605" y="109925"/>
                  <a:pt x="921107" y="101396"/>
                  <a:pt x="931615" y="101369"/>
                </a:cubicBezTo>
                <a:close/>
                <a:moveTo>
                  <a:pt x="830146" y="202900"/>
                </a:moveTo>
                <a:cubicBezTo>
                  <a:pt x="840657" y="202917"/>
                  <a:pt x="849166" y="211451"/>
                  <a:pt x="849149" y="221963"/>
                </a:cubicBezTo>
                <a:cubicBezTo>
                  <a:pt x="849132" y="232475"/>
                  <a:pt x="840597" y="240983"/>
                  <a:pt x="830085" y="240966"/>
                </a:cubicBezTo>
                <a:cubicBezTo>
                  <a:pt x="819574" y="240949"/>
                  <a:pt x="811065" y="232414"/>
                  <a:pt x="811082" y="221902"/>
                </a:cubicBezTo>
                <a:cubicBezTo>
                  <a:pt x="811096" y="211394"/>
                  <a:pt x="819626" y="202886"/>
                  <a:pt x="830134" y="202900"/>
                </a:cubicBezTo>
                <a:cubicBezTo>
                  <a:pt x="830138" y="202900"/>
                  <a:pt x="830142" y="202900"/>
                  <a:pt x="830146" y="202900"/>
                </a:cubicBezTo>
                <a:close/>
                <a:moveTo>
                  <a:pt x="931615" y="202900"/>
                </a:moveTo>
                <a:cubicBezTo>
                  <a:pt x="942126" y="202883"/>
                  <a:pt x="950661" y="211391"/>
                  <a:pt x="950678" y="221902"/>
                </a:cubicBezTo>
                <a:cubicBezTo>
                  <a:pt x="950695" y="232414"/>
                  <a:pt x="942187" y="240949"/>
                  <a:pt x="931676" y="240966"/>
                </a:cubicBezTo>
                <a:cubicBezTo>
                  <a:pt x="921164" y="240983"/>
                  <a:pt x="912629" y="232475"/>
                  <a:pt x="912612" y="221963"/>
                </a:cubicBezTo>
                <a:cubicBezTo>
                  <a:pt x="912612" y="221943"/>
                  <a:pt x="912612" y="221922"/>
                  <a:pt x="912612" y="221902"/>
                </a:cubicBezTo>
                <a:cubicBezTo>
                  <a:pt x="912632" y="211416"/>
                  <a:pt x="921128" y="202920"/>
                  <a:pt x="931615" y="202900"/>
                </a:cubicBezTo>
                <a:close/>
              </a:path>
            </a:pathLst>
          </a:custGeom>
          <a:solidFill>
            <a:srgbClr val="7ADCFF"/>
          </a:solidFill>
          <a:ln w="6088" cap="flat">
            <a:noFill/>
            <a:prstDash val="solid"/>
            <a:miter/>
          </a:ln>
        </p:spPr>
        <p:txBody>
          <a:bodyPr rtlCol="0" anchor="ctr"/>
          <a:p>
            <a:endParaRPr lang="zh-CN" altLang="en-US">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7" name="矩形 6"/>
          <p:cNvSpPr/>
          <p:nvPr userDrawn="1"/>
        </p:nvSpPr>
        <p:spPr>
          <a:xfrm>
            <a:off x="0" y="0"/>
            <a:ext cx="12191365" cy="6858635"/>
          </a:xfrm>
          <a:prstGeom prst="rect">
            <a:avLst/>
          </a:prstGeom>
          <a:solidFill>
            <a:srgbClr val="2258D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椭圆 7"/>
          <p:cNvSpPr/>
          <p:nvPr userDrawn="1"/>
        </p:nvSpPr>
        <p:spPr>
          <a:xfrm>
            <a:off x="8582025" y="3263265"/>
            <a:ext cx="3070225" cy="3070225"/>
          </a:xfrm>
          <a:prstGeom prst="ellipse">
            <a:avLst/>
          </a:prstGeom>
          <a:gradFill>
            <a:gsLst>
              <a:gs pos="0">
                <a:srgbClr val="2258DA">
                  <a:alpha val="40000"/>
                </a:srgbClr>
              </a:gs>
              <a:gs pos="100000">
                <a:srgbClr val="082276">
                  <a:alpha val="30000"/>
                </a:srgbClr>
              </a:gs>
            </a:gsLst>
            <a:lin ang="4500000" scaled="0"/>
          </a:gradFill>
          <a:ln>
            <a:noFill/>
          </a:ln>
          <a:effectLst>
            <a:glow rad="127000">
              <a:schemeClr val="accent1">
                <a:satMod val="175000"/>
                <a:alpha val="5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任意多边形 9"/>
          <p:cNvSpPr/>
          <p:nvPr userDrawn="1"/>
        </p:nvSpPr>
        <p:spPr>
          <a:xfrm>
            <a:off x="4661535" y="0"/>
            <a:ext cx="5234305" cy="34290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8243" h="5400">
                <a:moveTo>
                  <a:pt x="202" y="0"/>
                </a:moveTo>
                <a:lnTo>
                  <a:pt x="8041" y="0"/>
                </a:lnTo>
                <a:lnTo>
                  <a:pt x="8042" y="5"/>
                </a:lnTo>
                <a:cubicBezTo>
                  <a:pt x="8173" y="406"/>
                  <a:pt x="8243" y="834"/>
                  <a:pt x="8243" y="1279"/>
                </a:cubicBezTo>
                <a:cubicBezTo>
                  <a:pt x="8243" y="3555"/>
                  <a:pt x="6398" y="5400"/>
                  <a:pt x="4122" y="5400"/>
                </a:cubicBezTo>
                <a:cubicBezTo>
                  <a:pt x="1845" y="5400"/>
                  <a:pt x="0" y="3555"/>
                  <a:pt x="0" y="1279"/>
                </a:cubicBezTo>
                <a:cubicBezTo>
                  <a:pt x="0" y="834"/>
                  <a:pt x="70" y="406"/>
                  <a:pt x="201" y="5"/>
                </a:cubicBezTo>
                <a:lnTo>
                  <a:pt x="202" y="0"/>
                </a:lnTo>
                <a:close/>
              </a:path>
            </a:pathLst>
          </a:custGeom>
          <a:solidFill>
            <a:srgbClr val="3E6FE7">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任意多边形 17"/>
          <p:cNvSpPr/>
          <p:nvPr userDrawn="1"/>
        </p:nvSpPr>
        <p:spPr>
          <a:xfrm>
            <a:off x="0" y="4153535"/>
            <a:ext cx="2595880" cy="26924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088" h="4240">
                <a:moveTo>
                  <a:pt x="611" y="0"/>
                </a:moveTo>
                <a:cubicBezTo>
                  <a:pt x="2531" y="0"/>
                  <a:pt x="4088" y="1557"/>
                  <a:pt x="4088" y="3478"/>
                </a:cubicBezTo>
                <a:cubicBezTo>
                  <a:pt x="4088" y="3733"/>
                  <a:pt x="4061" y="3981"/>
                  <a:pt x="4008" y="4221"/>
                </a:cubicBezTo>
                <a:lnTo>
                  <a:pt x="4004" y="4240"/>
                </a:lnTo>
                <a:lnTo>
                  <a:pt x="0" y="4240"/>
                </a:lnTo>
                <a:lnTo>
                  <a:pt x="0" y="53"/>
                </a:lnTo>
                <a:lnTo>
                  <a:pt x="38" y="47"/>
                </a:lnTo>
                <a:cubicBezTo>
                  <a:pt x="224" y="16"/>
                  <a:pt x="415" y="0"/>
                  <a:pt x="611" y="0"/>
                </a:cubicBezTo>
                <a:close/>
              </a:path>
            </a:pathLst>
          </a:custGeom>
          <a:gradFill>
            <a:gsLst>
              <a:gs pos="0">
                <a:srgbClr val="0F41E2">
                  <a:alpha val="20000"/>
                </a:srgbClr>
              </a:gs>
              <a:gs pos="100000">
                <a:srgbClr val="082276">
                  <a:alpha val="30000"/>
                </a:srgbClr>
              </a:gs>
            </a:gsLst>
            <a:lin ang="4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9" name="椭圆 18"/>
          <p:cNvSpPr/>
          <p:nvPr userDrawn="1"/>
        </p:nvSpPr>
        <p:spPr>
          <a:xfrm>
            <a:off x="3407410" y="4940300"/>
            <a:ext cx="1419225" cy="1419225"/>
          </a:xfrm>
          <a:prstGeom prst="ellipse">
            <a:avLst/>
          </a:prstGeom>
          <a:solidFill>
            <a:srgbClr val="0F41E2">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任意多边形 19"/>
          <p:cNvSpPr/>
          <p:nvPr userDrawn="1"/>
        </p:nvSpPr>
        <p:spPr>
          <a:xfrm>
            <a:off x="4151630" y="5157470"/>
            <a:ext cx="3070225" cy="168846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835" h="2659">
                <a:moveTo>
                  <a:pt x="2418" y="0"/>
                </a:moveTo>
                <a:cubicBezTo>
                  <a:pt x="3753" y="0"/>
                  <a:pt x="4835" y="1082"/>
                  <a:pt x="4835" y="2418"/>
                </a:cubicBezTo>
                <a:cubicBezTo>
                  <a:pt x="4835" y="2491"/>
                  <a:pt x="4832" y="2563"/>
                  <a:pt x="4825" y="2634"/>
                </a:cubicBezTo>
                <a:lnTo>
                  <a:pt x="4823" y="2659"/>
                </a:lnTo>
                <a:lnTo>
                  <a:pt x="12" y="2659"/>
                </a:lnTo>
                <a:lnTo>
                  <a:pt x="10" y="2634"/>
                </a:lnTo>
                <a:cubicBezTo>
                  <a:pt x="3" y="2563"/>
                  <a:pt x="0" y="2491"/>
                  <a:pt x="0" y="2418"/>
                </a:cubicBezTo>
                <a:cubicBezTo>
                  <a:pt x="0" y="1082"/>
                  <a:pt x="1082" y="0"/>
                  <a:pt x="2418" y="0"/>
                </a:cubicBezTo>
                <a:close/>
              </a:path>
            </a:pathLst>
          </a:custGeom>
          <a:gradFill>
            <a:gsLst>
              <a:gs pos="0">
                <a:srgbClr val="0F41E2">
                  <a:alpha val="40000"/>
                </a:srgbClr>
              </a:gs>
              <a:gs pos="100000">
                <a:srgbClr val="082276">
                  <a:alpha val="60000"/>
                </a:srgbClr>
              </a:gs>
            </a:gsLst>
            <a:lin ang="4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21" name="椭圆 20"/>
          <p:cNvSpPr/>
          <p:nvPr userDrawn="1"/>
        </p:nvSpPr>
        <p:spPr>
          <a:xfrm>
            <a:off x="10560685" y="641350"/>
            <a:ext cx="1191895" cy="1191895"/>
          </a:xfrm>
          <a:prstGeom prst="ellipse">
            <a:avLst/>
          </a:prstGeom>
          <a:solidFill>
            <a:srgbClr val="0F41E2">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椭圆 21"/>
          <p:cNvSpPr/>
          <p:nvPr userDrawn="1"/>
        </p:nvSpPr>
        <p:spPr>
          <a:xfrm>
            <a:off x="5898515" y="1094105"/>
            <a:ext cx="5217160" cy="5217160"/>
          </a:xfrm>
          <a:prstGeom prst="ellipse">
            <a:avLst/>
          </a:prstGeom>
          <a:solidFill>
            <a:srgbClr val="0F41E2">
              <a:alpha val="1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任意多边形 24"/>
          <p:cNvSpPr/>
          <p:nvPr userDrawn="1"/>
        </p:nvSpPr>
        <p:spPr>
          <a:xfrm>
            <a:off x="3296920" y="0"/>
            <a:ext cx="2444115" cy="163449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849" h="2574">
                <a:moveTo>
                  <a:pt x="112" y="0"/>
                </a:moveTo>
                <a:lnTo>
                  <a:pt x="3737" y="0"/>
                </a:lnTo>
                <a:lnTo>
                  <a:pt x="3748" y="32"/>
                </a:lnTo>
                <a:cubicBezTo>
                  <a:pt x="3813" y="226"/>
                  <a:pt x="3849" y="434"/>
                  <a:pt x="3849" y="650"/>
                </a:cubicBezTo>
                <a:cubicBezTo>
                  <a:pt x="3849" y="1712"/>
                  <a:pt x="2987" y="2574"/>
                  <a:pt x="1925" y="2574"/>
                </a:cubicBezTo>
                <a:cubicBezTo>
                  <a:pt x="862" y="2574"/>
                  <a:pt x="0" y="1712"/>
                  <a:pt x="0" y="650"/>
                </a:cubicBezTo>
                <a:cubicBezTo>
                  <a:pt x="0" y="434"/>
                  <a:pt x="36" y="226"/>
                  <a:pt x="101" y="32"/>
                </a:cubicBezTo>
                <a:lnTo>
                  <a:pt x="112" y="0"/>
                </a:lnTo>
                <a:close/>
              </a:path>
            </a:pathLst>
          </a:custGeom>
          <a:gradFill>
            <a:gsLst>
              <a:gs pos="0">
                <a:srgbClr val="0F41E2">
                  <a:alpha val="20000"/>
                </a:srgbClr>
              </a:gs>
              <a:gs pos="100000">
                <a:srgbClr val="082276">
                  <a:alpha val="40000"/>
                </a:srgbClr>
              </a:gs>
            </a:gsLst>
            <a:lin ang="4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pic>
        <p:nvPicPr>
          <p:cNvPr id="26" name="图片 25"/>
          <p:cNvPicPr>
            <a:picLocks noChangeAspect="1"/>
          </p:cNvPicPr>
          <p:nvPr userDrawn="1"/>
        </p:nvPicPr>
        <p:blipFill>
          <a:blip r:embed="rId2"/>
          <a:stretch>
            <a:fillRect/>
          </a:stretch>
        </p:blipFill>
        <p:spPr>
          <a:xfrm>
            <a:off x="6400800" y="1108075"/>
            <a:ext cx="5251450" cy="525145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22" name="图片 21" descr="花瓣素材_背景系列白色棉质纺织品背景_193881787"/>
          <p:cNvPicPr>
            <a:picLocks noChangeAspect="1"/>
          </p:cNvPicPr>
          <p:nvPr userDrawn="1"/>
        </p:nvPicPr>
        <p:blipFill>
          <a:blip r:embed="rId2">
            <a:alphaModFix amt="40000"/>
          </a:blip>
          <a:srcRect t="33241" b="35116"/>
          <a:stretch>
            <a:fillRect/>
          </a:stretch>
        </p:blipFill>
        <p:spPr>
          <a:xfrm>
            <a:off x="1270" y="0"/>
            <a:ext cx="12190730" cy="6858000"/>
          </a:xfrm>
          <a:prstGeom prst="rect">
            <a:avLst/>
          </a:prstGeom>
        </p:spPr>
      </p:pic>
      <p:sp>
        <p:nvSpPr>
          <p:cNvPr id="21" name="矩形 20"/>
          <p:cNvSpPr/>
          <p:nvPr userDrawn="1"/>
        </p:nvSpPr>
        <p:spPr>
          <a:xfrm>
            <a:off x="635" y="6563360"/>
            <a:ext cx="12191365" cy="294640"/>
          </a:xfrm>
          <a:prstGeom prst="rect">
            <a:avLst/>
          </a:prstGeom>
          <a:gradFill>
            <a:gsLst>
              <a:gs pos="0">
                <a:srgbClr val="04CF99">
                  <a:alpha val="100000"/>
                </a:srgbClr>
              </a:gs>
              <a:gs pos="93000">
                <a:srgbClr val="2135EB">
                  <a:alpha val="80000"/>
                </a:srgbClr>
              </a:gs>
            </a:gsLst>
            <a:lin ang="36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 name="矩形 5"/>
          <p:cNvSpPr/>
          <p:nvPr userDrawn="1"/>
        </p:nvSpPr>
        <p:spPr>
          <a:xfrm>
            <a:off x="0" y="0"/>
            <a:ext cx="12191365" cy="6858000"/>
          </a:xfrm>
          <a:prstGeom prst="rect">
            <a:avLst/>
          </a:prstGeom>
          <a:gradFill>
            <a:gsLst>
              <a:gs pos="0">
                <a:schemeClr val="bg1">
                  <a:alpha val="0"/>
                </a:schemeClr>
              </a:gs>
              <a:gs pos="100000">
                <a:srgbClr val="9BD0FA">
                  <a:alpha val="30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22" name="图片 21" descr="花瓣素材_背景系列白色棉质纺织品背景_193881787"/>
          <p:cNvPicPr>
            <a:picLocks noChangeAspect="1"/>
          </p:cNvPicPr>
          <p:nvPr userDrawn="1"/>
        </p:nvPicPr>
        <p:blipFill>
          <a:blip r:embed="rId2">
            <a:alphaModFix amt="40000"/>
          </a:blip>
          <a:srcRect t="33241" b="35116"/>
          <a:stretch>
            <a:fillRect/>
          </a:stretch>
        </p:blipFill>
        <p:spPr>
          <a:xfrm>
            <a:off x="1270" y="0"/>
            <a:ext cx="12190730" cy="6858000"/>
          </a:xfrm>
          <a:prstGeom prst="rect">
            <a:avLst/>
          </a:prstGeom>
        </p:spPr>
      </p:pic>
      <p:sp>
        <p:nvSpPr>
          <p:cNvPr id="6" name="矩形 5"/>
          <p:cNvSpPr/>
          <p:nvPr userDrawn="1"/>
        </p:nvSpPr>
        <p:spPr>
          <a:xfrm>
            <a:off x="0" y="0"/>
            <a:ext cx="12191365" cy="6858000"/>
          </a:xfrm>
          <a:prstGeom prst="rect">
            <a:avLst/>
          </a:prstGeom>
          <a:gradFill>
            <a:gsLst>
              <a:gs pos="0">
                <a:schemeClr val="bg1">
                  <a:alpha val="0"/>
                </a:schemeClr>
              </a:gs>
              <a:gs pos="100000">
                <a:srgbClr val="9BD0FA">
                  <a:alpha val="30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7" name="矩形 6"/>
          <p:cNvSpPr/>
          <p:nvPr userDrawn="1"/>
        </p:nvSpPr>
        <p:spPr>
          <a:xfrm>
            <a:off x="0" y="0"/>
            <a:ext cx="12192635" cy="6858000"/>
          </a:xfrm>
          <a:prstGeom prst="rect">
            <a:avLst/>
          </a:prstGeom>
          <a:gradFill>
            <a:gsLst>
              <a:gs pos="0">
                <a:srgbClr val="D7E8FE"/>
              </a:gs>
              <a:gs pos="100000">
                <a:srgbClr val="FAFCFF"/>
              </a:gs>
            </a:gsLst>
            <a:lin ang="43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8" name="矩形 7"/>
          <p:cNvSpPr/>
          <p:nvPr userDrawn="1"/>
        </p:nvSpPr>
        <p:spPr>
          <a:xfrm>
            <a:off x="0" y="0"/>
            <a:ext cx="12192635" cy="6858000"/>
          </a:xfrm>
          <a:prstGeom prst="rect">
            <a:avLst/>
          </a:prstGeom>
          <a:gradFill>
            <a:gsLst>
              <a:gs pos="0">
                <a:srgbClr val="D7E8FE"/>
              </a:gs>
              <a:gs pos="100000">
                <a:srgbClr val="FAFCFF"/>
              </a:gs>
            </a:gsLst>
            <a:lin ang="43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userDrawn="1"/>
        </p:nvPicPr>
        <p:blipFill>
          <a:blip r:embed="rId2"/>
          <a:srcRect l="19773" t="11209" r="19689" b="8690"/>
          <a:stretch>
            <a:fillRect/>
          </a:stretch>
        </p:blipFill>
        <p:spPr>
          <a:xfrm>
            <a:off x="6228080" y="334645"/>
            <a:ext cx="4578350" cy="6057900"/>
          </a:xfrm>
          <a:prstGeom prst="rect">
            <a:avLst/>
          </a:prstGeom>
        </p:spPr>
      </p:pic>
      <p:sp>
        <p:nvSpPr>
          <p:cNvPr id="7" name="任意多边形 6"/>
          <p:cNvSpPr/>
          <p:nvPr userDrawn="1"/>
        </p:nvSpPr>
        <p:spPr>
          <a:xfrm>
            <a:off x="0" y="0"/>
            <a:ext cx="12192635" cy="6858635"/>
          </a:xfrm>
          <a:custGeom>
            <a:avLst/>
            <a:gdLst/>
            <a:ahLst/>
            <a:cxnLst>
              <a:cxn ang="3">
                <a:pos x="hc" y="t"/>
              </a:cxn>
              <a:cxn ang="cd2">
                <a:pos x="l" y="vc"/>
              </a:cxn>
              <a:cxn ang="cd4">
                <a:pos x="hc" y="b"/>
              </a:cxn>
              <a:cxn ang="0">
                <a:pos x="r" y="vc"/>
              </a:cxn>
            </a:cxnLst>
            <a:rect l="l" t="t" r="r" b="b"/>
            <a:pathLst>
              <a:path w="19201" h="10801">
                <a:moveTo>
                  <a:pt x="1524" y="396"/>
                </a:moveTo>
                <a:cubicBezTo>
                  <a:pt x="912" y="396"/>
                  <a:pt x="416" y="892"/>
                  <a:pt x="416" y="1504"/>
                </a:cubicBezTo>
                <a:lnTo>
                  <a:pt x="416" y="9298"/>
                </a:lnTo>
                <a:cubicBezTo>
                  <a:pt x="416" y="9909"/>
                  <a:pt x="912" y="10406"/>
                  <a:pt x="1524" y="10406"/>
                </a:cubicBezTo>
                <a:lnTo>
                  <a:pt x="17677" y="10406"/>
                </a:lnTo>
                <a:cubicBezTo>
                  <a:pt x="18289" y="10406"/>
                  <a:pt x="18785" y="9909"/>
                  <a:pt x="18785" y="9298"/>
                </a:cubicBezTo>
                <a:lnTo>
                  <a:pt x="18785" y="1504"/>
                </a:lnTo>
                <a:cubicBezTo>
                  <a:pt x="18785" y="892"/>
                  <a:pt x="18289" y="396"/>
                  <a:pt x="17677" y="396"/>
                </a:cubicBezTo>
                <a:lnTo>
                  <a:pt x="1524" y="396"/>
                </a:lnTo>
                <a:close/>
                <a:moveTo>
                  <a:pt x="0" y="0"/>
                </a:moveTo>
                <a:lnTo>
                  <a:pt x="19201" y="0"/>
                </a:lnTo>
                <a:lnTo>
                  <a:pt x="19201" y="10801"/>
                </a:lnTo>
                <a:lnTo>
                  <a:pt x="0" y="10801"/>
                </a:lnTo>
                <a:lnTo>
                  <a:pt x="0" y="0"/>
                </a:lnTo>
                <a:close/>
              </a:path>
            </a:pathLst>
          </a:cu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7" name="矩形 6"/>
          <p:cNvSpPr/>
          <p:nvPr userDrawn="1"/>
        </p:nvSpPr>
        <p:spPr>
          <a:xfrm>
            <a:off x="0" y="0"/>
            <a:ext cx="12192635" cy="6858000"/>
          </a:xfrm>
          <a:prstGeom prst="rect">
            <a:avLst/>
          </a:prstGeom>
          <a:gradFill>
            <a:gsLst>
              <a:gs pos="0">
                <a:srgbClr val="D7E8FE"/>
              </a:gs>
              <a:gs pos="100000">
                <a:srgbClr val="FAFCFF"/>
              </a:gs>
            </a:gsLst>
            <a:lin ang="43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descr="横版logo"/>
          <p:cNvPicPr>
            <a:picLocks noChangeAspect="1"/>
          </p:cNvPicPr>
          <p:nvPr userDrawn="1"/>
        </p:nvPicPr>
        <p:blipFill>
          <a:blip r:embed="rId2"/>
          <a:stretch>
            <a:fillRect/>
          </a:stretch>
        </p:blipFill>
        <p:spPr>
          <a:xfrm>
            <a:off x="10494645" y="236855"/>
            <a:ext cx="1342390" cy="34036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3" name="图片 12" descr="摄图网_501683815_数字键盘特写(非企业商用)"/>
          <p:cNvPicPr>
            <a:picLocks noChangeAspect="1"/>
          </p:cNvPicPr>
          <p:nvPr userDrawn="1"/>
        </p:nvPicPr>
        <p:blipFill>
          <a:blip r:embed="rId2">
            <a:lum bright="36000" contrast="-24000"/>
          </a:blip>
          <a:srcRect/>
          <a:stretch>
            <a:fillRect/>
          </a:stretch>
        </p:blipFill>
        <p:spPr>
          <a:xfrm>
            <a:off x="0" y="0"/>
            <a:ext cx="12192635" cy="6858000"/>
          </a:xfrm>
          <a:prstGeom prst="rect">
            <a:avLst/>
          </a:prstGeom>
        </p:spPr>
      </p:pic>
      <p:sp>
        <p:nvSpPr>
          <p:cNvPr id="11" name="矩形 10"/>
          <p:cNvSpPr/>
          <p:nvPr userDrawn="1"/>
        </p:nvSpPr>
        <p:spPr>
          <a:xfrm>
            <a:off x="0" y="635"/>
            <a:ext cx="12191365" cy="6858000"/>
          </a:xfrm>
          <a:prstGeom prst="rect">
            <a:avLst/>
          </a:prstGeom>
          <a:solidFill>
            <a:schemeClr val="tx1">
              <a:alpha val="8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图片 9" descr="摄图网_500444067_科技程序(非企业商用)"/>
          <p:cNvPicPr>
            <a:picLocks noChangeAspect="1"/>
          </p:cNvPicPr>
          <p:nvPr userDrawn="1"/>
        </p:nvPicPr>
        <p:blipFill>
          <a:blip r:embed="rId2"/>
          <a:srcRect t="7813" b="7805"/>
          <a:stretch>
            <a:fillRect/>
          </a:stretch>
        </p:blipFill>
        <p:spPr>
          <a:xfrm>
            <a:off x="1270" y="0"/>
            <a:ext cx="12190730" cy="6858000"/>
          </a:xfrm>
          <a:prstGeom prst="rect">
            <a:avLst/>
          </a:prstGeom>
        </p:spPr>
      </p:pic>
      <p:sp>
        <p:nvSpPr>
          <p:cNvPr id="11" name="矩形 10"/>
          <p:cNvSpPr/>
          <p:nvPr userDrawn="1"/>
        </p:nvSpPr>
        <p:spPr>
          <a:xfrm>
            <a:off x="0" y="635"/>
            <a:ext cx="12191365" cy="6858000"/>
          </a:xfrm>
          <a:prstGeom prst="rect">
            <a:avLst/>
          </a:prstGeom>
          <a:solidFill>
            <a:schemeClr val="tx1">
              <a:alpha val="69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 name="矩形 9"/>
          <p:cNvSpPr/>
          <p:nvPr userDrawn="1"/>
        </p:nvSpPr>
        <p:spPr>
          <a:xfrm>
            <a:off x="0" y="0"/>
            <a:ext cx="12191365" cy="6858000"/>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4" name="矩形 3"/>
          <p:cNvSpPr/>
          <p:nvPr userDrawn="1"/>
        </p:nvSpPr>
        <p:spPr>
          <a:xfrm>
            <a:off x="635" y="1743710"/>
            <a:ext cx="12190730" cy="5114925"/>
          </a:xfrm>
          <a:prstGeom prst="rect">
            <a:avLst/>
          </a:prstGeom>
          <a:gradFill>
            <a:gsLst>
              <a:gs pos="41000">
                <a:srgbClr val="1347B1">
                  <a:alpha val="0"/>
                </a:srgbClr>
              </a:gs>
              <a:gs pos="100000">
                <a:srgbClr val="1347B1">
                  <a:alpha val="53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rgbClr val="48AAC2"/>
                  </a:gs>
                  <a:gs pos="57000">
                    <a:srgbClr val="5BB0C9">
                      <a:alpha val="48000"/>
                    </a:srgbClr>
                  </a:gs>
                  <a:gs pos="85000">
                    <a:srgbClr val="6EB5CF">
                      <a:alpha val="0"/>
                    </a:srgbClr>
                  </a:gs>
                </a:gsLst>
                <a:lin ang="5400000" scaled="0"/>
              </a:gradFill>
              <a:cs typeface="微软雅黑" panose="020B0503020204020204" charset="-122"/>
            </a:endParaRPr>
          </a:p>
        </p:txBody>
      </p:sp>
      <p:pic>
        <p:nvPicPr>
          <p:cNvPr id="2" name="图片 1" descr="摄图网_401071946_抽象几何线条数(非企业商用)"/>
          <p:cNvPicPr>
            <a:picLocks noChangeAspect="1"/>
          </p:cNvPicPr>
          <p:nvPr userDrawn="1"/>
        </p:nvPicPr>
        <p:blipFill>
          <a:blip r:embed="rId2">
            <a:alphaModFix amt="40000"/>
          </a:blip>
          <a:srcRect b="32037"/>
          <a:stretch>
            <a:fillRect/>
          </a:stretch>
        </p:blipFill>
        <p:spPr>
          <a:xfrm>
            <a:off x="1270" y="1432560"/>
            <a:ext cx="12230735" cy="5425440"/>
          </a:xfrm>
          <a:prstGeom prst="rect">
            <a:avLst/>
          </a:prstGeom>
        </p:spPr>
      </p:pic>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0" name="矩形 9"/>
          <p:cNvSpPr/>
          <p:nvPr userDrawn="1"/>
        </p:nvSpPr>
        <p:spPr>
          <a:xfrm>
            <a:off x="0" y="0"/>
            <a:ext cx="12191365" cy="6858000"/>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6" name="矩形 5"/>
          <p:cNvSpPr/>
          <p:nvPr userDrawn="1"/>
        </p:nvSpPr>
        <p:spPr>
          <a:xfrm>
            <a:off x="635" y="635"/>
            <a:ext cx="12190730" cy="6858000"/>
          </a:xfrm>
          <a:prstGeom prst="rect">
            <a:avLst/>
          </a:prstGeom>
          <a:gradFill>
            <a:gsLst>
              <a:gs pos="41000">
                <a:srgbClr val="1347B1">
                  <a:alpha val="0"/>
                </a:srgbClr>
              </a:gs>
              <a:gs pos="100000">
                <a:srgbClr val="1347B1">
                  <a:alpha val="53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rgbClr val="48AAC2"/>
                  </a:gs>
                  <a:gs pos="57000">
                    <a:srgbClr val="5BB0C9">
                      <a:alpha val="48000"/>
                    </a:srgbClr>
                  </a:gs>
                  <a:gs pos="85000">
                    <a:srgbClr val="6EB5CF">
                      <a:alpha val="0"/>
                    </a:srgbClr>
                  </a:gs>
                </a:gsLst>
                <a:lin ang="5400000" scaled="0"/>
              </a:gradFill>
              <a:cs typeface="微软雅黑" panose="020B0503020204020204" charset="-122"/>
            </a:endParaRPr>
          </a:p>
        </p:txBody>
      </p:sp>
      <p:pic>
        <p:nvPicPr>
          <p:cNvPr id="3" name="图片 2" descr="全彩版"/>
          <p:cNvPicPr>
            <a:picLocks noChangeAspect="1"/>
          </p:cNvPicPr>
          <p:nvPr userDrawn="1"/>
        </p:nvPicPr>
        <p:blipFill>
          <a:blip r:embed="rId2"/>
          <a:stretch>
            <a:fillRect/>
          </a:stretch>
        </p:blipFill>
        <p:spPr>
          <a:xfrm>
            <a:off x="10339070" y="217805"/>
            <a:ext cx="1607820" cy="40703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tags" Target="../tags/tag26.xml"/><Relationship Id="rId21" Type="http://schemas.openxmlformats.org/officeDocument/2006/relationships/tags" Target="../tags/tag25.xml"/><Relationship Id="rId20" Type="http://schemas.openxmlformats.org/officeDocument/2006/relationships/tags" Target="../tags/tag24.xml"/><Relationship Id="rId2" Type="http://schemas.openxmlformats.org/officeDocument/2006/relationships/slideLayout" Target="../slideLayouts/slideLayout2.xml"/><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mj-ea"/>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7.xml"/><Relationship Id="rId1" Type="http://schemas.openxmlformats.org/officeDocument/2006/relationships/image" Target="../media/image1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8.xml"/></Relationships>
</file>

<file path=ppt/slides/_rels/slide4.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svg"/><Relationship Id="rId7" Type="http://schemas.openxmlformats.org/officeDocument/2006/relationships/image" Target="../media/image18.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13.png"/><Relationship Id="rId18" Type="http://schemas.openxmlformats.org/officeDocument/2006/relationships/slideLayout" Target="../slideLayouts/slideLayout7.xml"/><Relationship Id="rId17" Type="http://schemas.openxmlformats.org/officeDocument/2006/relationships/tags" Target="../tags/tag29.xml"/><Relationship Id="rId16" Type="http://schemas.openxmlformats.org/officeDocument/2006/relationships/image" Target="../media/image27.svg"/><Relationship Id="rId15" Type="http://schemas.openxmlformats.org/officeDocument/2006/relationships/image" Target="../media/image26.png"/><Relationship Id="rId14" Type="http://schemas.openxmlformats.org/officeDocument/2006/relationships/image" Target="../media/image25.svg"/><Relationship Id="rId13" Type="http://schemas.openxmlformats.org/officeDocument/2006/relationships/image" Target="../media/image24.png"/><Relationship Id="rId12" Type="http://schemas.openxmlformats.org/officeDocument/2006/relationships/image" Target="../media/image23.svg"/><Relationship Id="rId11" Type="http://schemas.openxmlformats.org/officeDocument/2006/relationships/image" Target="../media/image22.png"/><Relationship Id="rId10" Type="http://schemas.openxmlformats.org/officeDocument/2006/relationships/image" Target="../media/image21.svg"/><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xml"/><Relationship Id="rId1"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38.xml"/><Relationship Id="rId4" Type="http://schemas.openxmlformats.org/officeDocument/2006/relationships/image" Target="../media/image32.svg"/><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0.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41.xml"/><Relationship Id="rId7" Type="http://schemas.openxmlformats.org/officeDocument/2006/relationships/image" Target="../media/image39.svg"/><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image" Target="../media/image33.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3.xml"/><Relationship Id="rId1" Type="http://schemas.openxmlformats.org/officeDocument/2006/relationships/image" Target="../media/image40.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44.xml"/><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image" Target="../media/image41.png"/></Relationships>
</file>

<file path=ppt/slides/_rels/slide14.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image" Target="../media/image51.svg"/><Relationship Id="rId7" Type="http://schemas.openxmlformats.org/officeDocument/2006/relationships/image" Target="../media/image50.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 Id="rId3" Type="http://schemas.openxmlformats.org/officeDocument/2006/relationships/image" Target="../media/image46.png"/><Relationship Id="rId2" Type="http://schemas.openxmlformats.org/officeDocument/2006/relationships/image" Target="../media/image45.png"/><Relationship Id="rId10" Type="http://schemas.openxmlformats.org/officeDocument/2006/relationships/slideLayout" Target="../slideLayouts/slideLayout12.xml"/><Relationship Id="rId1" Type="http://schemas.openxmlformats.org/officeDocument/2006/relationships/image" Target="../media/image44.jpeg"/></Relationships>
</file>

<file path=ppt/slides/_rels/slide15.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28.png"/><Relationship Id="rId7" Type="http://schemas.openxmlformats.org/officeDocument/2006/relationships/image" Target="../media/image58.jpeg"/><Relationship Id="rId6" Type="http://schemas.openxmlformats.org/officeDocument/2006/relationships/image" Target="../media/image57.jpeg"/><Relationship Id="rId50" Type="http://schemas.openxmlformats.org/officeDocument/2006/relationships/slideLayout" Target="../slideLayouts/slideLayout5.xml"/><Relationship Id="rId5" Type="http://schemas.openxmlformats.org/officeDocument/2006/relationships/image" Target="../media/image56.jpeg"/><Relationship Id="rId49" Type="http://schemas.openxmlformats.org/officeDocument/2006/relationships/tags" Target="../tags/tag46.xml"/><Relationship Id="rId48" Type="http://schemas.openxmlformats.org/officeDocument/2006/relationships/image" Target="../media/image98.jpeg"/><Relationship Id="rId47" Type="http://schemas.openxmlformats.org/officeDocument/2006/relationships/image" Target="../media/image97.jpeg"/><Relationship Id="rId46" Type="http://schemas.openxmlformats.org/officeDocument/2006/relationships/image" Target="../media/image96.png"/><Relationship Id="rId45" Type="http://schemas.openxmlformats.org/officeDocument/2006/relationships/image" Target="../media/image95.png"/><Relationship Id="rId44" Type="http://schemas.openxmlformats.org/officeDocument/2006/relationships/image" Target="../media/image94.png"/><Relationship Id="rId43" Type="http://schemas.openxmlformats.org/officeDocument/2006/relationships/image" Target="../media/image93.jpeg"/><Relationship Id="rId42" Type="http://schemas.openxmlformats.org/officeDocument/2006/relationships/image" Target="../media/image92.jpeg"/><Relationship Id="rId41" Type="http://schemas.openxmlformats.org/officeDocument/2006/relationships/image" Target="../media/image91.png"/><Relationship Id="rId40" Type="http://schemas.openxmlformats.org/officeDocument/2006/relationships/image" Target="../media/image90.png"/><Relationship Id="rId4" Type="http://schemas.openxmlformats.org/officeDocument/2006/relationships/image" Target="../media/image55.png"/><Relationship Id="rId39" Type="http://schemas.openxmlformats.org/officeDocument/2006/relationships/image" Target="../media/image89.png"/><Relationship Id="rId38" Type="http://schemas.openxmlformats.org/officeDocument/2006/relationships/image" Target="../media/image88.png"/><Relationship Id="rId37" Type="http://schemas.openxmlformats.org/officeDocument/2006/relationships/image" Target="../media/image87.png"/><Relationship Id="rId36" Type="http://schemas.openxmlformats.org/officeDocument/2006/relationships/image" Target="../media/image86.png"/><Relationship Id="rId35" Type="http://schemas.openxmlformats.org/officeDocument/2006/relationships/image" Target="../media/image85.png"/><Relationship Id="rId34" Type="http://schemas.openxmlformats.org/officeDocument/2006/relationships/image" Target="../media/image84.png"/><Relationship Id="rId33" Type="http://schemas.openxmlformats.org/officeDocument/2006/relationships/image" Target="../media/image83.png"/><Relationship Id="rId32" Type="http://schemas.openxmlformats.org/officeDocument/2006/relationships/image" Target="../media/image82.png"/><Relationship Id="rId31" Type="http://schemas.openxmlformats.org/officeDocument/2006/relationships/image" Target="../media/image81.png"/><Relationship Id="rId30" Type="http://schemas.openxmlformats.org/officeDocument/2006/relationships/image" Target="../media/image80.png"/><Relationship Id="rId3" Type="http://schemas.openxmlformats.org/officeDocument/2006/relationships/image" Target="../media/image54.png"/><Relationship Id="rId29" Type="http://schemas.openxmlformats.org/officeDocument/2006/relationships/image" Target="../media/image79.png"/><Relationship Id="rId28" Type="http://schemas.openxmlformats.org/officeDocument/2006/relationships/image" Target="../media/image78.png"/><Relationship Id="rId27" Type="http://schemas.openxmlformats.org/officeDocument/2006/relationships/image" Target="../media/image77.png"/><Relationship Id="rId26" Type="http://schemas.openxmlformats.org/officeDocument/2006/relationships/image" Target="../media/image76.png"/><Relationship Id="rId25" Type="http://schemas.openxmlformats.org/officeDocument/2006/relationships/image" Target="../media/image75.png"/><Relationship Id="rId24" Type="http://schemas.openxmlformats.org/officeDocument/2006/relationships/image" Target="../media/image74.png"/><Relationship Id="rId23" Type="http://schemas.openxmlformats.org/officeDocument/2006/relationships/image" Target="../media/image73.jpeg"/><Relationship Id="rId22" Type="http://schemas.openxmlformats.org/officeDocument/2006/relationships/image" Target="../media/image72.png"/><Relationship Id="rId21" Type="http://schemas.openxmlformats.org/officeDocument/2006/relationships/image" Target="../media/image71.png"/><Relationship Id="rId20" Type="http://schemas.openxmlformats.org/officeDocument/2006/relationships/image" Target="../media/image70.png"/><Relationship Id="rId2" Type="http://schemas.openxmlformats.org/officeDocument/2006/relationships/image" Target="../media/image53.png"/><Relationship Id="rId19" Type="http://schemas.openxmlformats.org/officeDocument/2006/relationships/image" Target="../media/image69.jpeg"/><Relationship Id="rId18" Type="http://schemas.openxmlformats.org/officeDocument/2006/relationships/image" Target="../media/image68.png"/><Relationship Id="rId17" Type="http://schemas.openxmlformats.org/officeDocument/2006/relationships/image" Target="../media/image67.png"/><Relationship Id="rId16" Type="http://schemas.openxmlformats.org/officeDocument/2006/relationships/image" Target="../media/image66.jpeg"/><Relationship Id="rId15" Type="http://schemas.openxmlformats.org/officeDocument/2006/relationships/image" Target="../media/image65.png"/><Relationship Id="rId14" Type="http://schemas.openxmlformats.org/officeDocument/2006/relationships/image" Target="../media/image64.jpeg"/><Relationship Id="rId13" Type="http://schemas.openxmlformats.org/officeDocument/2006/relationships/image" Target="../media/image63.png"/><Relationship Id="rId12" Type="http://schemas.openxmlformats.org/officeDocument/2006/relationships/image" Target="../media/image62.png"/><Relationship Id="rId11" Type="http://schemas.openxmlformats.org/officeDocument/2006/relationships/image" Target="../media/image61.png"/><Relationship Id="rId10" Type="http://schemas.openxmlformats.org/officeDocument/2006/relationships/image" Target="../media/image60.png"/><Relationship Id="rId1" Type="http://schemas.openxmlformats.org/officeDocument/2006/relationships/image" Target="../media/image52.png"/></Relationships>
</file>

<file path=ppt/slides/_rels/slide16.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image" Target="../media/image103.png"/><Relationship Id="rId7" Type="http://schemas.openxmlformats.org/officeDocument/2006/relationships/tags" Target="../tags/tag49.xml"/><Relationship Id="rId6" Type="http://schemas.openxmlformats.org/officeDocument/2006/relationships/image" Target="../media/image102.png"/><Relationship Id="rId5" Type="http://schemas.openxmlformats.org/officeDocument/2006/relationships/tags" Target="../tags/tag48.xml"/><Relationship Id="rId4" Type="http://schemas.openxmlformats.org/officeDocument/2006/relationships/image" Target="../media/image101.png"/><Relationship Id="rId3" Type="http://schemas.openxmlformats.org/officeDocument/2006/relationships/image" Target="../media/image100.png"/><Relationship Id="rId2" Type="http://schemas.openxmlformats.org/officeDocument/2006/relationships/tags" Target="../tags/tag47.xml"/><Relationship Id="rId15" Type="http://schemas.openxmlformats.org/officeDocument/2006/relationships/slideLayout" Target="../slideLayouts/slideLayout5.xml"/><Relationship Id="rId14" Type="http://schemas.openxmlformats.org/officeDocument/2006/relationships/tags" Target="../tags/tag53.xml"/><Relationship Id="rId13" Type="http://schemas.openxmlformats.org/officeDocument/2006/relationships/image" Target="../media/image105.jpeg"/><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image" Target="../media/image104.png"/><Relationship Id="rId1" Type="http://schemas.openxmlformats.org/officeDocument/2006/relationships/image" Target="../media/image99.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4.xml"/><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image" Target="../media/image106.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5.xml"/><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image" Target="../media/image10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6.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image" Target="../media/image112.png"/></Relationships>
</file>

<file path=ppt/slides/_rels/slide21.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image" Target="../media/image120.svg"/><Relationship Id="rId7" Type="http://schemas.openxmlformats.org/officeDocument/2006/relationships/image" Target="../media/image119.png"/><Relationship Id="rId6" Type="http://schemas.openxmlformats.org/officeDocument/2006/relationships/image" Target="../media/image118.svg"/><Relationship Id="rId5" Type="http://schemas.openxmlformats.org/officeDocument/2006/relationships/image" Target="../media/image117.png"/><Relationship Id="rId4" Type="http://schemas.openxmlformats.org/officeDocument/2006/relationships/image" Target="../media/image116.svg"/><Relationship Id="rId3" Type="http://schemas.openxmlformats.org/officeDocument/2006/relationships/image" Target="../media/image115.png"/><Relationship Id="rId2" Type="http://schemas.openxmlformats.org/officeDocument/2006/relationships/image" Target="../media/image114.svg"/><Relationship Id="rId10" Type="http://schemas.openxmlformats.org/officeDocument/2006/relationships/slideLayout" Target="../slideLayouts/slideLayout7.xml"/><Relationship Id="rId1" Type="http://schemas.openxmlformats.org/officeDocument/2006/relationships/image" Target="../media/image113.png"/></Relationships>
</file>

<file path=ppt/slides/_rels/slide22.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image" Target="../media/image123.svg"/><Relationship Id="rId7" Type="http://schemas.openxmlformats.org/officeDocument/2006/relationships/image" Target="../media/image122.png"/><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4" Type="http://schemas.openxmlformats.org/officeDocument/2006/relationships/slideLayout" Target="../slideLayouts/slideLayout7.xml"/><Relationship Id="rId23" Type="http://schemas.openxmlformats.org/officeDocument/2006/relationships/tags" Target="../tags/tag75.xml"/><Relationship Id="rId22" Type="http://schemas.openxmlformats.org/officeDocument/2006/relationships/image" Target="../media/image129.png"/><Relationship Id="rId21" Type="http://schemas.openxmlformats.org/officeDocument/2006/relationships/image" Target="../media/image128.png"/><Relationship Id="rId20" Type="http://schemas.openxmlformats.org/officeDocument/2006/relationships/tags" Target="../tags/tag74.xml"/><Relationship Id="rId2" Type="http://schemas.openxmlformats.org/officeDocument/2006/relationships/tags" Target="../tags/tag62.xml"/><Relationship Id="rId19" Type="http://schemas.openxmlformats.org/officeDocument/2006/relationships/tags" Target="../tags/tag73.xml"/><Relationship Id="rId18" Type="http://schemas.openxmlformats.org/officeDocument/2006/relationships/tags" Target="../tags/tag72.xml"/><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image" Target="../media/image127.svg"/><Relationship Id="rId13" Type="http://schemas.openxmlformats.org/officeDocument/2006/relationships/image" Target="../media/image126.png"/><Relationship Id="rId12" Type="http://schemas.openxmlformats.org/officeDocument/2006/relationships/tags" Target="../tags/tag68.xml"/><Relationship Id="rId11" Type="http://schemas.openxmlformats.org/officeDocument/2006/relationships/image" Target="../media/image125.svg"/><Relationship Id="rId10" Type="http://schemas.openxmlformats.org/officeDocument/2006/relationships/image" Target="../media/image124.png"/><Relationship Id="rId1" Type="http://schemas.openxmlformats.org/officeDocument/2006/relationships/image" Target="../media/image121.jpeg"/></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76.xml"/><Relationship Id="rId6" Type="http://schemas.openxmlformats.org/officeDocument/2006/relationships/image" Target="../media/image133.svg"/><Relationship Id="rId5" Type="http://schemas.openxmlformats.org/officeDocument/2006/relationships/image" Target="../media/image132.png"/><Relationship Id="rId4" Type="http://schemas.openxmlformats.org/officeDocument/2006/relationships/image" Target="../media/image131.svg"/><Relationship Id="rId3" Type="http://schemas.openxmlformats.org/officeDocument/2006/relationships/image" Target="../media/image130.png"/><Relationship Id="rId2" Type="http://schemas.openxmlformats.org/officeDocument/2006/relationships/image" Target="../media/image114.svg"/><Relationship Id="rId1" Type="http://schemas.openxmlformats.org/officeDocument/2006/relationships/image" Target="../media/image113.png"/></Relationships>
</file>

<file path=ppt/slides/_rels/slide24.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image" Target="../media/image129.png"/><Relationship Id="rId7" Type="http://schemas.openxmlformats.org/officeDocument/2006/relationships/image" Target="../media/image140.svg"/><Relationship Id="rId6" Type="http://schemas.openxmlformats.org/officeDocument/2006/relationships/image" Target="../media/image139.png"/><Relationship Id="rId5" Type="http://schemas.openxmlformats.org/officeDocument/2006/relationships/image" Target="../media/image138.svg"/><Relationship Id="rId4" Type="http://schemas.openxmlformats.org/officeDocument/2006/relationships/image" Target="../media/image137.png"/><Relationship Id="rId3" Type="http://schemas.openxmlformats.org/officeDocument/2006/relationships/image" Target="../media/image136.svg"/><Relationship Id="rId2" Type="http://schemas.openxmlformats.org/officeDocument/2006/relationships/image" Target="../media/image135.png"/><Relationship Id="rId10" Type="http://schemas.openxmlformats.org/officeDocument/2006/relationships/slideLayout" Target="../slideLayouts/slideLayout7.xml"/><Relationship Id="rId1" Type="http://schemas.openxmlformats.org/officeDocument/2006/relationships/image" Target="../media/image134.jpeg"/></Relationships>
</file>

<file path=ppt/slides/_rels/slide25.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image" Target="../media/image146.svg"/><Relationship Id="rId7" Type="http://schemas.openxmlformats.org/officeDocument/2006/relationships/image" Target="../media/image145.png"/><Relationship Id="rId6" Type="http://schemas.openxmlformats.org/officeDocument/2006/relationships/image" Target="../media/image144.svg"/><Relationship Id="rId5" Type="http://schemas.openxmlformats.org/officeDocument/2006/relationships/image" Target="../media/image143.png"/><Relationship Id="rId4" Type="http://schemas.openxmlformats.org/officeDocument/2006/relationships/image" Target="../media/image142.svg"/><Relationship Id="rId3" Type="http://schemas.openxmlformats.org/officeDocument/2006/relationships/image" Target="../media/image141.png"/><Relationship Id="rId2" Type="http://schemas.openxmlformats.org/officeDocument/2006/relationships/image" Target="../media/image114.svg"/><Relationship Id="rId10" Type="http://schemas.openxmlformats.org/officeDocument/2006/relationships/slideLayout" Target="../slideLayouts/slideLayout7.xml"/><Relationship Id="rId1" Type="http://schemas.openxmlformats.org/officeDocument/2006/relationships/image" Target="../media/image113.png"/></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79.xml"/><Relationship Id="rId6" Type="http://schemas.openxmlformats.org/officeDocument/2006/relationships/image" Target="../media/image129.png"/><Relationship Id="rId5" Type="http://schemas.openxmlformats.org/officeDocument/2006/relationships/image" Target="../media/image151.svg"/><Relationship Id="rId4" Type="http://schemas.openxmlformats.org/officeDocument/2006/relationships/image" Target="../media/image150.svg"/><Relationship Id="rId3" Type="http://schemas.openxmlformats.org/officeDocument/2006/relationships/image" Target="../media/image149.svg"/><Relationship Id="rId2" Type="http://schemas.openxmlformats.org/officeDocument/2006/relationships/image" Target="../media/image148.png"/><Relationship Id="rId1" Type="http://schemas.openxmlformats.org/officeDocument/2006/relationships/image" Target="../media/image147.jpeg"/></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80.xml"/><Relationship Id="rId6" Type="http://schemas.openxmlformats.org/officeDocument/2006/relationships/image" Target="../media/image155.svg"/><Relationship Id="rId5" Type="http://schemas.openxmlformats.org/officeDocument/2006/relationships/image" Target="../media/image154.png"/><Relationship Id="rId4" Type="http://schemas.openxmlformats.org/officeDocument/2006/relationships/image" Target="../media/image153.svg"/><Relationship Id="rId3" Type="http://schemas.openxmlformats.org/officeDocument/2006/relationships/image" Target="../media/image152.png"/><Relationship Id="rId2" Type="http://schemas.openxmlformats.org/officeDocument/2006/relationships/image" Target="../media/image114.svg"/><Relationship Id="rId1" Type="http://schemas.openxmlformats.org/officeDocument/2006/relationships/image" Target="../media/image113.png"/></Relationships>
</file>

<file path=ppt/slides/_rels/slide28.xml.rels><?xml version="1.0" encoding="UTF-8" standalone="yes"?>
<Relationships xmlns="http://schemas.openxmlformats.org/package/2006/relationships"><Relationship Id="rId9" Type="http://schemas.openxmlformats.org/officeDocument/2006/relationships/image" Target="../media/image129.png"/><Relationship Id="rId8" Type="http://schemas.openxmlformats.org/officeDocument/2006/relationships/image" Target="../media/image163.svg"/><Relationship Id="rId7" Type="http://schemas.openxmlformats.org/officeDocument/2006/relationships/image" Target="../media/image162.svg"/><Relationship Id="rId6" Type="http://schemas.openxmlformats.org/officeDocument/2006/relationships/image" Target="../media/image161.svg"/><Relationship Id="rId5" Type="http://schemas.openxmlformats.org/officeDocument/2006/relationships/image" Target="../media/image160.png"/><Relationship Id="rId4" Type="http://schemas.openxmlformats.org/officeDocument/2006/relationships/image" Target="../media/image159.svg"/><Relationship Id="rId3" Type="http://schemas.openxmlformats.org/officeDocument/2006/relationships/image" Target="../media/image158.png"/><Relationship Id="rId2" Type="http://schemas.openxmlformats.org/officeDocument/2006/relationships/image" Target="../media/image157.jpeg"/><Relationship Id="rId11" Type="http://schemas.openxmlformats.org/officeDocument/2006/relationships/slideLayout" Target="../slideLayouts/slideLayout7.xml"/><Relationship Id="rId10" Type="http://schemas.openxmlformats.org/officeDocument/2006/relationships/tags" Target="../tags/tag81.xml"/><Relationship Id="rId1" Type="http://schemas.openxmlformats.org/officeDocument/2006/relationships/image" Target="../media/image156.jpeg"/></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82.xml"/><Relationship Id="rId6" Type="http://schemas.openxmlformats.org/officeDocument/2006/relationships/image" Target="../media/image167.svg"/><Relationship Id="rId5" Type="http://schemas.openxmlformats.org/officeDocument/2006/relationships/image" Target="../media/image166.png"/><Relationship Id="rId4" Type="http://schemas.openxmlformats.org/officeDocument/2006/relationships/image" Target="../media/image165.svg"/><Relationship Id="rId3" Type="http://schemas.openxmlformats.org/officeDocument/2006/relationships/image" Target="../media/image164.png"/><Relationship Id="rId2" Type="http://schemas.openxmlformats.org/officeDocument/2006/relationships/image" Target="../media/image114.svg"/><Relationship Id="rId1" Type="http://schemas.openxmlformats.org/officeDocument/2006/relationships/image" Target="../media/image113.png"/></Relationships>
</file>

<file path=ppt/slides/_rels/slide3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83.xml"/><Relationship Id="rId5" Type="http://schemas.openxmlformats.org/officeDocument/2006/relationships/image" Target="../media/image129.png"/><Relationship Id="rId4" Type="http://schemas.openxmlformats.org/officeDocument/2006/relationships/image" Target="../media/image171.png"/><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image" Target="../media/image168.jpe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84.xml"/><Relationship Id="rId7" Type="http://schemas.openxmlformats.org/officeDocument/2006/relationships/image" Target="../media/image176.svg"/><Relationship Id="rId6" Type="http://schemas.openxmlformats.org/officeDocument/2006/relationships/image" Target="../media/image175.png"/><Relationship Id="rId5" Type="http://schemas.openxmlformats.org/officeDocument/2006/relationships/image" Target="../media/image174.svg"/><Relationship Id="rId4" Type="http://schemas.openxmlformats.org/officeDocument/2006/relationships/image" Target="../media/image173.png"/><Relationship Id="rId3" Type="http://schemas.openxmlformats.org/officeDocument/2006/relationships/image" Target="../media/image114.svg"/><Relationship Id="rId2" Type="http://schemas.openxmlformats.org/officeDocument/2006/relationships/image" Target="../media/image113.png"/><Relationship Id="rId1" Type="http://schemas.openxmlformats.org/officeDocument/2006/relationships/image" Target="../media/image172.png"/></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85.xml"/><Relationship Id="rId5" Type="http://schemas.openxmlformats.org/officeDocument/2006/relationships/image" Target="../media/image129.png"/><Relationship Id="rId4" Type="http://schemas.openxmlformats.org/officeDocument/2006/relationships/image" Target="../media/image180.jpeg"/><Relationship Id="rId3" Type="http://schemas.openxmlformats.org/officeDocument/2006/relationships/image" Target="../media/image179.jpeg"/><Relationship Id="rId2" Type="http://schemas.openxmlformats.org/officeDocument/2006/relationships/image" Target="../media/image178.jpeg"/><Relationship Id="rId1" Type="http://schemas.openxmlformats.org/officeDocument/2006/relationships/image" Target="../media/image177.jpeg"/></Relationships>
</file>

<file path=ppt/slides/_rels/slide33.xml.rels><?xml version="1.0" encoding="UTF-8" standalone="yes"?>
<Relationships xmlns="http://schemas.openxmlformats.org/package/2006/relationships"><Relationship Id="rId9" Type="http://schemas.openxmlformats.org/officeDocument/2006/relationships/image" Target="../media/image187.png"/><Relationship Id="rId8" Type="http://schemas.openxmlformats.org/officeDocument/2006/relationships/image" Target="../media/image186.svg"/><Relationship Id="rId7" Type="http://schemas.openxmlformats.org/officeDocument/2006/relationships/image" Target="../media/image185.png"/><Relationship Id="rId6" Type="http://schemas.openxmlformats.org/officeDocument/2006/relationships/image" Target="../media/image184.svg"/><Relationship Id="rId5" Type="http://schemas.openxmlformats.org/officeDocument/2006/relationships/image" Target="../media/image183.png"/><Relationship Id="rId4" Type="http://schemas.openxmlformats.org/officeDocument/2006/relationships/image" Target="../media/image182.jpeg"/><Relationship Id="rId3" Type="http://schemas.openxmlformats.org/officeDocument/2006/relationships/image" Target="../media/image181.png"/><Relationship Id="rId2" Type="http://schemas.openxmlformats.org/officeDocument/2006/relationships/image" Target="../media/image114.svg"/><Relationship Id="rId12" Type="http://schemas.openxmlformats.org/officeDocument/2006/relationships/slideLayout" Target="../slideLayouts/slideLayout7.xml"/><Relationship Id="rId11" Type="http://schemas.openxmlformats.org/officeDocument/2006/relationships/tags" Target="../tags/tag86.xml"/><Relationship Id="rId10" Type="http://schemas.openxmlformats.org/officeDocument/2006/relationships/image" Target="../media/image188.svg"/><Relationship Id="rId1" Type="http://schemas.openxmlformats.org/officeDocument/2006/relationships/image" Target="../media/image113.png"/></Relationships>
</file>

<file path=ppt/slides/_rels/slide34.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image" Target="../media/image129.png"/><Relationship Id="rId7" Type="http://schemas.openxmlformats.org/officeDocument/2006/relationships/image" Target="../media/image195.svg"/><Relationship Id="rId6" Type="http://schemas.openxmlformats.org/officeDocument/2006/relationships/image" Target="../media/image194.png"/><Relationship Id="rId5" Type="http://schemas.openxmlformats.org/officeDocument/2006/relationships/image" Target="../media/image193.svg"/><Relationship Id="rId4" Type="http://schemas.openxmlformats.org/officeDocument/2006/relationships/image" Target="../media/image192.png"/><Relationship Id="rId3" Type="http://schemas.openxmlformats.org/officeDocument/2006/relationships/image" Target="../media/image191.svg"/><Relationship Id="rId2" Type="http://schemas.openxmlformats.org/officeDocument/2006/relationships/image" Target="../media/image190.png"/><Relationship Id="rId10" Type="http://schemas.openxmlformats.org/officeDocument/2006/relationships/slideLayout" Target="../slideLayouts/slideLayout7.xml"/><Relationship Id="rId1" Type="http://schemas.openxmlformats.org/officeDocument/2006/relationships/image" Target="../media/image189.jpeg"/></Relationships>
</file>

<file path=ppt/slides/_rels/slide35.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image" Target="../media/image201.svg"/><Relationship Id="rId7" Type="http://schemas.openxmlformats.org/officeDocument/2006/relationships/image" Target="../media/image200.png"/><Relationship Id="rId6" Type="http://schemas.openxmlformats.org/officeDocument/2006/relationships/image" Target="../media/image199.svg"/><Relationship Id="rId5" Type="http://schemas.openxmlformats.org/officeDocument/2006/relationships/image" Target="../media/image198.png"/><Relationship Id="rId4" Type="http://schemas.openxmlformats.org/officeDocument/2006/relationships/image" Target="../media/image197.svg"/><Relationship Id="rId3" Type="http://schemas.openxmlformats.org/officeDocument/2006/relationships/image" Target="../media/image196.png"/><Relationship Id="rId2" Type="http://schemas.openxmlformats.org/officeDocument/2006/relationships/image" Target="../media/image114.svg"/><Relationship Id="rId10" Type="http://schemas.openxmlformats.org/officeDocument/2006/relationships/slideLayout" Target="../slideLayouts/slideLayout7.xml"/><Relationship Id="rId1" Type="http://schemas.openxmlformats.org/officeDocument/2006/relationships/image" Target="../media/image113.png"/></Relationships>
</file>

<file path=ppt/slides/_rels/slide36.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image" Target="../media/image129.png"/><Relationship Id="rId7" Type="http://schemas.openxmlformats.org/officeDocument/2006/relationships/image" Target="../media/image208.svg"/><Relationship Id="rId6" Type="http://schemas.openxmlformats.org/officeDocument/2006/relationships/image" Target="../media/image207.png"/><Relationship Id="rId5" Type="http://schemas.openxmlformats.org/officeDocument/2006/relationships/image" Target="../media/image206.svg"/><Relationship Id="rId4" Type="http://schemas.openxmlformats.org/officeDocument/2006/relationships/image" Target="../media/image205.png"/><Relationship Id="rId3" Type="http://schemas.openxmlformats.org/officeDocument/2006/relationships/image" Target="../media/image204.svg"/><Relationship Id="rId2" Type="http://schemas.openxmlformats.org/officeDocument/2006/relationships/image" Target="../media/image203.png"/><Relationship Id="rId10" Type="http://schemas.openxmlformats.org/officeDocument/2006/relationships/slideLayout" Target="../slideLayouts/slideLayout7.xml"/><Relationship Id="rId1" Type="http://schemas.openxmlformats.org/officeDocument/2006/relationships/image" Target="../media/image202.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90.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8" name="圆角矩形 17"/>
          <p:cNvSpPr/>
          <p:nvPr/>
        </p:nvSpPr>
        <p:spPr>
          <a:xfrm>
            <a:off x="1428115" y="4736465"/>
            <a:ext cx="3300095" cy="502285"/>
          </a:xfrm>
          <a:prstGeom prst="roundRect">
            <a:avLst>
              <a:gd name="adj" fmla="val 50000"/>
            </a:avLst>
          </a:prstGeom>
          <a:solidFill>
            <a:srgbClr val="15BAB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lnSpc>
                <a:spcPct val="100000"/>
              </a:lnSpc>
            </a:pPr>
            <a:r>
              <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rPr>
              <a:t>企业上云一站式解决方案</a:t>
            </a:r>
            <a:endPar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9" name="文本框 18"/>
          <p:cNvSpPr txBox="1"/>
          <p:nvPr/>
        </p:nvSpPr>
        <p:spPr>
          <a:xfrm>
            <a:off x="1039495" y="1473200"/>
            <a:ext cx="9814560" cy="1445260"/>
          </a:xfrm>
          <a:prstGeom prst="rect">
            <a:avLst/>
          </a:prstGeom>
          <a:noFill/>
        </p:spPr>
        <p:txBody>
          <a:bodyPr wrap="square" rtlCol="0">
            <a:spAutoFit/>
          </a:bodyPr>
          <a:p>
            <a:r>
              <a:rPr lang="en-US" altLang="zh-CN" sz="8800" b="1">
                <a:gradFill>
                  <a:gsLst>
                    <a:gs pos="0">
                      <a:schemeClr val="bg1">
                        <a:alpha val="10000"/>
                      </a:schemeClr>
                    </a:gs>
                    <a:gs pos="91000">
                      <a:schemeClr val="bg1">
                        <a:alpha val="0"/>
                      </a:schemeClr>
                    </a:gs>
                  </a:gsLst>
                  <a:lin ang="5400000" scaled="0"/>
                </a:gradFill>
              </a:rPr>
              <a:t>CLOUD SERVICE</a:t>
            </a:r>
            <a:endParaRPr lang="en-US" altLang="zh-CN" sz="8800" b="1">
              <a:gradFill>
                <a:gsLst>
                  <a:gs pos="0">
                    <a:schemeClr val="bg1">
                      <a:alpha val="10000"/>
                    </a:schemeClr>
                  </a:gs>
                  <a:gs pos="91000">
                    <a:schemeClr val="bg1">
                      <a:alpha val="0"/>
                    </a:schemeClr>
                  </a:gs>
                </a:gsLst>
                <a:lin ang="5400000" scaled="0"/>
              </a:gradFill>
            </a:endParaRPr>
          </a:p>
        </p:txBody>
      </p:sp>
      <p:sp>
        <p:nvSpPr>
          <p:cNvPr id="20" name="文本框 19"/>
          <p:cNvSpPr txBox="1"/>
          <p:nvPr/>
        </p:nvSpPr>
        <p:spPr>
          <a:xfrm>
            <a:off x="1297940" y="2084705"/>
            <a:ext cx="7656195" cy="1445260"/>
          </a:xfrm>
          <a:prstGeom prst="rect">
            <a:avLst/>
          </a:prstGeom>
          <a:noFill/>
        </p:spPr>
        <p:txBody>
          <a:bodyPr wrap="square" rtlCol="0" anchor="t">
            <a:spAutoFit/>
          </a:bodyPr>
          <a:p>
            <a:r>
              <a:rPr lang="zh-CN" altLang="en-US" sz="8800" b="1" dirty="0">
                <a:solidFill>
                  <a:schemeClr val="bg1"/>
                </a:solidFill>
                <a:latin typeface="微软雅黑" panose="020B0503020204020204" charset="-122"/>
                <a:ea typeface="微软雅黑" panose="020B0503020204020204" charset="-122"/>
                <a:cs typeface="微软雅黑 Light" panose="020B0502040204020203" charset="-122"/>
                <a:sym typeface="+mn-ea"/>
              </a:rPr>
              <a:t>云服务介绍</a:t>
            </a:r>
            <a:endParaRPr lang="zh-CN" altLang="en-US" sz="8800" b="1"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30" name="文本框 29"/>
          <p:cNvSpPr txBox="1"/>
          <p:nvPr/>
        </p:nvSpPr>
        <p:spPr>
          <a:xfrm>
            <a:off x="1312545" y="3684270"/>
            <a:ext cx="6500495" cy="398780"/>
          </a:xfrm>
          <a:prstGeom prst="rect">
            <a:avLst/>
          </a:prstGeom>
          <a:noFill/>
        </p:spPr>
        <p:txBody>
          <a:bodyPr wrap="square" rtlCol="0">
            <a:spAutoFit/>
          </a:bodyPr>
          <a:p>
            <a:r>
              <a:rPr lang="zh-CN" altLang="en-US" sz="2000">
                <a:solidFill>
                  <a:schemeClr val="bg1"/>
                </a:solidFill>
                <a:latin typeface="微软雅黑 Light" panose="020B0502040204020203" charset="-122"/>
                <a:ea typeface="微软雅黑 Light" panose="020B0502040204020203" charset="-122"/>
                <a:cs typeface="微软雅黑" panose="020B0503020204020204" charset="-122"/>
              </a:rPr>
              <a:t>端木软件</a:t>
            </a:r>
            <a:r>
              <a:rPr lang="en-US" altLang="zh-CN" sz="2000">
                <a:solidFill>
                  <a:schemeClr val="bg1"/>
                </a:solidFill>
                <a:latin typeface="微软雅黑 Light" panose="020B0502040204020203" charset="-122"/>
                <a:ea typeface="微软雅黑 Light" panose="020B0502040204020203" charset="-122"/>
                <a:cs typeface="微软雅黑" panose="020B0503020204020204" charset="-122"/>
              </a:rPr>
              <a:t>——</a:t>
            </a:r>
            <a:r>
              <a:rPr lang="zh-CN" altLang="en-US" sz="2000">
                <a:solidFill>
                  <a:schemeClr val="bg1"/>
                </a:solidFill>
                <a:latin typeface="微软雅黑 Light" panose="020B0502040204020203" charset="-122"/>
                <a:ea typeface="微软雅黑 Light" panose="020B0502040204020203" charset="-122"/>
                <a:cs typeface="微软雅黑" panose="020B0503020204020204" charset="-122"/>
              </a:rPr>
              <a:t>专业的云计算及行业信息化服务提供商</a:t>
            </a:r>
            <a:endParaRPr lang="zh-CN" altLang="en-US" sz="2000">
              <a:solidFill>
                <a:schemeClr val="bg1"/>
              </a:solidFill>
              <a:latin typeface="微软雅黑 Light" panose="020B0502040204020203" charset="-122"/>
              <a:ea typeface="微软雅黑 Light" panose="020B0502040204020203" charset="-122"/>
              <a:cs typeface="微软雅黑" panose="020B0503020204020204" charset="-122"/>
            </a:endParaRPr>
          </a:p>
        </p:txBody>
      </p:sp>
      <p:pic>
        <p:nvPicPr>
          <p:cNvPr id="2" name="图片 1" descr="反白版"/>
          <p:cNvPicPr>
            <a:picLocks noChangeAspect="1"/>
          </p:cNvPicPr>
          <p:nvPr/>
        </p:nvPicPr>
        <p:blipFill>
          <a:blip r:embed="rId1"/>
          <a:stretch>
            <a:fillRect/>
          </a:stretch>
        </p:blipFill>
        <p:spPr>
          <a:xfrm>
            <a:off x="1365885" y="1066165"/>
            <a:ext cx="2326005" cy="589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c46cfc68b73b2f430e98f3c4063b0677c6fa969024fd6-LhT6Ki_fw1200"/>
          <p:cNvPicPr>
            <a:picLocks noChangeAspect="1"/>
          </p:cNvPicPr>
          <p:nvPr/>
        </p:nvPicPr>
        <p:blipFill>
          <a:blip r:embed="rId1"/>
          <a:srcRect/>
          <a:stretch>
            <a:fillRect/>
          </a:stretch>
        </p:blipFill>
        <p:spPr>
          <a:xfrm>
            <a:off x="0" y="0"/>
            <a:ext cx="12192000" cy="6858000"/>
          </a:xfrm>
          <a:prstGeom prst="rect">
            <a:avLst/>
          </a:prstGeom>
        </p:spPr>
      </p:pic>
      <p:sp>
        <p:nvSpPr>
          <p:cNvPr id="3" name="矩形 2"/>
          <p:cNvSpPr/>
          <p:nvPr/>
        </p:nvSpPr>
        <p:spPr>
          <a:xfrm>
            <a:off x="635" y="0"/>
            <a:ext cx="12191365" cy="6858000"/>
          </a:xfrm>
          <a:prstGeom prst="rect">
            <a:avLst/>
          </a:prstGeom>
          <a:gradFill>
            <a:gsLst>
              <a:gs pos="0">
                <a:srgbClr val="3671F6">
                  <a:alpha val="0"/>
                </a:srgbClr>
              </a:gs>
              <a:gs pos="100000">
                <a:srgbClr val="3671F6"/>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文本框 52"/>
          <p:cNvSpPr txBox="1"/>
          <p:nvPr/>
        </p:nvSpPr>
        <p:spPr>
          <a:xfrm>
            <a:off x="680085" y="766445"/>
            <a:ext cx="5250815" cy="922020"/>
          </a:xfrm>
          <a:prstGeom prst="rect">
            <a:avLst/>
          </a:prstGeom>
          <a:noFill/>
        </p:spPr>
        <p:txBody>
          <a:bodyPr wrap="square" rtlCol="0">
            <a:spAutoFit/>
          </a:bodyPr>
          <a:p>
            <a:r>
              <a:rPr lang="zh-CN" altLang="en-US" sz="5400" b="1">
                <a:solidFill>
                  <a:schemeClr val="bg1"/>
                </a:solidFill>
              </a:rPr>
              <a:t>端木软件</a:t>
            </a:r>
            <a:endParaRPr lang="zh-CN" altLang="en-US" sz="5400" b="1">
              <a:solidFill>
                <a:schemeClr val="bg1"/>
              </a:solidFill>
            </a:endParaRPr>
          </a:p>
        </p:txBody>
      </p:sp>
      <p:sp>
        <p:nvSpPr>
          <p:cNvPr id="94" name="文本框 93"/>
          <p:cNvSpPr txBox="1"/>
          <p:nvPr/>
        </p:nvSpPr>
        <p:spPr>
          <a:xfrm>
            <a:off x="680085" y="1748155"/>
            <a:ext cx="6021070" cy="460375"/>
          </a:xfrm>
          <a:prstGeom prst="rect">
            <a:avLst/>
          </a:prstGeom>
          <a:noFill/>
        </p:spPr>
        <p:txBody>
          <a:bodyPr wrap="square" rtlCol="0">
            <a:spAutoFit/>
          </a:bodyPr>
          <a:p>
            <a:r>
              <a:rPr lang="zh-CN" altLang="en-US" sz="2400">
                <a:solidFill>
                  <a:schemeClr val="bg1"/>
                </a:solidFill>
                <a:latin typeface="微软雅黑 Light" panose="020B0502040204020203" charset="-122"/>
                <a:ea typeface="微软雅黑 Light" panose="020B0502040204020203" charset="-122"/>
                <a:sym typeface="+mn-ea"/>
              </a:rPr>
              <a:t>专业的云计算及行业信息化服务提供商</a:t>
            </a:r>
            <a:endParaRPr lang="zh-CN" altLang="en-US" sz="24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4" name="文本框 13"/>
          <p:cNvSpPr txBox="1"/>
          <p:nvPr/>
        </p:nvSpPr>
        <p:spPr>
          <a:xfrm>
            <a:off x="680085" y="2559050"/>
            <a:ext cx="6496050" cy="1630045"/>
          </a:xfrm>
          <a:prstGeom prst="rect">
            <a:avLst/>
          </a:prstGeom>
          <a:noFill/>
        </p:spPr>
        <p:txBody>
          <a:bodyPr wrap="square" rtlCol="0" anchor="t">
            <a:spAutoFit/>
          </a:bodyPr>
          <a:p>
            <a:pPr indent="0" fontAlgn="auto">
              <a:lnSpc>
                <a:spcPct val="125000"/>
              </a:lnSpc>
              <a:spcBef>
                <a:spcPts val="600"/>
              </a:spcBef>
              <a:spcAft>
                <a:spcPts val="0"/>
              </a:spcAft>
            </a:pPr>
            <a:r>
              <a:rPr lang="zh-CN" altLang="en-US" sz="1600">
                <a:solidFill>
                  <a:schemeClr val="bg1"/>
                </a:solidFill>
                <a:latin typeface="微软雅黑 Light" panose="020B0502040204020203" charset="-122"/>
                <a:ea typeface="微软雅黑 Light" panose="020B0502040204020203" charset="-122"/>
                <a:sym typeface="+mn-ea"/>
              </a:rPr>
              <a:t>端木软件作为一家专业的云计算及行业信息化服务提供商，能够为广大客户提供基于公有云基础设施的多云管理平台，实现计算、存储、网络虚拟化以及容器服务、安全管控等功能，大幅降低数据中心成本、跨云成本和运维成本的同时提高生产效率，融合全球云计算资源，加速企业全球化发展，推动企业数字化转型，提供一站式云服务解决方案。</a:t>
            </a:r>
            <a:endParaRPr lang="zh-CN" altLang="en-US" sz="1600">
              <a:solidFill>
                <a:schemeClr val="bg1"/>
              </a:solidFill>
              <a:latin typeface="微软雅黑 Light" panose="020B0502040204020203" charset="-122"/>
              <a:ea typeface="微软雅黑 Light" panose="020B0502040204020203" charset="-122"/>
              <a:sym typeface="+mn-ea"/>
            </a:endParaRPr>
          </a:p>
        </p:txBody>
      </p:sp>
      <p:sp>
        <p:nvSpPr>
          <p:cNvPr id="5" name="矩形 4"/>
          <p:cNvSpPr/>
          <p:nvPr/>
        </p:nvSpPr>
        <p:spPr>
          <a:xfrm>
            <a:off x="764540" y="4847590"/>
            <a:ext cx="4276725" cy="419735"/>
          </a:xfrm>
          <a:prstGeom prst="rect">
            <a:avLst/>
          </a:prstGeom>
          <a:gradFill>
            <a:gsLst>
              <a:gs pos="0">
                <a:srgbClr val="3671F6">
                  <a:alpha val="0"/>
                </a:srgbClr>
              </a:gs>
              <a:gs pos="100000">
                <a:srgbClr val="1AD6C6"/>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bg1"/>
                </a:solidFill>
                <a:latin typeface="微软雅黑 Light" panose="020B0502040204020203" charset="-122"/>
                <a:ea typeface="微软雅黑 Light" panose="020B0502040204020203" charset="-122"/>
                <a:cs typeface="微软雅黑 Light" panose="020B0502040204020203" charset="-122"/>
                <a:sym typeface="+mn-ea"/>
              </a:rPr>
              <a:t> </a:t>
            </a:r>
            <a:r>
              <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rPr>
              <a:t>以技术为舟，以服务为桨</a:t>
            </a:r>
            <a:endParaRPr lang="zh-CN" altLang="en-US"/>
          </a:p>
        </p:txBody>
      </p:sp>
      <p:sp>
        <p:nvSpPr>
          <p:cNvPr id="7" name="矩形 6"/>
          <p:cNvSpPr/>
          <p:nvPr/>
        </p:nvSpPr>
        <p:spPr>
          <a:xfrm>
            <a:off x="764540" y="5367655"/>
            <a:ext cx="5078095" cy="419735"/>
          </a:xfrm>
          <a:prstGeom prst="rect">
            <a:avLst/>
          </a:prstGeom>
          <a:gradFill>
            <a:gsLst>
              <a:gs pos="0">
                <a:srgbClr val="3671F6">
                  <a:alpha val="0"/>
                </a:srgbClr>
              </a:gs>
              <a:gs pos="100000">
                <a:srgbClr val="1AD6C6"/>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bg1"/>
                </a:solidFill>
                <a:latin typeface="微软雅黑 Light" panose="020B0502040204020203" charset="-122"/>
                <a:ea typeface="微软雅黑 Light" panose="020B0502040204020203" charset="-122"/>
                <a:cs typeface="微软雅黑 Light" panose="020B0502040204020203" charset="-122"/>
                <a:sym typeface="+mn-ea"/>
              </a:rPr>
              <a:t> </a:t>
            </a:r>
            <a:r>
              <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rPr>
              <a:t>护航每一家企业驶向云端未来</a:t>
            </a:r>
            <a:endParaRPr lang="zh-CN" altLang="en-US"/>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6600" y="574675"/>
            <a:ext cx="1464945" cy="368300"/>
          </a:xfrm>
          <a:prstGeom prst="rect">
            <a:avLst/>
          </a:prstGeom>
          <a:noFill/>
        </p:spPr>
        <p:txBody>
          <a:bodyPr wrap="square" rtlCol="0">
            <a:spAutoFit/>
          </a:bodyPr>
          <a:p>
            <a:r>
              <a:rPr lang="en-US" altLang="zh-CN">
                <a:solidFill>
                  <a:srgbClr val="3671F6"/>
                </a:solidFill>
              </a:rPr>
              <a:t>PART ONE</a:t>
            </a:r>
            <a:endParaRPr lang="en-US" altLang="zh-CN">
              <a:solidFill>
                <a:srgbClr val="3671F6"/>
              </a:solidFill>
            </a:endParaRPr>
          </a:p>
        </p:txBody>
      </p:sp>
      <p:sp>
        <p:nvSpPr>
          <p:cNvPr id="5" name="文本框 4"/>
          <p:cNvSpPr txBox="1"/>
          <p:nvPr/>
        </p:nvSpPr>
        <p:spPr>
          <a:xfrm>
            <a:off x="2508250" y="574675"/>
            <a:ext cx="1464945" cy="368300"/>
          </a:xfrm>
          <a:prstGeom prst="rect">
            <a:avLst/>
          </a:prstGeom>
          <a:noFill/>
        </p:spPr>
        <p:txBody>
          <a:bodyPr wrap="square" rtlCol="0">
            <a:spAutoFit/>
          </a:bodyPr>
          <a:p>
            <a:r>
              <a:rPr lang="en-US" altLang="zh-CN">
                <a:latin typeface="微软雅黑 Light" panose="020B0502040204020203" charset="-122"/>
                <a:ea typeface="微软雅黑 Light" panose="020B0502040204020203" charset="-122"/>
              </a:rPr>
              <a:t>PART TWO</a:t>
            </a:r>
            <a:endParaRPr lang="en-US" altLang="zh-CN">
              <a:latin typeface="微软雅黑 Light" panose="020B0502040204020203" charset="-122"/>
              <a:ea typeface="微软雅黑 Light" panose="020B0502040204020203" charset="-122"/>
            </a:endParaRPr>
          </a:p>
        </p:txBody>
      </p:sp>
      <p:sp>
        <p:nvSpPr>
          <p:cNvPr id="6" name="文本框 5"/>
          <p:cNvSpPr txBox="1"/>
          <p:nvPr/>
        </p:nvSpPr>
        <p:spPr>
          <a:xfrm>
            <a:off x="4279900" y="574675"/>
            <a:ext cx="1883410" cy="368300"/>
          </a:xfrm>
          <a:prstGeom prst="rect">
            <a:avLst/>
          </a:prstGeom>
          <a:noFill/>
        </p:spPr>
        <p:txBody>
          <a:bodyPr wrap="square" rtlCol="0">
            <a:spAutoFit/>
          </a:bodyPr>
          <a:p>
            <a:r>
              <a:rPr lang="en-US" altLang="zh-CN">
                <a:latin typeface="微软雅黑 Light" panose="020B0502040204020203" charset="-122"/>
                <a:ea typeface="微软雅黑 Light" panose="020B0502040204020203" charset="-122"/>
              </a:rPr>
              <a:t>PART THREE</a:t>
            </a:r>
            <a:endParaRPr lang="en-US" altLang="zh-CN">
              <a:latin typeface="微软雅黑 Light" panose="020B0502040204020203" charset="-122"/>
              <a:ea typeface="微软雅黑 Light" panose="020B0502040204020203" charset="-122"/>
            </a:endParaRPr>
          </a:p>
        </p:txBody>
      </p:sp>
      <p:sp>
        <p:nvSpPr>
          <p:cNvPr id="8" name="文本框 7"/>
          <p:cNvSpPr txBox="1"/>
          <p:nvPr/>
        </p:nvSpPr>
        <p:spPr>
          <a:xfrm>
            <a:off x="638810" y="3982720"/>
            <a:ext cx="5997575" cy="1322070"/>
          </a:xfrm>
          <a:prstGeom prst="rect">
            <a:avLst/>
          </a:prstGeom>
          <a:noFill/>
        </p:spPr>
        <p:txBody>
          <a:bodyPr wrap="square" rtlCol="0" anchor="t">
            <a:spAutoFit/>
          </a:bodyPr>
          <a:p>
            <a:r>
              <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端木云服务</a:t>
            </a:r>
            <a:endPar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0" name="直接连接符 9"/>
          <p:cNvCxnSpPr/>
          <p:nvPr/>
        </p:nvCxnSpPr>
        <p:spPr>
          <a:xfrm>
            <a:off x="731520" y="5457190"/>
            <a:ext cx="8761730" cy="0"/>
          </a:xfrm>
          <a:prstGeom prst="line">
            <a:avLst/>
          </a:prstGeom>
          <a:ln w="34925">
            <a:gradFill>
              <a:gsLst>
                <a:gs pos="0">
                  <a:srgbClr val="3671F6"/>
                </a:gs>
                <a:gs pos="100000">
                  <a:srgbClr val="15BAB1"/>
                </a:gs>
              </a:gsLst>
              <a:lin ang="0" scaled="1"/>
            </a:gradFill>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656590" y="5671820"/>
            <a:ext cx="6096000" cy="398780"/>
          </a:xfrm>
          <a:prstGeom prst="rect">
            <a:avLst/>
          </a:prstGeom>
          <a:noFill/>
        </p:spPr>
        <p:txBody>
          <a:bodyPr wrap="square" rtlCol="0" anchor="t">
            <a:spAutoFit/>
          </a:bodyPr>
          <a:p>
            <a:pPr algn="l"/>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企业上云一站式解决方案</a:t>
            </a:r>
            <a:endPar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2" name="文本框 11"/>
          <p:cNvSpPr txBox="1"/>
          <p:nvPr/>
        </p:nvSpPr>
        <p:spPr>
          <a:xfrm>
            <a:off x="6009005" y="4764405"/>
            <a:ext cx="3834130" cy="460375"/>
          </a:xfrm>
          <a:prstGeom prst="rect">
            <a:avLst/>
          </a:prstGeom>
          <a:noFill/>
        </p:spPr>
        <p:txBody>
          <a:bodyPr wrap="square" rtlCol="0" anchor="t">
            <a:spAutoFit/>
          </a:bodyPr>
          <a:p>
            <a:pPr algn="dist"/>
            <a:r>
              <a:rPr lang="en-US" altLang="zh-CN" sz="2400">
                <a:solidFill>
                  <a:srgbClr val="3671F6"/>
                </a:solidFill>
                <a:latin typeface="+mj-ea"/>
                <a:ea typeface="+mj-ea"/>
              </a:rPr>
              <a:t>CLOUD SERVICES</a:t>
            </a:r>
            <a:endParaRPr lang="en-US" altLang="zh-CN" sz="2400">
              <a:solidFill>
                <a:srgbClr val="3671F6"/>
              </a:solidFill>
              <a:latin typeface="+mj-ea"/>
              <a:ea typeface="+mj-ea"/>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464629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阿里云重点合作</a:t>
            </a:r>
            <a:r>
              <a:rPr lang="en-US" altLang="zh-CN" sz="2400">
                <a:latin typeface="微软雅黑 Light" panose="020B0502040204020203" charset="-122"/>
                <a:ea typeface="微软雅黑 Light" panose="020B0502040204020203" charset="-122"/>
                <a:cs typeface="微软雅黑 Light" panose="020B0502040204020203" charset="-122"/>
              </a:rPr>
              <a:t> </a:t>
            </a:r>
            <a:r>
              <a:rPr lang="en-US" altLang="zh-CN" sz="1600">
                <a:latin typeface="微软雅黑 Light" panose="020B0502040204020203" charset="-122"/>
                <a:ea typeface="微软雅黑 Light" panose="020B0502040204020203" charset="-122"/>
                <a:cs typeface="微软雅黑 Light" panose="020B0502040204020203" charset="-122"/>
              </a:rPr>
              <a:t>COOPERATION</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4" name="矩形 3"/>
          <p:cNvSpPr/>
          <p:nvPr/>
        </p:nvSpPr>
        <p:spPr>
          <a:xfrm>
            <a:off x="600710" y="3209290"/>
            <a:ext cx="4890135" cy="494665"/>
          </a:xfrm>
          <a:prstGeom prst="rect">
            <a:avLst/>
          </a:prstGeom>
          <a:solidFill>
            <a:srgbClr val="D1DFFC">
              <a:alpha val="50000"/>
            </a:srgbClr>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179705" indent="0" algn="l" fontAlgn="auto">
              <a:buFont typeface="微软雅黑" panose="020B0503020204020204" charset="-122"/>
              <a:buNone/>
            </a:pPr>
            <a:r>
              <a:rPr lang="zh-CN" altLang="en-US">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阿里云官方合作伙伴，全系云产品深度合作</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5" name="矩形 4"/>
          <p:cNvSpPr/>
          <p:nvPr/>
        </p:nvSpPr>
        <p:spPr>
          <a:xfrm>
            <a:off x="600710" y="3925570"/>
            <a:ext cx="4890135" cy="490855"/>
          </a:xfrm>
          <a:prstGeom prst="rect">
            <a:avLst/>
          </a:prstGeom>
          <a:solidFill>
            <a:srgbClr val="D1DFFC">
              <a:alpha val="50000"/>
            </a:srgbClr>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179705" indent="0" algn="l" fontAlgn="auto">
              <a:buNone/>
            </a:pPr>
            <a:r>
              <a:rPr 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阿里云</a:t>
            </a:r>
            <a:r>
              <a:rPr lang="en-US" alt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FY24</a:t>
            </a:r>
            <a:r>
              <a:rPr lang="zh-CN" altLang="en-US">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财年销售业绩</a:t>
            </a:r>
            <a:r>
              <a:rPr lang="en-US" altLang="zh-CN" b="1">
                <a:solidFill>
                  <a:schemeClr val="tx1">
                    <a:lumMod val="85000"/>
                    <a:lumOff val="15000"/>
                  </a:schemeClr>
                </a:solidFill>
                <a:latin typeface="+mj-ea"/>
                <a:ea typeface="+mj-ea"/>
                <a:cs typeface="+mj-ea"/>
                <a:sym typeface="+mn-ea"/>
              </a:rPr>
              <a:t>1.62</a:t>
            </a:r>
            <a:r>
              <a:rPr lang="zh-CN" altLang="en-US" b="1">
                <a:solidFill>
                  <a:schemeClr val="tx1">
                    <a:lumMod val="85000"/>
                    <a:lumOff val="15000"/>
                  </a:schemeClr>
                </a:solidFill>
                <a:latin typeface="+mj-ea"/>
                <a:ea typeface="+mj-ea"/>
                <a:cs typeface="+mj-ea"/>
                <a:sym typeface="+mn-ea"/>
              </a:rPr>
              <a:t>亿</a:t>
            </a:r>
            <a:r>
              <a:rPr lang="en-US" altLang="zh-CN" b="1">
                <a:solidFill>
                  <a:schemeClr val="tx1">
                    <a:lumMod val="85000"/>
                    <a:lumOff val="15000"/>
                  </a:schemeClr>
                </a:solidFill>
                <a:latin typeface="+mj-ea"/>
                <a:ea typeface="+mj-ea"/>
                <a:cs typeface="+mj-ea"/>
                <a:sym typeface="+mn-ea"/>
              </a:rPr>
              <a:t>+</a:t>
            </a:r>
            <a:endParaRPr lang="en-US" altLang="zh-CN" b="1">
              <a:solidFill>
                <a:schemeClr val="tx1">
                  <a:lumMod val="85000"/>
                  <a:lumOff val="15000"/>
                </a:schemeClr>
              </a:solidFill>
              <a:latin typeface="+mj-ea"/>
              <a:ea typeface="+mj-ea"/>
              <a:cs typeface="+mj-ea"/>
              <a:sym typeface="+mn-ea"/>
            </a:endParaRPr>
          </a:p>
        </p:txBody>
      </p:sp>
      <p:sp>
        <p:nvSpPr>
          <p:cNvPr id="6" name="矩形 5"/>
          <p:cNvSpPr/>
          <p:nvPr/>
        </p:nvSpPr>
        <p:spPr>
          <a:xfrm>
            <a:off x="610235" y="4603750"/>
            <a:ext cx="4890135" cy="892175"/>
          </a:xfrm>
          <a:prstGeom prst="rect">
            <a:avLst/>
          </a:prstGeom>
          <a:solidFill>
            <a:srgbClr val="D1DFFC">
              <a:alpha val="50000"/>
            </a:srgbClr>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179705" indent="0" algn="l" fontAlgn="auto">
              <a:buNone/>
            </a:pPr>
            <a:r>
              <a:rPr 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阿里云</a:t>
            </a:r>
            <a:r>
              <a:rPr lang="en-US" alt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FY25</a:t>
            </a:r>
            <a:r>
              <a:rPr lang="zh-CN" altLang="en-US">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财年双</a:t>
            </a:r>
            <a:r>
              <a:rPr lang="en-US" alt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11</a:t>
            </a:r>
            <a:r>
              <a:rPr lang="zh-CN" altLang="en-US">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单月销售业绩</a:t>
            </a:r>
            <a:r>
              <a:rPr lang="en-US" b="1">
                <a:solidFill>
                  <a:schemeClr val="tx1">
                    <a:lumMod val="85000"/>
                    <a:lumOff val="15000"/>
                  </a:schemeClr>
                </a:solidFill>
                <a:latin typeface="+mj-ea"/>
                <a:ea typeface="+mj-ea"/>
                <a:cs typeface="+mj-ea"/>
                <a:sym typeface="+mn-ea"/>
              </a:rPr>
              <a:t>6900</a:t>
            </a:r>
            <a:r>
              <a:rPr lang="zh-CN" altLang="en-US" b="1">
                <a:solidFill>
                  <a:schemeClr val="tx1">
                    <a:lumMod val="85000"/>
                    <a:lumOff val="15000"/>
                  </a:schemeClr>
                </a:solidFill>
                <a:latin typeface="+mj-ea"/>
                <a:ea typeface="+mj-ea"/>
                <a:cs typeface="+mj-ea"/>
                <a:sym typeface="+mn-ea"/>
              </a:rPr>
              <a:t>万</a:t>
            </a:r>
            <a:r>
              <a:rPr lang="en-US" altLang="zh-CN" b="1">
                <a:solidFill>
                  <a:schemeClr val="tx1">
                    <a:lumMod val="85000"/>
                    <a:lumOff val="15000"/>
                  </a:schemeClr>
                </a:solidFill>
                <a:latin typeface="+mj-ea"/>
                <a:ea typeface="+mj-ea"/>
                <a:cs typeface="+mj-ea"/>
                <a:sym typeface="+mn-ea"/>
              </a:rPr>
              <a:t>+</a:t>
            </a:r>
            <a:endParaRPr lang="en-US" alt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a:p>
            <a:pPr marL="179705" indent="0" algn="l" fontAlgn="auto">
              <a:buNone/>
            </a:pPr>
            <a:r>
              <a:rPr lang="zh-CN" altLang="en-US">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居阿里云伙伴</a:t>
            </a:r>
            <a:r>
              <a:rPr lang="zh-CN" altLang="en-US" b="1">
                <a:solidFill>
                  <a:schemeClr val="tx1">
                    <a:lumMod val="85000"/>
                    <a:lumOff val="15000"/>
                  </a:schemeClr>
                </a:solidFill>
                <a:latin typeface="+mj-ea"/>
                <a:ea typeface="+mj-ea"/>
                <a:cs typeface="微软雅黑 Light" panose="020B0502040204020203" charset="-122"/>
                <a:sym typeface="+mn-ea"/>
              </a:rPr>
              <a:t>全国第一</a:t>
            </a:r>
            <a:endParaRPr lang="zh-CN" altLang="en-US" b="1">
              <a:solidFill>
                <a:schemeClr val="tx1">
                  <a:lumMod val="85000"/>
                  <a:lumOff val="15000"/>
                </a:schemeClr>
              </a:solidFill>
              <a:latin typeface="+mj-ea"/>
              <a:ea typeface="+mj-ea"/>
              <a:cs typeface="微软雅黑 Light" panose="020B0502040204020203" charset="-122"/>
              <a:sym typeface="+mn-ea"/>
            </a:endParaRPr>
          </a:p>
        </p:txBody>
      </p:sp>
      <p:sp>
        <p:nvSpPr>
          <p:cNvPr id="53" name="文本框 52"/>
          <p:cNvSpPr txBox="1"/>
          <p:nvPr/>
        </p:nvSpPr>
        <p:spPr>
          <a:xfrm>
            <a:off x="513715" y="1664335"/>
            <a:ext cx="5250815" cy="829945"/>
          </a:xfrm>
          <a:prstGeom prst="rect">
            <a:avLst/>
          </a:prstGeom>
          <a:noFill/>
        </p:spPr>
        <p:txBody>
          <a:bodyPr wrap="square" rtlCol="0">
            <a:spAutoFit/>
          </a:bodyPr>
          <a:p>
            <a:pPr indent="0" fontAlgn="auto">
              <a:spcBef>
                <a:spcPts val="600"/>
              </a:spcBef>
            </a:pPr>
            <a:r>
              <a:rPr lang="zh-CN" altLang="en-US" sz="4800" b="1">
                <a:solidFill>
                  <a:srgbClr val="3671F6"/>
                </a:solidFill>
              </a:rPr>
              <a:t>端木软件</a:t>
            </a:r>
            <a:r>
              <a:rPr lang="en-US" altLang="zh-CN" sz="4800" b="1">
                <a:solidFill>
                  <a:srgbClr val="3671F6"/>
                </a:solidFill>
              </a:rPr>
              <a:t>&amp;</a:t>
            </a:r>
            <a:r>
              <a:rPr lang="zh-CN" altLang="en-US" sz="4800" b="1">
                <a:solidFill>
                  <a:srgbClr val="3671F6"/>
                </a:solidFill>
              </a:rPr>
              <a:t>阿里云</a:t>
            </a:r>
            <a:endParaRPr lang="zh-CN" altLang="en-US" sz="4800" b="1">
              <a:solidFill>
                <a:srgbClr val="3671F6"/>
              </a:solidFill>
            </a:endParaRPr>
          </a:p>
        </p:txBody>
      </p:sp>
      <p:cxnSp>
        <p:nvCxnSpPr>
          <p:cNvPr id="9" name="直接连接符 8"/>
          <p:cNvCxnSpPr/>
          <p:nvPr/>
        </p:nvCxnSpPr>
        <p:spPr>
          <a:xfrm>
            <a:off x="610235" y="3208020"/>
            <a:ext cx="0" cy="492760"/>
          </a:xfrm>
          <a:prstGeom prst="line">
            <a:avLst/>
          </a:prstGeom>
          <a:ln w="50800">
            <a:solidFill>
              <a:srgbClr val="3671F6"/>
            </a:solidFill>
          </a:ln>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a:off x="610235" y="3925570"/>
            <a:ext cx="0" cy="491490"/>
          </a:xfrm>
          <a:prstGeom prst="line">
            <a:avLst/>
          </a:prstGeom>
          <a:ln w="50800">
            <a:solidFill>
              <a:srgbClr val="3671F6"/>
            </a:solidFill>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610235" y="4603750"/>
            <a:ext cx="0" cy="885190"/>
          </a:xfrm>
          <a:prstGeom prst="line">
            <a:avLst/>
          </a:prstGeom>
          <a:ln w="50800">
            <a:solidFill>
              <a:srgbClr val="3671F6"/>
            </a:solidFill>
          </a:ln>
        </p:spPr>
        <p:style>
          <a:lnRef idx="2">
            <a:schemeClr val="accent1"/>
          </a:lnRef>
          <a:fillRef idx="0">
            <a:srgbClr val="FFFFFF"/>
          </a:fillRef>
          <a:effectRef idx="0">
            <a:srgbClr val="FFFFFF"/>
          </a:effectRef>
          <a:fontRef idx="minor">
            <a:schemeClr val="tx1"/>
          </a:fontRef>
        </p:style>
      </p:cxnSp>
      <p:grpSp>
        <p:nvGrpSpPr>
          <p:cNvPr id="23" name="组合 22"/>
          <p:cNvGrpSpPr/>
          <p:nvPr/>
        </p:nvGrpSpPr>
        <p:grpSpPr>
          <a:xfrm>
            <a:off x="6072505" y="1903095"/>
            <a:ext cx="5546725" cy="4315460"/>
            <a:chOff x="9563" y="2997"/>
            <a:chExt cx="9173" cy="7136"/>
          </a:xfrm>
          <a:gradFill>
            <a:gsLst>
              <a:gs pos="0">
                <a:srgbClr val="2258DA">
                  <a:alpha val="0"/>
                </a:srgbClr>
              </a:gs>
              <a:gs pos="100000">
                <a:srgbClr val="2258DA">
                  <a:alpha val="44000"/>
                </a:srgbClr>
              </a:gs>
            </a:gsLst>
            <a:lin ang="2940000" scaled="0"/>
          </a:gradFill>
        </p:grpSpPr>
        <p:sp>
          <p:nvSpPr>
            <p:cNvPr id="14" name="六边形 13"/>
            <p:cNvSpPr/>
            <p:nvPr/>
          </p:nvSpPr>
          <p:spPr>
            <a:xfrm>
              <a:off x="13952" y="2997"/>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六边形 14"/>
            <p:cNvSpPr/>
            <p:nvPr/>
          </p:nvSpPr>
          <p:spPr>
            <a:xfrm>
              <a:off x="16156" y="4166"/>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六边形 15"/>
            <p:cNvSpPr/>
            <p:nvPr/>
          </p:nvSpPr>
          <p:spPr>
            <a:xfrm>
              <a:off x="13952" y="5440"/>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六边形 16"/>
            <p:cNvSpPr/>
            <p:nvPr/>
          </p:nvSpPr>
          <p:spPr>
            <a:xfrm>
              <a:off x="11753" y="4166"/>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六边形 17"/>
            <p:cNvSpPr/>
            <p:nvPr/>
          </p:nvSpPr>
          <p:spPr>
            <a:xfrm>
              <a:off x="16156" y="6669"/>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六边形 18"/>
            <p:cNvSpPr/>
            <p:nvPr/>
          </p:nvSpPr>
          <p:spPr>
            <a:xfrm>
              <a:off x="11753" y="6669"/>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六边形 19"/>
            <p:cNvSpPr/>
            <p:nvPr/>
          </p:nvSpPr>
          <p:spPr>
            <a:xfrm>
              <a:off x="13952" y="7883"/>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六边形 20"/>
            <p:cNvSpPr/>
            <p:nvPr/>
          </p:nvSpPr>
          <p:spPr>
            <a:xfrm>
              <a:off x="9563" y="7883"/>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六边形 21"/>
            <p:cNvSpPr/>
            <p:nvPr/>
          </p:nvSpPr>
          <p:spPr>
            <a:xfrm>
              <a:off x="9563" y="5440"/>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24" name="图片 23" descr="阿里云logo"/>
          <p:cNvPicPr>
            <a:picLocks noChangeAspect="1"/>
          </p:cNvPicPr>
          <p:nvPr/>
        </p:nvPicPr>
        <p:blipFill>
          <a:blip r:embed="rId1"/>
          <a:stretch>
            <a:fillRect/>
          </a:stretch>
        </p:blipFill>
        <p:spPr>
          <a:xfrm>
            <a:off x="7578725" y="3162300"/>
            <a:ext cx="1196340" cy="266700"/>
          </a:xfrm>
          <a:prstGeom prst="rect">
            <a:avLst/>
          </a:prstGeom>
        </p:spPr>
      </p:pic>
      <p:pic>
        <p:nvPicPr>
          <p:cNvPr id="26" name="图片 25" descr="竖版"/>
          <p:cNvPicPr>
            <a:picLocks noChangeAspect="1"/>
          </p:cNvPicPr>
          <p:nvPr/>
        </p:nvPicPr>
        <p:blipFill>
          <a:blip r:embed="rId2"/>
          <a:stretch>
            <a:fillRect/>
          </a:stretch>
        </p:blipFill>
        <p:spPr>
          <a:xfrm>
            <a:off x="8928735" y="3597910"/>
            <a:ext cx="1155065" cy="927100"/>
          </a:xfrm>
          <a:prstGeom prst="rect">
            <a:avLst/>
          </a:prstGeom>
        </p:spPr>
      </p:pic>
      <p:pic>
        <p:nvPicPr>
          <p:cNvPr id="27" name="图片 26" descr="云计算"/>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60510" y="2244725"/>
            <a:ext cx="678815" cy="678815"/>
          </a:xfrm>
          <a:prstGeom prst="rect">
            <a:avLst/>
          </a:prstGeom>
        </p:spPr>
      </p:pic>
      <p:pic>
        <p:nvPicPr>
          <p:cNvPr id="28" name="图片 27" descr="云存储"/>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4465" y="3722370"/>
            <a:ext cx="678815" cy="678815"/>
          </a:xfrm>
          <a:prstGeom prst="rect">
            <a:avLst/>
          </a:prstGeom>
        </p:spPr>
      </p:pic>
      <p:pic>
        <p:nvPicPr>
          <p:cNvPr id="29" name="图片 28" descr="云存储"/>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16870" y="2950845"/>
            <a:ext cx="678815" cy="678815"/>
          </a:xfrm>
          <a:prstGeom prst="rect">
            <a:avLst/>
          </a:prstGeom>
        </p:spPr>
      </p:pic>
      <p:pic>
        <p:nvPicPr>
          <p:cNvPr id="30" name="图片 29" descr="数据库"/>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37805" y="4417060"/>
            <a:ext cx="678815" cy="678815"/>
          </a:xfrm>
          <a:prstGeom prst="rect">
            <a:avLst/>
          </a:prstGeom>
        </p:spPr>
      </p:pic>
      <p:pic>
        <p:nvPicPr>
          <p:cNvPr id="31" name="图片 30" descr="字母A"/>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66860" y="5199380"/>
            <a:ext cx="678815" cy="678815"/>
          </a:xfrm>
          <a:prstGeom prst="rect">
            <a:avLst/>
          </a:prstGeom>
        </p:spPr>
      </p:pic>
      <p:pic>
        <p:nvPicPr>
          <p:cNvPr id="32" name="图片 31" descr="笔记本电脑"/>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500360" y="4417060"/>
            <a:ext cx="678815" cy="678815"/>
          </a:xfrm>
          <a:prstGeom prst="rect">
            <a:avLst/>
          </a:prstGeom>
        </p:spPr>
      </p:pic>
      <p:pic>
        <p:nvPicPr>
          <p:cNvPr id="33" name="图片 32" descr="网络安全"/>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514465" y="5199380"/>
            <a:ext cx="678815" cy="678815"/>
          </a:xfrm>
          <a:prstGeom prst="rect">
            <a:avLst/>
          </a:prstGeom>
        </p:spPr>
      </p:pic>
    </p:spTree>
    <p:custDataLst>
      <p:tags r:id="rId1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464629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a:t>
            </a:r>
            <a:r>
              <a:rPr lang="en-US" altLang="zh-CN" sz="2400">
                <a:latin typeface="微软雅黑 Light" panose="020B0502040204020203" charset="-122"/>
                <a:ea typeface="微软雅黑 Light" panose="020B0502040204020203" charset="-122"/>
                <a:cs typeface="微软雅黑 Light" panose="020B0502040204020203" charset="-122"/>
              </a:rPr>
              <a:t>&amp;</a:t>
            </a:r>
            <a:r>
              <a:rPr lang="zh-CN" altLang="en-US" sz="2400">
                <a:latin typeface="微软雅黑 Light" panose="020B0502040204020203" charset="-122"/>
                <a:ea typeface="微软雅黑 Light" panose="020B0502040204020203" charset="-122"/>
                <a:cs typeface="微软雅黑 Light" panose="020B0502040204020203" charset="-122"/>
              </a:rPr>
              <a:t>阿里云</a:t>
            </a:r>
            <a:r>
              <a:rPr lang="en-US" altLang="zh-CN" sz="2400">
                <a:latin typeface="微软雅黑 Light" panose="020B0502040204020203" charset="-122"/>
                <a:ea typeface="微软雅黑 Light" panose="020B0502040204020203" charset="-122"/>
                <a:cs typeface="微软雅黑 Light" panose="020B0502040204020203" charset="-122"/>
              </a:rPr>
              <a:t> </a:t>
            </a:r>
            <a:r>
              <a:rPr lang="en-US" altLang="zh-CN" sz="1600">
                <a:latin typeface="微软雅黑 Light" panose="020B0502040204020203" charset="-122"/>
                <a:ea typeface="微软雅黑 Light" panose="020B0502040204020203" charset="-122"/>
                <a:cs typeface="微软雅黑 Light" panose="020B0502040204020203" charset="-122"/>
              </a:rPr>
              <a:t>COOPERATION</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48" name="矩形 47"/>
          <p:cNvSpPr/>
          <p:nvPr/>
        </p:nvSpPr>
        <p:spPr>
          <a:xfrm>
            <a:off x="0" y="5015865"/>
            <a:ext cx="12191365" cy="1842135"/>
          </a:xfrm>
          <a:prstGeom prst="rect">
            <a:avLst/>
          </a:prstGeom>
          <a:gradFill>
            <a:gsLst>
              <a:gs pos="100000">
                <a:srgbClr val="0D59F3"/>
              </a:gs>
              <a:gs pos="0">
                <a:srgbClr val="3671F6"/>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矩形 48"/>
          <p:cNvSpPr/>
          <p:nvPr/>
        </p:nvSpPr>
        <p:spPr>
          <a:xfrm>
            <a:off x="850265" y="1311910"/>
            <a:ext cx="3061970" cy="5535930"/>
          </a:xfrm>
          <a:prstGeom prst="rect">
            <a:avLst/>
          </a:prstGeom>
          <a:gradFill>
            <a:gsLst>
              <a:gs pos="100000">
                <a:srgbClr val="96BEFA"/>
              </a:gs>
              <a:gs pos="0">
                <a:srgbClr val="3671F6"/>
              </a:gs>
            </a:gsLst>
            <a:lin ang="54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086803" y="2606040"/>
            <a:ext cx="2588895" cy="2414905"/>
          </a:xfrm>
          <a:prstGeom prst="rect">
            <a:avLst/>
          </a:prstGeom>
          <a:noFill/>
        </p:spPr>
        <p:txBody>
          <a:bodyPr wrap="square" rtlCol="0" anchor="t">
            <a:spAutoFit/>
          </a:bodyPr>
          <a:p>
            <a:pPr lvl="0" indent="0" algn="l" fontAlgn="auto">
              <a:spcBef>
                <a:spcPts val="600"/>
              </a:spcBef>
              <a:buClrTx/>
              <a:buSzTx/>
              <a:buFontTx/>
            </a:pPr>
            <a:r>
              <a:rPr lang="zh-CN" altLang="en-US" sz="4000" b="1">
                <a:gradFill>
                  <a:gsLst>
                    <a:gs pos="100000">
                      <a:srgbClr val="D8E5FE">
                        <a:alpha val="100000"/>
                      </a:srgbClr>
                    </a:gs>
                    <a:gs pos="0">
                      <a:schemeClr val="bg1"/>
                    </a:gs>
                  </a:gsLst>
                  <a:lin ang="5400000" scaled="0"/>
                </a:gradFill>
                <a:sym typeface="+mn-ea"/>
              </a:rPr>
              <a:t>阿里云</a:t>
            </a:r>
            <a:endParaRPr lang="zh-CN" altLang="en-US" sz="3600" b="1">
              <a:gradFill>
                <a:gsLst>
                  <a:gs pos="100000">
                    <a:srgbClr val="D8E5FE">
                      <a:alpha val="100000"/>
                    </a:srgbClr>
                  </a:gs>
                  <a:gs pos="0">
                    <a:schemeClr val="bg1"/>
                  </a:gs>
                </a:gsLst>
                <a:lin ang="5400000" scaled="0"/>
              </a:gradFill>
              <a:sym typeface="+mn-ea"/>
            </a:endParaRPr>
          </a:p>
          <a:p>
            <a:pPr lvl="0" indent="0" algn="l" fontAlgn="auto">
              <a:spcBef>
                <a:spcPts val="600"/>
              </a:spcBef>
              <a:buClrTx/>
              <a:buSzTx/>
              <a:buFontTx/>
            </a:pPr>
            <a:r>
              <a:rPr lang="zh-CN" altLang="en-US" sz="3200" b="1">
                <a:gradFill>
                  <a:gsLst>
                    <a:gs pos="100000">
                      <a:srgbClr val="D8E5FE">
                        <a:alpha val="100000"/>
                      </a:srgbClr>
                    </a:gs>
                    <a:gs pos="0">
                      <a:schemeClr val="bg1"/>
                    </a:gs>
                  </a:gsLst>
                  <a:lin ang="5400000" scaled="0"/>
                </a:gradFill>
                <a:sym typeface="+mn-ea"/>
              </a:rPr>
              <a:t>中国最大</a:t>
            </a:r>
            <a:endParaRPr lang="zh-CN" altLang="en-US" sz="3200" b="1">
              <a:gradFill>
                <a:gsLst>
                  <a:gs pos="100000">
                    <a:srgbClr val="D8E5FE">
                      <a:alpha val="100000"/>
                    </a:srgbClr>
                  </a:gs>
                  <a:gs pos="0">
                    <a:schemeClr val="bg1"/>
                  </a:gs>
                </a:gsLst>
                <a:lin ang="5400000" scaled="0"/>
              </a:gradFill>
              <a:sym typeface="+mn-ea"/>
            </a:endParaRPr>
          </a:p>
          <a:p>
            <a:pPr lvl="0" indent="0" algn="l" fontAlgn="auto">
              <a:spcBef>
                <a:spcPts val="600"/>
              </a:spcBef>
              <a:buClrTx/>
              <a:buSzTx/>
              <a:buFontTx/>
            </a:pPr>
            <a:r>
              <a:rPr lang="zh-CN" altLang="en-US" sz="3200" b="1">
                <a:gradFill>
                  <a:gsLst>
                    <a:gs pos="100000">
                      <a:srgbClr val="D8E5FE">
                        <a:alpha val="100000"/>
                      </a:srgbClr>
                    </a:gs>
                    <a:gs pos="0">
                      <a:schemeClr val="bg1"/>
                    </a:gs>
                  </a:gsLst>
                  <a:lin ang="5400000" scaled="0"/>
                </a:gradFill>
                <a:sym typeface="+mn-ea"/>
              </a:rPr>
              <a:t>亚太第一的</a:t>
            </a:r>
            <a:endParaRPr lang="zh-CN" altLang="en-US" sz="3200" b="1">
              <a:gradFill>
                <a:gsLst>
                  <a:gs pos="100000">
                    <a:srgbClr val="D8E5FE">
                      <a:alpha val="100000"/>
                    </a:srgbClr>
                  </a:gs>
                  <a:gs pos="0">
                    <a:schemeClr val="bg1"/>
                  </a:gs>
                </a:gsLst>
                <a:lin ang="5400000" scaled="0"/>
              </a:gradFill>
              <a:sym typeface="+mn-ea"/>
            </a:endParaRPr>
          </a:p>
          <a:p>
            <a:pPr lvl="0" indent="0" algn="l" fontAlgn="auto">
              <a:spcBef>
                <a:spcPts val="600"/>
              </a:spcBef>
              <a:buClrTx/>
              <a:buSzTx/>
              <a:buFontTx/>
            </a:pPr>
            <a:r>
              <a:rPr lang="zh-CN" altLang="en-US" sz="3200" b="1">
                <a:gradFill>
                  <a:gsLst>
                    <a:gs pos="100000">
                      <a:srgbClr val="D8E5FE">
                        <a:alpha val="100000"/>
                      </a:srgbClr>
                    </a:gs>
                    <a:gs pos="0">
                      <a:schemeClr val="bg1"/>
                    </a:gs>
                  </a:gsLst>
                  <a:lin ang="5400000" scaled="0"/>
                </a:gradFill>
                <a:sym typeface="+mn-ea"/>
              </a:rPr>
              <a:t>云服务商</a:t>
            </a:r>
            <a:endParaRPr lang="zh-CN" altLang="en-US" sz="3200" b="1">
              <a:gradFill>
                <a:gsLst>
                  <a:gs pos="100000">
                    <a:srgbClr val="D8E5FE">
                      <a:alpha val="100000"/>
                    </a:srgbClr>
                  </a:gs>
                  <a:gs pos="0">
                    <a:schemeClr val="bg1"/>
                  </a:gs>
                </a:gsLst>
                <a:lin ang="5400000" scaled="0"/>
              </a:gradFill>
              <a:sym typeface="+mn-ea"/>
            </a:endParaRPr>
          </a:p>
        </p:txBody>
      </p:sp>
      <p:pic>
        <p:nvPicPr>
          <p:cNvPr id="52" name="图片 51" descr="阿里云logo"/>
          <p:cNvPicPr>
            <a:picLocks noChangeAspect="1"/>
          </p:cNvPicPr>
          <p:nvPr/>
        </p:nvPicPr>
        <p:blipFill>
          <a:blip r:embed="rId1">
            <a:grayscl/>
            <a:lum bright="72000"/>
          </a:blip>
          <a:stretch>
            <a:fillRect/>
          </a:stretch>
        </p:blipFill>
        <p:spPr>
          <a:xfrm>
            <a:off x="1337628" y="1838960"/>
            <a:ext cx="2087245" cy="465455"/>
          </a:xfrm>
          <a:prstGeom prst="rect">
            <a:avLst/>
          </a:prstGeom>
        </p:spPr>
      </p:pic>
      <p:sp>
        <p:nvSpPr>
          <p:cNvPr id="8" name="文本框 7"/>
          <p:cNvSpPr txBox="1"/>
          <p:nvPr/>
        </p:nvSpPr>
        <p:spPr>
          <a:xfrm>
            <a:off x="1126808" y="5145405"/>
            <a:ext cx="2508885" cy="1476375"/>
          </a:xfrm>
          <a:prstGeom prst="rect">
            <a:avLst/>
          </a:prstGeom>
          <a:noFill/>
        </p:spPr>
        <p:txBody>
          <a:bodyPr wrap="square" rtlCol="0" anchor="t">
            <a:spAutoFit/>
          </a:bodyPr>
          <a:p>
            <a:pPr algn="just" defTabSz="895985" hangingPunct="0">
              <a:lnSpc>
                <a:spcPct val="125000"/>
              </a:lnSpc>
              <a:spcBef>
                <a:spcPts val="0"/>
              </a:spcBef>
              <a:spcAft>
                <a:spcPts val="0"/>
              </a:spcAft>
              <a:defRPr/>
            </a:pPr>
            <a:r>
              <a:rPr lang="zh-CN" altLang="en-US" sz="1200" dirty="0">
                <a:solidFill>
                  <a:schemeClr val="bg1"/>
                </a:solidFill>
                <a:latin typeface="微软雅黑 Light" panose="020B0502040204020203" charset="-122"/>
                <a:ea typeface="微软雅黑 Light" panose="020B0502040204020203" charset="-122"/>
                <a:cs typeface="微软雅黑 Light" panose="020B0502040204020203" charset="-122"/>
                <a:sym typeface="+mn-ea"/>
              </a:rPr>
              <a:t>全球领先的云计算及人工智能科技公司，坚持让计算成为公共服务，通过提供安全、可靠的计算和数据处理能力，让云计算和人工智能成为普惠科技，服务全球</a:t>
            </a:r>
            <a:r>
              <a:rPr lang="en-US" altLang="zh-CN" sz="1200" dirty="0">
                <a:solidFill>
                  <a:schemeClr val="bg1"/>
                </a:solidFill>
                <a:latin typeface="微软雅黑 Light" panose="020B0502040204020203" charset="-122"/>
                <a:ea typeface="微软雅黑 Light" panose="020B0502040204020203" charset="-122"/>
                <a:cs typeface="微软雅黑 Light" panose="020B0502040204020203" charset="-122"/>
                <a:sym typeface="+mn-ea"/>
              </a:rPr>
              <a:t>200</a:t>
            </a:r>
            <a:r>
              <a:rPr lang="zh-CN" altLang="en-US" sz="1200" dirty="0">
                <a:solidFill>
                  <a:schemeClr val="bg1"/>
                </a:solidFill>
                <a:latin typeface="微软雅黑 Light" panose="020B0502040204020203" charset="-122"/>
                <a:ea typeface="微软雅黑 Light" panose="020B0502040204020203" charset="-122"/>
                <a:cs typeface="微软雅黑 Light" panose="020B0502040204020203" charset="-122"/>
                <a:sym typeface="+mn-ea"/>
              </a:rPr>
              <a:t>多个国家和地区的客户加速价值创新。</a:t>
            </a:r>
            <a:endParaRPr lang="zh-CN" altLang="en-US" sz="1200" dirty="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2" name="文本框 11"/>
          <p:cNvSpPr txBox="1"/>
          <p:nvPr/>
        </p:nvSpPr>
        <p:spPr>
          <a:xfrm>
            <a:off x="4128135" y="5366385"/>
            <a:ext cx="1647190" cy="768350"/>
          </a:xfrm>
          <a:prstGeom prst="rect">
            <a:avLst/>
          </a:prstGeom>
          <a:noFill/>
          <a:effectLst/>
        </p:spPr>
        <p:txBody>
          <a:bodyPr wrap="square" rtlCol="0" anchor="t">
            <a:spAutoFit/>
          </a:bodyPr>
          <a:p>
            <a:pPr algn="ctr"/>
            <a:r>
              <a:rPr lang="en-US" sz="44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28</a:t>
            </a:r>
            <a:r>
              <a:rPr lang="zh-CN" altLang="en-US" sz="24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个</a:t>
            </a:r>
            <a:endParaRPr lang="zh-CN" altLang="en-US" sz="24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文本框 15"/>
          <p:cNvSpPr txBox="1"/>
          <p:nvPr/>
        </p:nvSpPr>
        <p:spPr>
          <a:xfrm>
            <a:off x="4068445" y="6134735"/>
            <a:ext cx="1766570" cy="306705"/>
          </a:xfrm>
          <a:prstGeom prst="rect">
            <a:avLst/>
          </a:prstGeom>
          <a:noFill/>
        </p:spPr>
        <p:txBody>
          <a:bodyPr wrap="square" rtlCol="0" anchor="t">
            <a:spAutoFit/>
          </a:bodyPr>
          <a:p>
            <a:pPr algn="ctr"/>
            <a:r>
              <a:rPr lang="zh-CN" altLang="en-US" sz="1400">
                <a:solidFill>
                  <a:schemeClr val="bg1"/>
                </a:solidFill>
                <a:latin typeface="+mn-ea"/>
                <a:cs typeface="微软雅黑 Light" panose="020B0502040204020203" charset="-122"/>
                <a:sym typeface="+mn-ea"/>
              </a:rPr>
              <a:t>全球公共云地域</a:t>
            </a:r>
            <a:endParaRPr lang="zh-CN" altLang="en-US" sz="1400">
              <a:solidFill>
                <a:schemeClr val="bg1"/>
              </a:solidFill>
              <a:latin typeface="+mn-ea"/>
              <a:cs typeface="微软雅黑 Light" panose="020B0502040204020203" charset="-122"/>
              <a:sym typeface="+mn-ea"/>
            </a:endParaRPr>
          </a:p>
        </p:txBody>
      </p:sp>
      <p:sp>
        <p:nvSpPr>
          <p:cNvPr id="41" name="文本框 40"/>
          <p:cNvSpPr txBox="1"/>
          <p:nvPr/>
        </p:nvSpPr>
        <p:spPr>
          <a:xfrm>
            <a:off x="6018530" y="5366385"/>
            <a:ext cx="1647190" cy="768350"/>
          </a:xfrm>
          <a:prstGeom prst="rect">
            <a:avLst/>
          </a:prstGeom>
          <a:noFill/>
          <a:effectLst/>
        </p:spPr>
        <p:txBody>
          <a:bodyPr wrap="square" rtlCol="0" anchor="t">
            <a:spAutoFit/>
          </a:bodyPr>
          <a:p>
            <a:pPr lvl="0" algn="ctr">
              <a:buClrTx/>
              <a:buSzTx/>
              <a:buFontTx/>
            </a:pPr>
            <a:r>
              <a:rPr lang="en-US" sz="44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85</a:t>
            </a:r>
            <a:r>
              <a:rPr lang="en-US" sz="24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个</a:t>
            </a:r>
            <a:endParaRPr lang="en-US" sz="24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2" name="文本框 41"/>
          <p:cNvSpPr txBox="1"/>
          <p:nvPr/>
        </p:nvSpPr>
        <p:spPr>
          <a:xfrm>
            <a:off x="5857875" y="6134735"/>
            <a:ext cx="1968500" cy="306705"/>
          </a:xfrm>
          <a:prstGeom prst="rect">
            <a:avLst/>
          </a:prstGeom>
          <a:noFill/>
        </p:spPr>
        <p:txBody>
          <a:bodyPr wrap="square" rtlCol="0" anchor="t">
            <a:spAutoFit/>
          </a:bodyPr>
          <a:p>
            <a:pPr algn="ctr"/>
            <a:r>
              <a:rPr lang="zh-CN" altLang="en-US" sz="1400">
                <a:solidFill>
                  <a:schemeClr val="bg1"/>
                </a:solidFill>
                <a:latin typeface="+mn-ea"/>
                <a:cs typeface="微软雅黑 Light" panose="020B0502040204020203" charset="-122"/>
                <a:sym typeface="+mn-ea"/>
              </a:rPr>
              <a:t>全球公共云可用区</a:t>
            </a:r>
            <a:endParaRPr lang="zh-CN" altLang="en-US" sz="1400">
              <a:solidFill>
                <a:schemeClr val="bg1"/>
              </a:solidFill>
              <a:latin typeface="+mn-ea"/>
              <a:cs typeface="微软雅黑 Light" panose="020B0502040204020203" charset="-122"/>
              <a:sym typeface="+mn-ea"/>
            </a:endParaRPr>
          </a:p>
        </p:txBody>
      </p:sp>
      <p:sp>
        <p:nvSpPr>
          <p:cNvPr id="44" name="文本框 43"/>
          <p:cNvSpPr txBox="1"/>
          <p:nvPr/>
        </p:nvSpPr>
        <p:spPr>
          <a:xfrm>
            <a:off x="7849235" y="5397183"/>
            <a:ext cx="1953895" cy="706755"/>
          </a:xfrm>
          <a:prstGeom prst="rect">
            <a:avLst/>
          </a:prstGeom>
          <a:noFill/>
          <a:effectLst/>
        </p:spPr>
        <p:txBody>
          <a:bodyPr wrap="square" rtlCol="0" anchor="t">
            <a:spAutoFit/>
          </a:bodyPr>
          <a:p>
            <a:pPr algn="ctr"/>
            <a:r>
              <a:rPr lang="en-US" sz="40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3200</a:t>
            </a:r>
            <a:r>
              <a:rPr lang="en-US" altLang="zh-CN" sz="24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24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5" name="文本框 44"/>
          <p:cNvSpPr txBox="1"/>
          <p:nvPr/>
        </p:nvSpPr>
        <p:spPr>
          <a:xfrm>
            <a:off x="7942580" y="6134735"/>
            <a:ext cx="1766570" cy="306705"/>
          </a:xfrm>
          <a:prstGeom prst="rect">
            <a:avLst/>
          </a:prstGeom>
          <a:noFill/>
        </p:spPr>
        <p:txBody>
          <a:bodyPr wrap="square" rtlCol="0" anchor="t">
            <a:spAutoFit/>
          </a:bodyPr>
          <a:p>
            <a:pPr algn="ctr"/>
            <a:r>
              <a:rPr lang="zh-CN" altLang="en-US" sz="1400">
                <a:solidFill>
                  <a:schemeClr val="bg1"/>
                </a:solidFill>
                <a:latin typeface="+mn-ea"/>
                <a:cs typeface="微软雅黑 Light" panose="020B0502040204020203" charset="-122"/>
                <a:sym typeface="+mn-ea"/>
              </a:rPr>
              <a:t>边缘节点</a:t>
            </a:r>
            <a:endParaRPr lang="zh-CN" altLang="en-US" sz="1400">
              <a:solidFill>
                <a:schemeClr val="bg1"/>
              </a:solidFill>
              <a:latin typeface="+mn-ea"/>
              <a:cs typeface="微软雅黑 Light" panose="020B0502040204020203" charset="-122"/>
              <a:sym typeface="+mn-ea"/>
            </a:endParaRPr>
          </a:p>
        </p:txBody>
      </p:sp>
      <p:sp>
        <p:nvSpPr>
          <p:cNvPr id="46" name="文本框 45"/>
          <p:cNvSpPr txBox="1"/>
          <p:nvPr/>
        </p:nvSpPr>
        <p:spPr>
          <a:xfrm>
            <a:off x="9825355" y="5397183"/>
            <a:ext cx="2169795" cy="706755"/>
          </a:xfrm>
          <a:prstGeom prst="rect">
            <a:avLst/>
          </a:prstGeom>
          <a:noFill/>
          <a:effectLst/>
        </p:spPr>
        <p:txBody>
          <a:bodyPr wrap="square" rtlCol="0" anchor="t">
            <a:spAutoFit/>
          </a:bodyPr>
          <a:p>
            <a:pPr lvl="0" algn="ctr">
              <a:buClrTx/>
              <a:buSzTx/>
              <a:buFontTx/>
            </a:pPr>
            <a:r>
              <a:rPr lang="en-US" sz="40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180</a:t>
            </a:r>
            <a:r>
              <a:rPr lang="en-US" sz="24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Tbps</a:t>
            </a:r>
            <a:endParaRPr lang="en-US" sz="1600" b="1">
              <a:ln>
                <a:noFill/>
              </a:ln>
              <a:solidFill>
                <a:schemeClr val="bg1"/>
              </a:solidFill>
              <a:effectLst>
                <a:glow rad="63500">
                  <a:srgbClr val="15BAB1">
                    <a:alpha val="5000"/>
                  </a:srgbClr>
                </a:glow>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文本框 46"/>
          <p:cNvSpPr txBox="1"/>
          <p:nvPr/>
        </p:nvSpPr>
        <p:spPr>
          <a:xfrm>
            <a:off x="9926320" y="6134735"/>
            <a:ext cx="1968500" cy="306705"/>
          </a:xfrm>
          <a:prstGeom prst="rect">
            <a:avLst/>
          </a:prstGeom>
          <a:noFill/>
        </p:spPr>
        <p:txBody>
          <a:bodyPr wrap="square" rtlCol="0" anchor="t">
            <a:spAutoFit/>
          </a:bodyPr>
          <a:p>
            <a:pPr algn="ctr"/>
            <a:r>
              <a:rPr lang="zh-CN" altLang="en-US" sz="1400">
                <a:solidFill>
                  <a:schemeClr val="bg1"/>
                </a:solidFill>
                <a:latin typeface="+mn-ea"/>
                <a:cs typeface="微软雅黑 Light" panose="020B0502040204020203" charset="-122"/>
                <a:sym typeface="+mn-ea"/>
              </a:rPr>
              <a:t>全网输出带宽</a:t>
            </a:r>
            <a:endParaRPr lang="zh-CN" altLang="en-US" sz="1400">
              <a:solidFill>
                <a:schemeClr val="bg1"/>
              </a:solidFill>
              <a:latin typeface="+mn-ea"/>
              <a:cs typeface="微软雅黑 Light" panose="020B0502040204020203" charset="-122"/>
              <a:sym typeface="+mn-ea"/>
            </a:endParaRPr>
          </a:p>
        </p:txBody>
      </p:sp>
      <p:sp>
        <p:nvSpPr>
          <p:cNvPr id="61" name="文本框 60"/>
          <p:cNvSpPr txBox="1"/>
          <p:nvPr/>
        </p:nvSpPr>
        <p:spPr>
          <a:xfrm>
            <a:off x="4373245" y="1492250"/>
            <a:ext cx="2202815" cy="398780"/>
          </a:xfrm>
          <a:prstGeom prst="rect">
            <a:avLst/>
          </a:prstGeom>
        </p:spPr>
        <p:txBody>
          <a:bodyPr wrap="square">
            <a:spAutoFit/>
          </a:bodyPr>
          <a:p>
            <a:pPr marL="0" indent="0" algn="l"/>
            <a:r>
              <a:rPr lang="zh-CN" altLang="en-US" sz="2000" i="0">
                <a:solidFill>
                  <a:schemeClr val="tx1"/>
                </a:solidFill>
                <a:latin typeface="微软雅黑" panose="020B0503020204020204" charset="-122"/>
                <a:ea typeface="微软雅黑" panose="020B0503020204020204" charset="-122"/>
                <a:cs typeface="微软雅黑" panose="020B0503020204020204" charset="-122"/>
              </a:rPr>
              <a:t>引领市场</a:t>
            </a:r>
            <a:endParaRPr lang="zh-CN" altLang="en-US" sz="200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2" name="矩形 61"/>
          <p:cNvSpPr/>
          <p:nvPr/>
        </p:nvSpPr>
        <p:spPr>
          <a:xfrm>
            <a:off x="4278630" y="1542415"/>
            <a:ext cx="76200" cy="297815"/>
          </a:xfrm>
          <a:prstGeom prst="rect">
            <a:avLst/>
          </a:prstGeom>
          <a:solidFill>
            <a:srgbClr val="15BAB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cs typeface="微软雅黑" panose="020B0503020204020204" charset="-122"/>
            </a:endParaRPr>
          </a:p>
        </p:txBody>
      </p:sp>
      <p:sp>
        <p:nvSpPr>
          <p:cNvPr id="63" name="文本框 62"/>
          <p:cNvSpPr txBox="1"/>
          <p:nvPr/>
        </p:nvSpPr>
        <p:spPr>
          <a:xfrm>
            <a:off x="4198620" y="1979930"/>
            <a:ext cx="3410585" cy="1091565"/>
          </a:xfrm>
          <a:prstGeom prst="rect">
            <a:avLst/>
          </a:prstGeom>
        </p:spPr>
        <p:txBody>
          <a:bodyPr wrap="square">
            <a:spAutoFit/>
          </a:bodyPr>
          <a:p>
            <a:pPr marL="171450" indent="-171450" algn="l" fontAlgn="auto">
              <a:lnSpc>
                <a:spcPct val="125000"/>
              </a:lnSpc>
              <a:spcBef>
                <a:spcPts val="600"/>
              </a:spcBef>
              <a:spcAft>
                <a:spcPts val="0"/>
              </a:spcAft>
              <a:buFont typeface="Arial" panose="020B0604020202090204" pitchFamily="34" charset="0"/>
              <a:buChar char="•"/>
            </a:pP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服务全球</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 500 </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万客户，包括</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 38%</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190</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家）世界五百强企业，</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 80% </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中国科技企业，</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 65% </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专精特新</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小巨人</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企业；</a:t>
            </a:r>
            <a:endPar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endParaRPr>
          </a:p>
          <a:p>
            <a:pPr marL="171450" indent="-171450" algn="l" fontAlgn="auto">
              <a:lnSpc>
                <a:spcPct val="125000"/>
              </a:lnSpc>
              <a:spcBef>
                <a:spcPts val="600"/>
              </a:spcBef>
              <a:spcAft>
                <a:spcPts val="0"/>
              </a:spcAft>
              <a:buFont typeface="Arial" panose="020B0604020202090204" pitchFamily="34" charset="0"/>
              <a:buChar char="•"/>
            </a:pP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阿里云服务的开发者达</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 1000</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万。</a:t>
            </a:r>
            <a:endPar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endParaRPr>
          </a:p>
        </p:txBody>
      </p:sp>
      <p:sp>
        <p:nvSpPr>
          <p:cNvPr id="64" name="文本框 63"/>
          <p:cNvSpPr txBox="1"/>
          <p:nvPr/>
        </p:nvSpPr>
        <p:spPr>
          <a:xfrm>
            <a:off x="8096885" y="1492250"/>
            <a:ext cx="2202815" cy="398780"/>
          </a:xfrm>
          <a:prstGeom prst="rect">
            <a:avLst/>
          </a:prstGeom>
        </p:spPr>
        <p:txBody>
          <a:bodyPr wrap="square">
            <a:spAutoFit/>
          </a:bodyPr>
          <a:p>
            <a:pPr marL="0" indent="0" algn="l"/>
            <a:r>
              <a:rPr lang="zh-CN" altLang="en-US" sz="2000" i="0">
                <a:solidFill>
                  <a:schemeClr val="tx1"/>
                </a:solidFill>
                <a:latin typeface="微软雅黑" panose="020B0503020204020204" charset="-122"/>
                <a:ea typeface="微软雅黑" panose="020B0503020204020204" charset="-122"/>
                <a:cs typeface="微软雅黑" panose="020B0503020204020204" charset="-122"/>
              </a:rPr>
              <a:t>技术先进</a:t>
            </a:r>
            <a:endParaRPr lang="zh-CN" altLang="en-US" sz="200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5" name="矩形 64"/>
          <p:cNvSpPr/>
          <p:nvPr/>
        </p:nvSpPr>
        <p:spPr>
          <a:xfrm>
            <a:off x="8011160" y="1542415"/>
            <a:ext cx="76200" cy="297815"/>
          </a:xfrm>
          <a:prstGeom prst="rect">
            <a:avLst/>
          </a:prstGeom>
          <a:solidFill>
            <a:srgbClr val="15BAB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cs typeface="微软雅黑" panose="020B0503020204020204" charset="-122"/>
            </a:endParaRPr>
          </a:p>
        </p:txBody>
      </p:sp>
      <p:sp>
        <p:nvSpPr>
          <p:cNvPr id="66" name="文本框 65"/>
          <p:cNvSpPr txBox="1"/>
          <p:nvPr/>
        </p:nvSpPr>
        <p:spPr>
          <a:xfrm>
            <a:off x="7922260" y="1979930"/>
            <a:ext cx="3679825" cy="1322070"/>
          </a:xfrm>
          <a:prstGeom prst="rect">
            <a:avLst/>
          </a:prstGeom>
        </p:spPr>
        <p:txBody>
          <a:bodyPr wrap="square">
            <a:spAutoFit/>
          </a:bodyPr>
          <a:p>
            <a:pPr marL="171450" indent="-171450" algn="l" fontAlgn="auto">
              <a:lnSpc>
                <a:spcPct val="125000"/>
              </a:lnSpc>
              <a:spcBef>
                <a:spcPts val="600"/>
              </a:spcBef>
              <a:spcAft>
                <a:spcPts val="0"/>
              </a:spcAft>
              <a:buFont typeface="Arial" panose="020B0604020202090204" pitchFamily="34" charset="0"/>
              <a:buChar char="•"/>
            </a:pP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自主研发飞天云计算操作系统，</a:t>
            </a:r>
            <a:r>
              <a:rPr lang="zh-CN" altLang="en-US" sz="120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sym typeface="+mn-ea"/>
              </a:rPr>
              <a:t>提供业界先进的计算性能；</a:t>
            </a:r>
            <a:endPar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endParaRPr>
          </a:p>
          <a:p>
            <a:pPr marL="171450" indent="-171450" algn="l" fontAlgn="auto">
              <a:lnSpc>
                <a:spcPct val="125000"/>
              </a:lnSpc>
              <a:spcBef>
                <a:spcPts val="600"/>
              </a:spcBef>
              <a:spcAft>
                <a:spcPts val="0"/>
              </a:spcAft>
              <a:buFont typeface="Arial" panose="020B0604020202090204" pitchFamily="34" charset="0"/>
              <a:buChar char="•"/>
            </a:pP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编排调度百万级服务器，单集群调度规模超十万台，具备</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 EB </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级数据存储能力，并通过</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 CIPU </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率先实现虚拟化</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“0”</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损耗。</a:t>
            </a:r>
            <a:endPar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endParaRPr>
          </a:p>
        </p:txBody>
      </p:sp>
      <p:sp>
        <p:nvSpPr>
          <p:cNvPr id="67" name="文本框 66"/>
          <p:cNvSpPr txBox="1"/>
          <p:nvPr/>
        </p:nvSpPr>
        <p:spPr>
          <a:xfrm>
            <a:off x="4373245" y="3332480"/>
            <a:ext cx="2202815" cy="398780"/>
          </a:xfrm>
          <a:prstGeom prst="rect">
            <a:avLst/>
          </a:prstGeom>
        </p:spPr>
        <p:txBody>
          <a:bodyPr wrap="square">
            <a:spAutoFit/>
          </a:bodyPr>
          <a:p>
            <a:pPr marL="0" indent="0" algn="l"/>
            <a:r>
              <a:rPr lang="zh-CN" altLang="en-US" sz="2000" i="0">
                <a:solidFill>
                  <a:schemeClr val="tx1"/>
                </a:solidFill>
                <a:latin typeface="微软雅黑" panose="020B0503020204020204" charset="-122"/>
                <a:ea typeface="微软雅黑" panose="020B0503020204020204" charset="-122"/>
                <a:cs typeface="微软雅黑" panose="020B0503020204020204" charset="-122"/>
              </a:rPr>
              <a:t>稳定可靠</a:t>
            </a:r>
            <a:endParaRPr lang="zh-CN" altLang="en-US" sz="200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8" name="矩形 67"/>
          <p:cNvSpPr/>
          <p:nvPr/>
        </p:nvSpPr>
        <p:spPr>
          <a:xfrm>
            <a:off x="4278630" y="3382645"/>
            <a:ext cx="76200" cy="297815"/>
          </a:xfrm>
          <a:prstGeom prst="rect">
            <a:avLst/>
          </a:prstGeom>
          <a:solidFill>
            <a:srgbClr val="15BAB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cs typeface="微软雅黑" panose="020B0503020204020204" charset="-122"/>
            </a:endParaRPr>
          </a:p>
        </p:txBody>
      </p:sp>
      <p:sp>
        <p:nvSpPr>
          <p:cNvPr id="69" name="文本框 68"/>
          <p:cNvSpPr txBox="1"/>
          <p:nvPr/>
        </p:nvSpPr>
        <p:spPr>
          <a:xfrm>
            <a:off x="4198620" y="3820160"/>
            <a:ext cx="3410585" cy="937260"/>
          </a:xfrm>
          <a:prstGeom prst="rect">
            <a:avLst/>
          </a:prstGeom>
        </p:spPr>
        <p:txBody>
          <a:bodyPr wrap="square">
            <a:spAutoFit/>
          </a:bodyPr>
          <a:p>
            <a:pPr marL="171450" indent="-171450" algn="l" fontAlgn="auto">
              <a:lnSpc>
                <a:spcPct val="125000"/>
              </a:lnSpc>
              <a:spcBef>
                <a:spcPts val="600"/>
              </a:spcBef>
              <a:spcAft>
                <a:spcPts val="0"/>
              </a:spcAft>
              <a:buFont typeface="Arial" panose="020B0604020202090204" pitchFamily="34" charset="0"/>
              <a:buChar char="•"/>
            </a:pP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弹性计算单实例可用性</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 SLA </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高达</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99.975%</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a:t>
            </a:r>
            <a:endPar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endParaRPr>
          </a:p>
          <a:p>
            <a:pPr marL="171450" indent="-171450" algn="l" fontAlgn="auto">
              <a:lnSpc>
                <a:spcPct val="125000"/>
              </a:lnSpc>
              <a:spcBef>
                <a:spcPts val="600"/>
              </a:spcBef>
              <a:spcAft>
                <a:spcPts val="0"/>
              </a:spcAft>
              <a:buFont typeface="Arial" panose="020B0604020202090204" pitchFamily="34" charset="0"/>
              <a:buChar char="•"/>
            </a:pP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数据存储设计可靠性高达</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12</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个</a:t>
            </a:r>
            <a:r>
              <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9</a:t>
            </a: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a:t>
            </a:r>
            <a:endParaRPr lang="en-US" altLang="zh-CN"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endParaRPr>
          </a:p>
          <a:p>
            <a:pPr marL="171450" indent="-171450" algn="l" fontAlgn="auto">
              <a:lnSpc>
                <a:spcPct val="125000"/>
              </a:lnSpc>
              <a:spcBef>
                <a:spcPts val="600"/>
              </a:spcBef>
              <a:spcAft>
                <a:spcPts val="0"/>
              </a:spcAft>
              <a:buFont typeface="Arial" panose="020B0604020202090204" pitchFamily="34" charset="0"/>
              <a:buChar char="•"/>
            </a:pP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提供稳如磐石的客户体验。</a:t>
            </a:r>
            <a:endPar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endParaRPr>
          </a:p>
        </p:txBody>
      </p:sp>
      <p:sp>
        <p:nvSpPr>
          <p:cNvPr id="70" name="文本框 69"/>
          <p:cNvSpPr txBox="1"/>
          <p:nvPr/>
        </p:nvSpPr>
        <p:spPr>
          <a:xfrm>
            <a:off x="8096885" y="3332480"/>
            <a:ext cx="2202815" cy="398780"/>
          </a:xfrm>
          <a:prstGeom prst="rect">
            <a:avLst/>
          </a:prstGeom>
        </p:spPr>
        <p:txBody>
          <a:bodyPr wrap="square">
            <a:spAutoFit/>
          </a:bodyPr>
          <a:p>
            <a:pPr marL="0" indent="0" algn="l"/>
            <a:r>
              <a:rPr lang="zh-CN" altLang="en-US" sz="2000" i="0">
                <a:solidFill>
                  <a:schemeClr val="tx1"/>
                </a:solidFill>
                <a:latin typeface="微软雅黑" panose="020B0503020204020204" charset="-122"/>
                <a:ea typeface="微软雅黑" panose="020B0503020204020204" charset="-122"/>
                <a:cs typeface="微软雅黑" panose="020B0503020204020204" charset="-122"/>
              </a:rPr>
              <a:t>安全合规</a:t>
            </a:r>
            <a:endParaRPr lang="zh-CN" altLang="en-US" sz="200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71" name="矩形 70"/>
          <p:cNvSpPr/>
          <p:nvPr/>
        </p:nvSpPr>
        <p:spPr>
          <a:xfrm>
            <a:off x="8011160" y="3382645"/>
            <a:ext cx="76200" cy="297815"/>
          </a:xfrm>
          <a:prstGeom prst="rect">
            <a:avLst/>
          </a:prstGeom>
          <a:solidFill>
            <a:srgbClr val="15BAB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cs typeface="微软雅黑" panose="020B0503020204020204" charset="-122"/>
            </a:endParaRPr>
          </a:p>
        </p:txBody>
      </p:sp>
      <p:sp>
        <p:nvSpPr>
          <p:cNvPr id="72" name="文本框 71"/>
          <p:cNvSpPr txBox="1"/>
          <p:nvPr/>
        </p:nvSpPr>
        <p:spPr>
          <a:xfrm>
            <a:off x="7922260" y="3820160"/>
            <a:ext cx="3679825" cy="1091565"/>
          </a:xfrm>
          <a:prstGeom prst="rect">
            <a:avLst/>
          </a:prstGeom>
        </p:spPr>
        <p:txBody>
          <a:bodyPr wrap="square">
            <a:spAutoFit/>
          </a:bodyPr>
          <a:p>
            <a:pPr marL="171450" indent="-171450" algn="l" fontAlgn="auto">
              <a:lnSpc>
                <a:spcPct val="125000"/>
              </a:lnSpc>
              <a:spcBef>
                <a:spcPts val="600"/>
              </a:spcBef>
              <a:spcAft>
                <a:spcPts val="0"/>
              </a:spcAft>
              <a:buFont typeface="Arial" panose="020B0604020202090204" pitchFamily="34" charset="0"/>
              <a:buChar char="•"/>
            </a:pP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亚太合规资质俱全的云服务商之一；</a:t>
            </a:r>
            <a:endPar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endParaRPr>
          </a:p>
          <a:p>
            <a:pPr marL="171450" indent="-171450" algn="l" fontAlgn="auto">
              <a:lnSpc>
                <a:spcPct val="125000"/>
              </a:lnSpc>
              <a:spcBef>
                <a:spcPts val="600"/>
              </a:spcBef>
              <a:spcAft>
                <a:spcPts val="0"/>
              </a:spcAft>
              <a:buFont typeface="Arial" panose="020B0604020202090204" pitchFamily="34" charset="0"/>
              <a:buChar char="•"/>
            </a:pPr>
            <a:r>
              <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rPr>
              <a:t>从基础设施安全、内核平台安全、系统服务安全、云安全产品四个层面，保障千行百业客户的业务安全在线。</a:t>
            </a:r>
            <a:endParaRPr lang="zh-CN" altLang="en-US" sz="1200" b="0" i="0">
              <a:solidFill>
                <a:schemeClr val="tx1">
                  <a:lumMod val="75000"/>
                  <a:lumOff val="25000"/>
                </a:schemeClr>
              </a:solidFill>
              <a:latin typeface="微软雅黑 Light" panose="020B0502040204020203" charset="-122"/>
              <a:ea typeface="微软雅黑 Light" panose="020B0502040204020203" charset="-122"/>
              <a:cs typeface="微软雅黑" panose="020B0503020204020204" charset="-122"/>
            </a:endParaRPr>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4037330"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a:t>
            </a:r>
            <a:r>
              <a:rPr lang="en-US" altLang="zh-CN" sz="2400">
                <a:latin typeface="微软雅黑 Light" panose="020B0502040204020203" charset="-122"/>
                <a:ea typeface="微软雅黑 Light" panose="020B0502040204020203" charset="-122"/>
                <a:cs typeface="微软雅黑 Light" panose="020B0502040204020203" charset="-122"/>
              </a:rPr>
              <a:t>&amp;</a:t>
            </a:r>
            <a:r>
              <a:rPr lang="zh-CN" altLang="en-US" sz="2400">
                <a:latin typeface="微软雅黑 Light" panose="020B0502040204020203" charset="-122"/>
                <a:ea typeface="微软雅黑 Light" panose="020B0502040204020203" charset="-122"/>
                <a:cs typeface="微软雅黑 Light" panose="020B0502040204020203" charset="-122"/>
              </a:rPr>
              <a:t>阿里云</a:t>
            </a:r>
            <a:r>
              <a:rPr lang="en-US" altLang="zh-CN" sz="2400">
                <a:latin typeface="微软雅黑 Light" panose="020B0502040204020203" charset="-122"/>
                <a:ea typeface="微软雅黑 Light" panose="020B0502040204020203" charset="-122"/>
                <a:cs typeface="微软雅黑 Light" panose="020B0502040204020203" charset="-122"/>
              </a:rPr>
              <a:t> </a:t>
            </a:r>
            <a:r>
              <a:rPr lang="en-US" altLang="zh-CN" sz="1600">
                <a:latin typeface="微软雅黑 Light" panose="020B0502040204020203" charset="-122"/>
                <a:ea typeface="微软雅黑 Light" panose="020B0502040204020203" charset="-122"/>
                <a:cs typeface="微软雅黑 Light" panose="020B0502040204020203" charset="-122"/>
              </a:rPr>
              <a:t>COOPERATION</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1076325"/>
          </a:xfrm>
          <a:prstGeom prst="rect">
            <a:avLst/>
          </a:prstGeom>
          <a:noFill/>
        </p:spPr>
        <p:txBody>
          <a:bodyPr wrap="square" rtlCol="0" anchor="t">
            <a:spAutoFit/>
          </a:bodyPr>
          <a:p>
            <a:pPr lvl="0" algn="l">
              <a:buClrTx/>
              <a:buSzTx/>
              <a:buFontTx/>
            </a:pPr>
            <a:r>
              <a:rPr lang="zh-CN" altLang="en-US" sz="3200" b="1">
                <a:solidFill>
                  <a:srgbClr val="3671F6"/>
                </a:solidFill>
                <a:sym typeface="+mn-ea"/>
              </a:rPr>
              <a:t>基于阿里云全面的云产品体系</a:t>
            </a:r>
            <a:endParaRPr lang="zh-CN" altLang="en-US" sz="3200" b="1">
              <a:solidFill>
                <a:srgbClr val="3671F6"/>
              </a:solidFill>
              <a:sym typeface="+mn-ea"/>
            </a:endParaRPr>
          </a:p>
          <a:p>
            <a:pPr lvl="0" algn="l">
              <a:buClrTx/>
              <a:buSzTx/>
              <a:buFontTx/>
            </a:pPr>
            <a:r>
              <a:rPr lang="zh-CN" altLang="en-US" sz="3200" b="1">
                <a:solidFill>
                  <a:srgbClr val="3671F6"/>
                </a:solidFill>
                <a:sym typeface="+mn-ea"/>
              </a:rPr>
              <a:t>为企业打造技术创新的云</a:t>
            </a:r>
            <a:endParaRPr lang="zh-CN" altLang="en-US" sz="3200" b="1">
              <a:solidFill>
                <a:srgbClr val="3671F6"/>
              </a:solidFill>
              <a:sym typeface="+mn-ea"/>
            </a:endParaRPr>
          </a:p>
        </p:txBody>
      </p:sp>
      <p:sp>
        <p:nvSpPr>
          <p:cNvPr id="3" name="矩形 2"/>
          <p:cNvSpPr/>
          <p:nvPr/>
        </p:nvSpPr>
        <p:spPr>
          <a:xfrm>
            <a:off x="593725" y="2338070"/>
            <a:ext cx="6178550" cy="2103755"/>
          </a:xfrm>
          <a:prstGeom prst="rect">
            <a:avLst/>
          </a:prstGeom>
          <a:gradFill>
            <a:gsLst>
              <a:gs pos="84000">
                <a:srgbClr val="3671F6">
                  <a:alpha val="10000"/>
                </a:srgbClr>
              </a:gs>
              <a:gs pos="100000">
                <a:srgbClr val="15BAB1">
                  <a:alpha val="40000"/>
                </a:srgbClr>
              </a:gs>
            </a:gsLst>
            <a:lin ang="5400000" scaled="0"/>
          </a:gradFill>
          <a:ln>
            <a:noFill/>
            <a:prstDash val="dash"/>
          </a:ln>
          <a:effectLst/>
          <a:scene3d>
            <a:camera prst="orthographicFront"/>
            <a:lightRig rig="threePt" dir="t"/>
          </a:scene3d>
          <a:sp3d>
            <a:extrusionClr>
              <a:schemeClr val="bg1">
                <a:lumMod val="8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微软雅黑" panose="020B0503020204020204" charset="-122"/>
            </a:endParaRPr>
          </a:p>
        </p:txBody>
      </p:sp>
      <p:sp>
        <p:nvSpPr>
          <p:cNvPr id="22" name="文本框 21"/>
          <p:cNvSpPr txBox="1"/>
          <p:nvPr/>
        </p:nvSpPr>
        <p:spPr>
          <a:xfrm>
            <a:off x="803275" y="2555240"/>
            <a:ext cx="5462905" cy="645160"/>
          </a:xfrm>
          <a:prstGeom prst="rect">
            <a:avLst/>
          </a:prstGeom>
          <a:noFill/>
        </p:spPr>
        <p:txBody>
          <a:bodyPr wrap="square" rtlCol="0">
            <a:spAutoFit/>
          </a:bodyPr>
          <a:p>
            <a:r>
              <a:rPr lang="zh-CN" altLang="en-US" sz="3600">
                <a:solidFill>
                  <a:schemeClr val="tx1">
                    <a:lumMod val="85000"/>
                    <a:lumOff val="15000"/>
                  </a:schemeClr>
                </a:solidFill>
                <a:latin typeface="+mj-ea"/>
                <a:ea typeface="+mj-ea"/>
                <a:cs typeface="微软雅黑" panose="020B0503020204020204" charset="-122"/>
              </a:rPr>
              <a:t>云基础产品与基础设施</a:t>
            </a:r>
            <a:endParaRPr lang="zh-CN" altLang="en-US" sz="3600">
              <a:solidFill>
                <a:schemeClr val="tx1">
                  <a:lumMod val="85000"/>
                  <a:lumOff val="15000"/>
                </a:schemeClr>
              </a:solidFill>
              <a:latin typeface="+mj-ea"/>
              <a:ea typeface="+mj-ea"/>
              <a:cs typeface="微软雅黑" panose="020B0503020204020204" charset="-122"/>
            </a:endParaRPr>
          </a:p>
        </p:txBody>
      </p:sp>
      <p:sp>
        <p:nvSpPr>
          <p:cNvPr id="30" name="文本框 29"/>
          <p:cNvSpPr txBox="1"/>
          <p:nvPr/>
        </p:nvSpPr>
        <p:spPr>
          <a:xfrm>
            <a:off x="861060" y="3814445"/>
            <a:ext cx="638175" cy="306705"/>
          </a:xfrm>
          <a:prstGeom prst="rect">
            <a:avLst/>
          </a:prstGeom>
          <a:noFill/>
        </p:spPr>
        <p:txBody>
          <a:bodyPr wrap="square" rtlCol="0">
            <a:spAutoFit/>
          </a:bodyPr>
          <a:p>
            <a:r>
              <a:rPr lang="zh-CN" altLang="en-US" sz="1400">
                <a:solidFill>
                  <a:srgbClr val="15BAB1"/>
                </a:solidFill>
                <a:latin typeface="微软雅黑" panose="020B0503020204020204" charset="-122"/>
                <a:ea typeface="微软雅黑" panose="020B0503020204020204" charset="-122"/>
                <a:cs typeface="微软雅黑" panose="020B0503020204020204" charset="-122"/>
              </a:rPr>
              <a:t>计算</a:t>
            </a:r>
            <a:endParaRPr lang="zh-CN" altLang="en-US" sz="14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1470025" y="3814445"/>
            <a:ext cx="633730" cy="306705"/>
          </a:xfrm>
          <a:prstGeom prst="rect">
            <a:avLst/>
          </a:prstGeom>
          <a:noFill/>
        </p:spPr>
        <p:txBody>
          <a:bodyPr wrap="square" rtlCol="0">
            <a:spAutoFit/>
          </a:bodyPr>
          <a:p>
            <a:r>
              <a:rPr lang="zh-CN" altLang="en-US" sz="1400">
                <a:solidFill>
                  <a:srgbClr val="15BAB1"/>
                </a:solidFill>
                <a:latin typeface="微软雅黑" panose="020B0503020204020204" charset="-122"/>
                <a:ea typeface="微软雅黑" panose="020B0503020204020204" charset="-122"/>
                <a:cs typeface="微软雅黑" panose="020B0503020204020204" charset="-122"/>
              </a:rPr>
              <a:t>存储</a:t>
            </a:r>
            <a:endParaRPr lang="zh-CN" altLang="en-US" sz="14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2074545" y="3814445"/>
            <a:ext cx="636270" cy="306705"/>
          </a:xfrm>
          <a:prstGeom prst="rect">
            <a:avLst/>
          </a:prstGeom>
          <a:noFill/>
        </p:spPr>
        <p:txBody>
          <a:bodyPr wrap="square" rtlCol="0">
            <a:spAutoFit/>
          </a:bodyPr>
          <a:p>
            <a:r>
              <a:rPr lang="zh-CN" altLang="en-US" sz="1400">
                <a:solidFill>
                  <a:srgbClr val="15BAB1"/>
                </a:solidFill>
                <a:latin typeface="微软雅黑" panose="020B0503020204020204" charset="-122"/>
                <a:ea typeface="微软雅黑" panose="020B0503020204020204" charset="-122"/>
                <a:cs typeface="微软雅黑" panose="020B0503020204020204" charset="-122"/>
              </a:rPr>
              <a:t>安全</a:t>
            </a:r>
            <a:endParaRPr lang="zh-CN" altLang="en-US" sz="14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nvSpPr>
        <p:spPr>
          <a:xfrm>
            <a:off x="2681605" y="3814445"/>
            <a:ext cx="1526540" cy="306705"/>
          </a:xfrm>
          <a:prstGeom prst="rect">
            <a:avLst/>
          </a:prstGeom>
          <a:noFill/>
        </p:spPr>
        <p:txBody>
          <a:bodyPr wrap="square" rtlCol="0">
            <a:spAutoFit/>
          </a:bodyPr>
          <a:p>
            <a:r>
              <a:rPr lang="zh-CN" altLang="en-US" sz="1400">
                <a:solidFill>
                  <a:srgbClr val="15BAB1"/>
                </a:solidFill>
                <a:latin typeface="微软雅黑" panose="020B0503020204020204" charset="-122"/>
                <a:ea typeface="微软雅黑" panose="020B0503020204020204" charset="-122"/>
                <a:cs typeface="微软雅黑" panose="020B0503020204020204" charset="-122"/>
              </a:rPr>
              <a:t>云原生应用平台</a:t>
            </a:r>
            <a:endParaRPr lang="zh-CN" altLang="en-US" sz="14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4178935" y="3814445"/>
            <a:ext cx="697230" cy="306705"/>
          </a:xfrm>
          <a:prstGeom prst="rect">
            <a:avLst/>
          </a:prstGeom>
          <a:noFill/>
        </p:spPr>
        <p:txBody>
          <a:bodyPr wrap="square" rtlCol="0">
            <a:spAutoFit/>
          </a:bodyPr>
          <a:p>
            <a:r>
              <a:rPr lang="zh-CN" altLang="en-US" sz="1400">
                <a:solidFill>
                  <a:srgbClr val="15BAB1"/>
                </a:solidFill>
                <a:latin typeface="微软雅黑" panose="020B0503020204020204" charset="-122"/>
                <a:ea typeface="微软雅黑" panose="020B0503020204020204" charset="-122"/>
                <a:cs typeface="微软雅黑" panose="020B0503020204020204" charset="-122"/>
              </a:rPr>
              <a:t>网络</a:t>
            </a:r>
            <a:endParaRPr lang="zh-CN" altLang="en-US" sz="14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4846955" y="3814445"/>
            <a:ext cx="1191260" cy="306705"/>
          </a:xfrm>
          <a:prstGeom prst="rect">
            <a:avLst/>
          </a:prstGeom>
          <a:noFill/>
        </p:spPr>
        <p:txBody>
          <a:bodyPr wrap="square" rtlCol="0">
            <a:spAutoFit/>
          </a:bodyPr>
          <a:p>
            <a:r>
              <a:rPr lang="zh-CN" altLang="en-US" sz="1400">
                <a:solidFill>
                  <a:srgbClr val="15BAB1"/>
                </a:solidFill>
                <a:latin typeface="微软雅黑" panose="020B0503020204020204" charset="-122"/>
                <a:ea typeface="微软雅黑" panose="020B0503020204020204" charset="-122"/>
                <a:cs typeface="微软雅黑" panose="020B0503020204020204" charset="-122"/>
              </a:rPr>
              <a:t>企业</a:t>
            </a:r>
            <a:r>
              <a:rPr lang="en-US" altLang="zh-CN" sz="1400">
                <a:solidFill>
                  <a:srgbClr val="15BAB1"/>
                </a:solidFill>
                <a:latin typeface="微软雅黑" panose="020B0503020204020204" charset="-122"/>
                <a:ea typeface="微软雅黑" panose="020B0503020204020204" charset="-122"/>
                <a:cs typeface="微软雅黑" panose="020B0503020204020204" charset="-122"/>
              </a:rPr>
              <a:t>IT</a:t>
            </a:r>
            <a:r>
              <a:rPr lang="zh-CN" altLang="en-US" sz="1400">
                <a:solidFill>
                  <a:srgbClr val="15BAB1"/>
                </a:solidFill>
                <a:latin typeface="微软雅黑" panose="020B0503020204020204" charset="-122"/>
                <a:ea typeface="微软雅黑" panose="020B0503020204020204" charset="-122"/>
                <a:cs typeface="微软雅黑" panose="020B0503020204020204" charset="-122"/>
              </a:rPr>
              <a:t>治理</a:t>
            </a:r>
            <a:endParaRPr lang="zh-CN" altLang="en-US" sz="14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nvSpPr>
        <p:spPr>
          <a:xfrm>
            <a:off x="6917690" y="2331085"/>
            <a:ext cx="4617720" cy="2118360"/>
          </a:xfrm>
          <a:prstGeom prst="rect">
            <a:avLst/>
          </a:prstGeom>
          <a:gradFill>
            <a:gsLst>
              <a:gs pos="84000">
                <a:srgbClr val="3671F6">
                  <a:alpha val="10000"/>
                </a:srgbClr>
              </a:gs>
              <a:gs pos="100000">
                <a:srgbClr val="3671F6">
                  <a:alpha val="40000"/>
                </a:srgbClr>
              </a:gs>
            </a:gsLst>
            <a:lin ang="5400000" scaled="0"/>
          </a:gradFill>
          <a:ln>
            <a:noFill/>
            <a:prstDash val="dash"/>
          </a:ln>
          <a:effectLst/>
          <a:scene3d>
            <a:camera prst="orthographicFront"/>
            <a:lightRig rig="threePt" dir="t"/>
          </a:scene3d>
          <a:sp3d>
            <a:extrusionClr>
              <a:schemeClr val="bg1">
                <a:lumMod val="85000"/>
              </a:schemeClr>
            </a:extrusionClr>
          </a:sp3d>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4" name="文本框 23"/>
          <p:cNvSpPr txBox="1"/>
          <p:nvPr/>
        </p:nvSpPr>
        <p:spPr>
          <a:xfrm>
            <a:off x="6988810" y="2555240"/>
            <a:ext cx="3118485" cy="583565"/>
          </a:xfrm>
          <a:prstGeom prst="rect">
            <a:avLst/>
          </a:prstGeom>
          <a:noFill/>
        </p:spPr>
        <p:txBody>
          <a:bodyPr wrap="square" rtlCol="0">
            <a:spAutoFit/>
          </a:bodyPr>
          <a:p>
            <a:r>
              <a:rPr lang="en-US" altLang="zh-CN" sz="3200">
                <a:solidFill>
                  <a:schemeClr val="tx1">
                    <a:lumMod val="85000"/>
                    <a:lumOff val="15000"/>
                  </a:schemeClr>
                </a:solidFill>
                <a:latin typeface="+mj-ea"/>
                <a:ea typeface="+mj-ea"/>
                <a:cs typeface="+mj-ea"/>
              </a:rPr>
              <a:t>AI</a:t>
            </a:r>
            <a:r>
              <a:rPr lang="zh-CN" altLang="en-US" sz="3200">
                <a:solidFill>
                  <a:schemeClr val="tx1">
                    <a:lumMod val="85000"/>
                    <a:lumOff val="15000"/>
                  </a:schemeClr>
                </a:solidFill>
                <a:latin typeface="+mj-ea"/>
                <a:ea typeface="+mj-ea"/>
                <a:cs typeface="+mj-ea"/>
              </a:rPr>
              <a:t>与机器学习</a:t>
            </a:r>
            <a:endParaRPr lang="zh-CN" altLang="en-US" sz="3200">
              <a:solidFill>
                <a:schemeClr val="tx1">
                  <a:lumMod val="85000"/>
                  <a:lumOff val="15000"/>
                </a:schemeClr>
              </a:solidFill>
              <a:latin typeface="+mj-ea"/>
              <a:ea typeface="+mj-ea"/>
              <a:cs typeface="+mj-ea"/>
            </a:endParaRPr>
          </a:p>
        </p:txBody>
      </p:sp>
      <p:sp>
        <p:nvSpPr>
          <p:cNvPr id="2" name="文本框 1"/>
          <p:cNvSpPr txBox="1"/>
          <p:nvPr/>
        </p:nvSpPr>
        <p:spPr>
          <a:xfrm>
            <a:off x="7000875" y="3814445"/>
            <a:ext cx="1448435" cy="275590"/>
          </a:xfrm>
          <a:prstGeom prst="rect">
            <a:avLst/>
          </a:prstGeom>
          <a:noFill/>
        </p:spPr>
        <p:txBody>
          <a:bodyPr wrap="square" rtlCol="0">
            <a:spAutoFit/>
          </a:bodyPr>
          <a:p>
            <a:r>
              <a:rPr lang="en-US" altLang="zh-CN" sz="1200">
                <a:solidFill>
                  <a:srgbClr val="3A85F4"/>
                </a:solidFill>
                <a:latin typeface="微软雅黑" panose="020B0503020204020204" charset="-122"/>
                <a:ea typeface="微软雅黑" panose="020B0503020204020204" charset="-122"/>
                <a:cs typeface="微软雅黑" panose="020B0503020204020204" charset="-122"/>
              </a:rPr>
              <a:t>AI</a:t>
            </a:r>
            <a:r>
              <a:rPr lang="zh-CN" altLang="en-US" sz="1200">
                <a:solidFill>
                  <a:srgbClr val="3A85F4"/>
                </a:solidFill>
                <a:latin typeface="微软雅黑" panose="020B0503020204020204" charset="-122"/>
                <a:ea typeface="微软雅黑" panose="020B0503020204020204" charset="-122"/>
                <a:cs typeface="微软雅黑" panose="020B0503020204020204" charset="-122"/>
              </a:rPr>
              <a:t>通用算法与应用</a:t>
            </a:r>
            <a:endParaRPr lang="zh-CN" altLang="en-US" sz="1200">
              <a:solidFill>
                <a:srgbClr val="3A85F4"/>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8449310" y="3814445"/>
            <a:ext cx="899160" cy="275590"/>
          </a:xfrm>
          <a:prstGeom prst="rect">
            <a:avLst/>
          </a:prstGeom>
          <a:noFill/>
        </p:spPr>
        <p:txBody>
          <a:bodyPr wrap="square" rtlCol="0">
            <a:spAutoFit/>
          </a:bodyPr>
          <a:p>
            <a:r>
              <a:rPr lang="zh-CN" sz="1200">
                <a:solidFill>
                  <a:srgbClr val="3A85F4"/>
                </a:solidFill>
                <a:latin typeface="微软雅黑" panose="020B0503020204020204" charset="-122"/>
                <a:ea typeface="微软雅黑" panose="020B0503020204020204" charset="-122"/>
                <a:cs typeface="微软雅黑" panose="020B0503020204020204" charset="-122"/>
              </a:rPr>
              <a:t>产业智能</a:t>
            </a:r>
            <a:endParaRPr lang="zh-CN" sz="1200">
              <a:solidFill>
                <a:srgbClr val="3A85F4"/>
              </a:solidFill>
              <a:latin typeface="微软雅黑" panose="020B0503020204020204" charset="-122"/>
              <a:ea typeface="微软雅黑" panose="020B0503020204020204" charset="-122"/>
              <a:cs typeface="微软雅黑" panose="020B0503020204020204" charset="-122"/>
            </a:endParaRPr>
          </a:p>
        </p:txBody>
      </p:sp>
      <p:sp>
        <p:nvSpPr>
          <p:cNvPr id="38" name="文本框 37"/>
          <p:cNvSpPr txBox="1"/>
          <p:nvPr/>
        </p:nvSpPr>
        <p:spPr>
          <a:xfrm>
            <a:off x="9352915" y="3822065"/>
            <a:ext cx="1448435" cy="275590"/>
          </a:xfrm>
          <a:prstGeom prst="rect">
            <a:avLst/>
          </a:prstGeom>
          <a:noFill/>
        </p:spPr>
        <p:txBody>
          <a:bodyPr wrap="square" rtlCol="0">
            <a:spAutoFit/>
          </a:bodyPr>
          <a:p>
            <a:r>
              <a:rPr lang="zh-CN" sz="1200">
                <a:solidFill>
                  <a:srgbClr val="3A85F4"/>
                </a:solidFill>
                <a:latin typeface="微软雅黑" panose="020B0503020204020204" charset="-122"/>
                <a:ea typeface="微软雅黑" panose="020B0503020204020204" charset="-122"/>
                <a:cs typeface="微软雅黑" panose="020B0503020204020204" charset="-122"/>
              </a:rPr>
              <a:t>机器学习平台</a:t>
            </a:r>
            <a:endParaRPr lang="zh-CN" sz="1200">
              <a:solidFill>
                <a:srgbClr val="3A85F4"/>
              </a:solidFill>
              <a:latin typeface="微软雅黑" panose="020B0503020204020204" charset="-122"/>
              <a:ea typeface="微软雅黑" panose="020B0503020204020204" charset="-122"/>
              <a:cs typeface="微软雅黑" panose="020B0503020204020204" charset="-122"/>
            </a:endParaRPr>
          </a:p>
        </p:txBody>
      </p:sp>
      <p:sp>
        <p:nvSpPr>
          <p:cNvPr id="8" name="矩形 7"/>
          <p:cNvSpPr/>
          <p:nvPr/>
        </p:nvSpPr>
        <p:spPr>
          <a:xfrm>
            <a:off x="593725" y="4566285"/>
            <a:ext cx="5186045" cy="1934845"/>
          </a:xfrm>
          <a:prstGeom prst="rect">
            <a:avLst/>
          </a:prstGeom>
          <a:gradFill>
            <a:gsLst>
              <a:gs pos="84000">
                <a:srgbClr val="3671F6">
                  <a:alpha val="10000"/>
                </a:srgbClr>
              </a:gs>
              <a:gs pos="100000">
                <a:srgbClr val="3671F6">
                  <a:alpha val="40000"/>
                </a:srgbClr>
              </a:gs>
            </a:gsLst>
            <a:lin ang="5400000" scaled="0"/>
          </a:gradFill>
          <a:ln>
            <a:noFill/>
            <a:prstDash val="dash"/>
          </a:ln>
          <a:effectLst/>
          <a:scene3d>
            <a:camera prst="orthographicFront"/>
            <a:lightRig rig="threePt" dir="t"/>
          </a:scene3d>
          <a:sp3d>
            <a:extrusionClr>
              <a:schemeClr val="bg1">
                <a:lumMod val="85000"/>
              </a:schemeClr>
            </a:extrusionClr>
          </a:sp3d>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3" name="文本框 22"/>
          <p:cNvSpPr txBox="1"/>
          <p:nvPr/>
        </p:nvSpPr>
        <p:spPr>
          <a:xfrm>
            <a:off x="803275" y="4847590"/>
            <a:ext cx="3637280" cy="521970"/>
          </a:xfrm>
          <a:prstGeom prst="rect">
            <a:avLst/>
          </a:prstGeom>
          <a:noFill/>
        </p:spPr>
        <p:txBody>
          <a:bodyPr wrap="square" rtlCol="0">
            <a:spAutoFit/>
          </a:bodyPr>
          <a:p>
            <a:r>
              <a:rPr lang="zh-CN" altLang="en-US" sz="2800">
                <a:solidFill>
                  <a:schemeClr val="tx1">
                    <a:lumMod val="85000"/>
                    <a:lumOff val="15000"/>
                  </a:schemeClr>
                </a:solidFill>
                <a:latin typeface="+mj-ea"/>
                <a:ea typeface="+mj-ea"/>
                <a:cs typeface="微软雅黑" panose="020B0503020204020204" charset="-122"/>
              </a:rPr>
              <a:t>企业服务与媒体服务</a:t>
            </a:r>
            <a:endParaRPr lang="zh-CN" altLang="en-US" sz="2800">
              <a:solidFill>
                <a:schemeClr val="tx1">
                  <a:lumMod val="85000"/>
                  <a:lumOff val="15000"/>
                </a:schemeClr>
              </a:solidFill>
              <a:latin typeface="+mj-ea"/>
              <a:ea typeface="+mj-ea"/>
              <a:cs typeface="微软雅黑" panose="020B0503020204020204" charset="-122"/>
            </a:endParaRPr>
          </a:p>
        </p:txBody>
      </p:sp>
      <p:sp>
        <p:nvSpPr>
          <p:cNvPr id="10" name="矩形 9"/>
          <p:cNvSpPr/>
          <p:nvPr/>
        </p:nvSpPr>
        <p:spPr>
          <a:xfrm>
            <a:off x="5900420" y="4567555"/>
            <a:ext cx="2473325" cy="1925955"/>
          </a:xfrm>
          <a:prstGeom prst="rect">
            <a:avLst/>
          </a:prstGeom>
          <a:gradFill>
            <a:gsLst>
              <a:gs pos="84000">
                <a:srgbClr val="3671F6">
                  <a:alpha val="10000"/>
                </a:srgbClr>
              </a:gs>
              <a:gs pos="100000">
                <a:srgbClr val="15BAB1">
                  <a:alpha val="40000"/>
                </a:srgbClr>
              </a:gs>
            </a:gsLst>
            <a:lin ang="5400000" scaled="0"/>
          </a:gradFill>
          <a:ln>
            <a:noFill/>
            <a:prstDash val="dash"/>
          </a:ln>
          <a:effectLst/>
          <a:scene3d>
            <a:camera prst="orthographicFront"/>
            <a:lightRig rig="threePt" dir="t"/>
          </a:scene3d>
          <a:sp3d>
            <a:extrusionClr>
              <a:schemeClr val="bg1">
                <a:lumMod val="85000"/>
              </a:schemeClr>
            </a:extrusionClr>
          </a:sp3d>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7" name="文本框 26"/>
          <p:cNvSpPr txBox="1"/>
          <p:nvPr/>
        </p:nvSpPr>
        <p:spPr>
          <a:xfrm>
            <a:off x="5953760" y="4847590"/>
            <a:ext cx="2271395" cy="398780"/>
          </a:xfrm>
          <a:prstGeom prst="rect">
            <a:avLst/>
          </a:prstGeom>
          <a:noFill/>
        </p:spPr>
        <p:txBody>
          <a:bodyPr wrap="square" rtlCol="0">
            <a:spAutoFit/>
          </a:bodyPr>
          <a:p>
            <a:r>
              <a:rPr lang="zh-CN" sz="2000">
                <a:solidFill>
                  <a:schemeClr val="tx1">
                    <a:lumMod val="85000"/>
                    <a:lumOff val="15000"/>
                  </a:schemeClr>
                </a:solidFill>
                <a:latin typeface="+mj-ea"/>
                <a:ea typeface="+mj-ea"/>
                <a:cs typeface="微软雅黑" panose="020B0503020204020204" charset="-122"/>
              </a:rPr>
              <a:t>物联网与智能终端</a:t>
            </a:r>
            <a:endParaRPr lang="zh-CN" sz="2000">
              <a:solidFill>
                <a:schemeClr val="tx1">
                  <a:lumMod val="85000"/>
                  <a:lumOff val="15000"/>
                </a:schemeClr>
              </a:solidFill>
              <a:latin typeface="+mj-ea"/>
              <a:ea typeface="+mj-ea"/>
              <a:cs typeface="微软雅黑" panose="020B0503020204020204" charset="-122"/>
            </a:endParaRPr>
          </a:p>
        </p:txBody>
      </p:sp>
      <p:sp>
        <p:nvSpPr>
          <p:cNvPr id="43" name="文本框 42"/>
          <p:cNvSpPr txBox="1"/>
          <p:nvPr/>
        </p:nvSpPr>
        <p:spPr>
          <a:xfrm>
            <a:off x="5953760" y="5369560"/>
            <a:ext cx="1130935" cy="245110"/>
          </a:xfrm>
          <a:prstGeom prst="rect">
            <a:avLst/>
          </a:prstGeom>
          <a:noFill/>
        </p:spPr>
        <p:txBody>
          <a:bodyPr wrap="square" rtlCol="0">
            <a:spAutoFit/>
          </a:bodyPr>
          <a:p>
            <a:r>
              <a:rPr lang="zh-CN" sz="1000">
                <a:solidFill>
                  <a:srgbClr val="15BAB1"/>
                </a:solidFill>
                <a:latin typeface="微软雅黑" panose="020B0503020204020204" charset="-122"/>
                <a:ea typeface="微软雅黑" panose="020B0503020204020204" charset="-122"/>
                <a:cs typeface="微软雅黑" panose="020B0503020204020204" charset="-122"/>
              </a:rPr>
              <a:t>工业互联网平台</a:t>
            </a:r>
            <a:endParaRPr lang="zh-CN" sz="10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7084060" y="5369560"/>
            <a:ext cx="854075" cy="245110"/>
          </a:xfrm>
          <a:prstGeom prst="rect">
            <a:avLst/>
          </a:prstGeom>
          <a:noFill/>
        </p:spPr>
        <p:txBody>
          <a:bodyPr wrap="square" rtlCol="0">
            <a:spAutoFit/>
          </a:bodyPr>
          <a:p>
            <a:r>
              <a:rPr lang="zh-CN" sz="1000">
                <a:solidFill>
                  <a:srgbClr val="15BAB1"/>
                </a:solidFill>
                <a:latin typeface="微软雅黑" panose="020B0503020204020204" charset="-122"/>
                <a:ea typeface="微软雅黑" panose="020B0503020204020204" charset="-122"/>
                <a:cs typeface="微软雅黑" panose="020B0503020204020204" charset="-122"/>
              </a:rPr>
              <a:t>物联网平台</a:t>
            </a:r>
            <a:endParaRPr lang="zh-CN" sz="10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nvSpPr>
        <p:spPr>
          <a:xfrm>
            <a:off x="5953760" y="5623560"/>
            <a:ext cx="1468120" cy="245110"/>
          </a:xfrm>
          <a:prstGeom prst="rect">
            <a:avLst/>
          </a:prstGeom>
          <a:noFill/>
        </p:spPr>
        <p:txBody>
          <a:bodyPr wrap="square" rtlCol="0">
            <a:spAutoFit/>
          </a:bodyPr>
          <a:p>
            <a:r>
              <a:rPr lang="zh-CN" sz="1000">
                <a:solidFill>
                  <a:srgbClr val="15BAB1"/>
                </a:solidFill>
                <a:latin typeface="微软雅黑" panose="020B0503020204020204" charset="-122"/>
                <a:ea typeface="微软雅黑" panose="020B0503020204020204" charset="-122"/>
                <a:cs typeface="微软雅黑" panose="020B0503020204020204" charset="-122"/>
              </a:rPr>
              <a:t>物联网无线连接服务</a:t>
            </a:r>
            <a:endParaRPr lang="zh-CN" sz="10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5953760" y="5868670"/>
            <a:ext cx="1468120" cy="245110"/>
          </a:xfrm>
          <a:prstGeom prst="rect">
            <a:avLst/>
          </a:prstGeom>
          <a:noFill/>
        </p:spPr>
        <p:txBody>
          <a:bodyPr wrap="square" rtlCol="0">
            <a:spAutoFit/>
          </a:bodyPr>
          <a:p>
            <a:r>
              <a:rPr lang="en-US" altLang="zh-CN" sz="1000">
                <a:solidFill>
                  <a:srgbClr val="15BAB1"/>
                </a:solidFill>
                <a:latin typeface="微软雅黑" panose="020B0503020204020204" charset="-122"/>
                <a:ea typeface="微软雅黑" panose="020B0503020204020204" charset="-122"/>
                <a:cs typeface="微软雅黑" panose="020B0503020204020204" charset="-122"/>
              </a:rPr>
              <a:t>IOT</a:t>
            </a:r>
            <a:r>
              <a:rPr lang="zh-CN" altLang="en-US" sz="1000">
                <a:solidFill>
                  <a:srgbClr val="15BAB1"/>
                </a:solidFill>
                <a:latin typeface="微软雅黑" panose="020B0503020204020204" charset="-122"/>
                <a:ea typeface="微软雅黑" panose="020B0503020204020204" charset="-122"/>
                <a:cs typeface="微软雅黑" panose="020B0503020204020204" charset="-122"/>
              </a:rPr>
              <a:t>设备身份认证</a:t>
            </a:r>
            <a:endParaRPr lang="zh-CN" altLang="en-US" sz="10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13" name="矩形 12"/>
          <p:cNvSpPr/>
          <p:nvPr/>
        </p:nvSpPr>
        <p:spPr>
          <a:xfrm>
            <a:off x="8479790" y="4575175"/>
            <a:ext cx="1511935" cy="1925955"/>
          </a:xfrm>
          <a:prstGeom prst="rect">
            <a:avLst/>
          </a:prstGeom>
          <a:gradFill>
            <a:gsLst>
              <a:gs pos="84000">
                <a:srgbClr val="3671F6">
                  <a:alpha val="10000"/>
                </a:srgbClr>
              </a:gs>
              <a:gs pos="100000">
                <a:srgbClr val="3671F6">
                  <a:alpha val="40000"/>
                </a:srgbClr>
              </a:gs>
            </a:gsLst>
            <a:lin ang="5400000" scaled="0"/>
          </a:gradFill>
          <a:ln>
            <a:noFill/>
            <a:prstDash val="dash"/>
          </a:ln>
          <a:effectLst/>
          <a:scene3d>
            <a:camera prst="orthographicFront"/>
            <a:lightRig rig="threePt" dir="t"/>
          </a:scene3d>
          <a:sp3d>
            <a:extrusionClr>
              <a:schemeClr val="bg1">
                <a:lumMod val="85000"/>
              </a:schemeClr>
            </a:extrusionClr>
          </a:sp3d>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5" name="矩形 14"/>
          <p:cNvSpPr/>
          <p:nvPr/>
        </p:nvSpPr>
        <p:spPr>
          <a:xfrm>
            <a:off x="10097135" y="4567555"/>
            <a:ext cx="1414145" cy="1925955"/>
          </a:xfrm>
          <a:prstGeom prst="rect">
            <a:avLst/>
          </a:prstGeom>
          <a:gradFill>
            <a:gsLst>
              <a:gs pos="84000">
                <a:srgbClr val="3671F6">
                  <a:alpha val="10000"/>
                </a:srgbClr>
              </a:gs>
              <a:gs pos="100000">
                <a:srgbClr val="15BAB1">
                  <a:alpha val="40000"/>
                </a:srgbClr>
              </a:gs>
            </a:gsLst>
            <a:lin ang="5400000" scaled="0"/>
          </a:gradFill>
          <a:ln>
            <a:noFill/>
            <a:prstDash val="dash"/>
          </a:ln>
          <a:effectLst/>
          <a:scene3d>
            <a:camera prst="orthographicFront"/>
            <a:lightRig rig="threePt" dir="t"/>
          </a:scene3d>
          <a:sp3d>
            <a:extrusionClr>
              <a:schemeClr val="bg1">
                <a:lumMod val="85000"/>
              </a:schemeClr>
            </a:extrusionClr>
          </a:sp3d>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7" name="文本框 16"/>
          <p:cNvSpPr txBox="1"/>
          <p:nvPr/>
        </p:nvSpPr>
        <p:spPr>
          <a:xfrm>
            <a:off x="848360" y="3267075"/>
            <a:ext cx="5707380" cy="475615"/>
          </a:xfrm>
          <a:prstGeom prst="rect">
            <a:avLst/>
          </a:prstGeom>
          <a:noFill/>
        </p:spPr>
        <p:txBody>
          <a:bodyPr wrap="square" rtlCol="0">
            <a:spAutoFit/>
          </a:bodyPr>
          <a:p>
            <a:pPr>
              <a:lnSpc>
                <a:spcPct val="125000"/>
              </a:lnSpc>
              <a:spcBef>
                <a:spcPts val="0"/>
              </a:spcBef>
              <a:spcAft>
                <a:spcPts val="0"/>
              </a:spcAft>
            </a:pPr>
            <a:r>
              <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国内唯一获安全领域</a:t>
            </a:r>
            <a:r>
              <a:rPr lang="en-US" altLang="zh-CN"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大满贯</a:t>
            </a:r>
            <a:r>
              <a:rPr lang="en-US" altLang="zh-CN"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、同时入选三大国际权威机构报告的云厂商，安全能力位居中国云厂商之首</a:t>
            </a:r>
            <a:endPar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18" name="文本框 17"/>
          <p:cNvSpPr txBox="1"/>
          <p:nvPr/>
        </p:nvSpPr>
        <p:spPr>
          <a:xfrm>
            <a:off x="6988810" y="3200400"/>
            <a:ext cx="4311650" cy="475615"/>
          </a:xfrm>
          <a:prstGeom prst="rect">
            <a:avLst/>
          </a:prstGeom>
          <a:noFill/>
        </p:spPr>
        <p:txBody>
          <a:bodyPr wrap="square" rtlCol="0">
            <a:spAutoFit/>
          </a:bodyPr>
          <a:p>
            <a:pPr>
              <a:lnSpc>
                <a:spcPct val="125000"/>
              </a:lnSpc>
              <a:spcBef>
                <a:spcPts val="0"/>
              </a:spcBef>
              <a:spcAft>
                <a:spcPts val="0"/>
              </a:spcAft>
            </a:pPr>
            <a:r>
              <a:rPr lang="zh-CN"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为企业和开发者提供一站式云原生</a:t>
            </a:r>
            <a:r>
              <a:rPr lang="en-US" altLang="zh-CN"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AI</a:t>
            </a:r>
            <a:r>
              <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能力体系，帮助提升</a:t>
            </a:r>
            <a:r>
              <a:rPr lang="en-US" altLang="zh-CN"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AI</a:t>
            </a:r>
            <a:r>
              <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应用开发效率，促进</a:t>
            </a:r>
            <a:r>
              <a:rPr lang="en-US" altLang="zh-CN"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AI</a:t>
            </a:r>
            <a:r>
              <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在产业中规模化落地</a:t>
            </a:r>
            <a:endPar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28" name="文本框 27"/>
          <p:cNvSpPr txBox="1"/>
          <p:nvPr>
            <p:custDataLst>
              <p:tags r:id="rId1"/>
            </p:custDataLst>
          </p:nvPr>
        </p:nvSpPr>
        <p:spPr>
          <a:xfrm>
            <a:off x="8482330" y="4847590"/>
            <a:ext cx="1307465" cy="706755"/>
          </a:xfrm>
          <a:prstGeom prst="rect">
            <a:avLst/>
          </a:prstGeom>
          <a:noFill/>
        </p:spPr>
        <p:txBody>
          <a:bodyPr wrap="square" rtlCol="0">
            <a:spAutoFit/>
          </a:bodyPr>
          <a:p>
            <a:r>
              <a:rPr lang="zh-CN" sz="2000">
                <a:solidFill>
                  <a:schemeClr val="tx1">
                    <a:lumMod val="85000"/>
                    <a:lumOff val="15000"/>
                  </a:schemeClr>
                </a:solidFill>
                <a:latin typeface="+mj-ea"/>
                <a:ea typeface="+mj-ea"/>
                <a:cs typeface="微软雅黑" panose="020B0503020204020204" charset="-122"/>
              </a:rPr>
              <a:t>数据管理</a:t>
            </a:r>
            <a:endParaRPr lang="zh-CN" sz="2000">
              <a:solidFill>
                <a:schemeClr val="tx1">
                  <a:lumMod val="85000"/>
                  <a:lumOff val="15000"/>
                </a:schemeClr>
              </a:solidFill>
              <a:latin typeface="+mj-ea"/>
              <a:ea typeface="+mj-ea"/>
              <a:cs typeface="微软雅黑" panose="020B0503020204020204" charset="-122"/>
            </a:endParaRPr>
          </a:p>
          <a:p>
            <a:r>
              <a:rPr lang="zh-CN" sz="2000">
                <a:solidFill>
                  <a:schemeClr val="tx1">
                    <a:lumMod val="85000"/>
                    <a:lumOff val="15000"/>
                  </a:schemeClr>
                </a:solidFill>
                <a:latin typeface="+mj-ea"/>
                <a:ea typeface="+mj-ea"/>
                <a:cs typeface="微软雅黑" panose="020B0503020204020204" charset="-122"/>
              </a:rPr>
              <a:t>与服务</a:t>
            </a:r>
            <a:endParaRPr lang="zh-CN" sz="2000">
              <a:solidFill>
                <a:schemeClr val="tx1">
                  <a:lumMod val="85000"/>
                  <a:lumOff val="15000"/>
                </a:schemeClr>
              </a:solidFill>
              <a:latin typeface="+mj-ea"/>
              <a:ea typeface="+mj-ea"/>
              <a:cs typeface="微软雅黑" panose="020B0503020204020204" charset="-122"/>
            </a:endParaRPr>
          </a:p>
        </p:txBody>
      </p:sp>
      <p:sp>
        <p:nvSpPr>
          <p:cNvPr id="47" name="文本框 46"/>
          <p:cNvSpPr txBox="1"/>
          <p:nvPr>
            <p:custDataLst>
              <p:tags r:id="rId2"/>
            </p:custDataLst>
          </p:nvPr>
        </p:nvSpPr>
        <p:spPr>
          <a:xfrm>
            <a:off x="8489315" y="5593080"/>
            <a:ext cx="1130935" cy="245110"/>
          </a:xfrm>
          <a:prstGeom prst="rect">
            <a:avLst/>
          </a:prstGeom>
          <a:noFill/>
        </p:spPr>
        <p:txBody>
          <a:bodyPr wrap="square" rtlCol="0">
            <a:spAutoFit/>
          </a:bodyPr>
          <a:p>
            <a:r>
              <a:rPr lang="zh-CN" sz="1000">
                <a:solidFill>
                  <a:srgbClr val="15BAB1"/>
                </a:solidFill>
                <a:latin typeface="微软雅黑" panose="020B0503020204020204" charset="-122"/>
                <a:ea typeface="微软雅黑" panose="020B0503020204020204" charset="-122"/>
                <a:cs typeface="微软雅黑" panose="020B0503020204020204" charset="-122"/>
              </a:rPr>
              <a:t>数据库</a:t>
            </a:r>
            <a:endParaRPr lang="zh-CN" sz="10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custDataLst>
              <p:tags r:id="rId3"/>
            </p:custDataLst>
          </p:nvPr>
        </p:nvSpPr>
        <p:spPr>
          <a:xfrm>
            <a:off x="8496300" y="5838190"/>
            <a:ext cx="1130935" cy="245110"/>
          </a:xfrm>
          <a:prstGeom prst="rect">
            <a:avLst/>
          </a:prstGeom>
          <a:noFill/>
        </p:spPr>
        <p:txBody>
          <a:bodyPr wrap="square" rtlCol="0">
            <a:spAutoFit/>
          </a:bodyPr>
          <a:p>
            <a:r>
              <a:rPr lang="zh-CN" sz="1000">
                <a:solidFill>
                  <a:srgbClr val="15BAB1"/>
                </a:solidFill>
                <a:latin typeface="微软雅黑" panose="020B0503020204020204" charset="-122"/>
                <a:ea typeface="微软雅黑" panose="020B0503020204020204" charset="-122"/>
                <a:cs typeface="微软雅黑" panose="020B0503020204020204" charset="-122"/>
              </a:rPr>
              <a:t>大数据计算</a:t>
            </a:r>
            <a:endParaRPr lang="zh-CN" sz="10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10078720" y="4847590"/>
            <a:ext cx="1432560" cy="706755"/>
          </a:xfrm>
          <a:prstGeom prst="rect">
            <a:avLst/>
          </a:prstGeom>
          <a:noFill/>
        </p:spPr>
        <p:txBody>
          <a:bodyPr wrap="square" rtlCol="0">
            <a:spAutoFit/>
          </a:bodyPr>
          <a:p>
            <a:r>
              <a:rPr lang="zh-CN" sz="2000">
                <a:solidFill>
                  <a:schemeClr val="tx1">
                    <a:lumMod val="85000"/>
                    <a:lumOff val="15000"/>
                  </a:schemeClr>
                </a:solidFill>
                <a:latin typeface="+mj-ea"/>
                <a:ea typeface="+mj-ea"/>
                <a:cs typeface="微软雅黑" panose="020B0503020204020204" charset="-122"/>
              </a:rPr>
              <a:t>边缘计算</a:t>
            </a:r>
            <a:endParaRPr lang="zh-CN" sz="2000">
              <a:solidFill>
                <a:schemeClr val="tx1">
                  <a:lumMod val="85000"/>
                  <a:lumOff val="15000"/>
                </a:schemeClr>
              </a:solidFill>
              <a:latin typeface="+mj-ea"/>
              <a:ea typeface="+mj-ea"/>
              <a:cs typeface="微软雅黑" panose="020B0503020204020204" charset="-122"/>
            </a:endParaRPr>
          </a:p>
          <a:p>
            <a:r>
              <a:rPr lang="zh-CN" sz="2000">
                <a:solidFill>
                  <a:schemeClr val="tx1">
                    <a:lumMod val="85000"/>
                    <a:lumOff val="15000"/>
                  </a:schemeClr>
                </a:solidFill>
                <a:latin typeface="+mj-ea"/>
                <a:ea typeface="+mj-ea"/>
                <a:cs typeface="微软雅黑" panose="020B0503020204020204" charset="-122"/>
              </a:rPr>
              <a:t>与云通信</a:t>
            </a:r>
            <a:endParaRPr lang="zh-CN" sz="2000">
              <a:solidFill>
                <a:schemeClr val="tx1">
                  <a:lumMod val="85000"/>
                  <a:lumOff val="15000"/>
                </a:schemeClr>
              </a:solidFill>
              <a:latin typeface="+mj-ea"/>
              <a:ea typeface="+mj-ea"/>
              <a:cs typeface="微软雅黑" panose="020B0503020204020204" charset="-122"/>
            </a:endParaRPr>
          </a:p>
        </p:txBody>
      </p:sp>
      <p:sp>
        <p:nvSpPr>
          <p:cNvPr id="49" name="文本框 48"/>
          <p:cNvSpPr txBox="1"/>
          <p:nvPr>
            <p:custDataLst>
              <p:tags r:id="rId5"/>
            </p:custDataLst>
          </p:nvPr>
        </p:nvSpPr>
        <p:spPr>
          <a:xfrm>
            <a:off x="10101580" y="5593080"/>
            <a:ext cx="1130935" cy="245110"/>
          </a:xfrm>
          <a:prstGeom prst="rect">
            <a:avLst/>
          </a:prstGeom>
          <a:noFill/>
        </p:spPr>
        <p:txBody>
          <a:bodyPr wrap="square" rtlCol="0">
            <a:spAutoFit/>
          </a:bodyPr>
          <a:p>
            <a:r>
              <a:rPr lang="en-US" altLang="zh-CN" sz="1000">
                <a:solidFill>
                  <a:srgbClr val="15BAB1"/>
                </a:solidFill>
                <a:latin typeface="微软雅黑" panose="020B0503020204020204" charset="-122"/>
                <a:ea typeface="微软雅黑" panose="020B0503020204020204" charset="-122"/>
                <a:cs typeface="微软雅黑" panose="020B0503020204020204" charset="-122"/>
              </a:rPr>
              <a:t>CDN</a:t>
            </a:r>
            <a:r>
              <a:rPr lang="zh-CN" altLang="en-US" sz="1000">
                <a:solidFill>
                  <a:srgbClr val="15BAB1"/>
                </a:solidFill>
                <a:latin typeface="微软雅黑" panose="020B0503020204020204" charset="-122"/>
                <a:ea typeface="微软雅黑" panose="020B0503020204020204" charset="-122"/>
                <a:cs typeface="微软雅黑" panose="020B0503020204020204" charset="-122"/>
              </a:rPr>
              <a:t>与边缘计算</a:t>
            </a:r>
            <a:endParaRPr lang="zh-CN" altLang="en-US" sz="10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custDataLst>
              <p:tags r:id="rId6"/>
            </p:custDataLst>
          </p:nvPr>
        </p:nvSpPr>
        <p:spPr>
          <a:xfrm>
            <a:off x="10108565" y="5838190"/>
            <a:ext cx="1130935" cy="245110"/>
          </a:xfrm>
          <a:prstGeom prst="rect">
            <a:avLst/>
          </a:prstGeom>
          <a:noFill/>
        </p:spPr>
        <p:txBody>
          <a:bodyPr wrap="square" rtlCol="0">
            <a:spAutoFit/>
          </a:bodyPr>
          <a:p>
            <a:r>
              <a:rPr lang="zh-CN" sz="1000">
                <a:solidFill>
                  <a:srgbClr val="15BAB1"/>
                </a:solidFill>
                <a:latin typeface="微软雅黑" panose="020B0503020204020204" charset="-122"/>
                <a:ea typeface="微软雅黑" panose="020B0503020204020204" charset="-122"/>
                <a:cs typeface="微软雅黑" panose="020B0503020204020204" charset="-122"/>
              </a:rPr>
              <a:t>云通信</a:t>
            </a:r>
            <a:endParaRPr lang="zh-CN" sz="1000">
              <a:solidFill>
                <a:srgbClr val="15BAB1"/>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861060" y="5369560"/>
            <a:ext cx="4752975" cy="475615"/>
          </a:xfrm>
          <a:prstGeom prst="rect">
            <a:avLst/>
          </a:prstGeom>
          <a:noFill/>
        </p:spPr>
        <p:txBody>
          <a:bodyPr wrap="square" rtlCol="0">
            <a:spAutoFit/>
          </a:bodyPr>
          <a:p>
            <a:pPr>
              <a:lnSpc>
                <a:spcPct val="125000"/>
              </a:lnSpc>
              <a:spcBef>
                <a:spcPts val="0"/>
              </a:spcBef>
              <a:spcAft>
                <a:spcPts val="0"/>
              </a:spcAft>
            </a:pPr>
            <a:r>
              <a:rPr 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IDC</a:t>
            </a:r>
            <a:r>
              <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首份企业协作云厂商评估中，钉钉在产品能力和战略上均处于领导者位置</a:t>
            </a:r>
            <a:endPar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endParaRPr>
          </a:p>
          <a:p>
            <a:pPr>
              <a:lnSpc>
                <a:spcPct val="125000"/>
              </a:lnSpc>
              <a:spcBef>
                <a:spcPts val="0"/>
              </a:spcBef>
              <a:spcAft>
                <a:spcPts val="0"/>
              </a:spcAft>
            </a:pPr>
            <a:r>
              <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中国视频云市场中，</a:t>
            </a:r>
            <a:r>
              <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阿里云连续三年稳居多个细分领域市场份额领先地位</a:t>
            </a:r>
            <a:endParaRPr lang="zh-CN" altLang="en-US" sz="10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39" name="文本框 38"/>
          <p:cNvSpPr txBox="1"/>
          <p:nvPr/>
        </p:nvSpPr>
        <p:spPr>
          <a:xfrm>
            <a:off x="850265" y="5927725"/>
            <a:ext cx="1029335" cy="275590"/>
          </a:xfrm>
          <a:prstGeom prst="rect">
            <a:avLst/>
          </a:prstGeom>
          <a:noFill/>
        </p:spPr>
        <p:txBody>
          <a:bodyPr wrap="square" rtlCol="0">
            <a:spAutoFit/>
          </a:bodyPr>
          <a:p>
            <a:r>
              <a:rPr lang="zh-CN" sz="1200">
                <a:solidFill>
                  <a:srgbClr val="3A85F4"/>
                </a:solidFill>
                <a:latin typeface="微软雅黑" panose="020B0503020204020204" charset="-122"/>
                <a:ea typeface="微软雅黑" panose="020B0503020204020204" charset="-122"/>
                <a:cs typeface="微软雅黑" panose="020B0503020204020204" charset="-122"/>
              </a:rPr>
              <a:t>企业云服务</a:t>
            </a:r>
            <a:endParaRPr lang="zh-CN" sz="1200">
              <a:solidFill>
                <a:srgbClr val="3A85F4"/>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1879600" y="5927725"/>
            <a:ext cx="895985" cy="275590"/>
          </a:xfrm>
          <a:prstGeom prst="rect">
            <a:avLst/>
          </a:prstGeom>
          <a:noFill/>
        </p:spPr>
        <p:txBody>
          <a:bodyPr wrap="square" rtlCol="0">
            <a:spAutoFit/>
          </a:bodyPr>
          <a:p>
            <a:r>
              <a:rPr lang="zh-CN" sz="1200">
                <a:solidFill>
                  <a:srgbClr val="3A85F4"/>
                </a:solidFill>
                <a:latin typeface="微软雅黑" panose="020B0503020204020204" charset="-122"/>
                <a:ea typeface="微软雅黑" panose="020B0503020204020204" charset="-122"/>
                <a:cs typeface="微软雅黑" panose="020B0503020204020204" charset="-122"/>
              </a:rPr>
              <a:t>视频服务</a:t>
            </a:r>
            <a:endParaRPr lang="zh-CN" sz="1200">
              <a:solidFill>
                <a:srgbClr val="3A85F4"/>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2775585" y="5927725"/>
            <a:ext cx="541020" cy="275590"/>
          </a:xfrm>
          <a:prstGeom prst="rect">
            <a:avLst/>
          </a:prstGeom>
          <a:noFill/>
        </p:spPr>
        <p:txBody>
          <a:bodyPr wrap="square" rtlCol="0">
            <a:spAutoFit/>
          </a:bodyPr>
          <a:p>
            <a:r>
              <a:rPr lang="zh-CN" sz="1200">
                <a:solidFill>
                  <a:srgbClr val="3A85F4"/>
                </a:solidFill>
                <a:latin typeface="微软雅黑" panose="020B0503020204020204" charset="-122"/>
                <a:ea typeface="微软雅黑" panose="020B0503020204020204" charset="-122"/>
                <a:cs typeface="微软雅黑" panose="020B0503020204020204" charset="-122"/>
              </a:rPr>
              <a:t>钉钉</a:t>
            </a:r>
            <a:endParaRPr lang="zh-CN" sz="1200">
              <a:solidFill>
                <a:srgbClr val="3A85F4"/>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3316605" y="5927725"/>
            <a:ext cx="1123315" cy="275590"/>
          </a:xfrm>
          <a:prstGeom prst="rect">
            <a:avLst/>
          </a:prstGeom>
          <a:noFill/>
        </p:spPr>
        <p:txBody>
          <a:bodyPr wrap="square" rtlCol="0">
            <a:spAutoFit/>
          </a:bodyPr>
          <a:p>
            <a:r>
              <a:rPr lang="zh-CN" sz="1200">
                <a:solidFill>
                  <a:srgbClr val="3A85F4"/>
                </a:solidFill>
                <a:latin typeface="微软雅黑" panose="020B0503020204020204" charset="-122"/>
                <a:ea typeface="微软雅黑" panose="020B0503020204020204" charset="-122"/>
                <a:cs typeface="微软雅黑" panose="020B0503020204020204" charset="-122"/>
              </a:rPr>
              <a:t>企业基础服务</a:t>
            </a:r>
            <a:endParaRPr lang="zh-CN" sz="1200">
              <a:solidFill>
                <a:srgbClr val="3A85F4"/>
              </a:solidFill>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端木软件一站式云服务解决方案</a:t>
            </a:r>
            <a:r>
              <a:rPr lang="en-US" altLang="zh-CN" sz="2400">
                <a:latin typeface="微软雅黑 Light" panose="020B0502040204020203" charset="-122"/>
                <a:ea typeface="微软雅黑 Light" panose="020B0502040204020203" charset="-122"/>
                <a:cs typeface="微软雅黑 Light" panose="020B0502040204020203" charset="-122"/>
              </a:rPr>
              <a:t> </a:t>
            </a:r>
            <a:r>
              <a:rPr lang="en-US" altLang="zh-CN" sz="1600">
                <a:latin typeface="微软雅黑 Light" panose="020B0502040204020203" charset="-122"/>
                <a:ea typeface="微软雅黑 Light" panose="020B0502040204020203" charset="-122"/>
                <a:cs typeface="微软雅黑 Light" panose="020B0502040204020203" charset="-122"/>
              </a:rPr>
              <a:t>SOLUTION</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企业上云全周期陪伴式服务</a:t>
            </a:r>
            <a:endParaRPr lang="zh-CN" altLang="en-US" sz="3200" b="1">
              <a:solidFill>
                <a:srgbClr val="3671F6"/>
              </a:solidFill>
              <a:sym typeface="+mn-ea"/>
            </a:endParaRPr>
          </a:p>
        </p:txBody>
      </p:sp>
      <p:sp>
        <p:nvSpPr>
          <p:cNvPr id="2" name="圆角矩形 1"/>
          <p:cNvSpPr/>
          <p:nvPr/>
        </p:nvSpPr>
        <p:spPr>
          <a:xfrm>
            <a:off x="59055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76644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行业定制化方案</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76644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针对不同行业特性，设计契合业务特性、符合合规要求的迁移方案，赋能业务优化。</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3" name="圆角矩形 2"/>
          <p:cNvSpPr/>
          <p:nvPr/>
        </p:nvSpPr>
        <p:spPr>
          <a:xfrm>
            <a:off x="4434205"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4610100"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全流程云迁移服务</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610100"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依托阿里云技术生态，提供风险评估、架构设计、数据迁移、灾备方案等全链路支持，实现</a:t>
            </a:r>
            <a:r>
              <a:rPr lang="en-US" altLang="zh-CN" sz="1400">
                <a:solidFill>
                  <a:schemeClr val="tx1"/>
                </a:solidFill>
                <a:latin typeface="微软雅黑 Light" panose="020B0502040204020203" charset="-122"/>
                <a:ea typeface="微软雅黑 Light" panose="020B0502040204020203" charset="-122"/>
                <a:cs typeface="微软雅黑" panose="020B0503020204020204" charset="-122"/>
              </a:rPr>
              <a:t>“</a:t>
            </a: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零停机迁移</a:t>
            </a:r>
            <a:r>
              <a:rPr lang="en-US" altLang="zh-CN" sz="1400">
                <a:solidFill>
                  <a:schemeClr val="tx1"/>
                </a:solidFill>
                <a:latin typeface="微软雅黑 Light" panose="020B0502040204020203" charset="-122"/>
                <a:ea typeface="微软雅黑 Light" panose="020B0502040204020203" charset="-122"/>
                <a:cs typeface="微软雅黑" panose="020B0503020204020204" charset="-122"/>
              </a:rPr>
              <a:t>”</a:t>
            </a: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6" name="图片 5" descr="箭头"/>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69360" y="2476500"/>
            <a:ext cx="805180" cy="805180"/>
          </a:xfrm>
          <a:prstGeom prst="rect">
            <a:avLst/>
          </a:prstGeom>
        </p:spPr>
      </p:pic>
      <p:sp>
        <p:nvSpPr>
          <p:cNvPr id="8" name="圆角矩形 7"/>
          <p:cNvSpPr/>
          <p:nvPr/>
        </p:nvSpPr>
        <p:spPr>
          <a:xfrm>
            <a:off x="829056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846645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架构优化降本增效</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846645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结合业务峰谷周期，进行按需付费架构设计，提供弹性计算、自动化扩缩容方案，避免资源浪费。</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3" name="图片 12"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625715" y="2476500"/>
            <a:ext cx="805180" cy="805180"/>
          </a:xfrm>
          <a:prstGeom prst="rect">
            <a:avLst/>
          </a:prstGeom>
        </p:spPr>
      </p:pic>
      <p:sp>
        <p:nvSpPr>
          <p:cNvPr id="14" name="圆角矩形 13"/>
          <p:cNvSpPr/>
          <p:nvPr/>
        </p:nvSpPr>
        <p:spPr>
          <a:xfrm>
            <a:off x="8290560" y="4258945"/>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8466455" y="4497705"/>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技术赋能与培训</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466455" y="4968875"/>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提供</a:t>
            </a:r>
            <a:r>
              <a:rPr lang="en-US" altLang="zh-CN" sz="1400">
                <a:solidFill>
                  <a:schemeClr val="tx1"/>
                </a:solidFill>
                <a:latin typeface="微软雅黑 Light" panose="020B0502040204020203" charset="-122"/>
                <a:ea typeface="微软雅黑 Light" panose="020B0502040204020203" charset="-122"/>
                <a:cs typeface="微软雅黑" panose="020B0503020204020204" charset="-122"/>
              </a:rPr>
              <a:t>DevOps</a:t>
            </a: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、容器化、微服务等技术赋能，助力企业团队掌握云原生技术栈。</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7" name="图片 16"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rot="5400000">
            <a:off x="9549448" y="3655060"/>
            <a:ext cx="805180" cy="805180"/>
          </a:xfrm>
          <a:prstGeom prst="rect">
            <a:avLst/>
          </a:prstGeom>
        </p:spPr>
      </p:pic>
      <p:sp>
        <p:nvSpPr>
          <p:cNvPr id="18" name="圆角矩形 17"/>
          <p:cNvSpPr/>
          <p:nvPr/>
        </p:nvSpPr>
        <p:spPr>
          <a:xfrm>
            <a:off x="584835"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760730"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云安全防护服务</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760730"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提供安全评估、漏洞修复、实时监控及应急响应；协助企业通过等保测评、数据跨境合规方案设计。</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4428490"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4604385"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托管式云运维服务</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4604385"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专属云服务团队提供运维保障，</a:t>
            </a:r>
            <a:r>
              <a:rPr lang="en-US" altLang="zh-CN" sz="1400">
                <a:solidFill>
                  <a:schemeClr val="tx1"/>
                </a:solidFill>
                <a:latin typeface="微软雅黑 Light" panose="020B0502040204020203" charset="-122"/>
                <a:ea typeface="微软雅黑 Light" panose="020B0502040204020203" charset="-122"/>
                <a:cs typeface="微软雅黑" panose="020B0503020204020204" charset="-122"/>
              </a:rPr>
              <a:t>7</a:t>
            </a:r>
            <a:r>
              <a:rPr lang="en-US" altLang="en-US" sz="1400">
                <a:solidFill>
                  <a:schemeClr val="tx1"/>
                </a:solidFill>
                <a:latin typeface="微软雅黑 Light" panose="020B0502040204020203" charset="-122"/>
                <a:ea typeface="微软雅黑 Light" panose="020B0502040204020203" charset="-122"/>
                <a:cs typeface="微软雅黑" panose="020B0503020204020204" charset="-122"/>
              </a:rPr>
              <a:t>*</a:t>
            </a:r>
            <a:r>
              <a:rPr lang="en-US" altLang="zh-CN" sz="1400">
                <a:solidFill>
                  <a:schemeClr val="tx1"/>
                </a:solidFill>
                <a:latin typeface="微软雅黑 Light" panose="020B0502040204020203" charset="-122"/>
                <a:ea typeface="微软雅黑 Light" panose="020B0502040204020203" charset="-122"/>
                <a:cs typeface="微软雅黑" panose="020B0503020204020204" charset="-122"/>
              </a:rPr>
              <a:t>24</a:t>
            </a: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小时需求响应、实时监控、自动告警、故障根因分析及快速修复。</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4" name="图片 23" descr="箭头"/>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flipH="1">
            <a:off x="3763645" y="4836160"/>
            <a:ext cx="805180" cy="805180"/>
          </a:xfrm>
          <a:prstGeom prst="rect">
            <a:avLst/>
          </a:prstGeom>
        </p:spPr>
      </p:pic>
      <p:pic>
        <p:nvPicPr>
          <p:cNvPr id="25" name="图片 24"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flipH="1">
            <a:off x="7620000" y="4836160"/>
            <a:ext cx="805180" cy="805180"/>
          </a:xfrm>
          <a:prstGeom prst="rect">
            <a:avLst/>
          </a:prstGeom>
        </p:spPr>
      </p:pic>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端木软件一站式云服务解决方案</a:t>
            </a:r>
            <a:r>
              <a:rPr lang="en-US" altLang="zh-CN" sz="2400">
                <a:latin typeface="微软雅黑 Light" panose="020B0502040204020203" charset="-122"/>
                <a:ea typeface="微软雅黑 Light" panose="020B0502040204020203" charset="-122"/>
                <a:cs typeface="微软雅黑 Light" panose="020B0502040204020203" charset="-122"/>
              </a:rPr>
              <a:t> </a:t>
            </a:r>
            <a:r>
              <a:rPr lang="en-US" altLang="zh-CN" sz="1600">
                <a:latin typeface="微软雅黑 Light" panose="020B0502040204020203" charset="-122"/>
                <a:ea typeface="微软雅黑 Light" panose="020B0502040204020203" charset="-122"/>
                <a:cs typeface="微软雅黑 Light" panose="020B0502040204020203" charset="-122"/>
              </a:rPr>
              <a:t>SOLUTION</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完善的上云迁移服务实施方案</a:t>
            </a:r>
            <a:endParaRPr lang="zh-CN" altLang="en-US" sz="3200" b="1">
              <a:solidFill>
                <a:srgbClr val="3671F6"/>
              </a:solidFill>
              <a:sym typeface="+mn-ea"/>
            </a:endParaRPr>
          </a:p>
        </p:txBody>
      </p:sp>
      <p:sp>
        <p:nvSpPr>
          <p:cNvPr id="4" name="圆角矩形 3"/>
          <p:cNvSpPr/>
          <p:nvPr/>
        </p:nvSpPr>
        <p:spPr>
          <a:xfrm>
            <a:off x="590550" y="2228850"/>
            <a:ext cx="2430145" cy="3836670"/>
          </a:xfrm>
          <a:prstGeom prst="roundRect">
            <a:avLst>
              <a:gd name="adj" fmla="val 8309"/>
            </a:avLst>
          </a:prstGeom>
          <a:gradFill>
            <a:gsLst>
              <a:gs pos="0">
                <a:srgbClr val="3671F6">
                  <a:alpha val="0"/>
                </a:srgbClr>
              </a:gs>
              <a:gs pos="100000">
                <a:srgbClr val="3671F6">
                  <a:alpha val="30000"/>
                </a:srgbClr>
              </a:gs>
            </a:gsLst>
            <a:lin ang="5400000" scaled="0"/>
          </a:gradFill>
          <a:ln>
            <a:solidFill>
              <a:srgbClr val="3671F6"/>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082040" y="1976120"/>
            <a:ext cx="1447165" cy="460375"/>
          </a:xfrm>
          <a:prstGeom prst="rect">
            <a:avLst/>
          </a:prstGeom>
          <a:gradFill>
            <a:gsLst>
              <a:gs pos="0">
                <a:srgbClr val="E6F0FE"/>
              </a:gs>
              <a:gs pos="100000">
                <a:srgbClr val="E0EBFD"/>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评估咨询</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669290" y="2686685"/>
            <a:ext cx="2289810" cy="116840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与企业深入沟通，了解其业务需求、技术架构及期望达成的迁移目标，提供专业的上云咨询服务。</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9" name="圆角矩形 8"/>
          <p:cNvSpPr/>
          <p:nvPr/>
        </p:nvSpPr>
        <p:spPr>
          <a:xfrm>
            <a:off x="755015" y="431546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rPr>
              <a:t>评估企业现有</a:t>
            </a:r>
            <a:r>
              <a:rPr lang="en-US" altLang="zh-CN" sz="1200">
                <a:solidFill>
                  <a:schemeClr val="bg1"/>
                </a:solidFill>
                <a:latin typeface="微软雅黑 Light" panose="020B0502040204020203" charset="-122"/>
                <a:ea typeface="微软雅黑 Light" panose="020B0502040204020203" charset="-122"/>
                <a:cs typeface="微软雅黑 Light" panose="020B0502040204020203" charset="-122"/>
              </a:rPr>
              <a:t>IT</a:t>
            </a: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rPr>
              <a:t>基础设施</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10" name="圆角矩形 9"/>
          <p:cNvSpPr/>
          <p:nvPr/>
        </p:nvSpPr>
        <p:spPr>
          <a:xfrm>
            <a:off x="755015" y="479933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rPr>
              <a:t>云资源选型咨询</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1" name="圆角矩形 10"/>
          <p:cNvSpPr/>
          <p:nvPr/>
        </p:nvSpPr>
        <p:spPr>
          <a:xfrm>
            <a:off x="755015" y="528320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rPr>
              <a:t>风险评估及应急预案</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4" name="圆角矩形 13"/>
          <p:cNvSpPr/>
          <p:nvPr/>
        </p:nvSpPr>
        <p:spPr>
          <a:xfrm>
            <a:off x="3421380" y="2228850"/>
            <a:ext cx="2430145" cy="3836670"/>
          </a:xfrm>
          <a:prstGeom prst="roundRect">
            <a:avLst>
              <a:gd name="adj" fmla="val 8309"/>
            </a:avLst>
          </a:prstGeom>
          <a:gradFill>
            <a:gsLst>
              <a:gs pos="0">
                <a:srgbClr val="24CEBC">
                  <a:alpha val="0"/>
                </a:srgbClr>
              </a:gs>
              <a:gs pos="100000">
                <a:srgbClr val="24CEBC">
                  <a:alpha val="30000"/>
                </a:srgbClr>
              </a:gs>
            </a:gsLst>
            <a:lin ang="5400000" scaled="0"/>
          </a:gradFill>
          <a:ln>
            <a:solidFill>
              <a:srgbClr val="24CEBC"/>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3912870" y="1976120"/>
            <a:ext cx="1447165" cy="460375"/>
          </a:xfrm>
          <a:prstGeom prst="rect">
            <a:avLst/>
          </a:prstGeom>
          <a:gradFill>
            <a:gsLst>
              <a:gs pos="0">
                <a:srgbClr val="E8F1FE"/>
              </a:gs>
              <a:gs pos="100000">
                <a:srgbClr val="E7F1FD"/>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迁移方案</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16" name="文本框 15"/>
          <p:cNvSpPr txBox="1"/>
          <p:nvPr/>
        </p:nvSpPr>
        <p:spPr>
          <a:xfrm>
            <a:off x="3500120" y="2686685"/>
            <a:ext cx="2289810" cy="89916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为企业进行云产品选型与架构设计，并制定详细实施方案。</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17" name="圆角矩形 16"/>
          <p:cNvSpPr/>
          <p:nvPr/>
        </p:nvSpPr>
        <p:spPr>
          <a:xfrm>
            <a:off x="3585845" y="431546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云产品选型与架构设计</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18" name="圆角矩形 17"/>
          <p:cNvSpPr/>
          <p:nvPr/>
        </p:nvSpPr>
        <p:spPr>
          <a:xfrm>
            <a:off x="3585845" y="479933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迁移工具与传输网络选型</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9" name="圆角矩形 18"/>
          <p:cNvSpPr/>
          <p:nvPr/>
        </p:nvSpPr>
        <p:spPr>
          <a:xfrm>
            <a:off x="3585845" y="528320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制定实施计划</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6252210" y="2228850"/>
            <a:ext cx="2430145" cy="3836670"/>
          </a:xfrm>
          <a:prstGeom prst="roundRect">
            <a:avLst>
              <a:gd name="adj" fmla="val 8309"/>
            </a:avLst>
          </a:prstGeom>
          <a:gradFill>
            <a:gsLst>
              <a:gs pos="0">
                <a:srgbClr val="3671F6">
                  <a:alpha val="0"/>
                </a:srgbClr>
              </a:gs>
              <a:gs pos="100000">
                <a:srgbClr val="3671F6">
                  <a:alpha val="30000"/>
                </a:srgbClr>
              </a:gs>
            </a:gsLst>
            <a:lin ang="5400000" scaled="0"/>
          </a:gradFill>
          <a:ln>
            <a:solidFill>
              <a:srgbClr val="3671F6"/>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6743700" y="1976120"/>
            <a:ext cx="1447165" cy="460375"/>
          </a:xfrm>
          <a:prstGeom prst="rect">
            <a:avLst/>
          </a:prstGeom>
          <a:gradFill>
            <a:gsLst>
              <a:gs pos="0">
                <a:srgbClr val="EDF5FF"/>
              </a:gs>
              <a:gs pos="100000">
                <a:srgbClr val="EDF4FF"/>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迁移实施</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nvSpPr>
        <p:spPr>
          <a:xfrm>
            <a:off x="6330950" y="2686685"/>
            <a:ext cx="2289810" cy="116840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按照迁移方案进行迁移实施，并在迁移过程中密切关注系统的性能、安全性和数据完整性等。</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24" name="圆角矩形 23"/>
          <p:cNvSpPr/>
          <p:nvPr/>
        </p:nvSpPr>
        <p:spPr>
          <a:xfrm>
            <a:off x="6416675" y="431546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应用</a:t>
            </a:r>
            <a:r>
              <a:rPr lang="en-US" alt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a:t>
            </a: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服务迁移</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25" name="圆角矩形 24"/>
          <p:cNvSpPr/>
          <p:nvPr/>
        </p:nvSpPr>
        <p:spPr>
          <a:xfrm>
            <a:off x="6416675" y="479933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数据迁移与同步</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6" name="圆角矩形 25"/>
          <p:cNvSpPr/>
          <p:nvPr/>
        </p:nvSpPr>
        <p:spPr>
          <a:xfrm>
            <a:off x="6416675" y="528320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迁移后全面测试</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8" name="圆角矩形 27"/>
          <p:cNvSpPr/>
          <p:nvPr/>
        </p:nvSpPr>
        <p:spPr>
          <a:xfrm>
            <a:off x="9083040" y="2228850"/>
            <a:ext cx="2430145" cy="3836670"/>
          </a:xfrm>
          <a:prstGeom prst="roundRect">
            <a:avLst>
              <a:gd name="adj" fmla="val 8309"/>
            </a:avLst>
          </a:prstGeom>
          <a:gradFill>
            <a:gsLst>
              <a:gs pos="0">
                <a:srgbClr val="24CEBC">
                  <a:alpha val="0"/>
                </a:srgbClr>
              </a:gs>
              <a:gs pos="100000">
                <a:srgbClr val="24CEBC">
                  <a:alpha val="30000"/>
                </a:srgbClr>
              </a:gs>
            </a:gsLst>
            <a:lin ang="5400000" scaled="0"/>
          </a:gradFill>
          <a:ln>
            <a:solidFill>
              <a:srgbClr val="24CEBC"/>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29" name="文本框 28"/>
          <p:cNvSpPr txBox="1"/>
          <p:nvPr/>
        </p:nvSpPr>
        <p:spPr>
          <a:xfrm>
            <a:off x="9574530" y="1976120"/>
            <a:ext cx="1447165" cy="460375"/>
          </a:xfrm>
          <a:prstGeom prst="rect">
            <a:avLst/>
          </a:prstGeom>
          <a:gradFill>
            <a:gsLst>
              <a:gs pos="0">
                <a:srgbClr val="EFF6FF"/>
              </a:gs>
              <a:gs pos="100000">
                <a:srgbClr val="EDF6FE"/>
              </a:gs>
            </a:gsLst>
            <a:lin ang="5400000" scaled="0"/>
          </a:gradFill>
        </p:spPr>
        <p:txBody>
          <a:bodyPr wrap="square" rtlCol="0" anchor="t">
            <a:spAutoFit/>
          </a:bodyPr>
          <a:p>
            <a:pPr lvl="0" algn="ctr">
              <a:buClrTx/>
              <a:buSzTx/>
              <a:buFontTx/>
            </a:pPr>
            <a:r>
              <a:rPr lang="zh-CN" altLang="en-US" sz="2400" b="1">
                <a:latin typeface="微软雅黑" panose="020B0503020204020204" charset="-122"/>
                <a:ea typeface="微软雅黑" panose="020B0503020204020204" charset="-122"/>
                <a:cs typeface="微软雅黑" panose="020B0503020204020204" charset="-122"/>
                <a:sym typeface="+mn-ea"/>
              </a:rPr>
              <a:t>优化管理</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30" name="文本框 29"/>
          <p:cNvSpPr txBox="1"/>
          <p:nvPr/>
        </p:nvSpPr>
        <p:spPr>
          <a:xfrm>
            <a:off x="9161780" y="2686685"/>
            <a:ext cx="2289810" cy="143764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利用云服务商的监控工具，对云资源负载情况及系统运行稳定性持续监控，并根据监控结果进行优化调整。</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31" name="圆角矩形 30"/>
          <p:cNvSpPr/>
          <p:nvPr/>
        </p:nvSpPr>
        <p:spPr>
          <a:xfrm>
            <a:off x="9247505" y="431546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持续监控与优化</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32" name="圆角矩形 31"/>
          <p:cNvSpPr/>
          <p:nvPr/>
        </p:nvSpPr>
        <p:spPr>
          <a:xfrm>
            <a:off x="9247505" y="479933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安全配置与合规性</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3" name="圆角矩形 32"/>
          <p:cNvSpPr/>
          <p:nvPr/>
        </p:nvSpPr>
        <p:spPr>
          <a:xfrm>
            <a:off x="9247505" y="528320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团队培训</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4" name="椭圆 33"/>
          <p:cNvSpPr/>
          <p:nvPr/>
        </p:nvSpPr>
        <p:spPr>
          <a:xfrm>
            <a:off x="3070860"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等腰三角形 34"/>
          <p:cNvSpPr/>
          <p:nvPr/>
        </p:nvSpPr>
        <p:spPr>
          <a:xfrm rot="5400000">
            <a:off x="3154680"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椭圆 37"/>
          <p:cNvSpPr/>
          <p:nvPr/>
        </p:nvSpPr>
        <p:spPr>
          <a:xfrm>
            <a:off x="5901690"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等腰三角形 38"/>
          <p:cNvSpPr/>
          <p:nvPr/>
        </p:nvSpPr>
        <p:spPr>
          <a:xfrm rot="5400000">
            <a:off x="5985510"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椭圆 39"/>
          <p:cNvSpPr/>
          <p:nvPr/>
        </p:nvSpPr>
        <p:spPr>
          <a:xfrm>
            <a:off x="8731885"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等腰三角形 40"/>
          <p:cNvSpPr/>
          <p:nvPr/>
        </p:nvSpPr>
        <p:spPr>
          <a:xfrm rot="5400000">
            <a:off x="8815705"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右箭头 24"/>
          <p:cNvSpPr/>
          <p:nvPr/>
        </p:nvSpPr>
        <p:spPr>
          <a:xfrm rot="16200000">
            <a:off x="3512820" y="1795780"/>
            <a:ext cx="5153660" cy="4242435"/>
          </a:xfrm>
          <a:prstGeom prst="rightArrow">
            <a:avLst>
              <a:gd name="adj1" fmla="val 50000"/>
              <a:gd name="adj2" fmla="val 49498"/>
            </a:avLst>
          </a:prstGeom>
          <a:gradFill>
            <a:gsLst>
              <a:gs pos="0">
                <a:srgbClr val="3671F6">
                  <a:alpha val="54000"/>
                </a:srgbClr>
              </a:gs>
              <a:gs pos="34000">
                <a:srgbClr val="0D59F3">
                  <a:alpha val="0"/>
                </a:srgb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矩形 1"/>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端木软件一站式云服务解决方案</a:t>
            </a:r>
            <a:r>
              <a:rPr lang="en-US" altLang="zh-CN" sz="2400">
                <a:latin typeface="微软雅黑 Light" panose="020B0502040204020203" charset="-122"/>
                <a:ea typeface="微软雅黑 Light" panose="020B0502040204020203" charset="-122"/>
                <a:cs typeface="微软雅黑 Light" panose="020B0502040204020203" charset="-122"/>
              </a:rPr>
              <a:t> </a:t>
            </a:r>
            <a:r>
              <a:rPr lang="en-US" altLang="zh-CN" sz="1600">
                <a:latin typeface="微软雅黑 Light" panose="020B0502040204020203" charset="-122"/>
                <a:ea typeface="微软雅黑 Light" panose="020B0502040204020203" charset="-122"/>
                <a:cs typeface="微软雅黑 Light" panose="020B0502040204020203" charset="-122"/>
              </a:rPr>
              <a:t>SOLUTION</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23" name="文本框 22"/>
          <p:cNvSpPr txBox="1"/>
          <p:nvPr/>
        </p:nvSpPr>
        <p:spPr>
          <a:xfrm>
            <a:off x="497205" y="2122170"/>
            <a:ext cx="4091305" cy="1183640"/>
          </a:xfrm>
          <a:prstGeom prst="rect">
            <a:avLst/>
          </a:prstGeom>
          <a:noFill/>
        </p:spPr>
        <p:txBody>
          <a:bodyPr wrap="square" rtlCol="0" anchor="t">
            <a:spAutoFit/>
          </a:bodyPr>
          <a:p>
            <a:pPr indent="0" algn="just" fontAlgn="auto">
              <a:lnSpc>
                <a:spcPct val="100000"/>
              </a:lnSpc>
              <a:spcBef>
                <a:spcPts val="600"/>
              </a:spcBef>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提供全套降本增效解决方案：</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just"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推出端木云分期产品，助力伙伴实现金融降本</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just"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以阿里云最新技术产品应用实现技术降本</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just"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提供更优组合的采购产品方案，实现采购降本</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12" name="右箭头 11"/>
          <p:cNvSpPr/>
          <p:nvPr/>
        </p:nvSpPr>
        <p:spPr>
          <a:xfrm rot="16200000">
            <a:off x="3512820" y="2160270"/>
            <a:ext cx="5153660" cy="4242435"/>
          </a:xfrm>
          <a:prstGeom prst="rightArrow">
            <a:avLst>
              <a:gd name="adj1" fmla="val 50000"/>
              <a:gd name="adj2" fmla="val 49498"/>
            </a:avLst>
          </a:prstGeom>
          <a:gradFill>
            <a:gsLst>
              <a:gs pos="0">
                <a:srgbClr val="3671F6">
                  <a:alpha val="100000"/>
                </a:srgbClr>
              </a:gs>
              <a:gs pos="91000">
                <a:srgbClr val="0D59F3">
                  <a:alpha val="0"/>
                </a:srgb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5513070" y="3030855"/>
            <a:ext cx="1130300" cy="1568450"/>
          </a:xfrm>
          <a:prstGeom prst="rect">
            <a:avLst/>
          </a:prstGeom>
          <a:noFill/>
        </p:spPr>
        <p:txBody>
          <a:bodyPr wrap="square" rtlCol="0" anchor="t">
            <a:spAutoFit/>
          </a:bodyPr>
          <a:p>
            <a:pPr lvl="0" algn="ctr">
              <a:buClrTx/>
              <a:buSzTx/>
              <a:buFontTx/>
            </a:pPr>
            <a:r>
              <a:rPr lang="zh-CN" altLang="en-US" sz="3200" b="1">
                <a:solidFill>
                  <a:schemeClr val="bg1"/>
                </a:solidFill>
                <a:sym typeface="+mn-ea"/>
              </a:rPr>
              <a:t>核心</a:t>
            </a:r>
            <a:endParaRPr lang="zh-CN" altLang="en-US" sz="3200" b="1">
              <a:solidFill>
                <a:schemeClr val="bg1"/>
              </a:solidFill>
              <a:sym typeface="+mn-ea"/>
            </a:endParaRPr>
          </a:p>
          <a:p>
            <a:pPr lvl="0" algn="ctr">
              <a:buClrTx/>
              <a:buSzTx/>
              <a:buFontTx/>
            </a:pPr>
            <a:r>
              <a:rPr lang="zh-CN" altLang="en-US" sz="3200" b="1">
                <a:solidFill>
                  <a:schemeClr val="bg1"/>
                </a:solidFill>
                <a:sym typeface="+mn-ea"/>
              </a:rPr>
              <a:t>服务</a:t>
            </a:r>
            <a:endParaRPr lang="zh-CN" altLang="en-US" sz="3200" b="1">
              <a:solidFill>
                <a:schemeClr val="bg1"/>
              </a:solidFill>
              <a:sym typeface="+mn-ea"/>
            </a:endParaRPr>
          </a:p>
          <a:p>
            <a:pPr lvl="0" algn="ctr">
              <a:buClrTx/>
              <a:buSzTx/>
              <a:buFontTx/>
            </a:pPr>
            <a:r>
              <a:rPr lang="zh-CN" altLang="en-US" sz="3200" b="1">
                <a:solidFill>
                  <a:schemeClr val="bg1"/>
                </a:solidFill>
                <a:sym typeface="+mn-ea"/>
              </a:rPr>
              <a:t>优势</a:t>
            </a:r>
            <a:endParaRPr lang="zh-CN" altLang="en-US" sz="3200" b="1">
              <a:solidFill>
                <a:schemeClr val="bg1"/>
              </a:solidFill>
              <a:sym typeface="+mn-ea"/>
            </a:endParaRPr>
          </a:p>
        </p:txBody>
      </p:sp>
      <p:sp>
        <p:nvSpPr>
          <p:cNvPr id="16" name="圆角矩形 15"/>
          <p:cNvSpPr/>
          <p:nvPr/>
        </p:nvSpPr>
        <p:spPr>
          <a:xfrm>
            <a:off x="497205" y="1544955"/>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a:t>
            </a:r>
            <a:r>
              <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rPr>
              <a:t>更具竞争力的云产品商务服务</a:t>
            </a:r>
            <a:endPar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7" name="文本框 16"/>
          <p:cNvSpPr txBox="1"/>
          <p:nvPr/>
        </p:nvSpPr>
        <p:spPr>
          <a:xfrm>
            <a:off x="497205" y="4599305"/>
            <a:ext cx="4168775" cy="1183640"/>
          </a:xfrm>
          <a:prstGeom prst="rect">
            <a:avLst/>
          </a:prstGeom>
          <a:noFill/>
        </p:spPr>
        <p:txBody>
          <a:bodyPr wrap="square" rtlCol="0" anchor="t">
            <a:spAutoFit/>
          </a:bodyPr>
          <a:p>
            <a:pPr marL="285750" indent="-285750" algn="just" fontAlgn="auto">
              <a:lnSpc>
                <a:spcPct val="100000"/>
              </a:lnSpc>
              <a:spcBef>
                <a:spcPts val="600"/>
              </a:spcBef>
              <a:buFont typeface="Arial" panose="020B0604020202090204" pitchFamily="34" charset="0"/>
              <a:buChar char="•"/>
            </a:pPr>
            <a:r>
              <a:rPr lang="en-US" altLang="zh-CN" sz="1400">
                <a:solidFill>
                  <a:schemeClr val="tx1"/>
                </a:solidFill>
                <a:latin typeface="微软雅黑 Light" panose="020B0502040204020203" charset="-122"/>
                <a:ea typeface="微软雅黑 Light" panose="020B0502040204020203" charset="-122"/>
                <a:cs typeface="微软雅黑 Light" panose="020B0502040204020203" charset="-122"/>
              </a:rPr>
              <a:t>150+</a:t>
            </a: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人的专属云服务团队</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just"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提供来自云厂商和端木软件双重服务支持</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just"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提供最新云技术应用与定制化方案支持</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just"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以专业运维服务团队提供项目全周期技术支撑</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18" name="圆角矩形 17"/>
          <p:cNvSpPr/>
          <p:nvPr/>
        </p:nvSpPr>
        <p:spPr>
          <a:xfrm>
            <a:off x="497205" y="4022090"/>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150+</a:t>
            </a:r>
            <a:r>
              <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rPr>
              <a:t>人专属云服务团队</a:t>
            </a:r>
            <a:endPar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9" name="文本框 18"/>
          <p:cNvSpPr txBox="1"/>
          <p:nvPr/>
        </p:nvSpPr>
        <p:spPr>
          <a:xfrm>
            <a:off x="7898130" y="2122170"/>
            <a:ext cx="3754755" cy="1183640"/>
          </a:xfrm>
          <a:prstGeom prst="rect">
            <a:avLst/>
          </a:prstGeom>
          <a:noFill/>
        </p:spPr>
        <p:txBody>
          <a:bodyPr wrap="square" rtlCol="0" anchor="t">
            <a:spAutoFit/>
          </a:bodyPr>
          <a:p>
            <a:pPr marL="285750" indent="-285750" algn="l"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全国设立全国</a:t>
            </a:r>
            <a:r>
              <a:rPr lang="en-US" altLang="zh-CN" sz="1400">
                <a:solidFill>
                  <a:schemeClr val="tx1"/>
                </a:solidFill>
                <a:latin typeface="微软雅黑 Light" panose="020B0502040204020203" charset="-122"/>
                <a:ea typeface="微软雅黑 Light" panose="020B0502040204020203" charset="-122"/>
                <a:cs typeface="微软雅黑 Light" panose="020B0502040204020203" charset="-122"/>
              </a:rPr>
              <a:t>10</a:t>
            </a: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大本地化服务团队</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l"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更敏捷的技术资源调配和本地化服务</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l"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保证</a:t>
            </a:r>
            <a:r>
              <a:rPr lang="en-US" altLang="zh-CN" sz="1400">
                <a:solidFill>
                  <a:schemeClr val="tx1"/>
                </a:solidFill>
                <a:latin typeface="微软雅黑 Light" panose="020B0502040204020203" charset="-122"/>
                <a:ea typeface="微软雅黑 Light" panose="020B0502040204020203" charset="-122"/>
                <a:cs typeface="微软雅黑 Light" panose="020B0502040204020203" charset="-122"/>
              </a:rPr>
              <a:t>2</a:t>
            </a: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小时上门，</a:t>
            </a:r>
            <a:r>
              <a:rPr lang="en-US" altLang="zh-CN" sz="1400">
                <a:solidFill>
                  <a:schemeClr val="tx1"/>
                </a:solidFill>
                <a:latin typeface="微软雅黑 Light" panose="020B0502040204020203" charset="-122"/>
                <a:ea typeface="微软雅黑 Light" panose="020B0502040204020203" charset="-122"/>
                <a:cs typeface="微软雅黑 Light" panose="020B0502040204020203" charset="-122"/>
              </a:rPr>
              <a:t>24</a:t>
            </a: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小时需求响应</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l"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实时技术咨询响应</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20" name="圆角矩形 19"/>
          <p:cNvSpPr/>
          <p:nvPr/>
        </p:nvSpPr>
        <p:spPr>
          <a:xfrm>
            <a:off x="7561580" y="1544955"/>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a:t>
            </a:r>
            <a:r>
              <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rPr>
              <a:t>全国覆盖本地化服务</a:t>
            </a:r>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a:t>
            </a:r>
            <a:endPar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21" name="文本框 20"/>
          <p:cNvSpPr txBox="1"/>
          <p:nvPr/>
        </p:nvSpPr>
        <p:spPr>
          <a:xfrm>
            <a:off x="7903845" y="4599305"/>
            <a:ext cx="3754755" cy="891540"/>
          </a:xfrm>
          <a:prstGeom prst="rect">
            <a:avLst/>
          </a:prstGeom>
          <a:noFill/>
        </p:spPr>
        <p:txBody>
          <a:bodyPr wrap="square" rtlCol="0" anchor="t">
            <a:spAutoFit/>
          </a:bodyPr>
          <a:p>
            <a:pPr marL="285750" indent="-285750" algn="l"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面向所有伙伴开放阿里云渠道合作</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l"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提供政策支持、技术支持等</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a:p>
            <a:pPr marL="285750" indent="-285750" algn="l"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与伙伴共赢共发展。</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24" name="圆角矩形 23"/>
          <p:cNvSpPr/>
          <p:nvPr/>
        </p:nvSpPr>
        <p:spPr>
          <a:xfrm>
            <a:off x="7567295" y="4022090"/>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a:t>
            </a:r>
            <a:r>
              <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rPr>
              <a:t>开放的合作伙伴政策</a:t>
            </a:r>
            <a:endPar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矩形 8"/>
          <p:cNvSpPr/>
          <p:nvPr/>
        </p:nvSpPr>
        <p:spPr>
          <a:xfrm>
            <a:off x="1044575" y="3696335"/>
            <a:ext cx="10103485" cy="3161665"/>
          </a:xfrm>
          <a:prstGeom prst="rect">
            <a:avLst/>
          </a:prstGeom>
          <a:solidFill>
            <a:schemeClr val="tx1">
              <a:lumMod val="75000"/>
              <a:lumOff val="25000"/>
              <a:alpha val="20000"/>
            </a:schemeClr>
          </a:solidFill>
          <a:ln>
            <a:noFill/>
          </a:ln>
          <a:effectLst>
            <a:softEdge rad="6350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descr="摄图网_500589946_城市景观和互联网网络连接云技术的交流 (非企业商用)"/>
          <p:cNvPicPr>
            <a:picLocks noChangeAspect="1"/>
          </p:cNvPicPr>
          <p:nvPr/>
        </p:nvPicPr>
        <p:blipFill>
          <a:blip r:embed="rId1">
            <a:grayscl/>
          </a:blip>
          <a:srcRect/>
          <a:stretch>
            <a:fillRect/>
          </a:stretch>
        </p:blipFill>
        <p:spPr>
          <a:xfrm>
            <a:off x="0" y="0"/>
            <a:ext cx="12192000" cy="3376930"/>
          </a:xfrm>
          <a:prstGeom prst="rect">
            <a:avLst/>
          </a:prstGeom>
        </p:spPr>
      </p:pic>
      <p:sp>
        <p:nvSpPr>
          <p:cNvPr id="7" name="矩形 6"/>
          <p:cNvSpPr/>
          <p:nvPr/>
        </p:nvSpPr>
        <p:spPr>
          <a:xfrm>
            <a:off x="635" y="0"/>
            <a:ext cx="12191365" cy="3376930"/>
          </a:xfrm>
          <a:prstGeom prst="rect">
            <a:avLst/>
          </a:prstGeom>
          <a:solidFill>
            <a:srgbClr val="3671F6">
              <a:alpha val="6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1044893" y="2533650"/>
            <a:ext cx="10102215" cy="3540760"/>
          </a:xfrm>
          <a:prstGeom prst="rect">
            <a:avLst/>
          </a:prstGeom>
          <a:solidFill>
            <a:schemeClr val="bg1"/>
          </a:solidFill>
          <a:ln>
            <a:solidFill>
              <a:schemeClr val="bg1">
                <a:lumMod val="9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3048000" y="1289685"/>
            <a:ext cx="6096000" cy="645160"/>
          </a:xfrm>
          <a:prstGeom prst="rect">
            <a:avLst/>
          </a:prstGeom>
          <a:noFill/>
        </p:spPr>
        <p:txBody>
          <a:bodyPr wrap="square" rtlCol="0" anchor="t">
            <a:spAutoFit/>
          </a:bodyPr>
          <a:p>
            <a:pPr algn="ctr"/>
            <a:r>
              <a:rPr lang="zh-CN" sz="3600" b="1">
                <a:gradFill>
                  <a:gsLst>
                    <a:gs pos="100000">
                      <a:srgbClr val="9BB8FB">
                        <a:alpha val="100000"/>
                      </a:srgbClr>
                    </a:gs>
                    <a:gs pos="0">
                      <a:schemeClr val="bg1"/>
                    </a:gs>
                  </a:gsLst>
                  <a:lin ang="5400000" scaled="0"/>
                </a:gradFill>
                <a:latin typeface="+mj-ea"/>
                <a:ea typeface="+mj-ea"/>
                <a:sym typeface="+mn-ea"/>
              </a:rPr>
              <a:t>端木软件</a:t>
            </a:r>
            <a:r>
              <a:rPr lang="en-US" altLang="zh-CN" sz="3600" b="1">
                <a:gradFill>
                  <a:gsLst>
                    <a:gs pos="100000">
                      <a:srgbClr val="9BB8FB">
                        <a:alpha val="100000"/>
                      </a:srgbClr>
                    </a:gs>
                    <a:gs pos="0">
                      <a:schemeClr val="bg1"/>
                    </a:gs>
                  </a:gsLst>
                  <a:lin ang="5400000" scaled="0"/>
                </a:gradFill>
                <a:latin typeface="+mj-ea"/>
                <a:ea typeface="+mj-ea"/>
                <a:sym typeface="+mn-ea"/>
              </a:rPr>
              <a:t> </a:t>
            </a:r>
            <a:r>
              <a:rPr lang="zh-CN" sz="3600" b="1">
                <a:gradFill>
                  <a:gsLst>
                    <a:gs pos="100000">
                      <a:srgbClr val="9BB8FB">
                        <a:alpha val="100000"/>
                      </a:srgbClr>
                    </a:gs>
                    <a:gs pos="0">
                      <a:schemeClr val="bg1"/>
                    </a:gs>
                  </a:gsLst>
                  <a:lin ang="5400000" scaled="0"/>
                </a:gradFill>
                <a:latin typeface="+mj-ea"/>
                <a:ea typeface="+mj-ea"/>
                <a:sym typeface="+mn-ea"/>
              </a:rPr>
              <a:t>助力企业轻松上云</a:t>
            </a:r>
            <a:endParaRPr lang="zh-CN" altLang="en-US" sz="3600" b="1">
              <a:gradFill>
                <a:gsLst>
                  <a:gs pos="100000">
                    <a:srgbClr val="9BB8FB">
                      <a:alpha val="100000"/>
                    </a:srgbClr>
                  </a:gs>
                  <a:gs pos="0">
                    <a:schemeClr val="bg1"/>
                  </a:gs>
                </a:gsLst>
                <a:lin ang="5400000" scaled="0"/>
              </a:gradFill>
              <a:latin typeface="+mj-ea"/>
              <a:ea typeface="+mj-ea"/>
              <a:sym typeface="+mn-ea"/>
            </a:endParaRPr>
          </a:p>
        </p:txBody>
      </p:sp>
      <p:sp>
        <p:nvSpPr>
          <p:cNvPr id="11" name="矩形 10"/>
          <p:cNvSpPr/>
          <p:nvPr/>
        </p:nvSpPr>
        <p:spPr>
          <a:xfrm>
            <a:off x="1038225" y="2527300"/>
            <a:ext cx="3378200" cy="76835"/>
          </a:xfrm>
          <a:prstGeom prst="rect">
            <a:avLst/>
          </a:pr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矩形 11"/>
          <p:cNvSpPr/>
          <p:nvPr/>
        </p:nvSpPr>
        <p:spPr>
          <a:xfrm>
            <a:off x="4417060" y="2527300"/>
            <a:ext cx="3369945" cy="76835"/>
          </a:xfrm>
          <a:prstGeom prst="rect">
            <a:avLst/>
          </a:prstGeom>
          <a:solidFill>
            <a:srgbClr val="947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7787640" y="2527300"/>
            <a:ext cx="3369945" cy="76835"/>
          </a:xfrm>
          <a:prstGeom prst="rect">
            <a:avLst/>
          </a:prstGeom>
          <a:solidFill>
            <a:srgbClr val="24CEB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551623" y="4855845"/>
            <a:ext cx="2351405"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精细化资源管理和技术优化</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最大化云投资回报率</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18" name="文本框 17"/>
          <p:cNvSpPr txBox="1"/>
          <p:nvPr/>
        </p:nvSpPr>
        <p:spPr>
          <a:xfrm>
            <a:off x="4832985" y="4855845"/>
            <a:ext cx="2526030"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多层防护体系与专业运维</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保障业务</a:t>
            </a:r>
            <a:r>
              <a:rPr lang="en-US" altLang="zh-CN" sz="1400" b="0" i="0">
                <a:solidFill>
                  <a:schemeClr val="tx1"/>
                </a:solidFill>
                <a:latin typeface="微软雅黑 Light" panose="020B0502040204020203" charset="-122"/>
                <a:ea typeface="微软雅黑 Light" panose="020B0502040204020203" charset="-122"/>
                <a:cs typeface="微软雅黑" panose="020B0503020204020204" charset="-122"/>
              </a:rPr>
              <a:t>7</a:t>
            </a:r>
            <a:r>
              <a:rPr lang="en-US" altLang="en-US" sz="1400" b="0" i="0">
                <a:solidFill>
                  <a:schemeClr val="tx1"/>
                </a:solidFill>
                <a:latin typeface="微软雅黑 Light" panose="020B0502040204020203" charset="-122"/>
                <a:ea typeface="微软雅黑 Light" panose="020B0502040204020203" charset="-122"/>
                <a:cs typeface="微软雅黑" panose="020B0503020204020204" charset="-122"/>
              </a:rPr>
              <a:t>×</a:t>
            </a:r>
            <a:r>
              <a:rPr lang="en-US" altLang="zh-CN" sz="1400" b="0" i="0">
                <a:solidFill>
                  <a:schemeClr val="tx1"/>
                </a:solidFill>
                <a:latin typeface="微软雅黑 Light" panose="020B0502040204020203" charset="-122"/>
                <a:ea typeface="微软雅黑 Light" panose="020B0502040204020203" charset="-122"/>
                <a:cs typeface="微软雅黑" panose="020B0503020204020204" charset="-122"/>
              </a:rPr>
              <a:t>24</a:t>
            </a: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小时稳定运行</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文本框 20"/>
          <p:cNvSpPr txBox="1"/>
          <p:nvPr/>
        </p:nvSpPr>
        <p:spPr>
          <a:xfrm>
            <a:off x="7994015" y="4855845"/>
            <a:ext cx="2966720"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云底座</a:t>
            </a:r>
            <a:r>
              <a:rPr lang="en-US" altLang="zh-CN" sz="1400" b="0" i="0">
                <a:solidFill>
                  <a:schemeClr val="tx1"/>
                </a:solidFill>
                <a:latin typeface="微软雅黑 Light" panose="020B0502040204020203" charset="-122"/>
                <a:ea typeface="微软雅黑 Light" panose="020B0502040204020203" charset="-122"/>
                <a:cs typeface="微软雅黑" panose="020B0503020204020204" charset="-122"/>
              </a:rPr>
              <a:t>+</a:t>
            </a: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软件服务全栈数字化服务</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帮助企业实现多维度数字化转型</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3" name="图片 22" descr="成本"/>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0125" y="3173730"/>
            <a:ext cx="914400" cy="914400"/>
          </a:xfrm>
          <a:prstGeom prst="rect">
            <a:avLst/>
          </a:prstGeom>
        </p:spPr>
      </p:pic>
      <p:pic>
        <p:nvPicPr>
          <p:cNvPr id="24" name="图片 23" descr="服务"/>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07475" y="3173730"/>
            <a:ext cx="914400" cy="914400"/>
          </a:xfrm>
          <a:prstGeom prst="rect">
            <a:avLst/>
          </a:prstGeom>
        </p:spPr>
      </p:pic>
      <p:pic>
        <p:nvPicPr>
          <p:cNvPr id="26" name="图片 25" descr="服务"/>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8800" y="3173730"/>
            <a:ext cx="914400" cy="914400"/>
          </a:xfrm>
          <a:prstGeom prst="rect">
            <a:avLst/>
          </a:prstGeom>
        </p:spPr>
      </p:pic>
      <p:sp>
        <p:nvSpPr>
          <p:cNvPr id="27" name="文本框 26"/>
          <p:cNvSpPr txBox="1"/>
          <p:nvPr/>
        </p:nvSpPr>
        <p:spPr>
          <a:xfrm>
            <a:off x="1322070" y="4277995"/>
            <a:ext cx="2810510" cy="460375"/>
          </a:xfrm>
          <a:prstGeom prst="rect">
            <a:avLst/>
          </a:prstGeom>
          <a:noFill/>
        </p:spPr>
        <p:txBody>
          <a:bodyPr wrap="square" rtlCol="0" anchor="t">
            <a:spAutoFit/>
          </a:bodyPr>
          <a:p>
            <a:pPr algn="ctr"/>
            <a:r>
              <a:rPr lang="zh-CN" altLang="en-US" sz="2400" b="1">
                <a:solidFill>
                  <a:srgbClr val="3671F6"/>
                </a:solidFill>
                <a:latin typeface="微软雅黑" panose="020B0503020204020204" charset="-122"/>
                <a:ea typeface="微软雅黑" panose="020B0503020204020204" charset="-122"/>
                <a:cs typeface="微软雅黑" panose="020B0503020204020204" charset="-122"/>
                <a:sym typeface="+mn-ea"/>
              </a:rPr>
              <a:t>更低的转型成本</a:t>
            </a:r>
            <a:endParaRPr lang="zh-CN" altLang="en-US" sz="2400" b="1">
              <a:solidFill>
                <a:srgbClr val="3671F6"/>
              </a:solidFill>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4697095" y="4277995"/>
            <a:ext cx="2810510" cy="460375"/>
          </a:xfrm>
          <a:prstGeom prst="rect">
            <a:avLst/>
          </a:prstGeom>
          <a:noFill/>
        </p:spPr>
        <p:txBody>
          <a:bodyPr wrap="square" rtlCol="0" anchor="t">
            <a:spAutoFit/>
          </a:bodyPr>
          <a:p>
            <a:pPr algn="ctr"/>
            <a:r>
              <a:rPr lang="zh-CN" altLang="en-US" sz="2400" b="1">
                <a:solidFill>
                  <a:srgbClr val="947FFF"/>
                </a:solidFill>
                <a:latin typeface="微软雅黑" panose="020B0503020204020204" charset="-122"/>
                <a:ea typeface="微软雅黑" panose="020B0503020204020204" charset="-122"/>
                <a:cs typeface="微软雅黑" panose="020B0503020204020204" charset="-122"/>
                <a:sym typeface="+mn-ea"/>
              </a:rPr>
              <a:t>更高的业务稳定性</a:t>
            </a:r>
            <a:endParaRPr lang="zh-CN" altLang="en-US" sz="2400" b="1">
              <a:solidFill>
                <a:srgbClr val="947FFF"/>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8072120" y="4277995"/>
            <a:ext cx="2810510" cy="460375"/>
          </a:xfrm>
          <a:prstGeom prst="rect">
            <a:avLst/>
          </a:prstGeom>
          <a:noFill/>
        </p:spPr>
        <p:txBody>
          <a:bodyPr wrap="square" rtlCol="0" anchor="t">
            <a:spAutoFit/>
          </a:bodyPr>
          <a:p>
            <a:pPr algn="ctr"/>
            <a:r>
              <a:rPr lang="zh-CN" altLang="en-US" sz="2400" b="1">
                <a:solidFill>
                  <a:srgbClr val="24CEBC"/>
                </a:solidFill>
                <a:latin typeface="微软雅黑" panose="020B0503020204020204" charset="-122"/>
                <a:ea typeface="微软雅黑" panose="020B0503020204020204" charset="-122"/>
                <a:cs typeface="微软雅黑" panose="020B0503020204020204" charset="-122"/>
                <a:sym typeface="+mn-ea"/>
              </a:rPr>
              <a:t>更全面的服务能力</a:t>
            </a:r>
            <a:endParaRPr lang="zh-CN" altLang="en-US" sz="2400" b="1">
              <a:solidFill>
                <a:srgbClr val="24CEBC"/>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8"/>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6600" y="574675"/>
            <a:ext cx="1464945" cy="368300"/>
          </a:xfrm>
          <a:prstGeom prst="rect">
            <a:avLst/>
          </a:prstGeom>
          <a:noFill/>
        </p:spPr>
        <p:txBody>
          <a:bodyPr wrap="square" rtlCol="0">
            <a:spAutoFit/>
          </a:bodyPr>
          <a:p>
            <a:pPr lvl="0" algn="l">
              <a:buClrTx/>
              <a:buSzTx/>
              <a:buFontTx/>
            </a:pPr>
            <a:r>
              <a:rPr lang="en-US" altLang="zh-CN">
                <a:latin typeface="微软雅黑 Light" panose="020B0502040204020203" charset="-122"/>
                <a:ea typeface="微软雅黑 Light" panose="020B0502040204020203" charset="-122"/>
                <a:sym typeface="+mn-ea"/>
              </a:rPr>
              <a:t>PART ONE</a:t>
            </a:r>
            <a:endParaRPr lang="en-US" altLang="zh-CN">
              <a:latin typeface="微软雅黑 Light" panose="020B0502040204020203" charset="-122"/>
              <a:ea typeface="微软雅黑 Light" panose="020B0502040204020203" charset="-122"/>
              <a:sym typeface="+mn-ea"/>
            </a:endParaRPr>
          </a:p>
        </p:txBody>
      </p:sp>
      <p:sp>
        <p:nvSpPr>
          <p:cNvPr id="5" name="文本框 4"/>
          <p:cNvSpPr txBox="1"/>
          <p:nvPr/>
        </p:nvSpPr>
        <p:spPr>
          <a:xfrm>
            <a:off x="2508250" y="574675"/>
            <a:ext cx="1464945" cy="368300"/>
          </a:xfrm>
          <a:prstGeom prst="rect">
            <a:avLst/>
          </a:prstGeom>
          <a:noFill/>
        </p:spPr>
        <p:txBody>
          <a:bodyPr wrap="square" rtlCol="0">
            <a:spAutoFit/>
          </a:bodyPr>
          <a:p>
            <a:pPr lvl="0" algn="l">
              <a:buClrTx/>
              <a:buSzTx/>
              <a:buFontTx/>
            </a:pPr>
            <a:r>
              <a:rPr lang="en-US" altLang="zh-CN">
                <a:solidFill>
                  <a:srgbClr val="3671F6"/>
                </a:solidFill>
                <a:sym typeface="+mn-ea"/>
              </a:rPr>
              <a:t>PART TWO</a:t>
            </a:r>
            <a:endParaRPr lang="en-US" altLang="zh-CN">
              <a:solidFill>
                <a:srgbClr val="3671F6"/>
              </a:solidFill>
              <a:sym typeface="+mn-ea"/>
            </a:endParaRPr>
          </a:p>
        </p:txBody>
      </p:sp>
      <p:sp>
        <p:nvSpPr>
          <p:cNvPr id="6" name="文本框 5"/>
          <p:cNvSpPr txBox="1"/>
          <p:nvPr/>
        </p:nvSpPr>
        <p:spPr>
          <a:xfrm>
            <a:off x="4279900" y="574675"/>
            <a:ext cx="1883410" cy="368300"/>
          </a:xfrm>
          <a:prstGeom prst="rect">
            <a:avLst/>
          </a:prstGeom>
          <a:noFill/>
        </p:spPr>
        <p:txBody>
          <a:bodyPr wrap="square" rtlCol="0">
            <a:spAutoFit/>
          </a:bodyPr>
          <a:p>
            <a:r>
              <a:rPr lang="en-US" altLang="zh-CN">
                <a:latin typeface="微软雅黑 Light" panose="020B0502040204020203" charset="-122"/>
                <a:ea typeface="微软雅黑 Light" panose="020B0502040204020203" charset="-122"/>
              </a:rPr>
              <a:t>PART THREE</a:t>
            </a:r>
            <a:endParaRPr lang="en-US" altLang="zh-CN">
              <a:latin typeface="微软雅黑 Light" panose="020B0502040204020203" charset="-122"/>
              <a:ea typeface="微软雅黑 Light" panose="020B0502040204020203" charset="-122"/>
            </a:endParaRPr>
          </a:p>
        </p:txBody>
      </p:sp>
      <p:sp>
        <p:nvSpPr>
          <p:cNvPr id="8" name="文本框 7"/>
          <p:cNvSpPr txBox="1"/>
          <p:nvPr/>
        </p:nvSpPr>
        <p:spPr>
          <a:xfrm>
            <a:off x="638810" y="3982720"/>
            <a:ext cx="5247640" cy="1322070"/>
          </a:xfrm>
          <a:prstGeom prst="rect">
            <a:avLst/>
          </a:prstGeom>
          <a:noFill/>
        </p:spPr>
        <p:txBody>
          <a:bodyPr wrap="square" rtlCol="0" anchor="t">
            <a:spAutoFit/>
          </a:bodyPr>
          <a:p>
            <a:r>
              <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关于端木</a:t>
            </a:r>
            <a:endPar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0" name="直接连接符 9"/>
          <p:cNvCxnSpPr/>
          <p:nvPr/>
        </p:nvCxnSpPr>
        <p:spPr>
          <a:xfrm>
            <a:off x="731520" y="5457190"/>
            <a:ext cx="8761730" cy="0"/>
          </a:xfrm>
          <a:prstGeom prst="line">
            <a:avLst/>
          </a:prstGeom>
          <a:ln w="34925">
            <a:gradFill>
              <a:gsLst>
                <a:gs pos="0">
                  <a:srgbClr val="3671F6"/>
                </a:gs>
                <a:gs pos="100000">
                  <a:srgbClr val="15BAB1"/>
                </a:gs>
              </a:gsLst>
              <a:lin ang="0" scaled="1"/>
            </a:gradFill>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656590" y="5671820"/>
            <a:ext cx="6096000" cy="398780"/>
          </a:xfrm>
          <a:prstGeom prst="rect">
            <a:avLst/>
          </a:prstGeom>
          <a:noFill/>
        </p:spPr>
        <p:txBody>
          <a:bodyPr wrap="square" rtlCol="0" anchor="t">
            <a:spAutoFit/>
          </a:bodyPr>
          <a:p>
            <a:pPr algn="l"/>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专业的云计算及行业信息化服务提供商</a:t>
            </a:r>
            <a:endPar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2" name="文本框 11"/>
          <p:cNvSpPr txBox="1"/>
          <p:nvPr/>
        </p:nvSpPr>
        <p:spPr>
          <a:xfrm>
            <a:off x="5075555" y="4764405"/>
            <a:ext cx="3834130" cy="460375"/>
          </a:xfrm>
          <a:prstGeom prst="rect">
            <a:avLst/>
          </a:prstGeom>
          <a:noFill/>
        </p:spPr>
        <p:txBody>
          <a:bodyPr wrap="square" rtlCol="0" anchor="t">
            <a:spAutoFit/>
          </a:bodyPr>
          <a:p>
            <a:pPr algn="dist"/>
            <a:r>
              <a:rPr lang="en-US" altLang="zh-CN" sz="2400">
                <a:solidFill>
                  <a:srgbClr val="3671F6"/>
                </a:solidFill>
                <a:latin typeface="微软雅黑" panose="020B0503020204020204" charset="-122"/>
                <a:ea typeface="微软雅黑" panose="020B0503020204020204" charset="-122"/>
              </a:rPr>
              <a:t>DUANMU SOFTWARE</a:t>
            </a:r>
            <a:endParaRPr lang="en-US" altLang="zh-CN" sz="2400">
              <a:solidFill>
                <a:srgbClr val="3671F6"/>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alphaModFix amt="80000"/>
            <a:lum contrast="24000"/>
          </a:blip>
          <a:srcRect/>
          <a:stretch>
            <a:fillRect/>
          </a:stretch>
        </p:blipFill>
        <p:spPr>
          <a:xfrm>
            <a:off x="0" y="0"/>
            <a:ext cx="12192635" cy="6858000"/>
          </a:xfrm>
          <a:prstGeom prst="rect">
            <a:avLst/>
          </a:prstGeom>
        </p:spPr>
      </p:pic>
      <p:sp>
        <p:nvSpPr>
          <p:cNvPr id="29" name="矩形 28"/>
          <p:cNvSpPr/>
          <p:nvPr/>
        </p:nvSpPr>
        <p:spPr>
          <a:xfrm>
            <a:off x="0" y="3278505"/>
            <a:ext cx="12191365" cy="3579495"/>
          </a:xfrm>
          <a:prstGeom prst="rect">
            <a:avLst/>
          </a:prstGeom>
          <a:gradFill>
            <a:gsLst>
              <a:gs pos="0">
                <a:srgbClr val="2461F5">
                  <a:alpha val="0"/>
                </a:srgbClr>
              </a:gs>
              <a:gs pos="87000">
                <a:srgbClr val="2461F5">
                  <a:alpha val="66000"/>
                </a:srgbClr>
              </a:gs>
              <a:gs pos="100000">
                <a:srgbClr val="2461F5">
                  <a:alpha val="90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chemeClr val="bg1">
                      <a:alpha val="62000"/>
                    </a:schemeClr>
                  </a:gs>
                  <a:gs pos="100000">
                    <a:srgbClr val="15BAB1"/>
                  </a:gs>
                </a:gsLst>
                <a:lin ang="5400000" scaled="0"/>
              </a:gradFill>
            </a:endParaRPr>
          </a:p>
        </p:txBody>
      </p:sp>
      <p:sp>
        <p:nvSpPr>
          <p:cNvPr id="27" name="矩形 26"/>
          <p:cNvSpPr/>
          <p:nvPr/>
        </p:nvSpPr>
        <p:spPr>
          <a:xfrm>
            <a:off x="933450" y="4120515"/>
            <a:ext cx="10373995" cy="660400"/>
          </a:xfrm>
          <a:prstGeom prst="rect">
            <a:avLst/>
          </a:prstGeom>
        </p:spPr>
        <p:txBody>
          <a:bodyPr wrap="square">
            <a:spAutoFit/>
          </a:bodyPr>
          <a:p>
            <a:pPr lvl="0" indent="0" algn="l" fontAlgn="auto">
              <a:lnSpc>
                <a:spcPts val="2220"/>
              </a:lnSpc>
            </a:pPr>
            <a:r>
              <a:rPr lang="zh-CN" altLang="en-US" sz="1600" spc="130" dirty="0">
                <a:solidFill>
                  <a:schemeClr val="bg1"/>
                </a:solidFill>
                <a:latin typeface="微软雅黑 Light" panose="020B0502040204020203" charset="-122"/>
                <a:ea typeface="微软雅黑 Light" panose="020B0502040204020203" charset="-122"/>
                <a:cs typeface="微软雅黑 Light" panose="020B0502040204020203" charset="-122"/>
                <a:sym typeface="+mn-lt"/>
              </a:rPr>
              <a:t>端木软件得名于孔子得意门生端木子贡，孔门十哲之一，善于经商之道，以</a:t>
            </a:r>
            <a:r>
              <a:rPr lang="en-US" altLang="zh-CN" sz="1600" spc="130" dirty="0">
                <a:solidFill>
                  <a:schemeClr val="bg1"/>
                </a:solidFill>
                <a:latin typeface="微软雅黑 Light" panose="020B0502040204020203" charset="-122"/>
                <a:ea typeface="微软雅黑 Light" panose="020B0502040204020203" charset="-122"/>
                <a:cs typeface="微软雅黑 Light" panose="020B0502040204020203" charset="-122"/>
                <a:sym typeface="+mn-lt"/>
              </a:rPr>
              <a:t>“</a:t>
            </a:r>
            <a:r>
              <a:rPr lang="zh-CN" altLang="en-US" sz="1600" spc="130" dirty="0">
                <a:solidFill>
                  <a:schemeClr val="bg1"/>
                </a:solidFill>
                <a:latin typeface="微软雅黑 Light" panose="020B0502040204020203" charset="-122"/>
                <a:ea typeface="微软雅黑 Light" panose="020B0502040204020203" charset="-122"/>
                <a:cs typeface="微软雅黑 Light" panose="020B0502040204020203" charset="-122"/>
                <a:sym typeface="+mn-lt"/>
              </a:rPr>
              <a:t>君子爱财，取之有道</a:t>
            </a:r>
            <a:r>
              <a:rPr lang="en-US" altLang="zh-CN" sz="1600" spc="130" dirty="0">
                <a:solidFill>
                  <a:schemeClr val="bg1"/>
                </a:solidFill>
                <a:latin typeface="微软雅黑 Light" panose="020B0502040204020203" charset="-122"/>
                <a:ea typeface="微软雅黑 Light" panose="020B0502040204020203" charset="-122"/>
                <a:cs typeface="微软雅黑 Light" panose="020B0502040204020203" charset="-122"/>
                <a:sym typeface="+mn-lt"/>
              </a:rPr>
              <a:t>”</a:t>
            </a:r>
            <a:r>
              <a:rPr lang="zh-CN" altLang="en-US" sz="1600" spc="130" dirty="0">
                <a:solidFill>
                  <a:schemeClr val="bg1"/>
                </a:solidFill>
                <a:latin typeface="微软雅黑 Light" panose="020B0502040204020203" charset="-122"/>
                <a:ea typeface="微软雅黑 Light" panose="020B0502040204020203" charset="-122"/>
                <a:cs typeface="微软雅黑 Light" panose="020B0502040204020203" charset="-122"/>
                <a:sym typeface="+mn-lt"/>
              </a:rPr>
              <a:t>的端木遗风为后世商界所推崇。</a:t>
            </a:r>
            <a:endParaRPr lang="zh-CN" altLang="en-US" sz="1600" spc="130" dirty="0">
              <a:solidFill>
                <a:schemeClr val="bg1"/>
              </a:solidFill>
              <a:latin typeface="微软雅黑 Light" panose="020B0502040204020203" charset="-122"/>
              <a:ea typeface="微软雅黑 Light" panose="020B0502040204020203" charset="-122"/>
              <a:cs typeface="微软雅黑 Light" panose="020B0502040204020203" charset="-122"/>
              <a:sym typeface="+mn-lt"/>
            </a:endParaRPr>
          </a:p>
        </p:txBody>
      </p:sp>
      <p:sp>
        <p:nvSpPr>
          <p:cNvPr id="28" name="文本框 27"/>
          <p:cNvSpPr txBox="1"/>
          <p:nvPr/>
        </p:nvSpPr>
        <p:spPr>
          <a:xfrm>
            <a:off x="933450" y="4920615"/>
            <a:ext cx="10373360" cy="1099185"/>
          </a:xfrm>
          <a:prstGeom prst="rect">
            <a:avLst/>
          </a:prstGeom>
          <a:noFill/>
        </p:spPr>
        <p:txBody>
          <a:bodyPr wrap="square" rtlCol="0" anchor="t">
            <a:spAutoFit/>
          </a:bodyPr>
          <a:lstStyle>
            <a:defPPr>
              <a:defRPr lang="zh-CN"/>
            </a:defPPr>
            <a:lvl1pPr algn="ctr">
              <a:defRPr sz="5400">
                <a:gradFill>
                  <a:gsLst>
                    <a:gs pos="0">
                      <a:srgbClr val="2CC8FF"/>
                    </a:gs>
                    <a:gs pos="51000">
                      <a:srgbClr val="55E0E2"/>
                    </a:gs>
                    <a:gs pos="100000">
                      <a:srgbClr val="5AEACA"/>
                    </a:gs>
                  </a:gsLst>
                  <a:lin ang="0" scaled="0"/>
                </a:gradFill>
                <a:latin typeface="造字工房方黑（非商用）常规体" pitchFamily="2" charset="-122"/>
                <a:ea typeface="造字工房方黑（非商用）常规体" pitchFamily="2" charset="-122"/>
              </a:defRPr>
            </a:lvl1pPr>
          </a:lstStyle>
          <a:p>
            <a:pPr lvl="0" indent="0" algn="l" fontAlgn="auto">
              <a:lnSpc>
                <a:spcPts val="2220"/>
              </a:lnSpc>
              <a:spcBef>
                <a:spcPts val="600"/>
              </a:spcBef>
              <a:buClrTx/>
              <a:buSzTx/>
              <a:buFontTx/>
            </a:pPr>
            <a:r>
              <a:rPr lang="zh-CN" altLang="en-US" sz="1800" b="1">
                <a:ln>
                  <a:noFill/>
                </a:ln>
                <a:gradFill>
                  <a:gsLst>
                    <a:gs pos="0">
                      <a:srgbClr val="3AE4D6"/>
                    </a:gs>
                    <a:gs pos="100000">
                      <a:srgbClr val="38ABE6">
                        <a:alpha val="100000"/>
                      </a:srgbClr>
                    </a:gs>
                  </a:gsLst>
                  <a:lin ang="4200000" scaled="0"/>
                </a:gradFill>
                <a:effectLst/>
                <a:uFillTx/>
                <a:latin typeface="微软雅黑" panose="020B0503020204020204" charset="-122"/>
                <a:ea typeface="微软雅黑" panose="020B0503020204020204" charset="-122"/>
                <a:cs typeface="微软雅黑" panose="020B0503020204020204" charset="-122"/>
                <a:sym typeface="+mn-lt"/>
              </a:rPr>
              <a:t>以利他为根基，以诚信为纽带，以创新为杠杆</a:t>
            </a:r>
            <a:endParaRPr lang="zh-CN" altLang="en-US" sz="1800" b="1">
              <a:ln>
                <a:noFill/>
              </a:ln>
              <a:gradFill>
                <a:gsLst>
                  <a:gs pos="0">
                    <a:srgbClr val="3AE4D6"/>
                  </a:gs>
                  <a:gs pos="100000">
                    <a:srgbClr val="38ABE6">
                      <a:alpha val="100000"/>
                    </a:srgbClr>
                  </a:gs>
                </a:gsLst>
                <a:lin ang="4200000" scaled="0"/>
              </a:gradFill>
              <a:effectLst/>
              <a:uFillTx/>
              <a:latin typeface="微软雅黑" panose="020B0503020204020204" charset="-122"/>
              <a:ea typeface="微软雅黑" panose="020B0503020204020204" charset="-122"/>
              <a:cs typeface="微软雅黑" panose="020B0503020204020204" charset="-122"/>
              <a:sym typeface="+mn-lt"/>
            </a:endParaRPr>
          </a:p>
          <a:p>
            <a:pPr lvl="0" indent="0" algn="l" fontAlgn="auto">
              <a:lnSpc>
                <a:spcPts val="2220"/>
              </a:lnSpc>
              <a:spcBef>
                <a:spcPts val="600"/>
              </a:spcBef>
              <a:buClrTx/>
              <a:buSzTx/>
              <a:buFontTx/>
            </a:pPr>
            <a:r>
              <a:rPr lang="zh-CN" altLang="en-US" sz="1600">
                <a:ln>
                  <a:noFill/>
                </a:ln>
                <a:solidFill>
                  <a:schemeClr val="bg1"/>
                </a:solidFill>
                <a:effectLst/>
                <a:uFillTx/>
                <a:latin typeface="微软雅黑 Light" panose="020B0502040204020203" charset="-122"/>
                <a:ea typeface="微软雅黑 Light" panose="020B0502040204020203" charset="-122"/>
                <a:cs typeface="微软雅黑 Light" panose="020B0502040204020203" charset="-122"/>
                <a:sym typeface="+mn-lt"/>
              </a:rPr>
              <a:t>这跨越两千五百年的精神血脉，深深镌刻在端木软件的企业文化基因中。</a:t>
            </a:r>
            <a:endParaRPr lang="zh-CN" altLang="en-US" sz="1600">
              <a:ln>
                <a:noFill/>
              </a:ln>
              <a:solidFill>
                <a:schemeClr val="bg1"/>
              </a:solidFill>
              <a:effectLst/>
              <a:uFillTx/>
              <a:latin typeface="微软雅黑 Light" panose="020B0502040204020203" charset="-122"/>
              <a:ea typeface="微软雅黑 Light" panose="020B0502040204020203" charset="-122"/>
              <a:cs typeface="微软雅黑 Light" panose="020B0502040204020203" charset="-122"/>
              <a:sym typeface="+mn-lt"/>
            </a:endParaRPr>
          </a:p>
          <a:p>
            <a:pPr lvl="0" indent="0" algn="l" fontAlgn="auto">
              <a:lnSpc>
                <a:spcPts val="2220"/>
              </a:lnSpc>
              <a:spcBef>
                <a:spcPts val="600"/>
              </a:spcBef>
              <a:buClrTx/>
              <a:buSzTx/>
              <a:buFontTx/>
            </a:pPr>
            <a:r>
              <a:rPr lang="zh-CN" altLang="en-US" sz="1600">
                <a:ln>
                  <a:noFill/>
                </a:ln>
                <a:solidFill>
                  <a:schemeClr val="bg1"/>
                </a:solidFill>
                <a:effectLst/>
                <a:uFillTx/>
                <a:latin typeface="微软雅黑 Light" panose="020B0502040204020203" charset="-122"/>
                <a:ea typeface="微软雅黑 Light" panose="020B0502040204020203" charset="-122"/>
                <a:cs typeface="微软雅黑 Light" panose="020B0502040204020203" charset="-122"/>
                <a:sym typeface="+mn-lt"/>
              </a:rPr>
              <a:t>端木软件</a:t>
            </a:r>
            <a:r>
              <a:rPr lang="zh-CN" altLang="en-US" sz="1600">
                <a:ln>
                  <a:noFill/>
                </a:ln>
                <a:solidFill>
                  <a:schemeClr val="bg1"/>
                </a:solidFill>
                <a:effectLst/>
                <a:uFillTx/>
                <a:latin typeface="微软雅黑 Light" panose="020B0502040204020203" charset="-122"/>
                <a:ea typeface="微软雅黑 Light" panose="020B0502040204020203" charset="-122"/>
                <a:cs typeface="微软雅黑 Light" panose="020B0502040204020203" charset="-122"/>
                <a:sym typeface="+mn-lt"/>
              </a:rPr>
              <a:t>立足</a:t>
            </a:r>
            <a:r>
              <a:rPr lang="en-US" altLang="zh-CN" sz="1600">
                <a:ln>
                  <a:noFill/>
                </a:ln>
                <a:solidFill>
                  <a:schemeClr val="bg1"/>
                </a:solidFill>
                <a:effectLst/>
                <a:uFillTx/>
                <a:latin typeface="微软雅黑 Light" panose="020B0502040204020203" charset="-122"/>
                <a:ea typeface="微软雅黑 Light" panose="020B0502040204020203" charset="-122"/>
                <a:cs typeface="微软雅黑 Light" panose="020B0502040204020203" charset="-122"/>
                <a:sym typeface="+mn-lt"/>
              </a:rPr>
              <a:t>IT</a:t>
            </a:r>
            <a:r>
              <a:rPr lang="zh-CN" altLang="en-US" sz="1600">
                <a:ln>
                  <a:noFill/>
                </a:ln>
                <a:solidFill>
                  <a:schemeClr val="bg1"/>
                </a:solidFill>
                <a:effectLst/>
                <a:uFillTx/>
                <a:latin typeface="微软雅黑 Light" panose="020B0502040204020203" charset="-122"/>
                <a:ea typeface="微软雅黑 Light" panose="020B0502040204020203" charset="-122"/>
                <a:cs typeface="微软雅黑 Light" panose="020B0502040204020203" charset="-122"/>
                <a:sym typeface="+mn-lt"/>
              </a:rPr>
              <a:t>行业，洞察企业数字化转型需求，</a:t>
            </a:r>
            <a:r>
              <a:rPr lang="zh-CN" altLang="en-US" sz="1600">
                <a:ln>
                  <a:noFill/>
                </a:ln>
                <a:solidFill>
                  <a:schemeClr val="bg1"/>
                </a:solidFill>
                <a:effectLst/>
                <a:uFillTx/>
                <a:latin typeface="微软雅黑 Light" panose="020B0502040204020203" charset="-122"/>
                <a:ea typeface="微软雅黑 Light" panose="020B0502040204020203" charset="-122"/>
                <a:cs typeface="微软雅黑 Light" panose="020B0502040204020203" charset="-122"/>
                <a:sym typeface="+mn-lt"/>
              </a:rPr>
              <a:t>以一站式</a:t>
            </a:r>
            <a:r>
              <a:rPr lang="zh-CN" altLang="en-US" sz="1600">
                <a:ln>
                  <a:noFill/>
                </a:ln>
                <a:solidFill>
                  <a:schemeClr val="bg1"/>
                </a:solidFill>
                <a:effectLst/>
                <a:uFillTx/>
                <a:latin typeface="微软雅黑 Light" panose="020B0502040204020203" charset="-122"/>
                <a:ea typeface="微软雅黑 Light" panose="020B0502040204020203" charset="-122"/>
                <a:cs typeface="微软雅黑 Light" panose="020B0502040204020203" charset="-122"/>
                <a:sym typeface="+mn-lt"/>
              </a:rPr>
              <a:t>IT</a:t>
            </a:r>
            <a:r>
              <a:rPr lang="zh-CN" altLang="en-US" sz="1600">
                <a:ln>
                  <a:noFill/>
                </a:ln>
                <a:solidFill>
                  <a:schemeClr val="bg1"/>
                </a:solidFill>
                <a:effectLst/>
                <a:uFillTx/>
                <a:latin typeface="微软雅黑 Light" panose="020B0502040204020203" charset="-122"/>
                <a:ea typeface="微软雅黑 Light" panose="020B0502040204020203" charset="-122"/>
                <a:cs typeface="微软雅黑 Light" panose="020B0502040204020203" charset="-122"/>
                <a:sym typeface="+mn-lt"/>
              </a:rPr>
              <a:t>服务生态链接各行各业伙伴，携手伙伴共赢共生。</a:t>
            </a:r>
            <a:endParaRPr lang="zh-CN" altLang="en-US" sz="1600">
              <a:ln>
                <a:noFill/>
              </a:ln>
              <a:solidFill>
                <a:schemeClr val="bg1"/>
              </a:solidFill>
              <a:effectLst/>
              <a:uFillTx/>
              <a:latin typeface="微软雅黑 Light" panose="020B0502040204020203" charset="-122"/>
              <a:ea typeface="微软雅黑 Light" panose="020B0502040204020203" charset="-122"/>
              <a:cs typeface="微软雅黑 Light" panose="020B0502040204020203" charset="-122"/>
              <a:sym typeface="+mn-lt"/>
            </a:endParaRPr>
          </a:p>
        </p:txBody>
      </p:sp>
      <p:sp>
        <p:nvSpPr>
          <p:cNvPr id="19" name="文本框 18"/>
          <p:cNvSpPr txBox="1"/>
          <p:nvPr/>
        </p:nvSpPr>
        <p:spPr>
          <a:xfrm>
            <a:off x="933450" y="900430"/>
            <a:ext cx="1410970" cy="1861185"/>
          </a:xfrm>
          <a:prstGeom prst="rect">
            <a:avLst/>
          </a:prstGeom>
          <a:noFill/>
        </p:spPr>
        <p:txBody>
          <a:bodyPr wrap="square" rtlCol="0" anchor="t">
            <a:spAutoFit/>
          </a:bodyPr>
          <a:p>
            <a:pPr algn="ctr"/>
            <a:r>
              <a:rPr lang="zh-CN" altLang="en-US" sz="115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rPr>
              <a:t>端</a:t>
            </a:r>
            <a:endParaRPr lang="zh-CN" altLang="en-US" sz="115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endParaRPr>
          </a:p>
        </p:txBody>
      </p:sp>
      <p:sp>
        <p:nvSpPr>
          <p:cNvPr id="20" name="文本框 19"/>
          <p:cNvSpPr txBox="1"/>
          <p:nvPr/>
        </p:nvSpPr>
        <p:spPr>
          <a:xfrm>
            <a:off x="2292350" y="1144270"/>
            <a:ext cx="1410970" cy="1568450"/>
          </a:xfrm>
          <a:prstGeom prst="rect">
            <a:avLst/>
          </a:prstGeom>
          <a:noFill/>
        </p:spPr>
        <p:txBody>
          <a:bodyPr wrap="square" rtlCol="0" anchor="t">
            <a:spAutoFit/>
          </a:bodyPr>
          <a:p>
            <a:pPr lvl="0" algn="ctr">
              <a:buClrTx/>
              <a:buSzTx/>
              <a:buFontTx/>
            </a:pPr>
            <a:r>
              <a:rPr lang="zh-CN" altLang="en-US" sz="96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rPr>
              <a:t>木</a:t>
            </a:r>
            <a:endParaRPr lang="zh-CN" altLang="en-US" sz="96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endParaRPr>
          </a:p>
        </p:txBody>
      </p:sp>
      <p:sp>
        <p:nvSpPr>
          <p:cNvPr id="21" name="文本框 20"/>
          <p:cNvSpPr txBox="1"/>
          <p:nvPr/>
        </p:nvSpPr>
        <p:spPr>
          <a:xfrm>
            <a:off x="3302635" y="1484630"/>
            <a:ext cx="1410970" cy="1445260"/>
          </a:xfrm>
          <a:prstGeom prst="rect">
            <a:avLst/>
          </a:prstGeom>
          <a:noFill/>
        </p:spPr>
        <p:txBody>
          <a:bodyPr wrap="square" rtlCol="0" anchor="t">
            <a:spAutoFit/>
          </a:bodyPr>
          <a:p>
            <a:pPr lvl="0" algn="ctr">
              <a:buClrTx/>
              <a:buSzTx/>
              <a:buFontTx/>
            </a:pPr>
            <a:r>
              <a:rPr lang="zh-CN" altLang="en-US" sz="88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rPr>
              <a:t>遗</a:t>
            </a:r>
            <a:endParaRPr lang="zh-CN" altLang="en-US" sz="88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endParaRPr>
          </a:p>
        </p:txBody>
      </p:sp>
      <p:sp>
        <p:nvSpPr>
          <p:cNvPr id="22" name="文本框 21"/>
          <p:cNvSpPr txBox="1"/>
          <p:nvPr/>
        </p:nvSpPr>
        <p:spPr>
          <a:xfrm>
            <a:off x="4496435" y="1503680"/>
            <a:ext cx="1410970" cy="1445260"/>
          </a:xfrm>
          <a:prstGeom prst="rect">
            <a:avLst/>
          </a:prstGeom>
          <a:noFill/>
        </p:spPr>
        <p:txBody>
          <a:bodyPr wrap="square" rtlCol="0" anchor="t">
            <a:spAutoFit/>
          </a:bodyPr>
          <a:p>
            <a:pPr lvl="0" algn="ctr">
              <a:buClrTx/>
              <a:buSzTx/>
              <a:buFontTx/>
            </a:pPr>
            <a:r>
              <a:rPr lang="zh-CN" altLang="en-US" sz="88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rPr>
              <a:t>风</a:t>
            </a:r>
            <a:endParaRPr lang="zh-CN" altLang="en-US" sz="88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endParaRPr>
          </a:p>
        </p:txBody>
      </p:sp>
      <p:sp>
        <p:nvSpPr>
          <p:cNvPr id="23" name="文本框 22"/>
          <p:cNvSpPr txBox="1"/>
          <p:nvPr/>
        </p:nvSpPr>
        <p:spPr>
          <a:xfrm>
            <a:off x="6100445" y="1229995"/>
            <a:ext cx="1410970" cy="1861185"/>
          </a:xfrm>
          <a:prstGeom prst="rect">
            <a:avLst/>
          </a:prstGeom>
          <a:noFill/>
        </p:spPr>
        <p:txBody>
          <a:bodyPr wrap="square" rtlCol="0" anchor="t">
            <a:spAutoFit/>
          </a:bodyPr>
          <a:p>
            <a:pPr lvl="0" algn="ctr">
              <a:buClrTx/>
              <a:buSzTx/>
              <a:buFontTx/>
            </a:pPr>
            <a:r>
              <a:rPr lang="zh-CN" altLang="en-US" sz="115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rPr>
              <a:t>和</a:t>
            </a:r>
            <a:endParaRPr lang="zh-CN" altLang="en-US" sz="115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endParaRPr>
          </a:p>
        </p:txBody>
      </p:sp>
      <p:sp>
        <p:nvSpPr>
          <p:cNvPr id="24" name="文本框 23"/>
          <p:cNvSpPr txBox="1"/>
          <p:nvPr/>
        </p:nvSpPr>
        <p:spPr>
          <a:xfrm>
            <a:off x="7347585" y="1229995"/>
            <a:ext cx="1410970" cy="1445260"/>
          </a:xfrm>
          <a:prstGeom prst="rect">
            <a:avLst/>
          </a:prstGeom>
          <a:noFill/>
        </p:spPr>
        <p:txBody>
          <a:bodyPr wrap="square" rtlCol="0" anchor="t">
            <a:spAutoFit/>
          </a:bodyPr>
          <a:p>
            <a:pPr lvl="0" algn="ctr">
              <a:buClrTx/>
              <a:buSzTx/>
              <a:buFontTx/>
            </a:pPr>
            <a:r>
              <a:rPr lang="zh-CN" altLang="en-US" sz="88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rPr>
              <a:t>合</a:t>
            </a:r>
            <a:endParaRPr lang="zh-CN" altLang="en-US" sz="88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endParaRPr>
          </a:p>
        </p:txBody>
      </p:sp>
      <p:sp>
        <p:nvSpPr>
          <p:cNvPr id="25" name="文本框 24"/>
          <p:cNvSpPr txBox="1"/>
          <p:nvPr/>
        </p:nvSpPr>
        <p:spPr>
          <a:xfrm>
            <a:off x="8447405" y="967105"/>
            <a:ext cx="1410970" cy="1445260"/>
          </a:xfrm>
          <a:prstGeom prst="rect">
            <a:avLst/>
          </a:prstGeom>
          <a:noFill/>
        </p:spPr>
        <p:txBody>
          <a:bodyPr wrap="square" rtlCol="0" anchor="t">
            <a:spAutoFit/>
          </a:bodyPr>
          <a:p>
            <a:pPr lvl="0" algn="ctr">
              <a:buClrTx/>
              <a:buSzTx/>
              <a:buFontTx/>
            </a:pPr>
            <a:r>
              <a:rPr lang="zh-CN" altLang="en-US" sz="88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rPr>
              <a:t>共</a:t>
            </a:r>
            <a:endParaRPr lang="zh-CN" altLang="en-US" sz="88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endParaRPr>
          </a:p>
        </p:txBody>
      </p:sp>
      <p:sp>
        <p:nvSpPr>
          <p:cNvPr id="26" name="文本框 25"/>
          <p:cNvSpPr txBox="1"/>
          <p:nvPr/>
        </p:nvSpPr>
        <p:spPr>
          <a:xfrm>
            <a:off x="9677400" y="986155"/>
            <a:ext cx="1410970" cy="1445260"/>
          </a:xfrm>
          <a:prstGeom prst="rect">
            <a:avLst/>
          </a:prstGeom>
          <a:noFill/>
        </p:spPr>
        <p:txBody>
          <a:bodyPr wrap="square" rtlCol="0" anchor="t">
            <a:spAutoFit/>
          </a:bodyPr>
          <a:p>
            <a:pPr lvl="0" algn="ctr">
              <a:buClrTx/>
              <a:buSzTx/>
              <a:buFontTx/>
            </a:pPr>
            <a:r>
              <a:rPr lang="zh-CN" altLang="en-US" sz="88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rPr>
              <a:t>生</a:t>
            </a:r>
            <a:endParaRPr lang="zh-CN" altLang="en-US" sz="8800" b="1">
              <a:ln>
                <a:noFill/>
              </a:ln>
              <a:gradFill>
                <a:gsLst>
                  <a:gs pos="0">
                    <a:srgbClr val="5D9CFB"/>
                  </a:gs>
                  <a:gs pos="57000">
                    <a:srgbClr val="5D9CFB">
                      <a:alpha val="32000"/>
                    </a:srgbClr>
                  </a:gs>
                  <a:gs pos="85000">
                    <a:srgbClr val="5D9CFB">
                      <a:alpha val="0"/>
                    </a:srgbClr>
                  </a:gs>
                </a:gsLst>
                <a:lin ang="5400000" scaled="0"/>
              </a:gradFill>
              <a:effectLst/>
              <a:uFillTx/>
              <a:latin typeface="微软雅黑" panose="020B0503020204020204" charset="-122"/>
              <a:ea typeface="微软雅黑" panose="020B0503020204020204" charset="-122"/>
              <a:cs typeface="微软雅黑" panose="020B0503020204020204" charset="-122"/>
              <a:sym typeface="+mn-lt"/>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图片1"/>
          <p:cNvPicPr>
            <a:picLocks noChangeAspect="1"/>
          </p:cNvPicPr>
          <p:nvPr/>
        </p:nvPicPr>
        <p:blipFill>
          <a:blip r:embed="rId1"/>
          <a:stretch>
            <a:fillRect/>
          </a:stretch>
        </p:blipFill>
        <p:spPr>
          <a:xfrm>
            <a:off x="2857500" y="1369060"/>
            <a:ext cx="6242685" cy="4953000"/>
          </a:xfrm>
          <a:prstGeom prst="rect">
            <a:avLst/>
          </a:prstGeom>
        </p:spPr>
      </p:pic>
      <p:sp>
        <p:nvSpPr>
          <p:cNvPr id="6" name="椭圆 5"/>
          <p:cNvSpPr/>
          <p:nvPr/>
        </p:nvSpPr>
        <p:spPr>
          <a:xfrm rot="20940000">
            <a:off x="724535" y="2303145"/>
            <a:ext cx="10377805" cy="3498215"/>
          </a:xfrm>
          <a:prstGeom prst="ellipse">
            <a:avLst/>
          </a:prstGeom>
          <a:noFill/>
          <a:ln w="34925">
            <a:gradFill>
              <a:gsLst>
                <a:gs pos="10000">
                  <a:srgbClr val="2461F5">
                    <a:alpha val="0"/>
                  </a:srgbClr>
                </a:gs>
                <a:gs pos="100000">
                  <a:srgbClr val="2461F5">
                    <a:alpha val="5800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descr="纸飞机"/>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9560000" flipH="1">
            <a:off x="8839835" y="1849755"/>
            <a:ext cx="419735" cy="419735"/>
          </a:xfrm>
          <a:prstGeom prst="rect">
            <a:avLst/>
          </a:prstGeom>
        </p:spPr>
      </p:pic>
      <p:cxnSp>
        <p:nvCxnSpPr>
          <p:cNvPr id="14" name="直接连接符 13"/>
          <p:cNvCxnSpPr/>
          <p:nvPr/>
        </p:nvCxnSpPr>
        <p:spPr>
          <a:xfrm>
            <a:off x="1037590" y="2949575"/>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1139825" y="2949575"/>
            <a:ext cx="1090295"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rPr>
              <a:t>2015</a:t>
            </a:r>
            <a:r>
              <a:rPr lang="zh-CN" altLang="en-US" sz="1600" b="1">
                <a:solidFill>
                  <a:srgbClr val="2461F5"/>
                </a:solidFill>
                <a:latin typeface="微软雅黑" panose="020B0503020204020204" charset="-122"/>
                <a:ea typeface="微软雅黑" panose="020B0503020204020204" charset="-122"/>
                <a:cs typeface="微软雅黑" panose="020B0503020204020204" charset="-122"/>
              </a:rPr>
              <a:t>年</a:t>
            </a:r>
            <a:endParaRPr lang="zh-CN" altLang="en-US" sz="1600" b="1">
              <a:solidFill>
                <a:srgbClr val="2461F5"/>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1139825" y="3286760"/>
            <a:ext cx="1482725" cy="275590"/>
          </a:xfrm>
          <a:prstGeom prst="rect">
            <a:avLst/>
          </a:prstGeom>
          <a:noFill/>
        </p:spPr>
        <p:txBody>
          <a:bodyPr wrap="square" rtlCol="0" anchor="t">
            <a:spAutoFit/>
          </a:bodyPr>
          <a:p>
            <a:pPr algn="l"/>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端木软件成立</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7" name="直接连接符 16"/>
          <p:cNvCxnSpPr/>
          <p:nvPr/>
        </p:nvCxnSpPr>
        <p:spPr>
          <a:xfrm>
            <a:off x="1596390" y="4324350"/>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1698625" y="4324350"/>
            <a:ext cx="212471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2016-2019</a:t>
            </a:r>
            <a:r>
              <a:rPr lang="zh-CN" altLang="en-US" sz="1600" b="1">
                <a:solidFill>
                  <a:srgbClr val="2461F5"/>
                </a:solidFill>
                <a:latin typeface="微软雅黑" panose="020B0503020204020204" charset="-122"/>
                <a:ea typeface="微软雅黑" panose="020B0503020204020204" charset="-122"/>
                <a:cs typeface="微软雅黑" panose="020B0503020204020204" charset="-122"/>
                <a:sym typeface="+mn-ea"/>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rPr>
              <a:t>破土</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1698625" y="4661535"/>
            <a:ext cx="2754630" cy="983615"/>
          </a:xfrm>
          <a:prstGeom prst="rect">
            <a:avLst/>
          </a:prstGeom>
          <a:noFill/>
        </p:spPr>
        <p:txBody>
          <a:bodyPr wrap="square" rtlCol="0" anchor="t">
            <a:spAutoFit/>
          </a:bodyPr>
          <a:p>
            <a:pPr marL="285750" indent="-285750" algn="l" fontAlgn="auto">
              <a:spcBef>
                <a:spcPts val="600"/>
              </a:spcBef>
              <a:buFont typeface="Arial" panose="020B0604020202090204" pitchFamily="34" charset="0"/>
              <a:buChar char="•"/>
            </a:pP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2016</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年销售额突破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8000</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万</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获评江苏省民营科技企业、高新技术企业</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获得</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CMMI</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三级认证</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5" name="文本框 24"/>
          <p:cNvSpPr txBox="1"/>
          <p:nvPr/>
        </p:nvSpPr>
        <p:spPr>
          <a:xfrm>
            <a:off x="4832985" y="4324350"/>
            <a:ext cx="212471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2020-2022</a:t>
            </a:r>
            <a:r>
              <a:rPr lang="zh-CN" altLang="en-US" sz="1600" b="1">
                <a:solidFill>
                  <a:srgbClr val="2461F5"/>
                </a:solidFill>
                <a:latin typeface="微软雅黑" panose="020B0503020204020204" charset="-122"/>
                <a:ea typeface="微软雅黑" panose="020B0503020204020204" charset="-122"/>
                <a:cs typeface="微软雅黑" panose="020B0503020204020204" charset="-122"/>
                <a:sym typeface="+mn-ea"/>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rPr>
              <a:t>燎原</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endParaRPr>
          </a:p>
        </p:txBody>
      </p:sp>
      <p:sp>
        <p:nvSpPr>
          <p:cNvPr id="26" name="文本框 25"/>
          <p:cNvSpPr txBox="1"/>
          <p:nvPr/>
        </p:nvSpPr>
        <p:spPr>
          <a:xfrm>
            <a:off x="4832985" y="4661535"/>
            <a:ext cx="2286000" cy="798830"/>
          </a:xfrm>
          <a:prstGeom prst="rect">
            <a:avLst/>
          </a:prstGeom>
          <a:noFill/>
        </p:spPr>
        <p:txBody>
          <a:bodyPr wrap="square" rtlCol="0" anchor="t">
            <a:spAutoFit/>
          </a:bodyPr>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年销售额突破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2.3</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亿</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获得十余项技术专利证书</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获得</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60+</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软件著作权</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27" name="直接连接符 26"/>
          <p:cNvCxnSpPr/>
          <p:nvPr/>
        </p:nvCxnSpPr>
        <p:spPr>
          <a:xfrm>
            <a:off x="4722495" y="4323080"/>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28" name="文本框 27"/>
          <p:cNvSpPr txBox="1"/>
          <p:nvPr/>
        </p:nvSpPr>
        <p:spPr>
          <a:xfrm>
            <a:off x="7536180" y="2637155"/>
            <a:ext cx="212471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2023-2025</a:t>
            </a:r>
            <a:r>
              <a:rPr lang="zh-CN" altLang="en-US" sz="1600" b="1">
                <a:solidFill>
                  <a:srgbClr val="2461F5"/>
                </a:solidFill>
                <a:latin typeface="微软雅黑" panose="020B0503020204020204" charset="-122"/>
                <a:ea typeface="微软雅黑" panose="020B0503020204020204" charset="-122"/>
                <a:cs typeface="微软雅黑" panose="020B0503020204020204" charset="-122"/>
                <a:sym typeface="+mn-ea"/>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rPr>
              <a:t>共生</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7536180" y="2974340"/>
            <a:ext cx="2796540" cy="1430020"/>
          </a:xfrm>
          <a:prstGeom prst="rect">
            <a:avLst/>
          </a:prstGeom>
          <a:noFill/>
        </p:spPr>
        <p:txBody>
          <a:bodyPr wrap="square" rtlCol="0" anchor="t">
            <a:spAutoFit/>
          </a:bodyPr>
          <a:p>
            <a:pPr marL="285750" indent="-285750" algn="l" fontAlgn="auto">
              <a:spcBef>
                <a:spcPts val="600"/>
              </a:spcBef>
              <a:buFont typeface="Arial" panose="020B0604020202090204" pitchFamily="34" charset="0"/>
              <a:buChar char="•"/>
            </a:pP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2024</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年销售总额突破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3.7</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亿，</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2025</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年预计销售额突破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5</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亿</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获评江苏省专精特新企业</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2024</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年获评江苏瞪羚企业</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在全国</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16</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省逐步建立子公司，服务能力覆盖全国</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30" name="直接连接符 29"/>
          <p:cNvCxnSpPr/>
          <p:nvPr/>
        </p:nvCxnSpPr>
        <p:spPr>
          <a:xfrm>
            <a:off x="7425690" y="2635885"/>
            <a:ext cx="0" cy="2672715"/>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cxnSp>
        <p:nvCxnSpPr>
          <p:cNvPr id="33" name="直接连接符 32"/>
          <p:cNvCxnSpPr/>
          <p:nvPr/>
        </p:nvCxnSpPr>
        <p:spPr>
          <a:xfrm>
            <a:off x="9450070" y="844550"/>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34" name="文本框 33"/>
          <p:cNvSpPr txBox="1"/>
          <p:nvPr/>
        </p:nvSpPr>
        <p:spPr>
          <a:xfrm>
            <a:off x="9552305" y="844550"/>
            <a:ext cx="217297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rPr>
              <a:t>2025-2028</a:t>
            </a:r>
            <a:r>
              <a:rPr lang="zh-CN" altLang="en-US" sz="1600" b="1">
                <a:solidFill>
                  <a:srgbClr val="2461F5"/>
                </a:solidFill>
                <a:latin typeface="微软雅黑" panose="020B0503020204020204" charset="-122"/>
                <a:ea typeface="微软雅黑" panose="020B0503020204020204" charset="-122"/>
                <a:cs typeface="微软雅黑" panose="020B0503020204020204" charset="-122"/>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rPr>
              <a:t>未来</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9552305" y="1181735"/>
            <a:ext cx="2192020" cy="645160"/>
          </a:xfrm>
          <a:prstGeom prst="rect">
            <a:avLst/>
          </a:prstGeom>
          <a:noFill/>
        </p:spPr>
        <p:txBody>
          <a:bodyPr wrap="square" rtlCol="0" anchor="t">
            <a:spAutoFit/>
          </a:bodyPr>
          <a:p>
            <a:pPr algn="l"/>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深化全场景智能解决方案</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实现全国</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城市覆盖</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gn="l"/>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15+</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行业垂直赋能</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2750820" cy="460375"/>
          </a:xfrm>
          <a:prstGeom prst="rect">
            <a:avLst/>
          </a:prstGeom>
          <a:noFill/>
        </p:spPr>
        <p:txBody>
          <a:bodyPr wrap="square" rtlCol="0">
            <a:spAutoFit/>
          </a:bodyPr>
          <a:p>
            <a:r>
              <a:rPr lang="zh-CN" altLang="en-US" sz="2400">
                <a:latin typeface="+mn-ea"/>
                <a:cs typeface="微软雅黑 Light" panose="020B0502040204020203" charset="-122"/>
              </a:rPr>
              <a:t>发展历程</a:t>
            </a:r>
            <a:r>
              <a:rPr lang="en-US" altLang="zh-CN" sz="2400">
                <a:latin typeface="微软雅黑 Light" panose="020B0502040204020203" charset="-122"/>
                <a:ea typeface="微软雅黑 Light" panose="020B0502040204020203" charset="-122"/>
                <a:cs typeface="微软雅黑 Light" panose="020B0502040204020203" charset="-122"/>
              </a:rPr>
              <a:t> </a:t>
            </a:r>
            <a:r>
              <a:rPr lang="en-US" altLang="zh-CN" sz="1600">
                <a:latin typeface="微软雅黑 Light" panose="020B0502040204020203" charset="-122"/>
                <a:ea typeface="微软雅黑 Light" panose="020B0502040204020203" charset="-122"/>
                <a:cs typeface="微软雅黑 Light" panose="020B0502040204020203" charset="-122"/>
              </a:rPr>
              <a:t>HISTORY</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38" name="文本框 37"/>
          <p:cNvSpPr txBox="1"/>
          <p:nvPr/>
        </p:nvSpPr>
        <p:spPr>
          <a:xfrm>
            <a:off x="590550" y="879475"/>
            <a:ext cx="2326005" cy="368300"/>
          </a:xfrm>
          <a:prstGeom prst="rect">
            <a:avLst/>
          </a:prstGeom>
        </p:spPr>
        <p:txBody>
          <a:bodyPr wrap="square">
            <a:spAutoFit/>
          </a:bodyPr>
          <a:p>
            <a:pPr marL="0" indent="0" algn="l" fontAlgn="base">
              <a:spcBef>
                <a:spcPct val="0"/>
              </a:spcBef>
              <a:spcAft>
                <a:spcPct val="0"/>
              </a:spcAft>
            </a:pPr>
            <a:r>
              <a:rPr lang="zh-CN" altLang="en-US" i="0">
                <a:solidFill>
                  <a:srgbClr val="2461F5"/>
                </a:solidFill>
                <a:latin typeface="+mn-ea"/>
                <a:cs typeface="+mn-ea"/>
              </a:rPr>
              <a:t>从</a:t>
            </a:r>
            <a:r>
              <a:rPr lang="en-US" altLang="zh-CN" i="0">
                <a:solidFill>
                  <a:srgbClr val="2461F5"/>
                </a:solidFill>
                <a:latin typeface="+mn-ea"/>
                <a:cs typeface="+mn-ea"/>
              </a:rPr>
              <a:t>1</a:t>
            </a:r>
            <a:r>
              <a:rPr lang="zh-CN" altLang="en-US" i="0">
                <a:solidFill>
                  <a:srgbClr val="2461F5"/>
                </a:solidFill>
                <a:latin typeface="+mn-ea"/>
                <a:cs typeface="+mn-ea"/>
              </a:rPr>
              <a:t>到</a:t>
            </a:r>
            <a:r>
              <a:rPr lang="en-US" altLang="zh-CN" i="0">
                <a:solidFill>
                  <a:srgbClr val="2461F5"/>
                </a:solidFill>
                <a:latin typeface="+mn-ea"/>
                <a:cs typeface="+mn-ea"/>
              </a:rPr>
              <a:t>10</a:t>
            </a:r>
            <a:r>
              <a:rPr lang="zh-CN" altLang="en-US" i="0">
                <a:solidFill>
                  <a:srgbClr val="2461F5"/>
                </a:solidFill>
                <a:latin typeface="+mn-ea"/>
                <a:cs typeface="+mn-ea"/>
              </a:rPr>
              <a:t>，向</a:t>
            </a:r>
            <a:r>
              <a:rPr lang="en-US" altLang="zh-CN" i="0">
                <a:solidFill>
                  <a:srgbClr val="2461F5"/>
                </a:solidFill>
                <a:latin typeface="+mn-ea"/>
                <a:cs typeface="+mn-ea"/>
              </a:rPr>
              <a:t>∞</a:t>
            </a:r>
            <a:r>
              <a:rPr lang="zh-CN" altLang="en-US" i="0">
                <a:solidFill>
                  <a:srgbClr val="2461F5"/>
                </a:solidFill>
                <a:latin typeface="+mn-ea"/>
                <a:cs typeface="+mn-ea"/>
              </a:rPr>
              <a:t>生长</a:t>
            </a:r>
            <a:endParaRPr lang="zh-CN" altLang="en-US" i="0">
              <a:solidFill>
                <a:srgbClr val="2461F5"/>
              </a:solidFill>
              <a:latin typeface="+mn-ea"/>
              <a:cs typeface="+mn-ea"/>
            </a:endParaRPr>
          </a:p>
        </p:txBody>
      </p:sp>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3671F6"/>
            </a:gs>
            <a:gs pos="100000">
              <a:srgbClr val="093AA8"/>
            </a:gs>
          </a:gsLst>
          <a:lin ang="2880000" scaled="0"/>
        </a:gradFill>
        <a:effectLst/>
      </p:bgPr>
    </p:bg>
    <p:spTree>
      <p:nvGrpSpPr>
        <p:cNvPr id="1" name=""/>
        <p:cNvGrpSpPr/>
        <p:nvPr/>
      </p:nvGrpSpPr>
      <p:grpSpPr/>
      <p:pic>
        <p:nvPicPr>
          <p:cNvPr id="49" name="图片 48" descr="花瓣素材_常规系列实景城市仰拍图片通用背景素材_193624438"/>
          <p:cNvPicPr>
            <a:picLocks noChangeAspect="1"/>
          </p:cNvPicPr>
          <p:nvPr/>
        </p:nvPicPr>
        <p:blipFill>
          <a:blip r:embed="rId1">
            <a:lum bright="12000"/>
          </a:blip>
          <a:stretch>
            <a:fillRect/>
          </a:stretch>
        </p:blipFill>
        <p:spPr>
          <a:xfrm>
            <a:off x="0" y="0"/>
            <a:ext cx="12192000" cy="6858000"/>
          </a:xfrm>
          <a:prstGeom prst="rect">
            <a:avLst/>
          </a:prstGeom>
        </p:spPr>
      </p:pic>
      <p:sp>
        <p:nvSpPr>
          <p:cNvPr id="48" name="矩形 47"/>
          <p:cNvSpPr/>
          <p:nvPr/>
        </p:nvSpPr>
        <p:spPr>
          <a:xfrm>
            <a:off x="0" y="0"/>
            <a:ext cx="12192635" cy="6858000"/>
          </a:xfrm>
          <a:prstGeom prst="rect">
            <a:avLst/>
          </a:prstGeom>
          <a:gradFill>
            <a:gsLst>
              <a:gs pos="0">
                <a:srgbClr val="3671F6">
                  <a:alpha val="92000"/>
                </a:srgbClr>
              </a:gs>
              <a:gs pos="100000">
                <a:srgbClr val="093AA8">
                  <a:alpha val="92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任意多边形 49"/>
          <p:cNvSpPr/>
          <p:nvPr/>
        </p:nvSpPr>
        <p:spPr>
          <a:xfrm flipV="1">
            <a:off x="0" y="-635"/>
            <a:ext cx="6096000" cy="6858635"/>
          </a:xfrm>
          <a:custGeom>
            <a:avLst/>
            <a:gdLst>
              <a:gd name="adj1" fmla="val 47705"/>
              <a:gd name="adj2" fmla="val 0"/>
              <a:gd name="a1" fmla="pin 0 adj1 50000"/>
              <a:gd name="a2" fmla="pin 0 adj2 50000"/>
              <a:gd name="tx1" fmla="*/ ss a1 100000"/>
              <a:gd name="tx2" fmla="+- r 0 tx1"/>
              <a:gd name="bx1" fmla="*/ ss a2 100000"/>
              <a:gd name="bx2" fmla="+- r 0 bx1"/>
              <a:gd name="by1" fmla="+- b 0 bx1"/>
              <a:gd name="d" fmla="+- tx1 0 bx1"/>
              <a:gd name="tdx" fmla="*/ tx1 29289 100000"/>
              <a:gd name="bdx" fmla="*/ bx1 29289 100000"/>
              <a:gd name="il" fmla="?: d tdx bdx"/>
              <a:gd name="ir" fmla="+- r 0 il"/>
              <a:gd name="ib" fmla="+- b 0 bdx"/>
            </a:gdLst>
            <a:ahLst/>
            <a:cxnLst>
              <a:cxn ang="0">
                <a:pos x="r" y="vc"/>
              </a:cxn>
              <a:cxn ang="cd4">
                <a:pos x="hc" y="b"/>
              </a:cxn>
              <a:cxn ang="cd2">
                <a:pos x="l" y="vc"/>
              </a:cxn>
              <a:cxn ang="3">
                <a:pos x="hc" y="t"/>
              </a:cxn>
            </a:cxnLst>
            <a:rect l="l" t="t" r="r" b="b"/>
            <a:pathLst>
              <a:path w="10499" h="10801">
                <a:moveTo>
                  <a:pt x="0" y="0"/>
                </a:moveTo>
                <a:lnTo>
                  <a:pt x="5346" y="0"/>
                </a:lnTo>
                <a:cubicBezTo>
                  <a:pt x="8192" y="0"/>
                  <a:pt x="10499" y="2307"/>
                  <a:pt x="10499" y="5153"/>
                </a:cubicBezTo>
                <a:lnTo>
                  <a:pt x="10499" y="10801"/>
                </a:lnTo>
                <a:lnTo>
                  <a:pt x="0" y="10801"/>
                </a:lnTo>
                <a:lnTo>
                  <a:pt x="0" y="0"/>
                </a:lnTo>
                <a:close/>
              </a:path>
            </a:pathLst>
          </a:custGeom>
          <a:gradFill>
            <a:gsLst>
              <a:gs pos="0">
                <a:srgbClr val="F6FAFF"/>
              </a:gs>
              <a:gs pos="100000">
                <a:srgbClr val="DEECFE"/>
              </a:gs>
            </a:gsLst>
            <a:lin ang="35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8" name="文本框 7"/>
          <p:cNvSpPr txBox="1"/>
          <p:nvPr/>
        </p:nvSpPr>
        <p:spPr>
          <a:xfrm>
            <a:off x="633730" y="1737995"/>
            <a:ext cx="5139055" cy="1076325"/>
          </a:xfrm>
          <a:prstGeom prst="rect">
            <a:avLst/>
          </a:prstGeom>
          <a:noFill/>
        </p:spPr>
        <p:txBody>
          <a:bodyPr wrap="square" rtlCol="0" anchor="t">
            <a:spAutoFit/>
          </a:bodyPr>
          <a:p>
            <a:pPr lvl="0" algn="l">
              <a:buClrTx/>
              <a:buSzTx/>
              <a:buFontTx/>
            </a:pPr>
            <a:r>
              <a:rPr lang="en-US" sz="32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mn-lt"/>
              </a:rPr>
              <a:t>专业的云计算</a:t>
            </a:r>
            <a:endParaRPr lang="en-US" sz="32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mn-lt"/>
            </a:endParaRPr>
          </a:p>
          <a:p>
            <a:pPr lvl="0" algn="l">
              <a:buClrTx/>
              <a:buSzTx/>
              <a:buFontTx/>
            </a:pPr>
            <a:r>
              <a:rPr lang="en-US" sz="32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mn-lt"/>
              </a:rPr>
              <a:t>及行业信息化服务提供商</a:t>
            </a:r>
            <a:endParaRPr lang="en-US" sz="32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mn-lt"/>
            </a:endParaRPr>
          </a:p>
        </p:txBody>
      </p:sp>
      <p:pic>
        <p:nvPicPr>
          <p:cNvPr id="10" name="图片 9" descr="横版logo"/>
          <p:cNvPicPr>
            <a:picLocks noChangeAspect="1"/>
          </p:cNvPicPr>
          <p:nvPr/>
        </p:nvPicPr>
        <p:blipFill>
          <a:blip r:embed="rId2"/>
          <a:stretch>
            <a:fillRect/>
          </a:stretch>
        </p:blipFill>
        <p:spPr>
          <a:xfrm>
            <a:off x="633730" y="833755"/>
            <a:ext cx="2823210" cy="715645"/>
          </a:xfrm>
          <a:prstGeom prst="rect">
            <a:avLst/>
          </a:prstGeom>
        </p:spPr>
      </p:pic>
      <p:sp>
        <p:nvSpPr>
          <p:cNvPr id="31" name="文本框 30"/>
          <p:cNvSpPr txBox="1"/>
          <p:nvPr/>
        </p:nvSpPr>
        <p:spPr>
          <a:xfrm>
            <a:off x="633730" y="3074035"/>
            <a:ext cx="4984115" cy="675640"/>
          </a:xfrm>
          <a:prstGeom prst="rect">
            <a:avLst/>
          </a:prstGeom>
          <a:noFill/>
        </p:spPr>
        <p:txBody>
          <a:bodyPr wrap="square" rtlCol="0" anchor="t">
            <a:spAutoFit/>
          </a:bodyPr>
          <a:p>
            <a:pPr lvl="0" indent="0" algn="l" fontAlgn="auto">
              <a:lnSpc>
                <a:spcPts val="1980"/>
              </a:lnSpc>
              <a:spcBef>
                <a:spcPts val="600"/>
              </a:spcBef>
              <a:buFont typeface="Arial" panose="020B0604020202090204" pitchFamily="34" charset="0"/>
              <a:buNone/>
            </a:pPr>
            <a:r>
              <a:rPr lang="zh-CN" altLang="en-US" sz="1600" b="1" dirty="0">
                <a:solidFill>
                  <a:schemeClr val="tx1">
                    <a:lumMod val="85000"/>
                    <a:lumOff val="15000"/>
                  </a:schemeClr>
                </a:solidFill>
                <a:latin typeface="+mn-ea"/>
                <a:cs typeface="+mn-ea"/>
                <a:sym typeface="微软雅黑" panose="020B0503020204020204" charset="-122"/>
              </a:rPr>
              <a:t>以</a:t>
            </a:r>
            <a:r>
              <a:rPr lang="en-US" altLang="zh-CN" sz="1600" b="1" dirty="0">
                <a:solidFill>
                  <a:schemeClr val="tx1">
                    <a:lumMod val="85000"/>
                    <a:lumOff val="15000"/>
                  </a:schemeClr>
                </a:solidFill>
                <a:latin typeface="+mn-ea"/>
                <a:cs typeface="+mn-ea"/>
                <a:sym typeface="微软雅黑" panose="020B0503020204020204" charset="-122"/>
              </a:rPr>
              <a:t>“</a:t>
            </a:r>
            <a:r>
              <a:rPr lang="zh-CN" altLang="en-US" sz="1600" b="1">
                <a:solidFill>
                  <a:schemeClr val="tx1">
                    <a:lumMod val="85000"/>
                    <a:lumOff val="15000"/>
                  </a:schemeClr>
                </a:solidFill>
                <a:latin typeface="+mn-ea"/>
                <a:cs typeface="+mn-ea"/>
                <a:sym typeface="+mn-ea"/>
              </a:rPr>
              <a:t>云底座</a:t>
            </a:r>
            <a:r>
              <a:rPr lang="en-US" altLang="zh-CN" sz="1600" b="1">
                <a:solidFill>
                  <a:schemeClr val="tx1">
                    <a:lumMod val="85000"/>
                    <a:lumOff val="15000"/>
                  </a:schemeClr>
                </a:solidFill>
                <a:latin typeface="+mn-ea"/>
                <a:cs typeface="+mn-ea"/>
                <a:sym typeface="+mn-ea"/>
              </a:rPr>
              <a:t>+</a:t>
            </a:r>
            <a:r>
              <a:rPr lang="zh-CN" altLang="en-US" sz="1600" b="1">
                <a:solidFill>
                  <a:schemeClr val="tx1">
                    <a:lumMod val="85000"/>
                    <a:lumOff val="15000"/>
                  </a:schemeClr>
                </a:solidFill>
                <a:latin typeface="+mn-ea"/>
                <a:cs typeface="+mn-ea"/>
                <a:sym typeface="+mn-ea"/>
              </a:rPr>
              <a:t>软件服务</a:t>
            </a:r>
            <a:r>
              <a:rPr lang="en-US" altLang="zh-CN" sz="1600" b="1">
                <a:solidFill>
                  <a:schemeClr val="tx1">
                    <a:lumMod val="85000"/>
                    <a:lumOff val="15000"/>
                  </a:schemeClr>
                </a:solidFill>
                <a:latin typeface="+mn-ea"/>
                <a:cs typeface="+mn-ea"/>
                <a:sym typeface="+mn-ea"/>
              </a:rPr>
              <a:t>+</a:t>
            </a:r>
            <a:r>
              <a:rPr lang="zh-CN" altLang="en-US" sz="1600" b="1">
                <a:solidFill>
                  <a:schemeClr val="tx1">
                    <a:lumMod val="85000"/>
                    <a:lumOff val="15000"/>
                  </a:schemeClr>
                </a:solidFill>
                <a:latin typeface="+mn-ea"/>
                <a:cs typeface="+mn-ea"/>
                <a:sym typeface="+mn-ea"/>
              </a:rPr>
              <a:t>创新产品</a:t>
            </a:r>
            <a:r>
              <a:rPr lang="en-US" altLang="zh-CN" sz="1600" b="1">
                <a:solidFill>
                  <a:schemeClr val="tx1">
                    <a:lumMod val="85000"/>
                    <a:lumOff val="15000"/>
                  </a:schemeClr>
                </a:solidFill>
                <a:latin typeface="+mn-ea"/>
                <a:cs typeface="+mn-ea"/>
                <a:sym typeface="+mn-ea"/>
              </a:rPr>
              <a:t>”</a:t>
            </a:r>
            <a:r>
              <a:rPr lang="zh-CN" altLang="en-US" sz="1600" b="1">
                <a:solidFill>
                  <a:schemeClr val="tx1">
                    <a:lumMod val="85000"/>
                    <a:lumOff val="15000"/>
                  </a:schemeClr>
                </a:solidFill>
                <a:latin typeface="+mn-ea"/>
                <a:cs typeface="+mn-ea"/>
                <a:sym typeface="+mn-ea"/>
              </a:rPr>
              <a:t>服务矩阵</a:t>
            </a:r>
            <a:endParaRPr lang="zh-CN" altLang="en-US" sz="1600" b="1">
              <a:solidFill>
                <a:schemeClr val="tx1">
                  <a:lumMod val="85000"/>
                  <a:lumOff val="15000"/>
                </a:schemeClr>
              </a:solidFill>
              <a:latin typeface="+mn-ea"/>
              <a:cs typeface="+mn-ea"/>
              <a:sym typeface="+mn-ea"/>
            </a:endParaRPr>
          </a:p>
          <a:p>
            <a:pPr lvl="0" indent="0" algn="l" fontAlgn="auto">
              <a:lnSpc>
                <a:spcPts val="1980"/>
              </a:lnSpc>
              <a:spcBef>
                <a:spcPts val="600"/>
              </a:spcBef>
              <a:buFont typeface="Arial" panose="020B0604020202090204" pitchFamily="34" charset="0"/>
              <a:buNone/>
            </a:pPr>
            <a:r>
              <a:rPr lang="zh-CN" altLang="en-US" sz="1600" b="1">
                <a:solidFill>
                  <a:schemeClr val="tx1">
                    <a:lumMod val="85000"/>
                    <a:lumOff val="15000"/>
                  </a:schemeClr>
                </a:solidFill>
                <a:latin typeface="+mn-ea"/>
                <a:cs typeface="+mn-ea"/>
                <a:sym typeface="+mn-ea"/>
              </a:rPr>
              <a:t>构建覆盖企业全生命周期的数字化服务体系</a:t>
            </a:r>
            <a:endParaRPr lang="zh-CN" altLang="en-US" sz="1600" b="1" spc="130" dirty="0">
              <a:solidFill>
                <a:schemeClr val="tx1">
                  <a:lumMod val="85000"/>
                  <a:lumOff val="15000"/>
                </a:schemeClr>
              </a:solidFill>
              <a:latin typeface="+mn-ea"/>
              <a:ea typeface="微软雅黑 Light" panose="020B0502040204020203" charset="-122"/>
              <a:cs typeface="+mn-ea"/>
              <a:sym typeface="+mn-ea"/>
            </a:endParaRPr>
          </a:p>
        </p:txBody>
      </p:sp>
      <p:sp>
        <p:nvSpPr>
          <p:cNvPr id="32" name="文本框 31"/>
          <p:cNvSpPr txBox="1"/>
          <p:nvPr/>
        </p:nvSpPr>
        <p:spPr>
          <a:xfrm>
            <a:off x="633095" y="4178300"/>
            <a:ext cx="4648200" cy="1286510"/>
          </a:xfrm>
          <a:prstGeom prst="rect">
            <a:avLst/>
          </a:prstGeom>
          <a:noFill/>
        </p:spPr>
        <p:txBody>
          <a:bodyPr wrap="square" rtlCol="0" anchor="t">
            <a:spAutoFit/>
          </a:bodyPr>
          <a:p>
            <a:pPr marL="285750" lvl="0" indent="-285750" algn="l" fontAlgn="auto">
              <a:lnSpc>
                <a:spcPts val="21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深耕互联网</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零售</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制造</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教育</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医疗</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农商</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电力</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金融</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军工等丰富行业</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l" fontAlgn="auto">
              <a:lnSpc>
                <a:spcPts val="21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为企业提供从</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IaaS</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基础设施层、</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PaaS</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平台层、</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DaaS</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数据层到</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SaaS</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软件层的全栈企业级云平台和信息化服务</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p:txBody>
      </p:sp>
      <p:sp>
        <p:nvSpPr>
          <p:cNvPr id="6" name="文本框 5"/>
          <p:cNvSpPr txBox="1"/>
          <p:nvPr/>
        </p:nvSpPr>
        <p:spPr>
          <a:xfrm rot="5400000">
            <a:off x="7951470" y="2644775"/>
            <a:ext cx="6858000" cy="1568450"/>
          </a:xfrm>
          <a:prstGeom prst="rect">
            <a:avLst/>
          </a:prstGeom>
          <a:noFill/>
        </p:spPr>
        <p:txBody>
          <a:bodyPr wrap="square" rtlCol="0">
            <a:spAutoFit/>
          </a:bodyPr>
          <a:p>
            <a:pPr algn="ctr"/>
            <a:r>
              <a:rPr lang="en-US" altLang="zh-CN" sz="9600" b="1">
                <a:solidFill>
                  <a:schemeClr val="bg1">
                    <a:alpha val="15000"/>
                  </a:schemeClr>
                </a:solidFill>
              </a:rPr>
              <a:t>DUANMU</a:t>
            </a:r>
            <a:endParaRPr lang="en-US" altLang="zh-CN" sz="9600" b="1">
              <a:solidFill>
                <a:schemeClr val="bg1">
                  <a:alpha val="15000"/>
                </a:schemeClr>
              </a:solidFill>
            </a:endParaRPr>
          </a:p>
        </p:txBody>
      </p:sp>
      <p:sp>
        <p:nvSpPr>
          <p:cNvPr id="7" name="文本框 6"/>
          <p:cNvSpPr txBox="1"/>
          <p:nvPr/>
        </p:nvSpPr>
        <p:spPr>
          <a:xfrm rot="5400000">
            <a:off x="6604000" y="2644775"/>
            <a:ext cx="6858000" cy="1568450"/>
          </a:xfrm>
          <a:prstGeom prst="rect">
            <a:avLst/>
          </a:prstGeom>
          <a:noFill/>
        </p:spPr>
        <p:txBody>
          <a:bodyPr wrap="square" rtlCol="0">
            <a:spAutoFit/>
          </a:bodyPr>
          <a:p>
            <a:pPr algn="ctr"/>
            <a:r>
              <a:rPr lang="en-US" altLang="zh-CN" sz="9600" b="1">
                <a:solidFill>
                  <a:schemeClr val="bg1">
                    <a:alpha val="10000"/>
                  </a:schemeClr>
                </a:solidFill>
              </a:rPr>
              <a:t>DUANMU</a:t>
            </a:r>
            <a:endParaRPr lang="en-US" altLang="zh-CN" sz="9600" b="1">
              <a:solidFill>
                <a:schemeClr val="bg1">
                  <a:alpha val="10000"/>
                </a:schemeClr>
              </a:solidFill>
            </a:endParaRPr>
          </a:p>
        </p:txBody>
      </p:sp>
      <p:sp>
        <p:nvSpPr>
          <p:cNvPr id="9" name="文本框 8"/>
          <p:cNvSpPr txBox="1"/>
          <p:nvPr/>
        </p:nvSpPr>
        <p:spPr>
          <a:xfrm rot="5400000">
            <a:off x="5256530" y="2644775"/>
            <a:ext cx="6858000" cy="1568450"/>
          </a:xfrm>
          <a:prstGeom prst="rect">
            <a:avLst/>
          </a:prstGeom>
          <a:noFill/>
        </p:spPr>
        <p:txBody>
          <a:bodyPr wrap="square" rtlCol="0">
            <a:spAutoFit/>
          </a:bodyPr>
          <a:p>
            <a:pPr algn="ctr"/>
            <a:r>
              <a:rPr lang="en-US" altLang="zh-CN" sz="9600" b="1">
                <a:solidFill>
                  <a:schemeClr val="bg1">
                    <a:alpha val="5000"/>
                  </a:schemeClr>
                </a:solidFill>
              </a:rPr>
              <a:t>DUANMU</a:t>
            </a:r>
            <a:endParaRPr lang="en-US" altLang="zh-CN" sz="9600" b="1">
              <a:solidFill>
                <a:schemeClr val="bg1">
                  <a:alpha val="5000"/>
                </a:schemeClr>
              </a:solidFill>
            </a:endParaRPr>
          </a:p>
        </p:txBody>
      </p:sp>
      <p:sp>
        <p:nvSpPr>
          <p:cNvPr id="13" name="文本框 12"/>
          <p:cNvSpPr txBox="1"/>
          <p:nvPr/>
        </p:nvSpPr>
        <p:spPr>
          <a:xfrm>
            <a:off x="8603615" y="2466975"/>
            <a:ext cx="1332230" cy="645160"/>
          </a:xfrm>
          <a:prstGeom prst="rect">
            <a:avLst/>
          </a:prstGeom>
          <a:noFill/>
        </p:spPr>
        <p:txBody>
          <a:bodyPr wrap="square" rtlCol="0">
            <a:spAutoFit/>
          </a:bodyPr>
          <a:p>
            <a:pPr algn="l"/>
            <a:r>
              <a:rPr lang="en-US" altLang="zh-CN" sz="3600" b="1">
                <a:solidFill>
                  <a:schemeClr val="bg1"/>
                </a:solidFill>
                <a:latin typeface="微软雅黑" panose="020B0503020204020204" charset="-122"/>
                <a:ea typeface="微软雅黑" panose="020B0503020204020204" charset="-122"/>
                <a:cs typeface="微软雅黑" panose="020B0503020204020204" charset="-122"/>
              </a:rPr>
              <a:t>10</a:t>
            </a:r>
            <a:r>
              <a:rPr lang="en-US" altLang="zh-CN" sz="20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年</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603615" y="3749675"/>
            <a:ext cx="2057400" cy="645160"/>
          </a:xfrm>
          <a:prstGeom prst="rect">
            <a:avLst/>
          </a:prstGeom>
          <a:noFill/>
        </p:spPr>
        <p:txBody>
          <a:bodyPr wrap="square" rtlCol="0">
            <a:spAutoFit/>
          </a:bodyPr>
          <a:p>
            <a:r>
              <a:rPr lang="en-US" altLang="zh-CN" sz="3600" b="1">
                <a:solidFill>
                  <a:schemeClr val="bg1"/>
                </a:solidFill>
                <a:latin typeface="微软雅黑" panose="020B0503020204020204" charset="-122"/>
                <a:ea typeface="微软雅黑" panose="020B0503020204020204" charset="-122"/>
                <a:cs typeface="微软雅黑" panose="020B0503020204020204" charset="-122"/>
              </a:rPr>
              <a:t>16</a:t>
            </a:r>
            <a:r>
              <a:rPr lang="en-US" altLang="zh-CN" sz="20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大</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8" name="图片 17" descr="组织结构"/>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48880" y="2593975"/>
            <a:ext cx="755015" cy="755015"/>
          </a:xfrm>
          <a:prstGeom prst="rect">
            <a:avLst/>
          </a:prstGeom>
        </p:spPr>
      </p:pic>
      <p:cxnSp>
        <p:nvCxnSpPr>
          <p:cNvPr id="19" name="直接连接符 18"/>
          <p:cNvCxnSpPr/>
          <p:nvPr/>
        </p:nvCxnSpPr>
        <p:spPr>
          <a:xfrm>
            <a:off x="8506460" y="2587625"/>
            <a:ext cx="0" cy="73660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8603615" y="3040380"/>
            <a:ext cx="1118235" cy="306705"/>
          </a:xfrm>
          <a:prstGeom prst="rect">
            <a:avLst/>
          </a:prstGeom>
          <a:noFill/>
        </p:spPr>
        <p:txBody>
          <a:bodyPr wrap="square" rtlCol="0" anchor="t">
            <a:spAutoFit/>
          </a:bodyPr>
          <a:p>
            <a:r>
              <a:rPr lang="zh-CN" altLang="en-US" sz="1400">
                <a:solidFill>
                  <a:schemeClr val="bg1"/>
                </a:solidFill>
                <a:latin typeface="微软雅黑 Light" panose="020B0502040204020203" charset="-122"/>
                <a:ea typeface="微软雅黑 Light" panose="020B0502040204020203" charset="-122"/>
                <a:sym typeface="+mn-ea"/>
              </a:rPr>
              <a:t>企业成立</a:t>
            </a:r>
            <a:endParaRPr lang="zh-CN" altLang="en-US" sz="1400">
              <a:solidFill>
                <a:schemeClr val="bg1"/>
              </a:solidFill>
              <a:latin typeface="微软雅黑 Light" panose="020B0502040204020203" charset="-122"/>
              <a:ea typeface="微软雅黑 Light" panose="020B0502040204020203" charset="-122"/>
              <a:sym typeface="+mn-ea"/>
            </a:endParaRPr>
          </a:p>
        </p:txBody>
      </p:sp>
      <p:sp>
        <p:nvSpPr>
          <p:cNvPr id="21" name="文本框 20"/>
          <p:cNvSpPr txBox="1"/>
          <p:nvPr/>
        </p:nvSpPr>
        <p:spPr>
          <a:xfrm>
            <a:off x="8603615" y="4394835"/>
            <a:ext cx="1991360" cy="306705"/>
          </a:xfrm>
          <a:prstGeom prst="rect">
            <a:avLst/>
          </a:prstGeom>
          <a:noFill/>
        </p:spPr>
        <p:txBody>
          <a:bodyPr wrap="square" rtlCol="0" anchor="t">
            <a:spAutoFit/>
          </a:bodyPr>
          <a:p>
            <a:r>
              <a:rPr lang="zh-CN" altLang="en-US" sz="1400">
                <a:solidFill>
                  <a:schemeClr val="bg1"/>
                </a:solidFill>
                <a:latin typeface="微软雅黑 Light" panose="020B0502040204020203" charset="-122"/>
                <a:ea typeface="微软雅黑 Light" panose="020B0502040204020203" charset="-122"/>
                <a:sym typeface="+mn-ea"/>
              </a:rPr>
              <a:t>全国本地化服务中心</a:t>
            </a:r>
            <a:endParaRPr lang="zh-CN" altLang="en-US" sz="1400">
              <a:solidFill>
                <a:schemeClr val="bg1"/>
              </a:solidFill>
              <a:latin typeface="微软雅黑 Light" panose="020B0502040204020203" charset="-122"/>
              <a:ea typeface="微软雅黑 Light" panose="020B0502040204020203" charset="-122"/>
              <a:sym typeface="+mn-ea"/>
            </a:endParaRPr>
          </a:p>
        </p:txBody>
      </p:sp>
      <p:pic>
        <p:nvPicPr>
          <p:cNvPr id="22" name="图片 21" descr="公司"/>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48880" y="3849370"/>
            <a:ext cx="778510" cy="778510"/>
          </a:xfrm>
          <a:prstGeom prst="rect">
            <a:avLst/>
          </a:prstGeom>
        </p:spPr>
      </p:pic>
      <p:cxnSp>
        <p:nvCxnSpPr>
          <p:cNvPr id="23" name="直接连接符 22"/>
          <p:cNvCxnSpPr/>
          <p:nvPr/>
        </p:nvCxnSpPr>
        <p:spPr>
          <a:xfrm>
            <a:off x="8506460" y="3878580"/>
            <a:ext cx="0" cy="73660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8580120" y="5028565"/>
            <a:ext cx="2057400" cy="645160"/>
          </a:xfrm>
          <a:prstGeom prst="rect">
            <a:avLst/>
          </a:prstGeom>
          <a:noFill/>
        </p:spPr>
        <p:txBody>
          <a:bodyPr wrap="square" rtlCol="0">
            <a:spAutoFit/>
          </a:bodyPr>
          <a:p>
            <a:r>
              <a:rPr lang="en-US" altLang="zh-CN" sz="3600" b="1">
                <a:solidFill>
                  <a:schemeClr val="bg1"/>
                </a:solidFill>
                <a:latin typeface="微软雅黑" panose="020B0503020204020204" charset="-122"/>
                <a:ea typeface="微软雅黑" panose="020B0503020204020204" charset="-122"/>
                <a:cs typeface="微软雅黑" panose="020B0503020204020204" charset="-122"/>
              </a:rPr>
              <a:t>3000</a:t>
            </a:r>
            <a:r>
              <a:rPr lang="en-US" altLang="zh-CN" sz="2000">
                <a:solidFill>
                  <a:schemeClr val="bg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2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8580120" y="5673725"/>
            <a:ext cx="1137285" cy="306705"/>
          </a:xfrm>
          <a:prstGeom prst="rect">
            <a:avLst/>
          </a:prstGeom>
          <a:noFill/>
        </p:spPr>
        <p:txBody>
          <a:bodyPr wrap="square" rtlCol="0" anchor="t">
            <a:spAutoFit/>
          </a:bodyPr>
          <a:p>
            <a:r>
              <a:rPr lang="zh-CN" altLang="en-US" sz="1400">
                <a:solidFill>
                  <a:schemeClr val="bg1"/>
                </a:solidFill>
                <a:latin typeface="微软雅黑 Light" panose="020B0502040204020203" charset="-122"/>
                <a:ea typeface="微软雅黑 Light" panose="020B0502040204020203" charset="-122"/>
                <a:sym typeface="+mn-ea"/>
              </a:rPr>
              <a:t>服务客户</a:t>
            </a:r>
            <a:endParaRPr lang="zh-CN" altLang="en-US" sz="1400">
              <a:solidFill>
                <a:schemeClr val="bg1"/>
              </a:solidFill>
              <a:latin typeface="微软雅黑 Light" panose="020B0502040204020203" charset="-122"/>
              <a:ea typeface="微软雅黑 Light" panose="020B0502040204020203" charset="-122"/>
              <a:sym typeface="+mn-ea"/>
            </a:endParaRPr>
          </a:p>
        </p:txBody>
      </p:sp>
      <p:cxnSp>
        <p:nvCxnSpPr>
          <p:cNvPr id="36" name="直接连接符 35"/>
          <p:cNvCxnSpPr/>
          <p:nvPr/>
        </p:nvCxnSpPr>
        <p:spPr>
          <a:xfrm>
            <a:off x="8482965" y="5157470"/>
            <a:ext cx="0" cy="73660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
        <p:nvSpPr>
          <p:cNvPr id="52" name="文本框 51"/>
          <p:cNvSpPr txBox="1"/>
          <p:nvPr/>
        </p:nvSpPr>
        <p:spPr>
          <a:xfrm rot="5400000">
            <a:off x="3909060" y="2644775"/>
            <a:ext cx="6858000" cy="1568450"/>
          </a:xfrm>
          <a:prstGeom prst="rect">
            <a:avLst/>
          </a:prstGeom>
          <a:noFill/>
        </p:spPr>
        <p:txBody>
          <a:bodyPr wrap="square" rtlCol="0">
            <a:spAutoFit/>
          </a:bodyPr>
          <a:p>
            <a:pPr algn="ctr"/>
            <a:r>
              <a:rPr lang="en-US" altLang="zh-CN" sz="9600" b="1">
                <a:solidFill>
                  <a:schemeClr val="bg1">
                    <a:alpha val="2000"/>
                  </a:schemeClr>
                </a:solidFill>
              </a:rPr>
              <a:t>DUANMU</a:t>
            </a:r>
            <a:endParaRPr lang="en-US" altLang="zh-CN" sz="9600" b="1">
              <a:solidFill>
                <a:schemeClr val="bg1">
                  <a:alpha val="2000"/>
                </a:schemeClr>
              </a:solidFill>
            </a:endParaRPr>
          </a:p>
        </p:txBody>
      </p:sp>
      <p:pic>
        <p:nvPicPr>
          <p:cNvPr id="53" name="图片 52" descr="潜在客户"/>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48880" y="5112385"/>
            <a:ext cx="768985" cy="768985"/>
          </a:xfrm>
          <a:prstGeom prst="rect">
            <a:avLst/>
          </a:prstGeom>
        </p:spPr>
      </p:pic>
    </p:spTree>
    <p:custDataLst>
      <p:tags r:id="rId9"/>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descr="微信截图_20250228160113"/>
          <p:cNvPicPr>
            <a:picLocks noChangeAspect="1"/>
          </p:cNvPicPr>
          <p:nvPr/>
        </p:nvPicPr>
        <p:blipFill>
          <a:blip r:embed="rId1"/>
          <a:stretch>
            <a:fillRect/>
          </a:stretch>
        </p:blipFill>
        <p:spPr>
          <a:xfrm>
            <a:off x="6350" y="0"/>
            <a:ext cx="12186285" cy="6858000"/>
          </a:xfrm>
          <a:prstGeom prst="rect">
            <a:avLst/>
          </a:prstGeom>
        </p:spPr>
      </p:pic>
      <p:pic>
        <p:nvPicPr>
          <p:cNvPr id="26" name="图片 25"/>
          <p:cNvPicPr>
            <a:picLocks noChangeAspect="1"/>
          </p:cNvPicPr>
          <p:nvPr/>
        </p:nvPicPr>
        <p:blipFill>
          <a:blip r:embed="rId2"/>
          <a:srcRect/>
          <a:stretch>
            <a:fillRect/>
          </a:stretch>
        </p:blipFill>
        <p:spPr>
          <a:xfrm>
            <a:off x="501015" y="446405"/>
            <a:ext cx="3528695" cy="1030605"/>
          </a:xfrm>
          <a:prstGeom prst="rect">
            <a:avLst/>
          </a:prstGeom>
          <a:effectLst>
            <a:reflection blurRad="152400" stA="20000" endA="300" endPos="42000" dir="5400000" sy="-100000" algn="bl" rotWithShape="0"/>
          </a:effectLst>
        </p:spPr>
      </p:pic>
      <p:pic>
        <p:nvPicPr>
          <p:cNvPr id="27" name="图片 26"/>
          <p:cNvPicPr>
            <a:picLocks noChangeAspect="1"/>
          </p:cNvPicPr>
          <p:nvPr/>
        </p:nvPicPr>
        <p:blipFill>
          <a:blip r:embed="rId3">
            <a:alphaModFix amt="80000"/>
            <a:clrChange>
              <a:clrFrom>
                <a:srgbClr val="FFFFFF">
                  <a:alpha val="100000"/>
                </a:srgbClr>
              </a:clrFrom>
              <a:clrTo>
                <a:srgbClr val="FFFFFF">
                  <a:alpha val="100000"/>
                  <a:alpha val="0"/>
                </a:srgbClr>
              </a:clrTo>
            </a:clrChange>
          </a:blip>
          <a:stretch>
            <a:fillRect/>
          </a:stretch>
        </p:blipFill>
        <p:spPr>
          <a:xfrm>
            <a:off x="8017510" y="628650"/>
            <a:ext cx="760730" cy="375285"/>
          </a:xfrm>
          <a:prstGeom prst="rect">
            <a:avLst/>
          </a:prstGeom>
        </p:spPr>
      </p:pic>
      <p:pic>
        <p:nvPicPr>
          <p:cNvPr id="28" name="图片 27"/>
          <p:cNvPicPr>
            <a:picLocks noChangeAspect="1"/>
          </p:cNvPicPr>
          <p:nvPr/>
        </p:nvPicPr>
        <p:blipFill>
          <a:blip r:embed="rId4">
            <a:alphaModFix amt="80000"/>
            <a:clrChange>
              <a:clrFrom>
                <a:srgbClr val="FFFFFF">
                  <a:alpha val="100000"/>
                </a:srgbClr>
              </a:clrFrom>
              <a:clrTo>
                <a:srgbClr val="FFFFFF">
                  <a:alpha val="100000"/>
                  <a:alpha val="0"/>
                </a:srgbClr>
              </a:clrTo>
            </a:clrChange>
          </a:blip>
          <a:stretch>
            <a:fillRect/>
          </a:stretch>
        </p:blipFill>
        <p:spPr>
          <a:xfrm>
            <a:off x="8582025" y="3491865"/>
            <a:ext cx="930910" cy="657225"/>
          </a:xfrm>
          <a:prstGeom prst="rect">
            <a:avLst/>
          </a:prstGeom>
        </p:spPr>
      </p:pic>
      <p:pic>
        <p:nvPicPr>
          <p:cNvPr id="33" name="图片 32"/>
          <p:cNvPicPr/>
          <p:nvPr/>
        </p:nvPicPr>
        <p:blipFill>
          <a:blip r:embed="rId5">
            <a:alphaModFix amt="80000"/>
            <a:clrChange>
              <a:clrFrom>
                <a:srgbClr val="FFFFFD">
                  <a:alpha val="100000"/>
                </a:srgbClr>
              </a:clrFrom>
              <a:clrTo>
                <a:srgbClr val="FFFFFD">
                  <a:alpha val="100000"/>
                  <a:alpha val="0"/>
                </a:srgbClr>
              </a:clrTo>
            </a:clrChange>
          </a:blip>
          <a:stretch>
            <a:fillRect/>
          </a:stretch>
        </p:blipFill>
        <p:spPr>
          <a:xfrm>
            <a:off x="9669145" y="1653540"/>
            <a:ext cx="880745" cy="335280"/>
          </a:xfrm>
          <a:prstGeom prst="rect">
            <a:avLst/>
          </a:prstGeom>
        </p:spPr>
      </p:pic>
      <p:pic>
        <p:nvPicPr>
          <p:cNvPr id="59" name="图片 58" descr="中国电信"/>
          <p:cNvPicPr>
            <a:picLocks noChangeAspect="1"/>
          </p:cNvPicPr>
          <p:nvPr/>
        </p:nvPicPr>
        <p:blipFill>
          <a:blip r:embed="rId6">
            <a:alphaModFix amt="60000"/>
            <a:clrChange>
              <a:clrFrom>
                <a:srgbClr val="FFFFFF">
                  <a:alpha val="100000"/>
                </a:srgbClr>
              </a:clrFrom>
              <a:clrTo>
                <a:srgbClr val="FFFFFF">
                  <a:alpha val="100000"/>
                  <a:alpha val="0"/>
                </a:srgbClr>
              </a:clrTo>
            </a:clrChange>
          </a:blip>
          <a:srcRect/>
          <a:stretch>
            <a:fillRect/>
          </a:stretch>
        </p:blipFill>
        <p:spPr>
          <a:xfrm>
            <a:off x="7947660" y="2639060"/>
            <a:ext cx="901065" cy="332740"/>
          </a:xfrm>
          <a:prstGeom prst="rect">
            <a:avLst/>
          </a:prstGeom>
        </p:spPr>
      </p:pic>
      <p:pic>
        <p:nvPicPr>
          <p:cNvPr id="29" name="图片 28"/>
          <p:cNvPicPr/>
          <p:nvPr/>
        </p:nvPicPr>
        <p:blipFill>
          <a:blip r:embed="rId7">
            <a:alphaModFix amt="80000"/>
            <a:clrChange>
              <a:clrFrom>
                <a:srgbClr val="FFFFFF">
                  <a:alpha val="100000"/>
                </a:srgbClr>
              </a:clrFrom>
              <a:clrTo>
                <a:srgbClr val="FFFFFF">
                  <a:alpha val="100000"/>
                  <a:alpha val="0"/>
                </a:srgbClr>
              </a:clrTo>
            </a:clrChange>
          </a:blip>
          <a:srcRect/>
          <a:stretch>
            <a:fillRect/>
          </a:stretch>
        </p:blipFill>
        <p:spPr>
          <a:xfrm>
            <a:off x="9146540" y="2696845"/>
            <a:ext cx="970280" cy="233045"/>
          </a:xfrm>
          <a:prstGeom prst="rect">
            <a:avLst/>
          </a:prstGeom>
        </p:spPr>
      </p:pic>
      <p:pic>
        <p:nvPicPr>
          <p:cNvPr id="30" name="图片 29" descr="阿里云logo"/>
          <p:cNvPicPr>
            <a:picLocks noChangeAspect="1"/>
          </p:cNvPicPr>
          <p:nvPr/>
        </p:nvPicPr>
        <p:blipFill>
          <a:blip r:embed="rId8">
            <a:alphaModFix amt="80000"/>
          </a:blip>
          <a:stretch>
            <a:fillRect/>
          </a:stretch>
        </p:blipFill>
        <p:spPr>
          <a:xfrm>
            <a:off x="8582025" y="1731645"/>
            <a:ext cx="803910" cy="179705"/>
          </a:xfrm>
          <a:prstGeom prst="rect">
            <a:avLst/>
          </a:prstGeom>
        </p:spPr>
      </p:pic>
      <p:pic>
        <p:nvPicPr>
          <p:cNvPr id="31" name="图片 30"/>
          <p:cNvPicPr>
            <a:picLocks noChangeAspect="1"/>
          </p:cNvPicPr>
          <p:nvPr/>
        </p:nvPicPr>
        <p:blipFill>
          <a:blip r:embed="rId9">
            <a:alphaModFix amt="80000"/>
            <a:clrChange>
              <a:clrFrom>
                <a:srgbClr val="FFFFFF">
                  <a:alpha val="100000"/>
                </a:srgbClr>
              </a:clrFrom>
              <a:clrTo>
                <a:srgbClr val="FFFFFF">
                  <a:alpha val="100000"/>
                  <a:alpha val="0"/>
                </a:srgbClr>
              </a:clrTo>
            </a:clrChange>
          </a:blip>
          <a:stretch>
            <a:fillRect/>
          </a:stretch>
        </p:blipFill>
        <p:spPr>
          <a:xfrm>
            <a:off x="9287510" y="4742180"/>
            <a:ext cx="864870" cy="313690"/>
          </a:xfrm>
          <a:prstGeom prst="rect">
            <a:avLst/>
          </a:prstGeom>
        </p:spPr>
      </p:pic>
      <p:pic>
        <p:nvPicPr>
          <p:cNvPr id="32" name="图片 31"/>
          <p:cNvPicPr>
            <a:picLocks noChangeAspect="1"/>
          </p:cNvPicPr>
          <p:nvPr/>
        </p:nvPicPr>
        <p:blipFill>
          <a:blip r:embed="rId10">
            <a:alphaModFix amt="80000"/>
            <a:clrChange>
              <a:clrFrom>
                <a:srgbClr val="FFFFFF">
                  <a:alpha val="100000"/>
                </a:srgbClr>
              </a:clrFrom>
              <a:clrTo>
                <a:srgbClr val="FFFFFF">
                  <a:alpha val="100000"/>
                  <a:alpha val="0"/>
                </a:srgbClr>
              </a:clrTo>
            </a:clrChange>
          </a:blip>
          <a:srcRect/>
          <a:stretch>
            <a:fillRect/>
          </a:stretch>
        </p:blipFill>
        <p:spPr>
          <a:xfrm>
            <a:off x="11365230" y="4696460"/>
            <a:ext cx="820420" cy="264160"/>
          </a:xfrm>
          <a:prstGeom prst="rect">
            <a:avLst/>
          </a:prstGeom>
        </p:spPr>
      </p:pic>
      <p:pic>
        <p:nvPicPr>
          <p:cNvPr id="34" name="图片 33"/>
          <p:cNvPicPr>
            <a:picLocks noChangeAspect="1"/>
          </p:cNvPicPr>
          <p:nvPr/>
        </p:nvPicPr>
        <p:blipFill>
          <a:blip r:embed="rId11">
            <a:alphaModFix amt="80000"/>
            <a:clrChange>
              <a:clrFrom>
                <a:srgbClr val="FFFFFF">
                  <a:alpha val="100000"/>
                </a:srgbClr>
              </a:clrFrom>
              <a:clrTo>
                <a:srgbClr val="FFFFFF">
                  <a:alpha val="100000"/>
                  <a:alpha val="0"/>
                </a:srgbClr>
              </a:clrTo>
            </a:clrChange>
          </a:blip>
          <a:srcRect/>
          <a:stretch>
            <a:fillRect/>
          </a:stretch>
        </p:blipFill>
        <p:spPr>
          <a:xfrm>
            <a:off x="10681970" y="5633085"/>
            <a:ext cx="1335405" cy="383540"/>
          </a:xfrm>
          <a:prstGeom prst="rect">
            <a:avLst/>
          </a:prstGeom>
        </p:spPr>
      </p:pic>
      <p:pic>
        <p:nvPicPr>
          <p:cNvPr id="64" name="图片 63"/>
          <p:cNvPicPr>
            <a:picLocks noChangeAspect="1"/>
          </p:cNvPicPr>
          <p:nvPr/>
        </p:nvPicPr>
        <p:blipFill>
          <a:blip r:embed="rId12">
            <a:alphaModFix amt="80000"/>
            <a:clrChange>
              <a:clrFrom>
                <a:srgbClr val="FFFFFF">
                  <a:alpha val="100000"/>
                </a:srgbClr>
              </a:clrFrom>
              <a:clrTo>
                <a:srgbClr val="FFFFFF">
                  <a:alpha val="100000"/>
                  <a:alpha val="0"/>
                </a:srgbClr>
              </a:clrTo>
            </a:clrChange>
          </a:blip>
          <a:stretch>
            <a:fillRect/>
          </a:stretch>
        </p:blipFill>
        <p:spPr>
          <a:xfrm>
            <a:off x="8582025" y="5684520"/>
            <a:ext cx="925195" cy="308610"/>
          </a:xfrm>
          <a:prstGeom prst="rect">
            <a:avLst/>
          </a:prstGeom>
        </p:spPr>
      </p:pic>
      <p:pic>
        <p:nvPicPr>
          <p:cNvPr id="65" name="图片 64"/>
          <p:cNvPicPr>
            <a:picLocks noChangeAspect="1"/>
          </p:cNvPicPr>
          <p:nvPr/>
        </p:nvPicPr>
        <p:blipFill>
          <a:blip r:embed="rId13">
            <a:alphaModFix amt="80000"/>
            <a:clrChange>
              <a:clrFrom>
                <a:srgbClr val="FFFFFF">
                  <a:alpha val="100000"/>
                </a:srgbClr>
              </a:clrFrom>
              <a:clrTo>
                <a:srgbClr val="FFFFFF">
                  <a:alpha val="100000"/>
                  <a:alpha val="0"/>
                </a:srgbClr>
              </a:clrTo>
            </a:clrChange>
          </a:blip>
          <a:stretch>
            <a:fillRect/>
          </a:stretch>
        </p:blipFill>
        <p:spPr>
          <a:xfrm>
            <a:off x="10942955" y="3604260"/>
            <a:ext cx="874395" cy="476885"/>
          </a:xfrm>
          <a:prstGeom prst="rect">
            <a:avLst/>
          </a:prstGeom>
        </p:spPr>
      </p:pic>
      <p:pic>
        <p:nvPicPr>
          <p:cNvPr id="35" name="图片 34" descr="北京百度网讯科技有限公司"/>
          <p:cNvPicPr>
            <a:picLocks noChangeAspect="1"/>
          </p:cNvPicPr>
          <p:nvPr/>
        </p:nvPicPr>
        <p:blipFill>
          <a:blip r:embed="rId14">
            <a:alphaModFix amt="80000"/>
            <a:clrChange>
              <a:clrFrom>
                <a:srgbClr val="FFFFFF">
                  <a:alpha val="100000"/>
                </a:srgbClr>
              </a:clrFrom>
              <a:clrTo>
                <a:srgbClr val="FFFFFF">
                  <a:alpha val="100000"/>
                  <a:alpha val="0"/>
                </a:srgbClr>
              </a:clrTo>
            </a:clrChange>
          </a:blip>
          <a:stretch>
            <a:fillRect/>
          </a:stretch>
        </p:blipFill>
        <p:spPr>
          <a:xfrm>
            <a:off x="10298430" y="414655"/>
            <a:ext cx="1313180" cy="530860"/>
          </a:xfrm>
          <a:prstGeom prst="rect">
            <a:avLst/>
          </a:prstGeom>
        </p:spPr>
      </p:pic>
      <p:pic>
        <p:nvPicPr>
          <p:cNvPr id="36" name="图片 35"/>
          <p:cNvPicPr>
            <a:picLocks noChangeAspect="1"/>
          </p:cNvPicPr>
          <p:nvPr/>
        </p:nvPicPr>
        <p:blipFill>
          <a:blip r:embed="rId15">
            <a:alphaModFix amt="60000"/>
            <a:clrChange>
              <a:clrFrom>
                <a:srgbClr val="FBFFF7">
                  <a:alpha val="100000"/>
                </a:srgbClr>
              </a:clrFrom>
              <a:clrTo>
                <a:srgbClr val="FBFFF7">
                  <a:alpha val="100000"/>
                  <a:alpha val="0"/>
                </a:srgbClr>
              </a:clrTo>
            </a:clrChange>
          </a:blip>
          <a:srcRect/>
          <a:stretch>
            <a:fillRect/>
          </a:stretch>
        </p:blipFill>
        <p:spPr>
          <a:xfrm>
            <a:off x="9807575" y="3601720"/>
            <a:ext cx="722630" cy="468630"/>
          </a:xfrm>
          <a:prstGeom prst="rect">
            <a:avLst/>
          </a:prstGeom>
          <a:noFill/>
        </p:spPr>
      </p:pic>
      <p:pic>
        <p:nvPicPr>
          <p:cNvPr id="37" name="图片 36"/>
          <p:cNvPicPr/>
          <p:nvPr/>
        </p:nvPicPr>
        <p:blipFill>
          <a:blip r:embed="rId16">
            <a:alphaModFix amt="60000"/>
            <a:clrChange>
              <a:clrFrom>
                <a:srgbClr val="FFFFFF">
                  <a:alpha val="100000"/>
                </a:srgbClr>
              </a:clrFrom>
              <a:clrTo>
                <a:srgbClr val="FFFFFF">
                  <a:alpha val="100000"/>
                  <a:alpha val="0"/>
                </a:srgbClr>
              </a:clrTo>
            </a:clrChange>
          </a:blip>
          <a:stretch>
            <a:fillRect/>
          </a:stretch>
        </p:blipFill>
        <p:spPr>
          <a:xfrm>
            <a:off x="7938770" y="4711065"/>
            <a:ext cx="1001395" cy="205105"/>
          </a:xfrm>
          <a:prstGeom prst="rect">
            <a:avLst/>
          </a:prstGeom>
        </p:spPr>
      </p:pic>
      <p:pic>
        <p:nvPicPr>
          <p:cNvPr id="38" name="图片 37"/>
          <p:cNvPicPr>
            <a:picLocks noChangeAspect="1"/>
          </p:cNvPicPr>
          <p:nvPr/>
        </p:nvPicPr>
        <p:blipFill>
          <a:blip r:embed="rId17">
            <a:alphaModFix amt="60000"/>
            <a:clrChange>
              <a:clrFrom>
                <a:srgbClr val="FFFFFF">
                  <a:alpha val="100000"/>
                </a:srgbClr>
              </a:clrFrom>
              <a:clrTo>
                <a:srgbClr val="FFFFFF">
                  <a:alpha val="100000"/>
                  <a:alpha val="0"/>
                </a:srgbClr>
              </a:clrTo>
            </a:clrChange>
          </a:blip>
          <a:stretch>
            <a:fillRect/>
          </a:stretch>
        </p:blipFill>
        <p:spPr>
          <a:xfrm>
            <a:off x="7411720" y="3622040"/>
            <a:ext cx="875665" cy="351155"/>
          </a:xfrm>
          <a:prstGeom prst="rect">
            <a:avLst/>
          </a:prstGeom>
        </p:spPr>
      </p:pic>
      <p:pic>
        <p:nvPicPr>
          <p:cNvPr id="39" name="图片 38"/>
          <p:cNvPicPr>
            <a:picLocks noChangeAspect="1"/>
          </p:cNvPicPr>
          <p:nvPr/>
        </p:nvPicPr>
        <p:blipFill>
          <a:blip r:embed="rId18">
            <a:alphaModFix amt="40000"/>
            <a:clrChange>
              <a:clrFrom>
                <a:srgbClr val="FFFFFF">
                  <a:alpha val="100000"/>
                </a:srgbClr>
              </a:clrFrom>
              <a:clrTo>
                <a:srgbClr val="FFFFFF">
                  <a:alpha val="100000"/>
                  <a:alpha val="0"/>
                </a:srgbClr>
              </a:clrTo>
            </a:clrChange>
          </a:blip>
          <a:stretch>
            <a:fillRect/>
          </a:stretch>
        </p:blipFill>
        <p:spPr>
          <a:xfrm>
            <a:off x="6248400" y="3464878"/>
            <a:ext cx="869315" cy="591185"/>
          </a:xfrm>
          <a:prstGeom prst="rect">
            <a:avLst/>
          </a:prstGeom>
        </p:spPr>
      </p:pic>
      <p:pic>
        <p:nvPicPr>
          <p:cNvPr id="40" name="图片 39" descr="北京火山引擎科技有限公司"/>
          <p:cNvPicPr>
            <a:picLocks noChangeAspect="1"/>
          </p:cNvPicPr>
          <p:nvPr/>
        </p:nvPicPr>
        <p:blipFill>
          <a:blip r:embed="rId19">
            <a:alphaModFix amt="60000"/>
            <a:clrChange>
              <a:clrFrom>
                <a:srgbClr val="FFFFFF">
                  <a:alpha val="100000"/>
                </a:srgbClr>
              </a:clrFrom>
              <a:clrTo>
                <a:srgbClr val="FFFFFF">
                  <a:alpha val="100000"/>
                  <a:alpha val="0"/>
                </a:srgbClr>
              </a:clrTo>
            </a:clrChange>
          </a:blip>
          <a:stretch>
            <a:fillRect/>
          </a:stretch>
        </p:blipFill>
        <p:spPr>
          <a:xfrm>
            <a:off x="10713720" y="1520825"/>
            <a:ext cx="924560" cy="601345"/>
          </a:xfrm>
          <a:prstGeom prst="rect">
            <a:avLst/>
          </a:prstGeom>
        </p:spPr>
      </p:pic>
      <p:pic>
        <p:nvPicPr>
          <p:cNvPr id="41" name="图片 40"/>
          <p:cNvPicPr>
            <a:picLocks noChangeAspect="1"/>
          </p:cNvPicPr>
          <p:nvPr/>
        </p:nvPicPr>
        <p:blipFill>
          <a:blip r:embed="rId20">
            <a:alphaModFix amt="60000"/>
            <a:clrChange>
              <a:clrFrom>
                <a:srgbClr val="FFFFFF">
                  <a:alpha val="100000"/>
                </a:srgbClr>
              </a:clrFrom>
              <a:clrTo>
                <a:srgbClr val="FFFFFF">
                  <a:alpha val="100000"/>
                  <a:alpha val="0"/>
                </a:srgbClr>
              </a:clrTo>
            </a:clrChange>
          </a:blip>
          <a:stretch>
            <a:fillRect/>
          </a:stretch>
        </p:blipFill>
        <p:spPr>
          <a:xfrm>
            <a:off x="10267950" y="2720975"/>
            <a:ext cx="775970" cy="283845"/>
          </a:xfrm>
          <a:prstGeom prst="rect">
            <a:avLst/>
          </a:prstGeom>
        </p:spPr>
      </p:pic>
      <p:pic>
        <p:nvPicPr>
          <p:cNvPr id="42" name="图片 41"/>
          <p:cNvPicPr>
            <a:picLocks noChangeAspect="1"/>
          </p:cNvPicPr>
          <p:nvPr/>
        </p:nvPicPr>
        <p:blipFill>
          <a:blip r:embed="rId21">
            <a:clrChange>
              <a:clrFrom>
                <a:srgbClr val="FFFFFF">
                  <a:alpha val="100000"/>
                </a:srgbClr>
              </a:clrFrom>
              <a:clrTo>
                <a:srgbClr val="FFFFFF">
                  <a:alpha val="100000"/>
                  <a:alpha val="0"/>
                </a:srgbClr>
              </a:clrTo>
            </a:clrChange>
          </a:blip>
          <a:srcRect/>
          <a:stretch>
            <a:fillRect/>
          </a:stretch>
        </p:blipFill>
        <p:spPr>
          <a:xfrm>
            <a:off x="9093200" y="687705"/>
            <a:ext cx="906780" cy="266700"/>
          </a:xfrm>
          <a:prstGeom prst="rect">
            <a:avLst/>
          </a:prstGeom>
        </p:spPr>
      </p:pic>
      <p:pic>
        <p:nvPicPr>
          <p:cNvPr id="43" name="图片 42"/>
          <p:cNvPicPr>
            <a:picLocks noChangeAspect="1"/>
          </p:cNvPicPr>
          <p:nvPr/>
        </p:nvPicPr>
        <p:blipFill>
          <a:blip r:embed="rId22">
            <a:alphaModFix amt="80000"/>
            <a:clrChange>
              <a:clrFrom>
                <a:srgbClr val="FFFFFF">
                  <a:alpha val="100000"/>
                </a:srgbClr>
              </a:clrFrom>
              <a:clrTo>
                <a:srgbClr val="FFFFFF">
                  <a:alpha val="100000"/>
                  <a:alpha val="0"/>
                </a:srgbClr>
              </a:clrTo>
            </a:clrChange>
          </a:blip>
          <a:stretch>
            <a:fillRect/>
          </a:stretch>
        </p:blipFill>
        <p:spPr>
          <a:xfrm>
            <a:off x="6828155" y="4696460"/>
            <a:ext cx="893445" cy="228600"/>
          </a:xfrm>
          <a:prstGeom prst="rect">
            <a:avLst/>
          </a:prstGeom>
        </p:spPr>
      </p:pic>
      <p:pic>
        <p:nvPicPr>
          <p:cNvPr id="44" name="图片 43" descr="上海水星家用纺织品股份有限公司"/>
          <p:cNvPicPr>
            <a:picLocks noChangeAspect="1"/>
          </p:cNvPicPr>
          <p:nvPr/>
        </p:nvPicPr>
        <p:blipFill>
          <a:blip r:embed="rId23">
            <a:alphaModFix amt="60000"/>
            <a:clrChange>
              <a:clrFrom>
                <a:srgbClr val="FFFFFF">
                  <a:alpha val="100000"/>
                </a:srgbClr>
              </a:clrFrom>
              <a:clrTo>
                <a:srgbClr val="FFFFFF">
                  <a:alpha val="100000"/>
                  <a:alpha val="0"/>
                </a:srgbClr>
              </a:clrTo>
            </a:clrChange>
          </a:blip>
          <a:stretch>
            <a:fillRect/>
          </a:stretch>
        </p:blipFill>
        <p:spPr>
          <a:xfrm>
            <a:off x="7326630" y="1304925"/>
            <a:ext cx="1078865" cy="863600"/>
          </a:xfrm>
          <a:prstGeom prst="rect">
            <a:avLst/>
          </a:prstGeom>
        </p:spPr>
      </p:pic>
      <p:pic>
        <p:nvPicPr>
          <p:cNvPr id="45" name="图片 44"/>
          <p:cNvPicPr>
            <a:picLocks noChangeAspect="1"/>
          </p:cNvPicPr>
          <p:nvPr/>
        </p:nvPicPr>
        <p:blipFill>
          <a:blip r:embed="rId24">
            <a:alphaModFix amt="60000"/>
            <a:clrChange>
              <a:clrFrom>
                <a:srgbClr val="FFFFFF">
                  <a:alpha val="100000"/>
                </a:srgbClr>
              </a:clrFrom>
              <a:clrTo>
                <a:srgbClr val="FFFFFF">
                  <a:alpha val="100000"/>
                  <a:alpha val="0"/>
                </a:srgbClr>
              </a:clrTo>
            </a:clrChange>
          </a:blip>
          <a:srcRect/>
          <a:stretch>
            <a:fillRect/>
          </a:stretch>
        </p:blipFill>
        <p:spPr>
          <a:xfrm>
            <a:off x="7326630" y="5648325"/>
            <a:ext cx="933450" cy="337185"/>
          </a:xfrm>
          <a:prstGeom prst="rect">
            <a:avLst/>
          </a:prstGeom>
        </p:spPr>
      </p:pic>
      <p:pic>
        <p:nvPicPr>
          <p:cNvPr id="46" name="图片 45" descr="南京卓力昕汽车服务股份有限公司"/>
          <p:cNvPicPr>
            <a:picLocks noChangeAspect="1"/>
          </p:cNvPicPr>
          <p:nvPr/>
        </p:nvPicPr>
        <p:blipFill>
          <a:blip r:embed="rId25">
            <a:alphaModFix amt="60000"/>
          </a:blip>
          <a:stretch>
            <a:fillRect/>
          </a:stretch>
        </p:blipFill>
        <p:spPr>
          <a:xfrm>
            <a:off x="9808845" y="5772785"/>
            <a:ext cx="792480" cy="189230"/>
          </a:xfrm>
          <a:prstGeom prst="rect">
            <a:avLst/>
          </a:prstGeom>
        </p:spPr>
      </p:pic>
      <p:pic>
        <p:nvPicPr>
          <p:cNvPr id="51" name="图片 50" descr="四川集鲜数智供应链科技有限公司"/>
          <p:cNvPicPr>
            <a:picLocks noChangeAspect="1"/>
          </p:cNvPicPr>
          <p:nvPr/>
        </p:nvPicPr>
        <p:blipFill>
          <a:blip r:embed="rId26">
            <a:alphaModFix amt="60000"/>
          </a:blip>
          <a:stretch>
            <a:fillRect/>
          </a:stretch>
        </p:blipFill>
        <p:spPr>
          <a:xfrm>
            <a:off x="6943090" y="628650"/>
            <a:ext cx="759460" cy="304165"/>
          </a:xfrm>
          <a:prstGeom prst="rect">
            <a:avLst/>
          </a:prstGeom>
        </p:spPr>
      </p:pic>
      <p:pic>
        <p:nvPicPr>
          <p:cNvPr id="61" name="图片 60" descr="中软国际科技服务有限公司"/>
          <p:cNvPicPr>
            <a:picLocks noChangeAspect="1"/>
          </p:cNvPicPr>
          <p:nvPr/>
        </p:nvPicPr>
        <p:blipFill>
          <a:blip r:embed="rId27">
            <a:alphaModFix amt="60000"/>
          </a:blip>
          <a:srcRect/>
          <a:stretch>
            <a:fillRect/>
          </a:stretch>
        </p:blipFill>
        <p:spPr>
          <a:xfrm>
            <a:off x="6909435" y="2649220"/>
            <a:ext cx="740410" cy="335915"/>
          </a:xfrm>
          <a:prstGeom prst="rect">
            <a:avLst/>
          </a:prstGeom>
        </p:spPr>
      </p:pic>
      <p:pic>
        <p:nvPicPr>
          <p:cNvPr id="62" name="图片 61" descr="洲际油气股份有限公司"/>
          <p:cNvPicPr>
            <a:picLocks noChangeAspect="1"/>
          </p:cNvPicPr>
          <p:nvPr/>
        </p:nvPicPr>
        <p:blipFill>
          <a:blip r:embed="rId28">
            <a:alphaModFix amt="80000"/>
          </a:blip>
          <a:srcRect/>
          <a:stretch>
            <a:fillRect/>
          </a:stretch>
        </p:blipFill>
        <p:spPr>
          <a:xfrm>
            <a:off x="11365230" y="2699385"/>
            <a:ext cx="826770" cy="327660"/>
          </a:xfrm>
          <a:prstGeom prst="rect">
            <a:avLst/>
          </a:prstGeom>
        </p:spPr>
      </p:pic>
      <p:pic>
        <p:nvPicPr>
          <p:cNvPr id="47" name="图片 46"/>
          <p:cNvPicPr>
            <a:picLocks noChangeAspect="1"/>
          </p:cNvPicPr>
          <p:nvPr/>
        </p:nvPicPr>
        <p:blipFill>
          <a:blip r:embed="rId29">
            <a:alphaModFix amt="40000"/>
            <a:clrChange>
              <a:clrFrom>
                <a:srgbClr val="FFFFFF">
                  <a:alpha val="100000"/>
                </a:srgbClr>
              </a:clrFrom>
              <a:clrTo>
                <a:srgbClr val="FFFFFF">
                  <a:alpha val="100000"/>
                  <a:alpha val="0"/>
                </a:srgbClr>
              </a:clrTo>
            </a:clrChange>
          </a:blip>
          <a:srcRect/>
          <a:stretch>
            <a:fillRect/>
          </a:stretch>
        </p:blipFill>
        <p:spPr>
          <a:xfrm>
            <a:off x="10267950" y="6463665"/>
            <a:ext cx="902970" cy="394335"/>
          </a:xfrm>
          <a:prstGeom prst="rect">
            <a:avLst/>
          </a:prstGeom>
        </p:spPr>
      </p:pic>
      <p:pic>
        <p:nvPicPr>
          <p:cNvPr id="48" name="图片 47" descr="北京神州邦邦技术服务有限公司"/>
          <p:cNvPicPr>
            <a:picLocks noChangeAspect="1"/>
          </p:cNvPicPr>
          <p:nvPr/>
        </p:nvPicPr>
        <p:blipFill>
          <a:blip r:embed="rId30">
            <a:alphaModFix amt="40000"/>
          </a:blip>
          <a:stretch>
            <a:fillRect/>
          </a:stretch>
        </p:blipFill>
        <p:spPr>
          <a:xfrm>
            <a:off x="7949565" y="6558915"/>
            <a:ext cx="899160" cy="210185"/>
          </a:xfrm>
          <a:prstGeom prst="rect">
            <a:avLst/>
          </a:prstGeom>
        </p:spPr>
      </p:pic>
      <p:pic>
        <p:nvPicPr>
          <p:cNvPr id="49" name="图片 48" descr="广东燕塘乳业股份有限公司"/>
          <p:cNvPicPr>
            <a:picLocks noChangeAspect="1"/>
          </p:cNvPicPr>
          <p:nvPr/>
        </p:nvPicPr>
        <p:blipFill>
          <a:blip r:embed="rId31">
            <a:alphaModFix amt="40000"/>
          </a:blip>
          <a:srcRect/>
          <a:stretch>
            <a:fillRect/>
          </a:stretch>
        </p:blipFill>
        <p:spPr>
          <a:xfrm>
            <a:off x="10487025" y="4636770"/>
            <a:ext cx="543560" cy="429260"/>
          </a:xfrm>
          <a:prstGeom prst="rect">
            <a:avLst/>
          </a:prstGeom>
        </p:spPr>
      </p:pic>
      <p:pic>
        <p:nvPicPr>
          <p:cNvPr id="50" name="图片 49"/>
          <p:cNvPicPr>
            <a:picLocks noChangeAspect="1"/>
          </p:cNvPicPr>
          <p:nvPr/>
        </p:nvPicPr>
        <p:blipFill>
          <a:blip r:embed="rId32">
            <a:alphaModFix amt="80000"/>
            <a:clrChange>
              <a:clrFrom>
                <a:srgbClr val="FFFFFF">
                  <a:alpha val="100000"/>
                </a:srgbClr>
              </a:clrFrom>
              <a:clrTo>
                <a:srgbClr val="FFFFFF">
                  <a:alpha val="100000"/>
                  <a:alpha val="0"/>
                </a:srgbClr>
              </a:clrTo>
            </a:clrChange>
          </a:blip>
          <a:srcRect/>
          <a:stretch>
            <a:fillRect/>
          </a:stretch>
        </p:blipFill>
        <p:spPr>
          <a:xfrm>
            <a:off x="6229985" y="1694180"/>
            <a:ext cx="970280" cy="269875"/>
          </a:xfrm>
          <a:prstGeom prst="rect">
            <a:avLst/>
          </a:prstGeom>
        </p:spPr>
      </p:pic>
      <p:pic>
        <p:nvPicPr>
          <p:cNvPr id="52" name="图片 51" descr="赛尔网络有限公司"/>
          <p:cNvPicPr>
            <a:picLocks noChangeAspect="1"/>
          </p:cNvPicPr>
          <p:nvPr/>
        </p:nvPicPr>
        <p:blipFill>
          <a:blip r:embed="rId33">
            <a:alphaModFix amt="40000"/>
          </a:blip>
          <a:srcRect/>
          <a:stretch>
            <a:fillRect/>
          </a:stretch>
        </p:blipFill>
        <p:spPr>
          <a:xfrm>
            <a:off x="11520805" y="707390"/>
            <a:ext cx="617855" cy="236220"/>
          </a:xfrm>
          <a:prstGeom prst="rect">
            <a:avLst/>
          </a:prstGeom>
        </p:spPr>
      </p:pic>
      <p:pic>
        <p:nvPicPr>
          <p:cNvPr id="55" name="图片 54" descr="鲜生活冷链物流有限公司"/>
          <p:cNvPicPr>
            <a:picLocks noChangeAspect="1"/>
          </p:cNvPicPr>
          <p:nvPr/>
        </p:nvPicPr>
        <p:blipFill>
          <a:blip r:embed="rId34">
            <a:alphaModFix amt="80000"/>
          </a:blip>
          <a:stretch>
            <a:fillRect/>
          </a:stretch>
        </p:blipFill>
        <p:spPr>
          <a:xfrm>
            <a:off x="6229985" y="5684520"/>
            <a:ext cx="867410" cy="266065"/>
          </a:xfrm>
          <a:prstGeom prst="rect">
            <a:avLst/>
          </a:prstGeom>
        </p:spPr>
      </p:pic>
      <p:pic>
        <p:nvPicPr>
          <p:cNvPr id="53" name="图片 52" descr="江苏星宇芯联电子科技有限公司"/>
          <p:cNvPicPr>
            <a:picLocks noChangeAspect="1"/>
          </p:cNvPicPr>
          <p:nvPr/>
        </p:nvPicPr>
        <p:blipFill>
          <a:blip r:embed="rId35">
            <a:alphaModFix amt="20000"/>
          </a:blip>
          <a:srcRect/>
          <a:stretch>
            <a:fillRect/>
          </a:stretch>
        </p:blipFill>
        <p:spPr>
          <a:xfrm>
            <a:off x="5641975" y="2683510"/>
            <a:ext cx="912495" cy="290830"/>
          </a:xfrm>
          <a:prstGeom prst="rect">
            <a:avLst/>
          </a:prstGeom>
        </p:spPr>
      </p:pic>
      <p:pic>
        <p:nvPicPr>
          <p:cNvPr id="54" name="图片 53" descr="上海兆芯集成电路股份有限公司"/>
          <p:cNvPicPr>
            <a:picLocks noChangeAspect="1"/>
          </p:cNvPicPr>
          <p:nvPr/>
        </p:nvPicPr>
        <p:blipFill>
          <a:blip r:embed="rId36">
            <a:alphaModFix amt="20000"/>
          </a:blip>
          <a:stretch>
            <a:fillRect/>
          </a:stretch>
        </p:blipFill>
        <p:spPr>
          <a:xfrm>
            <a:off x="5661025" y="620395"/>
            <a:ext cx="854075" cy="334010"/>
          </a:xfrm>
          <a:prstGeom prst="rect">
            <a:avLst/>
          </a:prstGeom>
        </p:spPr>
      </p:pic>
      <p:pic>
        <p:nvPicPr>
          <p:cNvPr id="56" name="图片 55" descr="深圳市壹通道科技有限公司"/>
          <p:cNvPicPr>
            <a:picLocks noChangeAspect="1"/>
          </p:cNvPicPr>
          <p:nvPr/>
        </p:nvPicPr>
        <p:blipFill>
          <a:blip r:embed="rId37">
            <a:alphaModFix amt="10000"/>
          </a:blip>
          <a:stretch>
            <a:fillRect/>
          </a:stretch>
        </p:blipFill>
        <p:spPr>
          <a:xfrm>
            <a:off x="5238115" y="3583305"/>
            <a:ext cx="497840" cy="497840"/>
          </a:xfrm>
          <a:prstGeom prst="rect">
            <a:avLst/>
          </a:prstGeom>
        </p:spPr>
      </p:pic>
      <p:pic>
        <p:nvPicPr>
          <p:cNvPr id="57" name="图片 56" descr="长扬科技（北京）股份有限公司"/>
          <p:cNvPicPr>
            <a:picLocks noChangeAspect="1"/>
          </p:cNvPicPr>
          <p:nvPr/>
        </p:nvPicPr>
        <p:blipFill>
          <a:blip r:embed="rId38">
            <a:alphaModFix amt="20000"/>
          </a:blip>
          <a:stretch>
            <a:fillRect/>
          </a:stretch>
        </p:blipFill>
        <p:spPr>
          <a:xfrm>
            <a:off x="5661025" y="4710430"/>
            <a:ext cx="857250" cy="301625"/>
          </a:xfrm>
          <a:prstGeom prst="rect">
            <a:avLst/>
          </a:prstGeom>
        </p:spPr>
      </p:pic>
      <p:pic>
        <p:nvPicPr>
          <p:cNvPr id="58" name="图片 57" descr="安徽皖云数据科技有限公司"/>
          <p:cNvPicPr>
            <a:picLocks noChangeAspect="1"/>
          </p:cNvPicPr>
          <p:nvPr/>
        </p:nvPicPr>
        <p:blipFill>
          <a:blip r:embed="rId39">
            <a:alphaModFix amt="20000"/>
          </a:blip>
          <a:stretch>
            <a:fillRect/>
          </a:stretch>
        </p:blipFill>
        <p:spPr>
          <a:xfrm>
            <a:off x="5080000" y="5742305"/>
            <a:ext cx="871855" cy="219710"/>
          </a:xfrm>
          <a:prstGeom prst="rect">
            <a:avLst/>
          </a:prstGeom>
        </p:spPr>
      </p:pic>
      <p:pic>
        <p:nvPicPr>
          <p:cNvPr id="60" name="图片 59" descr="宁波杜亚机电技术有限公司"/>
          <p:cNvPicPr>
            <a:picLocks noChangeAspect="1"/>
          </p:cNvPicPr>
          <p:nvPr/>
        </p:nvPicPr>
        <p:blipFill>
          <a:blip r:embed="rId40">
            <a:alphaModFix amt="20000"/>
            <a:clrChange>
              <a:clrFrom>
                <a:srgbClr val="FFFFFF">
                  <a:alpha val="100000"/>
                </a:srgbClr>
              </a:clrFrom>
              <a:clrTo>
                <a:srgbClr val="FFFFFF">
                  <a:alpha val="100000"/>
                  <a:alpha val="0"/>
                </a:srgbClr>
              </a:clrTo>
            </a:clrChange>
          </a:blip>
          <a:stretch>
            <a:fillRect/>
          </a:stretch>
        </p:blipFill>
        <p:spPr>
          <a:xfrm>
            <a:off x="5768340" y="6623050"/>
            <a:ext cx="662305" cy="147955"/>
          </a:xfrm>
          <a:prstGeom prst="rect">
            <a:avLst/>
          </a:prstGeom>
        </p:spPr>
      </p:pic>
      <p:pic>
        <p:nvPicPr>
          <p:cNvPr id="63" name="图片 62"/>
          <p:cNvPicPr>
            <a:picLocks noChangeAspect="1"/>
          </p:cNvPicPr>
          <p:nvPr/>
        </p:nvPicPr>
        <p:blipFill>
          <a:blip r:embed="rId41">
            <a:alphaModFix amt="5000"/>
            <a:clrChange>
              <a:clrFrom>
                <a:srgbClr val="FFFFFF">
                  <a:alpha val="100000"/>
                </a:srgbClr>
              </a:clrFrom>
              <a:clrTo>
                <a:srgbClr val="FFFFFF">
                  <a:alpha val="100000"/>
                  <a:alpha val="0"/>
                </a:srgbClr>
              </a:clrTo>
            </a:clrChange>
          </a:blip>
          <a:srcRect/>
          <a:stretch>
            <a:fillRect/>
          </a:stretch>
        </p:blipFill>
        <p:spPr>
          <a:xfrm>
            <a:off x="4465955" y="2649220"/>
            <a:ext cx="913765" cy="344805"/>
          </a:xfrm>
          <a:prstGeom prst="rect">
            <a:avLst/>
          </a:prstGeom>
        </p:spPr>
      </p:pic>
      <p:pic>
        <p:nvPicPr>
          <p:cNvPr id="66" name="图片 65" descr="安徽三马信息科技有限公司"/>
          <p:cNvPicPr>
            <a:picLocks noChangeAspect="1"/>
          </p:cNvPicPr>
          <p:nvPr/>
        </p:nvPicPr>
        <p:blipFill>
          <a:blip r:embed="rId42">
            <a:alphaModFix amt="5000"/>
            <a:clrChange>
              <a:clrFrom>
                <a:srgbClr val="FFFFFF">
                  <a:alpha val="100000"/>
                </a:srgbClr>
              </a:clrFrom>
              <a:clrTo>
                <a:srgbClr val="FFFFFF">
                  <a:alpha val="100000"/>
                  <a:alpha val="0"/>
                </a:srgbClr>
              </a:clrTo>
            </a:clrChange>
          </a:blip>
          <a:stretch>
            <a:fillRect/>
          </a:stretch>
        </p:blipFill>
        <p:spPr>
          <a:xfrm>
            <a:off x="4563110" y="628650"/>
            <a:ext cx="816610" cy="339725"/>
          </a:xfrm>
          <a:prstGeom prst="rect">
            <a:avLst/>
          </a:prstGeom>
        </p:spPr>
      </p:pic>
      <p:pic>
        <p:nvPicPr>
          <p:cNvPr id="67" name="图片 66" descr="江西昌河汽车有限责任公司"/>
          <p:cNvPicPr>
            <a:picLocks noChangeAspect="1"/>
          </p:cNvPicPr>
          <p:nvPr/>
        </p:nvPicPr>
        <p:blipFill>
          <a:blip r:embed="rId43">
            <a:alphaModFix amt="5000"/>
            <a:clrChange>
              <a:clrFrom>
                <a:srgbClr val="FFFFFD">
                  <a:alpha val="100000"/>
                </a:srgbClr>
              </a:clrFrom>
              <a:clrTo>
                <a:srgbClr val="FFFFFD">
                  <a:alpha val="100000"/>
                  <a:alpha val="0"/>
                </a:srgbClr>
              </a:clrTo>
            </a:clrChange>
          </a:blip>
          <a:stretch>
            <a:fillRect/>
          </a:stretch>
        </p:blipFill>
        <p:spPr>
          <a:xfrm>
            <a:off x="4521835" y="4527550"/>
            <a:ext cx="857885" cy="601980"/>
          </a:xfrm>
          <a:prstGeom prst="rect">
            <a:avLst/>
          </a:prstGeom>
        </p:spPr>
      </p:pic>
      <p:pic>
        <p:nvPicPr>
          <p:cNvPr id="68" name="图片 67" descr="图灵新智运（杭州）科技有限公司"/>
          <p:cNvPicPr>
            <a:picLocks noChangeAspect="1"/>
          </p:cNvPicPr>
          <p:nvPr/>
        </p:nvPicPr>
        <p:blipFill>
          <a:blip r:embed="rId44">
            <a:alphaModFix amt="10000"/>
            <a:clrChange>
              <a:clrFrom>
                <a:srgbClr val="FFFFFF">
                  <a:alpha val="100000"/>
                </a:srgbClr>
              </a:clrFrom>
              <a:clrTo>
                <a:srgbClr val="FFFFFF">
                  <a:alpha val="100000"/>
                  <a:alpha val="0"/>
                </a:srgbClr>
              </a:clrTo>
            </a:clrChange>
          </a:blip>
          <a:stretch>
            <a:fillRect/>
          </a:stretch>
        </p:blipFill>
        <p:spPr>
          <a:xfrm>
            <a:off x="5158105" y="1477010"/>
            <a:ext cx="715645" cy="715645"/>
          </a:xfrm>
          <a:prstGeom prst="rect">
            <a:avLst/>
          </a:prstGeom>
        </p:spPr>
      </p:pic>
      <p:pic>
        <p:nvPicPr>
          <p:cNvPr id="69" name="图片 68"/>
          <p:cNvPicPr>
            <a:picLocks noChangeAspect="1"/>
          </p:cNvPicPr>
          <p:nvPr/>
        </p:nvPicPr>
        <p:blipFill>
          <a:blip r:embed="rId45">
            <a:alphaModFix amt="20000"/>
            <a:clrChange>
              <a:clrFrom>
                <a:srgbClr val="FFFFFF">
                  <a:alpha val="100000"/>
                </a:srgbClr>
              </a:clrFrom>
              <a:clrTo>
                <a:srgbClr val="FFFFFF">
                  <a:alpha val="100000"/>
                  <a:alpha val="0"/>
                </a:srgbClr>
              </a:clrTo>
            </a:clrChange>
          </a:blip>
          <a:srcRect/>
          <a:stretch>
            <a:fillRect/>
          </a:stretch>
        </p:blipFill>
        <p:spPr>
          <a:xfrm>
            <a:off x="9093200" y="6558915"/>
            <a:ext cx="906780" cy="278765"/>
          </a:xfrm>
          <a:prstGeom prst="rect">
            <a:avLst/>
          </a:prstGeom>
        </p:spPr>
      </p:pic>
      <p:pic>
        <p:nvPicPr>
          <p:cNvPr id="70" name="图片 69" descr="北京庭宇科技有限公司"/>
          <p:cNvPicPr>
            <a:picLocks noChangeAspect="1"/>
          </p:cNvPicPr>
          <p:nvPr/>
        </p:nvPicPr>
        <p:blipFill>
          <a:blip r:embed="rId46">
            <a:alphaModFix amt="80000"/>
          </a:blip>
          <a:stretch>
            <a:fillRect/>
          </a:stretch>
        </p:blipFill>
        <p:spPr>
          <a:xfrm>
            <a:off x="6798310" y="6522720"/>
            <a:ext cx="851535" cy="246380"/>
          </a:xfrm>
          <a:prstGeom prst="rect">
            <a:avLst/>
          </a:prstGeom>
        </p:spPr>
      </p:pic>
      <p:pic>
        <p:nvPicPr>
          <p:cNvPr id="71" name="图片 70" descr="上海汇正财经顾问有限公司"/>
          <p:cNvPicPr>
            <a:picLocks noChangeAspect="1"/>
          </p:cNvPicPr>
          <p:nvPr/>
        </p:nvPicPr>
        <p:blipFill>
          <a:blip r:embed="rId47">
            <a:alphaModFix amt="5000"/>
            <a:clrChange>
              <a:clrFrom>
                <a:srgbClr val="FFFFFF">
                  <a:alpha val="100000"/>
                </a:srgbClr>
              </a:clrFrom>
              <a:clrTo>
                <a:srgbClr val="FFFFFF">
                  <a:alpha val="100000"/>
                  <a:alpha val="0"/>
                </a:srgbClr>
              </a:clrTo>
            </a:clrChange>
          </a:blip>
          <a:srcRect/>
          <a:stretch>
            <a:fillRect/>
          </a:stretch>
        </p:blipFill>
        <p:spPr>
          <a:xfrm>
            <a:off x="3819525" y="5690235"/>
            <a:ext cx="948690" cy="326390"/>
          </a:xfrm>
          <a:prstGeom prst="rect">
            <a:avLst/>
          </a:prstGeom>
        </p:spPr>
      </p:pic>
      <p:pic>
        <p:nvPicPr>
          <p:cNvPr id="72" name="图片 71" descr="中电鸿信信息科技有限公司"/>
          <p:cNvPicPr>
            <a:picLocks noChangeAspect="1"/>
          </p:cNvPicPr>
          <p:nvPr/>
        </p:nvPicPr>
        <p:blipFill>
          <a:blip r:embed="rId48">
            <a:alphaModFix amt="5000"/>
            <a:clrChange>
              <a:clrFrom>
                <a:srgbClr val="FFFFFF">
                  <a:alpha val="100000"/>
                </a:srgbClr>
              </a:clrFrom>
              <a:clrTo>
                <a:srgbClr val="FFFFFF">
                  <a:alpha val="100000"/>
                  <a:alpha val="0"/>
                </a:srgbClr>
              </a:clrTo>
            </a:clrChange>
          </a:blip>
          <a:stretch>
            <a:fillRect/>
          </a:stretch>
        </p:blipFill>
        <p:spPr>
          <a:xfrm>
            <a:off x="4157980" y="3616008"/>
            <a:ext cx="497205" cy="497205"/>
          </a:xfrm>
          <a:prstGeom prst="rect">
            <a:avLst/>
          </a:prstGeom>
        </p:spPr>
      </p:pic>
      <p:sp>
        <p:nvSpPr>
          <p:cNvPr id="89" name="圆角矩形 88"/>
          <p:cNvSpPr/>
          <p:nvPr/>
        </p:nvSpPr>
        <p:spPr>
          <a:xfrm>
            <a:off x="501015" y="1973580"/>
            <a:ext cx="1468120" cy="445770"/>
          </a:xfrm>
          <a:prstGeom prst="roundRect">
            <a:avLst>
              <a:gd name="adj" fmla="val 13194"/>
            </a:avLst>
          </a:prstGeom>
          <a:solidFill>
            <a:srgbClr val="2461F5">
              <a:alpha val="8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为客户降本</a:t>
            </a:r>
            <a:endPar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0" name="圆角矩形 89"/>
          <p:cNvSpPr/>
          <p:nvPr/>
        </p:nvSpPr>
        <p:spPr>
          <a:xfrm>
            <a:off x="501015" y="2880995"/>
            <a:ext cx="1468120" cy="445770"/>
          </a:xfrm>
          <a:prstGeom prst="roundRect">
            <a:avLst>
              <a:gd name="adj" fmla="val 13194"/>
            </a:avLst>
          </a:prstGeom>
          <a:solidFill>
            <a:srgbClr val="2461F5">
              <a:alpha val="8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金融</a:t>
            </a:r>
            <a:r>
              <a:rPr lang="en-US" altLang="zh-CN"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a:t>
            </a:r>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服务</a:t>
            </a:r>
            <a:endPar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1" name="燕尾形 90"/>
          <p:cNvSpPr/>
          <p:nvPr/>
        </p:nvSpPr>
        <p:spPr>
          <a:xfrm rot="5400000">
            <a:off x="1180465" y="2505710"/>
            <a:ext cx="320040" cy="288925"/>
          </a:xfrm>
          <a:prstGeom prst="chevron">
            <a:avLst/>
          </a:pr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sp>
        <p:nvSpPr>
          <p:cNvPr id="92" name="圆角矩形 91"/>
          <p:cNvSpPr/>
          <p:nvPr/>
        </p:nvSpPr>
        <p:spPr>
          <a:xfrm>
            <a:off x="2146935" y="1973580"/>
            <a:ext cx="1468120" cy="445770"/>
          </a:xfrm>
          <a:prstGeom prst="roundRect">
            <a:avLst>
              <a:gd name="adj" fmla="val 13194"/>
            </a:avLst>
          </a:prstGeom>
          <a:solidFill>
            <a:srgbClr val="2461F5">
              <a:alpha val="8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为客户提效</a:t>
            </a:r>
            <a:endPar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4" name="圆角矩形 93"/>
          <p:cNvSpPr/>
          <p:nvPr/>
        </p:nvSpPr>
        <p:spPr>
          <a:xfrm>
            <a:off x="2146935" y="2880995"/>
            <a:ext cx="1468120" cy="445770"/>
          </a:xfrm>
          <a:prstGeom prst="roundRect">
            <a:avLst>
              <a:gd name="adj" fmla="val 13194"/>
            </a:avLst>
          </a:prstGeom>
          <a:solidFill>
            <a:srgbClr val="2461F5">
              <a:alpha val="8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AI+</a:t>
            </a:r>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应用</a:t>
            </a:r>
            <a:endPar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5" name="燕尾形 94"/>
          <p:cNvSpPr/>
          <p:nvPr/>
        </p:nvSpPr>
        <p:spPr>
          <a:xfrm rot="5400000">
            <a:off x="2720975" y="2505710"/>
            <a:ext cx="320040" cy="288925"/>
          </a:xfrm>
          <a:prstGeom prst="chevron">
            <a:avLst/>
          </a:pr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sp>
        <p:nvSpPr>
          <p:cNvPr id="96" name="圆角矩形 95"/>
          <p:cNvSpPr/>
          <p:nvPr/>
        </p:nvSpPr>
        <p:spPr>
          <a:xfrm>
            <a:off x="3810000" y="1973580"/>
            <a:ext cx="1468120" cy="445770"/>
          </a:xfrm>
          <a:prstGeom prst="roundRect">
            <a:avLst>
              <a:gd name="adj" fmla="val 13194"/>
            </a:avLst>
          </a:prstGeom>
          <a:solidFill>
            <a:srgbClr val="2461F5">
              <a:alpha val="8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共赢共生</a:t>
            </a:r>
            <a:endPar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7" name="圆角矩形 96"/>
          <p:cNvSpPr/>
          <p:nvPr/>
        </p:nvSpPr>
        <p:spPr>
          <a:xfrm>
            <a:off x="3810000" y="2880995"/>
            <a:ext cx="1468120" cy="445770"/>
          </a:xfrm>
          <a:prstGeom prst="roundRect">
            <a:avLst>
              <a:gd name="adj" fmla="val 13194"/>
            </a:avLst>
          </a:prstGeom>
          <a:solidFill>
            <a:srgbClr val="2461F5">
              <a:alpha val="8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互为伙伴</a:t>
            </a:r>
            <a:endPar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8" name="燕尾形 97"/>
          <p:cNvSpPr/>
          <p:nvPr/>
        </p:nvSpPr>
        <p:spPr>
          <a:xfrm rot="5400000">
            <a:off x="4384040" y="2505710"/>
            <a:ext cx="320040" cy="288925"/>
          </a:xfrm>
          <a:prstGeom prst="chevron">
            <a:avLst/>
          </a:pr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sp>
        <p:nvSpPr>
          <p:cNvPr id="100" name="文本框 99"/>
          <p:cNvSpPr txBox="1"/>
          <p:nvPr/>
        </p:nvSpPr>
        <p:spPr>
          <a:xfrm>
            <a:off x="501015" y="3852545"/>
            <a:ext cx="4393565" cy="368300"/>
          </a:xfrm>
          <a:prstGeom prst="rect">
            <a:avLst/>
          </a:prstGeom>
          <a:noFill/>
        </p:spPr>
        <p:txBody>
          <a:bodyPr wrap="square" rtlCol="0" anchor="t">
            <a:spAutoFit/>
          </a:bodyPr>
          <a:p>
            <a:pPr indent="0" fontAlgn="auto">
              <a:spcBef>
                <a:spcPts val="600"/>
              </a:spcBef>
            </a:pPr>
            <a:r>
              <a:rPr lang="zh-CN" altLang="en-US" dirty="0">
                <a:solidFill>
                  <a:schemeClr val="tx1"/>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多家行业头部伙伴稳定合作持续5年以上</a:t>
            </a:r>
            <a:endPar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微软雅黑" panose="020B0503020204020204" charset="-122"/>
            </a:endParaRPr>
          </a:p>
        </p:txBody>
      </p:sp>
      <p:sp>
        <p:nvSpPr>
          <p:cNvPr id="102" name="文本框 101"/>
          <p:cNvSpPr txBox="1"/>
          <p:nvPr/>
        </p:nvSpPr>
        <p:spPr>
          <a:xfrm>
            <a:off x="501015" y="4392930"/>
            <a:ext cx="4656455" cy="368300"/>
          </a:xfrm>
          <a:prstGeom prst="rect">
            <a:avLst/>
          </a:prstGeom>
          <a:noFill/>
        </p:spPr>
        <p:txBody>
          <a:bodyPr wrap="square" rtlCol="0" anchor="t">
            <a:spAutoFit/>
          </a:bodyPr>
          <a:p>
            <a:pPr indent="0" fontAlgn="auto">
              <a:spcBef>
                <a:spcPts val="600"/>
              </a:spcBef>
            </a:pPr>
            <a:r>
              <a:rPr lang="zh-CN" altLang="en-US">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互联网</a:t>
            </a:r>
            <a:r>
              <a:rPr lang="en-US" altLang="zh-CN">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a:t>
            </a:r>
            <a:r>
              <a:rPr lang="zh-CN" altLang="en-US">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零售</a:t>
            </a:r>
            <a:r>
              <a:rPr lang="en-US" altLang="zh-CN">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a:t>
            </a:r>
            <a:r>
              <a:rPr lang="zh-CN" altLang="en-US">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制造</a:t>
            </a:r>
            <a:r>
              <a:rPr lang="en-US" altLang="zh-CN">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a:t>
            </a:r>
            <a:r>
              <a:rPr lang="zh-CN" altLang="en-US">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教育</a:t>
            </a:r>
            <a:r>
              <a:rPr lang="en-US" altLang="zh-CN">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a:t>
            </a:r>
            <a:r>
              <a:rPr lang="zh-CN" altLang="en-US">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医疗</a:t>
            </a:r>
            <a:r>
              <a:rPr lang="en-US" altLang="zh-CN">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a:t>
            </a:r>
            <a:r>
              <a:rPr lang="zh-CN" altLang="en-US">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金融</a:t>
            </a:r>
            <a:r>
              <a:rPr lang="en-US" altLang="zh-CN">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a:t>
            </a:r>
            <a:r>
              <a:rPr lang="zh-CN" altLang="en-US">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能源等</a:t>
            </a:r>
            <a:endParaRPr lang="zh-CN" altLang="en-US">
              <a:latin typeface="微软雅黑 Light" panose="020B0502040204020203" charset="-122"/>
              <a:ea typeface="微软雅黑 Light" panose="020B0502040204020203" charset="-122"/>
              <a:cs typeface="微软雅黑 Light" panose="020B0502040204020203" charset="-122"/>
              <a:sym typeface="微软雅黑" panose="020B0503020204020204" charset="-122"/>
            </a:endParaRPr>
          </a:p>
        </p:txBody>
      </p:sp>
      <p:sp>
        <p:nvSpPr>
          <p:cNvPr id="106" name="文本框 105"/>
          <p:cNvSpPr txBox="1"/>
          <p:nvPr/>
        </p:nvSpPr>
        <p:spPr>
          <a:xfrm>
            <a:off x="501015" y="4933315"/>
            <a:ext cx="6096000" cy="368300"/>
          </a:xfrm>
          <a:prstGeom prst="rect">
            <a:avLst/>
          </a:prstGeom>
          <a:noFill/>
        </p:spPr>
        <p:txBody>
          <a:bodyPr wrap="square" rtlCol="0" anchor="t">
            <a:spAutoFit/>
          </a:bodyPr>
          <a:p>
            <a:pPr indent="0" fontAlgn="auto">
              <a:spcBef>
                <a:spcPts val="600"/>
              </a:spcBef>
            </a:pPr>
            <a:r>
              <a:rPr lang="zh-CN" altLang="en-US">
                <a:latin typeface="微软雅黑 Light" panose="020B0502040204020203" charset="-122"/>
                <a:ea typeface="微软雅黑 Light" panose="020B0502040204020203" charset="-122"/>
                <a:cs typeface="微软雅黑 Light" panose="020B0502040204020203" charset="-122"/>
                <a:sym typeface="微软雅黑" panose="020B0503020204020204" charset="-122"/>
              </a:rPr>
              <a:t>行业伙伴信赖之选</a:t>
            </a:r>
            <a:endParaRPr lang="zh-CN" altLang="en-US">
              <a:latin typeface="微软雅黑 Light" panose="020B0502040204020203" charset="-122"/>
              <a:ea typeface="微软雅黑 Light" panose="020B0502040204020203" charset="-122"/>
              <a:cs typeface="微软雅黑 Light" panose="020B0502040204020203" charset="-122"/>
              <a:sym typeface="微软雅黑" panose="020B0503020204020204" charset="-122"/>
            </a:endParaRPr>
          </a:p>
        </p:txBody>
      </p:sp>
      <p:sp>
        <p:nvSpPr>
          <p:cNvPr id="117" name="圆角矩形 116"/>
          <p:cNvSpPr/>
          <p:nvPr/>
        </p:nvSpPr>
        <p:spPr>
          <a:xfrm>
            <a:off x="501015" y="5690870"/>
            <a:ext cx="6095365" cy="444500"/>
          </a:xfrm>
          <a:prstGeom prst="roundRect">
            <a:avLst>
              <a:gd name="adj" fmla="val 50000"/>
            </a:avLst>
          </a:prstGeom>
          <a:gradFill>
            <a:gsLst>
              <a:gs pos="0">
                <a:srgbClr val="15BAB1"/>
              </a:gs>
              <a:gs pos="90000">
                <a:srgbClr val="15BAB1">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indent="0" fontAlgn="auto">
              <a:spcBef>
                <a:spcPts val="600"/>
              </a:spcBef>
            </a:pPr>
            <a:r>
              <a:rPr lang="en-US" altLang="zh-CN">
                <a:solidFill>
                  <a:schemeClr val="bg1"/>
                </a:solidFill>
                <a:latin typeface="微软雅黑 Light" panose="020B0502040204020203" charset="-122"/>
                <a:ea typeface="微软雅黑 Light" panose="020B0502040204020203" charset="-122"/>
                <a:cs typeface="微软雅黑 Light" panose="020B0502040204020203" charset="-122"/>
                <a:sym typeface="+mn-ea"/>
              </a:rPr>
              <a:t> 10</a:t>
            </a:r>
            <a:r>
              <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rPr>
              <a:t>年</a:t>
            </a:r>
            <a:r>
              <a:rPr lang="en-US" altLang="zh-CN">
                <a:solidFill>
                  <a:schemeClr val="bg1"/>
                </a:solidFill>
                <a:latin typeface="微软雅黑 Light" panose="020B0502040204020203" charset="-122"/>
                <a:ea typeface="微软雅黑 Light" panose="020B0502040204020203" charset="-122"/>
                <a:cs typeface="微软雅黑 Light" panose="020B0502040204020203" charset="-122"/>
                <a:sym typeface="+mn-ea"/>
              </a:rPr>
              <a:t>历程</a:t>
            </a:r>
            <a:r>
              <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rPr>
              <a:t>，</a:t>
            </a:r>
            <a:r>
              <a:rPr lang="en-US" altLang="zh-CN">
                <a:solidFill>
                  <a:schemeClr val="bg1"/>
                </a:solidFill>
                <a:latin typeface="微软雅黑 Light" panose="020B0502040204020203" charset="-122"/>
                <a:ea typeface="微软雅黑 Light" panose="020B0502040204020203" charset="-122"/>
                <a:cs typeface="微软雅黑 Light" panose="020B0502040204020203" charset="-122"/>
                <a:sym typeface="+mn-ea"/>
              </a:rPr>
              <a:t>服务全国3000+</a:t>
            </a:r>
            <a:r>
              <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rPr>
              <a:t>合作伙伴</a:t>
            </a:r>
            <a:endPar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Tree>
    <p:custDataLst>
      <p:tags r:id="rId49"/>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a:stretch>
            <a:fillRect/>
          </a:stretch>
        </p:blipFill>
        <p:spPr>
          <a:xfrm>
            <a:off x="501015" y="447040"/>
            <a:ext cx="3532505" cy="1041400"/>
          </a:xfrm>
          <a:prstGeom prst="rect">
            <a:avLst/>
          </a:prstGeom>
          <a:effectLst>
            <a:reflection blurRad="152400" stA="20000" endA="300" endPos="42000" dir="5400000" sy="-100000" algn="bl" rotWithShape="0"/>
          </a:effectLst>
        </p:spPr>
      </p:pic>
      <p:grpSp>
        <p:nvGrpSpPr>
          <p:cNvPr id="32" name="组合 31"/>
          <p:cNvGrpSpPr/>
          <p:nvPr/>
        </p:nvGrpSpPr>
        <p:grpSpPr>
          <a:xfrm rot="0">
            <a:off x="7828915" y="1040765"/>
            <a:ext cx="1935480" cy="1502410"/>
            <a:chOff x="3686" y="5704"/>
            <a:chExt cx="4119" cy="3197"/>
          </a:xfrm>
          <a:effectLst>
            <a:reflection blurRad="190500" stA="10000" endA="300" endPos="20000" dir="5400000" sy="-100000" algn="bl" rotWithShape="0"/>
          </a:effectLst>
        </p:grpSpPr>
        <p:pic>
          <p:nvPicPr>
            <p:cNvPr id="34" name="图片 33" descr="ccbab89d846c452b299f7fec1aed888819acf5116a97-N6RZWz"/>
            <p:cNvPicPr>
              <a:picLocks noChangeAspect="1"/>
            </p:cNvPicPr>
            <p:nvPr>
              <p:custDataLst>
                <p:tags r:id="rId2"/>
              </p:custDataLst>
            </p:nvPr>
          </p:nvPicPr>
          <p:blipFill>
            <a:blip r:embed="rId3"/>
            <a:srcRect/>
            <a:stretch>
              <a:fillRect/>
            </a:stretch>
          </p:blipFill>
          <p:spPr>
            <a:xfrm rot="5400000" flipV="1">
              <a:off x="4147" y="5243"/>
              <a:ext cx="3197" cy="4119"/>
            </a:xfrm>
            <a:prstGeom prst="rect">
              <a:avLst/>
            </a:prstGeom>
            <a:effectLst>
              <a:reflection blurRad="139700" stA="33000" endA="300" endPos="20000" dir="5400000" sy="-100000" algn="bl" rotWithShape="0"/>
            </a:effectLst>
          </p:spPr>
        </p:pic>
        <p:pic>
          <p:nvPicPr>
            <p:cNvPr id="35" name="图片 34" descr="高新企业"/>
            <p:cNvPicPr>
              <a:picLocks noChangeAspect="1"/>
            </p:cNvPicPr>
            <p:nvPr/>
          </p:nvPicPr>
          <p:blipFill>
            <a:blip r:embed="rId4">
              <a:lum contrast="-6000"/>
            </a:blip>
            <a:srcRect/>
            <a:stretch>
              <a:fillRect/>
            </a:stretch>
          </p:blipFill>
          <p:spPr>
            <a:xfrm>
              <a:off x="4113" y="6159"/>
              <a:ext cx="3265" cy="2288"/>
            </a:xfrm>
            <a:prstGeom prst="rect">
              <a:avLst/>
            </a:prstGeom>
          </p:spPr>
        </p:pic>
      </p:grpSp>
      <p:grpSp>
        <p:nvGrpSpPr>
          <p:cNvPr id="36" name="组合 35"/>
          <p:cNvGrpSpPr/>
          <p:nvPr/>
        </p:nvGrpSpPr>
        <p:grpSpPr>
          <a:xfrm rot="0">
            <a:off x="9926320" y="223520"/>
            <a:ext cx="2066290" cy="2662555"/>
            <a:chOff x="7866" y="4590"/>
            <a:chExt cx="3346" cy="4311"/>
          </a:xfrm>
          <a:effectLst>
            <a:reflection blurRad="190500" stA="10000" endPos="20000" dir="5400000" sy="-100000" algn="bl" rotWithShape="0"/>
          </a:effectLst>
        </p:grpSpPr>
        <p:pic>
          <p:nvPicPr>
            <p:cNvPr id="37" name="图片 36" descr="ccbab89d846c452b299f7fec1aed888819acf5116a97-N6RZWz"/>
            <p:cNvPicPr>
              <a:picLocks noChangeAspect="1"/>
            </p:cNvPicPr>
            <p:nvPr>
              <p:custDataLst>
                <p:tags r:id="rId5"/>
              </p:custDataLst>
            </p:nvPr>
          </p:nvPicPr>
          <p:blipFill>
            <a:blip r:embed="rId3"/>
            <a:srcRect/>
            <a:stretch>
              <a:fillRect/>
            </a:stretch>
          </p:blipFill>
          <p:spPr>
            <a:xfrm>
              <a:off x="7866" y="4590"/>
              <a:ext cx="3346" cy="4311"/>
            </a:xfrm>
            <a:prstGeom prst="rect">
              <a:avLst/>
            </a:prstGeom>
            <a:effectLst>
              <a:reflection blurRad="190500" stA="32000" endA="300" endPos="20000" dir="5400000" sy="-100000" algn="bl" rotWithShape="0"/>
            </a:effectLst>
          </p:spPr>
        </p:pic>
        <p:pic>
          <p:nvPicPr>
            <p:cNvPr id="38" name="图片 37" descr="CMMI3"/>
            <p:cNvPicPr>
              <a:picLocks noChangeAspect="1"/>
            </p:cNvPicPr>
            <p:nvPr/>
          </p:nvPicPr>
          <p:blipFill>
            <a:blip r:embed="rId6"/>
            <a:srcRect/>
            <a:stretch>
              <a:fillRect/>
            </a:stretch>
          </p:blipFill>
          <p:spPr>
            <a:xfrm>
              <a:off x="8312" y="5084"/>
              <a:ext cx="2455" cy="3323"/>
            </a:xfrm>
            <a:prstGeom prst="rect">
              <a:avLst/>
            </a:prstGeom>
          </p:spPr>
        </p:pic>
      </p:grpSp>
      <p:grpSp>
        <p:nvGrpSpPr>
          <p:cNvPr id="39" name="组合 38"/>
          <p:cNvGrpSpPr/>
          <p:nvPr/>
        </p:nvGrpSpPr>
        <p:grpSpPr>
          <a:xfrm rot="0">
            <a:off x="9926320" y="2956560"/>
            <a:ext cx="2066925" cy="1604010"/>
            <a:chOff x="11267" y="5704"/>
            <a:chExt cx="4177" cy="3242"/>
          </a:xfrm>
          <a:effectLst>
            <a:reflection blurRad="127000" stA="30000" endA="300" endPos="30000" dir="5400000" sy="-100000" algn="bl" rotWithShape="0"/>
          </a:effectLst>
        </p:grpSpPr>
        <p:pic>
          <p:nvPicPr>
            <p:cNvPr id="40" name="图片 39" descr="ccbab89d846c452b299f7fec1aed888819acf5116a97-N6RZWz"/>
            <p:cNvPicPr>
              <a:picLocks noChangeAspect="1"/>
            </p:cNvPicPr>
            <p:nvPr>
              <p:custDataLst>
                <p:tags r:id="rId7"/>
              </p:custDataLst>
            </p:nvPr>
          </p:nvPicPr>
          <p:blipFill>
            <a:blip r:embed="rId3"/>
            <a:srcRect/>
            <a:stretch>
              <a:fillRect/>
            </a:stretch>
          </p:blipFill>
          <p:spPr>
            <a:xfrm rot="5400000" flipV="1">
              <a:off x="11734" y="5236"/>
              <a:ext cx="3242" cy="4177"/>
            </a:xfrm>
            <a:prstGeom prst="rect">
              <a:avLst/>
            </a:prstGeom>
            <a:effectLst>
              <a:reflection stA="10000" endA="300" endPos="17000" dir="5400000" sy="-100000" algn="bl" rotWithShape="0"/>
            </a:effectLst>
          </p:spPr>
        </p:pic>
        <p:pic>
          <p:nvPicPr>
            <p:cNvPr id="41" name="图片 40" descr="专精特新"/>
            <p:cNvPicPr>
              <a:picLocks noChangeAspect="1"/>
            </p:cNvPicPr>
            <p:nvPr/>
          </p:nvPicPr>
          <p:blipFill>
            <a:blip r:embed="rId8">
              <a:alphaModFix amt="96000"/>
            </a:blip>
            <a:srcRect/>
            <a:stretch>
              <a:fillRect/>
            </a:stretch>
          </p:blipFill>
          <p:spPr>
            <a:xfrm>
              <a:off x="11676" y="6164"/>
              <a:ext cx="3359" cy="2321"/>
            </a:xfrm>
            <a:prstGeom prst="rect">
              <a:avLst/>
            </a:prstGeom>
          </p:spPr>
        </p:pic>
      </p:grpSp>
      <p:grpSp>
        <p:nvGrpSpPr>
          <p:cNvPr id="42" name="组合 41"/>
          <p:cNvGrpSpPr/>
          <p:nvPr/>
        </p:nvGrpSpPr>
        <p:grpSpPr>
          <a:xfrm rot="0">
            <a:off x="7828915" y="2936240"/>
            <a:ext cx="1935480" cy="2494280"/>
            <a:chOff x="15498" y="4590"/>
            <a:chExt cx="3346" cy="4311"/>
          </a:xfrm>
          <a:effectLst>
            <a:reflection blurRad="127000" stA="30000" endA="300" endPos="30000" dir="5400000" sy="-100000" algn="bl" rotWithShape="0"/>
          </a:effectLst>
        </p:grpSpPr>
        <p:pic>
          <p:nvPicPr>
            <p:cNvPr id="43" name="图片 42" descr="ccbab89d846c452b299f7fec1aed888819acf5116a97-N6RZWz"/>
            <p:cNvPicPr>
              <a:picLocks noChangeAspect="1"/>
            </p:cNvPicPr>
            <p:nvPr>
              <p:custDataLst>
                <p:tags r:id="rId9"/>
              </p:custDataLst>
            </p:nvPr>
          </p:nvPicPr>
          <p:blipFill>
            <a:blip r:embed="rId3"/>
            <a:srcRect/>
            <a:stretch>
              <a:fillRect/>
            </a:stretch>
          </p:blipFill>
          <p:spPr>
            <a:xfrm>
              <a:off x="15498" y="4590"/>
              <a:ext cx="3346" cy="4311"/>
            </a:xfrm>
            <a:prstGeom prst="rect">
              <a:avLst/>
            </a:prstGeom>
            <a:effectLst>
              <a:reflection blurRad="139700" stA="10000" endA="300" endPos="15000" dir="5400000" sy="-100000" algn="bl" rotWithShape="0"/>
            </a:effectLst>
          </p:spPr>
        </p:pic>
        <p:pic>
          <p:nvPicPr>
            <p:cNvPr id="44" name="图片 43" descr="ISO45001_00"/>
            <p:cNvPicPr>
              <a:picLocks noChangeAspect="1"/>
            </p:cNvPicPr>
            <p:nvPr/>
          </p:nvPicPr>
          <p:blipFill>
            <a:blip r:embed="rId10">
              <a:alphaModFix amt="95000"/>
            </a:blip>
            <a:stretch>
              <a:fillRect/>
            </a:stretch>
          </p:blipFill>
          <p:spPr>
            <a:xfrm>
              <a:off x="15973" y="5055"/>
              <a:ext cx="2396" cy="3382"/>
            </a:xfrm>
            <a:prstGeom prst="rect">
              <a:avLst/>
            </a:prstGeom>
          </p:spPr>
        </p:pic>
      </p:grpSp>
      <p:grpSp>
        <p:nvGrpSpPr>
          <p:cNvPr id="47" name="组合 46"/>
          <p:cNvGrpSpPr/>
          <p:nvPr/>
        </p:nvGrpSpPr>
        <p:grpSpPr>
          <a:xfrm rot="0">
            <a:off x="9926320" y="5002530"/>
            <a:ext cx="2066290" cy="1604010"/>
            <a:chOff x="14821" y="6810"/>
            <a:chExt cx="3994" cy="3100"/>
          </a:xfrm>
        </p:grpSpPr>
        <p:pic>
          <p:nvPicPr>
            <p:cNvPr id="45" name="图片 44" descr="ccbab89d846c452b299f7fec1aed888819acf5116a97-N6RZWz"/>
            <p:cNvPicPr>
              <a:picLocks noChangeAspect="1"/>
            </p:cNvPicPr>
            <p:nvPr>
              <p:custDataLst>
                <p:tags r:id="rId11"/>
              </p:custDataLst>
            </p:nvPr>
          </p:nvPicPr>
          <p:blipFill>
            <a:blip r:embed="rId3"/>
            <a:srcRect/>
            <a:stretch>
              <a:fillRect/>
            </a:stretch>
          </p:blipFill>
          <p:spPr>
            <a:xfrm rot="5400000" flipV="1">
              <a:off x="15268" y="6363"/>
              <a:ext cx="3100" cy="3994"/>
            </a:xfrm>
            <a:prstGeom prst="rect">
              <a:avLst/>
            </a:prstGeom>
            <a:effectLst>
              <a:reflection blurRad="114300" stA="30000" endA="300" endPos="20000" dir="5400000" sy="-100000" algn="bl" rotWithShape="0"/>
            </a:effectLst>
          </p:spPr>
        </p:pic>
        <p:pic>
          <p:nvPicPr>
            <p:cNvPr id="46" name="图片 45" descr="微信图片_20250228164631"/>
            <p:cNvPicPr>
              <a:picLocks noChangeAspect="1"/>
            </p:cNvPicPr>
            <p:nvPr>
              <p:custDataLst>
                <p:tags r:id="rId12"/>
              </p:custDataLst>
            </p:nvPr>
          </p:nvPicPr>
          <p:blipFill>
            <a:blip r:embed="rId13">
              <a:alphaModFix amt="96000"/>
              <a:lum bright="18000" contrast="6000"/>
            </a:blip>
            <a:stretch>
              <a:fillRect/>
            </a:stretch>
          </p:blipFill>
          <p:spPr>
            <a:xfrm>
              <a:off x="15219" y="7264"/>
              <a:ext cx="3221" cy="2181"/>
            </a:xfrm>
            <a:prstGeom prst="rect">
              <a:avLst/>
            </a:prstGeom>
          </p:spPr>
        </p:pic>
      </p:grpSp>
      <p:cxnSp>
        <p:nvCxnSpPr>
          <p:cNvPr id="48" name="直接连接符 47"/>
          <p:cNvCxnSpPr/>
          <p:nvPr/>
        </p:nvCxnSpPr>
        <p:spPr>
          <a:xfrm>
            <a:off x="7869555" y="2585720"/>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7882255" y="2582545"/>
            <a:ext cx="1725295" cy="275590"/>
          </a:xfrm>
          <a:prstGeom prst="rect">
            <a:avLst/>
          </a:prstGeom>
          <a:noFill/>
        </p:spPr>
        <p:txBody>
          <a:bodyPr wrap="square" rtlCol="0">
            <a:spAutoFit/>
          </a:bodyPr>
          <a:p>
            <a:r>
              <a:rPr lang="zh-CN" altLang="en-US" sz="1200">
                <a:solidFill>
                  <a:schemeClr val="tx1"/>
                </a:solidFill>
                <a:latin typeface="微软雅黑 Light" panose="020B0502040204020203" charset="-122"/>
                <a:ea typeface="微软雅黑 Light" panose="020B0502040204020203" charset="-122"/>
              </a:rPr>
              <a:t>高新技术企业</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52" name="直接连接符 51"/>
          <p:cNvCxnSpPr/>
          <p:nvPr/>
        </p:nvCxnSpPr>
        <p:spPr>
          <a:xfrm>
            <a:off x="7882255" y="5513070"/>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53" name="文本框 52"/>
          <p:cNvSpPr txBox="1"/>
          <p:nvPr/>
        </p:nvSpPr>
        <p:spPr>
          <a:xfrm>
            <a:off x="7894955" y="5509895"/>
            <a:ext cx="1725295" cy="275590"/>
          </a:xfrm>
          <a:prstGeom prst="rect">
            <a:avLst/>
          </a:prstGeom>
          <a:noFill/>
        </p:spPr>
        <p:txBody>
          <a:bodyPr wrap="square" rtlCol="0">
            <a:spAutoFit/>
          </a:bodyPr>
          <a:p>
            <a:r>
              <a:rPr lang="zh-CN" altLang="en-US" sz="1200">
                <a:solidFill>
                  <a:schemeClr val="tx1"/>
                </a:solidFill>
                <a:latin typeface="微软雅黑 Light" panose="020B0502040204020203" charset="-122"/>
                <a:ea typeface="微软雅黑 Light" panose="020B0502040204020203" charset="-122"/>
              </a:rPr>
              <a:t>多项</a:t>
            </a:r>
            <a:r>
              <a:rPr lang="en-US" altLang="zh-CN" sz="1200">
                <a:solidFill>
                  <a:schemeClr val="tx1"/>
                </a:solidFill>
                <a:latin typeface="微软雅黑 Light" panose="020B0502040204020203" charset="-122"/>
                <a:ea typeface="微软雅黑 Light" panose="020B0502040204020203" charset="-122"/>
              </a:rPr>
              <a:t>ISO</a:t>
            </a:r>
            <a:r>
              <a:rPr lang="zh-CN" altLang="en-US" sz="1200">
                <a:solidFill>
                  <a:schemeClr val="tx1"/>
                </a:solidFill>
                <a:latin typeface="微软雅黑 Light" panose="020B0502040204020203" charset="-122"/>
                <a:ea typeface="微软雅黑 Light" panose="020B0502040204020203" charset="-122"/>
              </a:rPr>
              <a:t>管理体系认证</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57" name="直接连接符 56"/>
          <p:cNvCxnSpPr/>
          <p:nvPr/>
        </p:nvCxnSpPr>
        <p:spPr>
          <a:xfrm>
            <a:off x="9727565" y="6249670"/>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58" name="文本框 57"/>
          <p:cNvSpPr txBox="1"/>
          <p:nvPr/>
        </p:nvSpPr>
        <p:spPr>
          <a:xfrm>
            <a:off x="8495030" y="6246495"/>
            <a:ext cx="1216660" cy="275590"/>
          </a:xfrm>
          <a:prstGeom prst="rect">
            <a:avLst/>
          </a:prstGeom>
          <a:noFill/>
        </p:spPr>
        <p:txBody>
          <a:bodyPr wrap="square" rtlCol="0">
            <a:spAutoFit/>
          </a:bodyPr>
          <a:p>
            <a:pPr algn="r"/>
            <a:r>
              <a:rPr lang="zh-CN" altLang="en-US" sz="1200">
                <a:solidFill>
                  <a:schemeClr val="tx1"/>
                </a:solidFill>
                <a:latin typeface="微软雅黑 Light" panose="020B0502040204020203" charset="-122"/>
                <a:ea typeface="微软雅黑 Light" panose="020B0502040204020203" charset="-122"/>
              </a:rPr>
              <a:t>江苏瞪羚企业</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61" name="直接连接符 60"/>
          <p:cNvCxnSpPr/>
          <p:nvPr/>
        </p:nvCxnSpPr>
        <p:spPr>
          <a:xfrm>
            <a:off x="9974580" y="4628515"/>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62" name="文本框 61"/>
          <p:cNvSpPr txBox="1"/>
          <p:nvPr/>
        </p:nvSpPr>
        <p:spPr>
          <a:xfrm>
            <a:off x="9987280" y="4625340"/>
            <a:ext cx="1725295" cy="275590"/>
          </a:xfrm>
          <a:prstGeom prst="rect">
            <a:avLst/>
          </a:prstGeom>
          <a:noFill/>
        </p:spPr>
        <p:txBody>
          <a:bodyPr wrap="square" rtlCol="0">
            <a:spAutoFit/>
          </a:bodyPr>
          <a:p>
            <a:r>
              <a:rPr lang="zh-CN" altLang="en-US" sz="1200">
                <a:solidFill>
                  <a:schemeClr val="tx1"/>
                </a:solidFill>
                <a:latin typeface="微软雅黑 Light" panose="020B0502040204020203" charset="-122"/>
                <a:ea typeface="微软雅黑 Light" panose="020B0502040204020203" charset="-122"/>
              </a:rPr>
              <a:t>江苏省专精特新企业</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65" name="直接连接符 64"/>
          <p:cNvCxnSpPr/>
          <p:nvPr/>
        </p:nvCxnSpPr>
        <p:spPr>
          <a:xfrm>
            <a:off x="9740265" y="351155"/>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66" name="文本框 65"/>
          <p:cNvSpPr txBox="1"/>
          <p:nvPr/>
        </p:nvSpPr>
        <p:spPr>
          <a:xfrm>
            <a:off x="8507730" y="347980"/>
            <a:ext cx="1216660" cy="275590"/>
          </a:xfrm>
          <a:prstGeom prst="rect">
            <a:avLst/>
          </a:prstGeom>
          <a:noFill/>
        </p:spPr>
        <p:txBody>
          <a:bodyPr wrap="square" rtlCol="0">
            <a:spAutoFit/>
          </a:bodyPr>
          <a:p>
            <a:pPr algn="r"/>
            <a:r>
              <a:rPr lang="en-US" altLang="zh-CN" sz="1200">
                <a:solidFill>
                  <a:schemeClr val="tx1"/>
                </a:solidFill>
                <a:latin typeface="微软雅黑 Light" panose="020B0502040204020203" charset="-122"/>
                <a:ea typeface="微软雅黑 Light" panose="020B0502040204020203" charset="-122"/>
              </a:rPr>
              <a:t>CMMI</a:t>
            </a:r>
            <a:r>
              <a:rPr lang="zh-CN" altLang="en-US" sz="1200">
                <a:solidFill>
                  <a:schemeClr val="tx1"/>
                </a:solidFill>
                <a:latin typeface="微软雅黑 Light" panose="020B0502040204020203" charset="-122"/>
                <a:ea typeface="微软雅黑 Light" panose="020B0502040204020203" charset="-122"/>
              </a:rPr>
              <a:t>三级认证</a:t>
            </a:r>
            <a:endParaRPr lang="zh-CN" altLang="en-US" sz="1200">
              <a:solidFill>
                <a:schemeClr val="tx1"/>
              </a:solidFill>
              <a:latin typeface="微软雅黑 Light" panose="020B0502040204020203" charset="-122"/>
              <a:ea typeface="微软雅黑 Light" panose="020B0502040204020203" charset="-122"/>
            </a:endParaRPr>
          </a:p>
        </p:txBody>
      </p:sp>
      <p:sp>
        <p:nvSpPr>
          <p:cNvPr id="3" name="文本框 2"/>
          <p:cNvSpPr txBox="1"/>
          <p:nvPr/>
        </p:nvSpPr>
        <p:spPr>
          <a:xfrm>
            <a:off x="508635" y="5447665"/>
            <a:ext cx="6096000" cy="699135"/>
          </a:xfrm>
          <a:prstGeom prst="rect">
            <a:avLst/>
          </a:prstGeom>
          <a:noFill/>
        </p:spPr>
        <p:txBody>
          <a:bodyPr wrap="square" rtlCol="0" anchor="t">
            <a:spAutoFit/>
          </a:bodyPr>
          <a:p>
            <a:pPr lvl="0" algn="l">
              <a:buClrTx/>
              <a:buSzTx/>
              <a:buFontTx/>
            </a:pPr>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以技术创新驱动商业进化，</a:t>
            </a:r>
            <a:r>
              <a:rPr lang="zh-CN" altLang="en-US" dirty="0">
                <a:solidFill>
                  <a:schemeClr val="tx1"/>
                </a:solidFill>
                <a:latin typeface="微软雅黑 Light" panose="020B0502040204020203" charset="-122"/>
                <a:ea typeface="微软雅黑 Light" panose="020B0502040204020203" charset="-122"/>
                <a:cs typeface="微软雅黑 Light" panose="020B0502040204020203" charset="-122"/>
                <a:sym typeface="+mn-ea"/>
              </a:rPr>
              <a:t>永葆企业生命力</a:t>
            </a:r>
            <a:endPar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endParaRPr>
          </a:p>
          <a:p>
            <a:pPr lvl="0" indent="0" algn="just" fontAlgn="auto">
              <a:lnSpc>
                <a:spcPts val="1980"/>
              </a:lnSpc>
              <a:spcBef>
                <a:spcPts val="600"/>
              </a:spcBef>
            </a:pPr>
            <a:r>
              <a:rPr lang="zh-CN" altLang="en-US" spc="130" dirty="0">
                <a:solidFill>
                  <a:schemeClr val="tx1"/>
                </a:solidFill>
                <a:latin typeface="微软雅黑 Light" panose="020B0502040204020203" charset="-122"/>
                <a:ea typeface="微软雅黑 Light" panose="020B0502040204020203" charset="-122"/>
                <a:cs typeface="微软雅黑 Light" panose="020B0502040204020203" charset="-122"/>
                <a:sym typeface="+mn-ea"/>
              </a:rPr>
              <a:t>在同质化的软件服务市场中构建属于自身的核心竞争力</a:t>
            </a:r>
            <a:endParaRPr lang="zh-CN" altLang="en-US" spc="130" dirty="0">
              <a:solidFill>
                <a:schemeClr val="tx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4" name="椭圆 3"/>
          <p:cNvSpPr/>
          <p:nvPr/>
        </p:nvSpPr>
        <p:spPr>
          <a:xfrm>
            <a:off x="806133" y="1686560"/>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文本框 5"/>
          <p:cNvSpPr txBox="1"/>
          <p:nvPr/>
        </p:nvSpPr>
        <p:spPr>
          <a:xfrm>
            <a:off x="771208" y="1988820"/>
            <a:ext cx="1301115" cy="645160"/>
          </a:xfrm>
          <a:prstGeom prst="rect">
            <a:avLst/>
          </a:prstGeom>
          <a:noFill/>
          <a:effectLst/>
        </p:spPr>
        <p:txBody>
          <a:bodyPr wrap="square" rtlCol="0" anchor="t">
            <a:spAutoFit/>
          </a:bodyPr>
          <a:p>
            <a:pPr algn="ctr"/>
            <a:r>
              <a:rPr 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78%</a:t>
            </a:r>
            <a:endParaRPr lang="en-US"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文本框 15"/>
          <p:cNvSpPr txBox="1"/>
          <p:nvPr/>
        </p:nvSpPr>
        <p:spPr>
          <a:xfrm>
            <a:off x="501015" y="3014980"/>
            <a:ext cx="1841500" cy="306705"/>
          </a:xfrm>
          <a:prstGeom prst="rect">
            <a:avLst/>
          </a:prstGeom>
          <a:noFill/>
        </p:spPr>
        <p:txBody>
          <a:bodyPr wrap="square" rtlCol="0" anchor="t">
            <a:spAutoFit/>
          </a:bodyPr>
          <a:p>
            <a:pPr algn="ctr"/>
            <a:r>
              <a:rPr lang="zh-CN" sz="1400">
                <a:solidFill>
                  <a:schemeClr val="tx1">
                    <a:lumMod val="85000"/>
                    <a:lumOff val="15000"/>
                  </a:schemeClr>
                </a:solidFill>
                <a:latin typeface="+mj-ea"/>
                <a:ea typeface="+mj-ea"/>
                <a:cs typeface="微软雅黑 Light" panose="020B0502040204020203" charset="-122"/>
                <a:sym typeface="+mn-ea"/>
              </a:rPr>
              <a:t>技术人才团队占比</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17" name="椭圆 16"/>
          <p:cNvSpPr/>
          <p:nvPr/>
        </p:nvSpPr>
        <p:spPr>
          <a:xfrm>
            <a:off x="2831148" y="1686560"/>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文本框 17"/>
          <p:cNvSpPr txBox="1"/>
          <p:nvPr/>
        </p:nvSpPr>
        <p:spPr>
          <a:xfrm>
            <a:off x="2796223" y="1988820"/>
            <a:ext cx="1301115" cy="645160"/>
          </a:xfrm>
          <a:prstGeom prst="rect">
            <a:avLst/>
          </a:prstGeom>
          <a:noFill/>
          <a:effectLst/>
        </p:spPr>
        <p:txBody>
          <a:bodyPr wrap="square" rtlCol="0" anchor="t">
            <a:spAutoFit/>
          </a:bodyPr>
          <a:p>
            <a:pPr algn="ctr"/>
            <a:r>
              <a:rPr lang="en-US" altLang="zh-CN"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49</a:t>
            </a:r>
            <a:r>
              <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类</a:t>
            </a:r>
            <a:endPar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文本框 18"/>
          <p:cNvSpPr txBox="1"/>
          <p:nvPr/>
        </p:nvSpPr>
        <p:spPr>
          <a:xfrm>
            <a:off x="2526030" y="3014980"/>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技术研发岗人才覆盖</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20" name="椭圆 19"/>
          <p:cNvSpPr/>
          <p:nvPr/>
        </p:nvSpPr>
        <p:spPr>
          <a:xfrm>
            <a:off x="4856163" y="1684020"/>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文本框 20"/>
          <p:cNvSpPr txBox="1"/>
          <p:nvPr/>
        </p:nvSpPr>
        <p:spPr>
          <a:xfrm>
            <a:off x="4821238" y="1986280"/>
            <a:ext cx="1301115" cy="645160"/>
          </a:xfrm>
          <a:prstGeom prst="rect">
            <a:avLst/>
          </a:prstGeom>
          <a:noFill/>
          <a:effectLst/>
        </p:spPr>
        <p:txBody>
          <a:bodyPr wrap="square" rtlCol="0" anchor="t">
            <a:spAutoFit/>
          </a:bodyPr>
          <a:p>
            <a:pPr algn="ctr"/>
            <a:r>
              <a:rPr 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30%</a:t>
            </a:r>
            <a:endParaRPr lang="en-US"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文本框 21"/>
          <p:cNvSpPr txBox="1"/>
          <p:nvPr/>
        </p:nvSpPr>
        <p:spPr>
          <a:xfrm>
            <a:off x="4551045" y="3012440"/>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研发投入同比增长</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26" name="椭圆 25"/>
          <p:cNvSpPr/>
          <p:nvPr/>
        </p:nvSpPr>
        <p:spPr>
          <a:xfrm>
            <a:off x="806133" y="3400425"/>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文本框 28"/>
          <p:cNvSpPr txBox="1"/>
          <p:nvPr/>
        </p:nvSpPr>
        <p:spPr>
          <a:xfrm>
            <a:off x="771208" y="3702685"/>
            <a:ext cx="1301115" cy="645160"/>
          </a:xfrm>
          <a:prstGeom prst="rect">
            <a:avLst/>
          </a:prstGeom>
          <a:noFill/>
          <a:effectLst/>
        </p:spPr>
        <p:txBody>
          <a:bodyPr wrap="square" rtlCol="0" anchor="t">
            <a:spAutoFit/>
          </a:bodyPr>
          <a:p>
            <a:pPr algn="ctr"/>
            <a:r>
              <a:rPr lang="en-US" altLang="zh-CN"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12</a:t>
            </a:r>
            <a:r>
              <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项</a:t>
            </a:r>
            <a:endPar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0" name="文本框 29"/>
          <p:cNvSpPr txBox="1"/>
          <p:nvPr/>
        </p:nvSpPr>
        <p:spPr>
          <a:xfrm>
            <a:off x="501015" y="4728845"/>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发明专利认证</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31" name="椭圆 30"/>
          <p:cNvSpPr/>
          <p:nvPr/>
        </p:nvSpPr>
        <p:spPr>
          <a:xfrm>
            <a:off x="2831148" y="3397885"/>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2796223" y="3700145"/>
            <a:ext cx="1301115" cy="645160"/>
          </a:xfrm>
          <a:prstGeom prst="rect">
            <a:avLst/>
          </a:prstGeom>
          <a:noFill/>
          <a:effectLst/>
        </p:spPr>
        <p:txBody>
          <a:bodyPr wrap="square" rtlCol="0" anchor="t">
            <a:spAutoFit/>
          </a:bodyPr>
          <a:p>
            <a:pPr algn="ctr"/>
            <a:r>
              <a:rPr lang="en-US" altLang="zh-CN"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88</a:t>
            </a:r>
            <a:r>
              <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项</a:t>
            </a:r>
            <a:endPar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4" name="文本框 53"/>
          <p:cNvSpPr txBox="1"/>
          <p:nvPr/>
        </p:nvSpPr>
        <p:spPr>
          <a:xfrm>
            <a:off x="2526030" y="4726305"/>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软件著作权</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Tree>
    <p:custDataLst>
      <p:tags r:id="rId1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6"/>
          <p:cNvPicPr>
            <a:picLocks noChangeAspect="1"/>
          </p:cNvPicPr>
          <p:nvPr/>
        </p:nvPicPr>
        <p:blipFill>
          <a:blip r:embed="rId1">
            <a:alphaModFix amt="60000"/>
          </a:blip>
          <a:stretch>
            <a:fillRect/>
          </a:stretch>
        </p:blipFill>
        <p:spPr>
          <a:xfrm>
            <a:off x="3621405" y="297815"/>
            <a:ext cx="8314055" cy="6677025"/>
          </a:xfrm>
          <a:prstGeom prst="rect">
            <a:avLst/>
          </a:prstGeom>
        </p:spPr>
      </p:pic>
      <p:pic>
        <p:nvPicPr>
          <p:cNvPr id="2" name="图片 1"/>
          <p:cNvPicPr>
            <a:picLocks noChangeAspect="1"/>
          </p:cNvPicPr>
          <p:nvPr/>
        </p:nvPicPr>
        <p:blipFill>
          <a:blip r:embed="rId2"/>
          <a:srcRect/>
          <a:stretch>
            <a:fillRect/>
          </a:stretch>
        </p:blipFill>
        <p:spPr>
          <a:xfrm>
            <a:off x="501015" y="447040"/>
            <a:ext cx="3526790" cy="1035685"/>
          </a:xfrm>
          <a:prstGeom prst="rect">
            <a:avLst/>
          </a:prstGeom>
          <a:effectLst>
            <a:reflection blurRad="152400" stA="20000" endPos="42000" dir="5400000" sy="-100000" algn="bl" rotWithShape="0"/>
          </a:effectLst>
        </p:spPr>
      </p:pic>
      <p:sp>
        <p:nvSpPr>
          <p:cNvPr id="141" name="文本框 140"/>
          <p:cNvSpPr txBox="1"/>
          <p:nvPr/>
        </p:nvSpPr>
        <p:spPr>
          <a:xfrm>
            <a:off x="910590" y="4354830"/>
            <a:ext cx="4373245" cy="929640"/>
          </a:xfrm>
          <a:prstGeom prst="rect">
            <a:avLst/>
          </a:prstGeom>
          <a:noFill/>
        </p:spPr>
        <p:txBody>
          <a:bodyPr wrap="square" rtlCol="0" anchor="t">
            <a:spAutoFit/>
          </a:bodyPr>
          <a:p>
            <a:pPr marL="285750" lvl="0" indent="-285750" algn="just" fontAlgn="auto">
              <a:lnSpc>
                <a:spcPts val="19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全国部署</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16</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大本地化服务团队</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just" fontAlgn="auto">
              <a:lnSpc>
                <a:spcPts val="1980"/>
              </a:lnSpc>
              <a:spcBef>
                <a:spcPts val="600"/>
              </a:spcBef>
              <a:buFont typeface="Arial" panose="020B0604020202090204" pitchFamily="34" charset="0"/>
              <a:buChar char="•"/>
            </a:pP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南京</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北京</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杭州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上海</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广州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深圳</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合肥</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天津</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苏州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成都</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重庆</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贵阳</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郑州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武汉</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西安</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长沙</a:t>
            </a:r>
            <a:endParaRPr lang="zh-CN" altLang="en-US" sz="1400" dirty="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endParaRPr>
          </a:p>
        </p:txBody>
      </p:sp>
      <p:sp>
        <p:nvSpPr>
          <p:cNvPr id="51" name="文本框 50"/>
          <p:cNvSpPr txBox="1"/>
          <p:nvPr/>
        </p:nvSpPr>
        <p:spPr>
          <a:xfrm>
            <a:off x="910590" y="2171065"/>
            <a:ext cx="5250180" cy="398780"/>
          </a:xfrm>
          <a:prstGeom prst="rect">
            <a:avLst/>
          </a:prstGeom>
          <a:noFill/>
        </p:spPr>
        <p:txBody>
          <a:bodyPr wrap="square" rtlCol="0" anchor="t">
            <a:spAutoFit/>
          </a:bodyPr>
          <a:p>
            <a:r>
              <a:rPr lang="zh-CN" altLang="en-US" sz="2000" b="1" dirty="0">
                <a:solidFill>
                  <a:srgbClr val="3671F6"/>
                </a:solidFill>
                <a:ea typeface="+mn-lt"/>
                <a:cs typeface="+mn-lt"/>
                <a:sym typeface="微软雅黑" panose="020B0503020204020204" charset="-122"/>
              </a:rPr>
              <a:t>打造覆盖</a:t>
            </a:r>
            <a:r>
              <a:rPr lang="en-US" altLang="zh-CN" sz="2000" b="1" dirty="0">
                <a:solidFill>
                  <a:srgbClr val="3671F6"/>
                </a:solidFill>
                <a:ea typeface="+mn-lt"/>
                <a:cs typeface="+mn-lt"/>
                <a:sym typeface="微软雅黑" panose="020B0503020204020204" charset="-122"/>
              </a:rPr>
              <a:t>IT</a:t>
            </a:r>
            <a:r>
              <a:rPr lang="zh-CN" altLang="en-US" sz="2000" b="1" dirty="0">
                <a:solidFill>
                  <a:srgbClr val="3671F6"/>
                </a:solidFill>
                <a:ea typeface="+mn-lt"/>
                <a:cs typeface="+mn-lt"/>
                <a:sym typeface="微软雅黑" panose="020B0503020204020204" charset="-122"/>
              </a:rPr>
              <a:t>服务全链路的数字化服务生态</a:t>
            </a:r>
            <a:endParaRPr lang="zh-CN" altLang="en-US" sz="2000" b="1" dirty="0">
              <a:solidFill>
                <a:srgbClr val="3671F6"/>
              </a:solidFill>
              <a:ea typeface="+mn-lt"/>
              <a:cs typeface="+mn-lt"/>
              <a:sym typeface="微软雅黑" panose="020B0503020204020204" charset="-122"/>
            </a:endParaRPr>
          </a:p>
        </p:txBody>
      </p:sp>
      <p:sp>
        <p:nvSpPr>
          <p:cNvPr id="52" name="文本框 51"/>
          <p:cNvSpPr txBox="1"/>
          <p:nvPr/>
        </p:nvSpPr>
        <p:spPr>
          <a:xfrm>
            <a:off x="910590" y="3898900"/>
            <a:ext cx="4759325" cy="398780"/>
          </a:xfrm>
          <a:prstGeom prst="rect">
            <a:avLst/>
          </a:prstGeom>
          <a:noFill/>
        </p:spPr>
        <p:txBody>
          <a:bodyPr wrap="square" rtlCol="0" anchor="t">
            <a:spAutoFit/>
          </a:bodyPr>
          <a:p>
            <a:r>
              <a:rPr lang="zh-CN" altLang="en-US" sz="2000" b="1" dirty="0">
                <a:solidFill>
                  <a:srgbClr val="3671F6"/>
                </a:solidFill>
                <a:ea typeface="+mn-lt"/>
                <a:cs typeface="微软雅黑" panose="020B0503020204020204" charset="-122"/>
                <a:sym typeface="+mn-ea"/>
              </a:rPr>
              <a:t>构建全国本地化服务生态</a:t>
            </a:r>
            <a:endParaRPr lang="zh-CN" altLang="en-US" sz="2000" b="1" dirty="0">
              <a:solidFill>
                <a:srgbClr val="3671F6"/>
              </a:solidFill>
              <a:ea typeface="+mn-lt"/>
              <a:cs typeface="微软雅黑" panose="020B0503020204020204" charset="-122"/>
              <a:sym typeface="+mn-ea"/>
            </a:endParaRPr>
          </a:p>
        </p:txBody>
      </p:sp>
      <p:sp>
        <p:nvSpPr>
          <p:cNvPr id="140" name="文本框 139"/>
          <p:cNvSpPr txBox="1"/>
          <p:nvPr/>
        </p:nvSpPr>
        <p:spPr>
          <a:xfrm>
            <a:off x="910590" y="2631440"/>
            <a:ext cx="3807460" cy="1006475"/>
          </a:xfrm>
          <a:prstGeom prst="rect">
            <a:avLst/>
          </a:prstGeom>
          <a:noFill/>
        </p:spPr>
        <p:txBody>
          <a:bodyPr wrap="square" rtlCol="0" anchor="t">
            <a:spAutoFit/>
          </a:bodyPr>
          <a:p>
            <a:pPr marL="285750" lvl="0" indent="-285750" algn="just" fontAlgn="auto">
              <a:lnSpc>
                <a:spcPts val="19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以</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云服务</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为接口</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just" fontAlgn="auto">
              <a:lnSpc>
                <a:spcPts val="19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以</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软件服务</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为核心</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just" fontAlgn="auto">
              <a:lnSpc>
                <a:spcPts val="19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以自主研发产品为企业赋能</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p:txBody>
      </p:sp>
      <p:pic>
        <p:nvPicPr>
          <p:cNvPr id="13" name="图片 12" descr="企业微信截图_eda51e73-49ea-4f96-ace2-807f737caaba"/>
          <p:cNvPicPr>
            <a:picLocks noChangeAspect="1"/>
          </p:cNvPicPr>
          <p:nvPr/>
        </p:nvPicPr>
        <p:blipFill>
          <a:blip r:embed="rId3">
            <a:alphaModFix amt="5000"/>
            <a:clrChange>
              <a:clrFrom>
                <a:srgbClr val="FFFFFF">
                  <a:alpha val="100000"/>
                </a:srgbClr>
              </a:clrFrom>
              <a:clrTo>
                <a:srgbClr val="FFFFFF">
                  <a:alpha val="100000"/>
                  <a:alpha val="0"/>
                </a:srgbClr>
              </a:clrTo>
            </a:clrChange>
            <a:lum bright="-100000"/>
          </a:blip>
          <a:srcRect/>
          <a:stretch>
            <a:fillRect/>
          </a:stretch>
        </p:blipFill>
        <p:spPr>
          <a:xfrm>
            <a:off x="11102975" y="5486400"/>
            <a:ext cx="1115695" cy="1365885"/>
          </a:xfrm>
          <a:prstGeom prst="rect">
            <a:avLst/>
          </a:prstGeom>
        </p:spPr>
      </p:pic>
      <p:grpSp>
        <p:nvGrpSpPr>
          <p:cNvPr id="37" name="组合 36"/>
          <p:cNvGrpSpPr/>
          <p:nvPr/>
        </p:nvGrpSpPr>
        <p:grpSpPr>
          <a:xfrm>
            <a:off x="8735060" y="2202180"/>
            <a:ext cx="575310" cy="1131570"/>
            <a:chOff x="14043" y="3417"/>
            <a:chExt cx="906" cy="1782"/>
          </a:xfrm>
        </p:grpSpPr>
        <p:sp>
          <p:nvSpPr>
            <p:cNvPr id="16" name="矩形 15"/>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北京</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17" name="椭圆 16"/>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 name="矩形 13"/>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8" name="组合 37"/>
          <p:cNvGrpSpPr/>
          <p:nvPr/>
        </p:nvGrpSpPr>
        <p:grpSpPr>
          <a:xfrm>
            <a:off x="8882380" y="4961255"/>
            <a:ext cx="575310" cy="1131570"/>
            <a:chOff x="14043" y="3417"/>
            <a:chExt cx="906" cy="1782"/>
          </a:xfrm>
        </p:grpSpPr>
        <p:sp>
          <p:nvSpPr>
            <p:cNvPr id="39" name="矩形 38"/>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广州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0" name="椭圆 39"/>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1" name="矩形 40"/>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42" name="组合 41"/>
          <p:cNvGrpSpPr/>
          <p:nvPr/>
        </p:nvGrpSpPr>
        <p:grpSpPr>
          <a:xfrm>
            <a:off x="9533255" y="2290445"/>
            <a:ext cx="575310" cy="1131570"/>
            <a:chOff x="14043" y="3417"/>
            <a:chExt cx="906" cy="1782"/>
          </a:xfrm>
        </p:grpSpPr>
        <p:sp>
          <p:nvSpPr>
            <p:cNvPr id="43" name="矩形 42"/>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天津</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4" name="椭圆 43"/>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5" name="矩形 4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46" name="组合 45"/>
          <p:cNvGrpSpPr/>
          <p:nvPr/>
        </p:nvGrpSpPr>
        <p:grpSpPr>
          <a:xfrm>
            <a:off x="7429500" y="3935095"/>
            <a:ext cx="575310" cy="1131570"/>
            <a:chOff x="14043" y="3417"/>
            <a:chExt cx="906" cy="1782"/>
          </a:xfrm>
        </p:grpSpPr>
        <p:sp>
          <p:nvSpPr>
            <p:cNvPr id="47" name="矩形 46"/>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成都</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8" name="椭圆 47"/>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9" name="矩形 48"/>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59" name="组合 58"/>
          <p:cNvGrpSpPr/>
          <p:nvPr/>
        </p:nvGrpSpPr>
        <p:grpSpPr>
          <a:xfrm>
            <a:off x="10239375" y="3598545"/>
            <a:ext cx="575310" cy="1131570"/>
            <a:chOff x="14043" y="3417"/>
            <a:chExt cx="906" cy="1782"/>
          </a:xfrm>
        </p:grpSpPr>
        <p:sp>
          <p:nvSpPr>
            <p:cNvPr id="60" name="矩形 59"/>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上海</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61" name="椭圆 60"/>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2" name="矩形 61"/>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63" name="组合 62"/>
          <p:cNvGrpSpPr/>
          <p:nvPr/>
        </p:nvGrpSpPr>
        <p:grpSpPr>
          <a:xfrm>
            <a:off x="9821545" y="3794125"/>
            <a:ext cx="575310" cy="1131570"/>
            <a:chOff x="14043" y="3417"/>
            <a:chExt cx="906" cy="1782"/>
          </a:xfrm>
        </p:grpSpPr>
        <p:sp>
          <p:nvSpPr>
            <p:cNvPr id="64" name="矩形 63"/>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苏州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65" name="椭圆 64"/>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6" name="矩形 65"/>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67" name="组合 66"/>
          <p:cNvGrpSpPr/>
          <p:nvPr/>
        </p:nvGrpSpPr>
        <p:grpSpPr>
          <a:xfrm>
            <a:off x="9208135" y="3655695"/>
            <a:ext cx="575310" cy="1131570"/>
            <a:chOff x="14043" y="3417"/>
            <a:chExt cx="906" cy="1782"/>
          </a:xfrm>
        </p:grpSpPr>
        <p:sp>
          <p:nvSpPr>
            <p:cNvPr id="68" name="矩形 67"/>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合肥</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69" name="椭圆 68"/>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0" name="矩形 69"/>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72" name="组合 71"/>
          <p:cNvGrpSpPr/>
          <p:nvPr/>
        </p:nvGrpSpPr>
        <p:grpSpPr>
          <a:xfrm>
            <a:off x="9918700" y="4129405"/>
            <a:ext cx="575310" cy="1131570"/>
            <a:chOff x="14043" y="3417"/>
            <a:chExt cx="906" cy="1782"/>
          </a:xfrm>
        </p:grpSpPr>
        <p:sp>
          <p:nvSpPr>
            <p:cNvPr id="73" name="矩形 72"/>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杭州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74" name="椭圆 73"/>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5" name="矩形 7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19" name="组合 18"/>
          <p:cNvGrpSpPr/>
          <p:nvPr/>
        </p:nvGrpSpPr>
        <p:grpSpPr>
          <a:xfrm>
            <a:off x="9625965" y="3458845"/>
            <a:ext cx="575310" cy="1131570"/>
            <a:chOff x="13392" y="4088"/>
            <a:chExt cx="906" cy="1782"/>
          </a:xfrm>
        </p:grpSpPr>
        <p:sp>
          <p:nvSpPr>
            <p:cNvPr id="20" name="矩形 19"/>
            <p:cNvSpPr/>
            <p:nvPr/>
          </p:nvSpPr>
          <p:spPr>
            <a:xfrm>
              <a:off x="13392" y="4088"/>
              <a:ext cx="906" cy="440"/>
            </a:xfrm>
            <a:prstGeom prst="rect">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南京</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2" name="椭圆 21"/>
            <p:cNvSpPr/>
            <p:nvPr/>
          </p:nvSpPr>
          <p:spPr>
            <a:xfrm>
              <a:off x="13450" y="5400"/>
              <a:ext cx="803" cy="470"/>
            </a:xfrm>
            <a:prstGeom prst="ellipse">
              <a:avLst/>
            </a:prstGeom>
            <a:solidFill>
              <a:schemeClr val="accent6">
                <a:alpha val="5000"/>
              </a:schemeClr>
            </a:solidFill>
            <a:ln w="0">
              <a:gradFill>
                <a:gsLst>
                  <a:gs pos="100000">
                    <a:schemeClr val="accent6"/>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3" name="矩形 22"/>
            <p:cNvSpPr/>
            <p:nvPr/>
          </p:nvSpPr>
          <p:spPr>
            <a:xfrm>
              <a:off x="13785" y="4528"/>
              <a:ext cx="119" cy="1212"/>
            </a:xfrm>
            <a:prstGeom prst="rect">
              <a:avLst/>
            </a:prstGeom>
            <a:gradFill>
              <a:gsLst>
                <a:gs pos="0">
                  <a:srgbClr val="1C61D2">
                    <a:alpha val="0"/>
                  </a:srgbClr>
                </a:gs>
                <a:gs pos="100000">
                  <a:schemeClr val="accent6"/>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6" name="组合 5"/>
          <p:cNvGrpSpPr/>
          <p:nvPr/>
        </p:nvGrpSpPr>
        <p:grpSpPr>
          <a:xfrm>
            <a:off x="7926705" y="3924935"/>
            <a:ext cx="575310" cy="1131570"/>
            <a:chOff x="14043" y="3417"/>
            <a:chExt cx="906" cy="1782"/>
          </a:xfrm>
        </p:grpSpPr>
        <p:sp>
          <p:nvSpPr>
            <p:cNvPr id="7" name="矩形 6"/>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重庆</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8" name="椭圆 7"/>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 name="矩形 8"/>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10" name="组合 9"/>
          <p:cNvGrpSpPr/>
          <p:nvPr/>
        </p:nvGrpSpPr>
        <p:grpSpPr>
          <a:xfrm>
            <a:off x="8484870" y="3204845"/>
            <a:ext cx="575310" cy="1131570"/>
            <a:chOff x="14043" y="3417"/>
            <a:chExt cx="906" cy="1782"/>
          </a:xfrm>
        </p:grpSpPr>
        <p:sp>
          <p:nvSpPr>
            <p:cNvPr id="11" name="矩形 10"/>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郑州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12" name="椭圆 11"/>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5" name="矩形 1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18" name="组合 17"/>
          <p:cNvGrpSpPr/>
          <p:nvPr/>
        </p:nvGrpSpPr>
        <p:grpSpPr>
          <a:xfrm>
            <a:off x="7740015" y="2772410"/>
            <a:ext cx="575310" cy="1131570"/>
            <a:chOff x="14043" y="3417"/>
            <a:chExt cx="906" cy="1782"/>
          </a:xfrm>
        </p:grpSpPr>
        <p:sp>
          <p:nvSpPr>
            <p:cNvPr id="21" name="矩形 20"/>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西安</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4" name="椭圆 23"/>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5" name="矩形 2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26" name="组合 25"/>
          <p:cNvGrpSpPr/>
          <p:nvPr/>
        </p:nvGrpSpPr>
        <p:grpSpPr>
          <a:xfrm>
            <a:off x="8669655" y="3458845"/>
            <a:ext cx="575310" cy="1131570"/>
            <a:chOff x="14043" y="3417"/>
            <a:chExt cx="906" cy="1782"/>
          </a:xfrm>
        </p:grpSpPr>
        <p:sp>
          <p:nvSpPr>
            <p:cNvPr id="27" name="矩形 26"/>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武汉</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8" name="椭圆 27"/>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9" name="矩形 28"/>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0" name="组合 29"/>
          <p:cNvGrpSpPr/>
          <p:nvPr/>
        </p:nvGrpSpPr>
        <p:grpSpPr>
          <a:xfrm>
            <a:off x="8556625" y="3821430"/>
            <a:ext cx="575310" cy="1131570"/>
            <a:chOff x="14043" y="3417"/>
            <a:chExt cx="906" cy="1782"/>
          </a:xfrm>
        </p:grpSpPr>
        <p:sp>
          <p:nvSpPr>
            <p:cNvPr id="31" name="矩形 30"/>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长沙</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32" name="椭圆 31"/>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 name="矩形 32"/>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4" name="组合 33"/>
          <p:cNvGrpSpPr/>
          <p:nvPr/>
        </p:nvGrpSpPr>
        <p:grpSpPr>
          <a:xfrm>
            <a:off x="9343390" y="5056505"/>
            <a:ext cx="575310" cy="1131570"/>
            <a:chOff x="14043" y="3417"/>
            <a:chExt cx="906" cy="1782"/>
          </a:xfrm>
        </p:grpSpPr>
        <p:sp>
          <p:nvSpPr>
            <p:cNvPr id="35" name="矩形 34"/>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深圳</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36" name="椭圆 35"/>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0" name="矩形 49"/>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54" name="组合 53"/>
          <p:cNvGrpSpPr/>
          <p:nvPr/>
        </p:nvGrpSpPr>
        <p:grpSpPr>
          <a:xfrm>
            <a:off x="8030845" y="4292600"/>
            <a:ext cx="575310" cy="1131570"/>
            <a:chOff x="14043" y="3417"/>
            <a:chExt cx="906" cy="1782"/>
          </a:xfrm>
        </p:grpSpPr>
        <p:sp>
          <p:nvSpPr>
            <p:cNvPr id="55" name="矩形 54"/>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贵阳</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56" name="椭圆 55"/>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7" name="矩形 56"/>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文本框 52"/>
          <p:cNvSpPr txBox="1"/>
          <p:nvPr/>
        </p:nvSpPr>
        <p:spPr>
          <a:xfrm>
            <a:off x="501015" y="642620"/>
            <a:ext cx="5250815" cy="645160"/>
          </a:xfrm>
          <a:prstGeom prst="rect">
            <a:avLst/>
          </a:prstGeom>
          <a:noFill/>
        </p:spPr>
        <p:txBody>
          <a:bodyPr wrap="square" rtlCol="0">
            <a:spAutoFit/>
          </a:bodyPr>
          <a:p>
            <a:r>
              <a:rPr lang="zh-CN" altLang="en-US" sz="3600" b="1">
                <a:solidFill>
                  <a:srgbClr val="3671F6"/>
                </a:solidFill>
              </a:rPr>
              <a:t>搭建一站式</a:t>
            </a:r>
            <a:r>
              <a:rPr lang="en-US" altLang="zh-CN" sz="3600" b="1">
                <a:solidFill>
                  <a:srgbClr val="3671F6"/>
                </a:solidFill>
              </a:rPr>
              <a:t>IT</a:t>
            </a:r>
            <a:r>
              <a:rPr lang="zh-CN" altLang="en-US" sz="3600" b="1">
                <a:solidFill>
                  <a:srgbClr val="3671F6"/>
                </a:solidFill>
              </a:rPr>
              <a:t>服务平台</a:t>
            </a:r>
            <a:endParaRPr lang="zh-CN" altLang="en-US" sz="3600" b="1">
              <a:solidFill>
                <a:srgbClr val="3671F6"/>
              </a:solidFill>
            </a:endParaRPr>
          </a:p>
        </p:txBody>
      </p:sp>
      <p:sp>
        <p:nvSpPr>
          <p:cNvPr id="94" name="文本框 93"/>
          <p:cNvSpPr txBox="1"/>
          <p:nvPr/>
        </p:nvSpPr>
        <p:spPr>
          <a:xfrm>
            <a:off x="501015" y="1363345"/>
            <a:ext cx="3460115" cy="368300"/>
          </a:xfrm>
          <a:prstGeom prst="rect">
            <a:avLst/>
          </a:prstGeom>
          <a:noFill/>
        </p:spPr>
        <p:txBody>
          <a:bodyPr wrap="square" rtlCol="0">
            <a:spAutoFit/>
          </a:bodyPr>
          <a:p>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云底座</a:t>
            </a:r>
            <a:r>
              <a:rPr lang="en-US" altLang="zh-CN">
                <a:solidFill>
                  <a:schemeClr val="tx1"/>
                </a:solidFill>
                <a:latin typeface="微软雅黑 Light" panose="020B0502040204020203" charset="-122"/>
                <a:ea typeface="微软雅黑 Light" panose="020B0502040204020203" charset="-122"/>
                <a:cs typeface="微软雅黑 Light" panose="020B0502040204020203" charset="-122"/>
                <a:sym typeface="+mn-ea"/>
              </a:rPr>
              <a:t>+</a:t>
            </a:r>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软件服务</a:t>
            </a:r>
            <a:r>
              <a:rPr lang="en-US" altLang="zh-CN">
                <a:solidFill>
                  <a:schemeClr val="tx1"/>
                </a:solidFill>
                <a:latin typeface="微软雅黑 Light" panose="020B0502040204020203" charset="-122"/>
                <a:ea typeface="微软雅黑 Light" panose="020B0502040204020203" charset="-122"/>
                <a:cs typeface="微软雅黑 Light" panose="020B0502040204020203" charset="-122"/>
                <a:sym typeface="+mn-ea"/>
              </a:rPr>
              <a:t>+</a:t>
            </a:r>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创新产品</a:t>
            </a:r>
            <a:endParaRPr lang="zh-CN" altLang="en-US" sz="2000">
              <a:solidFill>
                <a:schemeClr val="tx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2" name="椭圆 1"/>
          <p:cNvSpPr/>
          <p:nvPr/>
        </p:nvSpPr>
        <p:spPr>
          <a:xfrm>
            <a:off x="3530600" y="5030470"/>
            <a:ext cx="8014335" cy="1577975"/>
          </a:xfrm>
          <a:prstGeom prst="ellipse">
            <a:avLst/>
          </a:prstGeom>
          <a:gradFill>
            <a:gsLst>
              <a:gs pos="0">
                <a:srgbClr val="4179EC">
                  <a:alpha val="0"/>
                </a:srgbClr>
              </a:gs>
              <a:gs pos="100000">
                <a:srgbClr val="1552D1">
                  <a:alpha val="40000"/>
                </a:srgbClr>
              </a:gs>
            </a:gsLst>
            <a:lin ang="5400000" scaled="0"/>
          </a:gradFill>
          <a:ln>
            <a:gradFill>
              <a:gsLst>
                <a:gs pos="0">
                  <a:srgbClr val="4179EC">
                    <a:alpha val="0"/>
                  </a:srgbClr>
                </a:gs>
                <a:gs pos="100000">
                  <a:srgbClr val="1552D1"/>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9" name="组合 8"/>
          <p:cNvGrpSpPr/>
          <p:nvPr/>
        </p:nvGrpSpPr>
        <p:grpSpPr>
          <a:xfrm rot="0">
            <a:off x="5564505" y="4942205"/>
            <a:ext cx="3947795" cy="1136650"/>
            <a:chOff x="6493" y="7223"/>
            <a:chExt cx="6217" cy="1790"/>
          </a:xfrm>
        </p:grpSpPr>
        <p:sp>
          <p:nvSpPr>
            <p:cNvPr id="5" name="图形 73"/>
            <p:cNvSpPr/>
            <p:nvPr/>
          </p:nvSpPr>
          <p:spPr>
            <a:xfrm>
              <a:off x="6496" y="7223"/>
              <a:ext cx="6214" cy="1790"/>
            </a:xfrm>
            <a:custGeom>
              <a:avLst/>
              <a:gdLst>
                <a:gd name="connsiteX0" fmla="*/ 1803500 w 1805172"/>
                <a:gd name="connsiteY0" fmla="*/ 381986 h 1049222"/>
                <a:gd name="connsiteX1" fmla="*/ 900914 w 1805172"/>
                <a:gd name="connsiteY1" fmla="*/ -384 h 1049222"/>
                <a:gd name="connsiteX2" fmla="*/ -1672 w 1805172"/>
                <a:gd name="connsiteY2" fmla="*/ 381986 h 1049222"/>
                <a:gd name="connsiteX3" fmla="*/ -1672 w 1805172"/>
                <a:gd name="connsiteY3" fmla="*/ 666469 h 1049222"/>
                <a:gd name="connsiteX4" fmla="*/ 900914 w 1805172"/>
                <a:gd name="connsiteY4" fmla="*/ 1048839 h 1049222"/>
                <a:gd name="connsiteX5" fmla="*/ 1803500 w 1805172"/>
                <a:gd name="connsiteY5" fmla="*/ 666469 h 104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5172" h="1049222">
                  <a:moveTo>
                    <a:pt x="1803500" y="381986"/>
                  </a:moveTo>
                  <a:cubicBezTo>
                    <a:pt x="1803500" y="170790"/>
                    <a:pt x="1399117" y="-384"/>
                    <a:pt x="900914" y="-384"/>
                  </a:cubicBezTo>
                  <a:cubicBezTo>
                    <a:pt x="402713" y="-384"/>
                    <a:pt x="-1672" y="170790"/>
                    <a:pt x="-1672" y="381986"/>
                  </a:cubicBezTo>
                  <a:lnTo>
                    <a:pt x="-1672" y="666469"/>
                  </a:lnTo>
                  <a:cubicBezTo>
                    <a:pt x="-1672" y="877664"/>
                    <a:pt x="402713" y="1048839"/>
                    <a:pt x="900914" y="1048839"/>
                  </a:cubicBezTo>
                  <a:cubicBezTo>
                    <a:pt x="1399117" y="1048839"/>
                    <a:pt x="1803500" y="877664"/>
                    <a:pt x="1803500" y="666469"/>
                  </a:cubicBezTo>
                  <a:close/>
                </a:path>
              </a:pathLst>
            </a:custGeom>
            <a:gradFill>
              <a:gsLst>
                <a:gs pos="0">
                  <a:srgbClr val="4179EC">
                    <a:alpha val="76000"/>
                  </a:srgbClr>
                </a:gs>
                <a:gs pos="100000">
                  <a:srgbClr val="4179EC"/>
                </a:gs>
              </a:gsLst>
              <a:lin ang="5400000" scaled="0"/>
            </a:gradFill>
            <a:ln w="12678" cap="flat">
              <a:noFill/>
              <a:prstDash val="solid"/>
              <a:miter/>
            </a:ln>
          </p:spPr>
          <p:txBody>
            <a:bodyPr rtlCol="0" anchor="ctr"/>
            <a:p>
              <a:endParaRPr lang="zh-CN" altLang="en-US"/>
            </a:p>
          </p:txBody>
        </p:sp>
        <p:sp>
          <p:nvSpPr>
            <p:cNvPr id="6" name="旁门左道出品"/>
            <p:cNvSpPr/>
            <p:nvPr/>
          </p:nvSpPr>
          <p:spPr>
            <a:xfrm>
              <a:off x="6493" y="7707"/>
              <a:ext cx="6214" cy="1298"/>
            </a:xfrm>
            <a:prstGeom prst="ellipse">
              <a:avLst/>
            </a:prstGeom>
            <a:gradFill>
              <a:gsLst>
                <a:gs pos="0">
                  <a:srgbClr val="4179EC"/>
                </a:gs>
                <a:gs pos="100000">
                  <a:srgbClr val="1552D1"/>
                </a:gs>
              </a:gsLst>
              <a:lin ang="5400000" scaled="0"/>
            </a:gradFill>
            <a:ln w="6350">
              <a:gradFill flip="none" rotWithShape="1">
                <a:gsLst>
                  <a:gs pos="13000">
                    <a:schemeClr val="accent1">
                      <a:alpha val="0"/>
                      <a:lumMod val="99000"/>
                    </a:schemeClr>
                  </a:gs>
                  <a:gs pos="100000">
                    <a:schemeClr val="accent1">
                      <a:alpha val="2500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90204" pitchFamily="34" charset="0"/>
                <a:ea typeface="微软雅黑" panose="020B0503020204020204" charset="-122"/>
                <a:cs typeface="微软雅黑" panose="020B0503020204020204" charset="-122"/>
                <a:sym typeface="Arial" panose="020B0604020202090204" pitchFamily="34" charset="0"/>
              </a:endParaRPr>
            </a:p>
          </p:txBody>
        </p:sp>
        <p:sp>
          <p:nvSpPr>
            <p:cNvPr id="7" name="旁门左道出品"/>
            <p:cNvSpPr/>
            <p:nvPr/>
          </p:nvSpPr>
          <p:spPr>
            <a:xfrm>
              <a:off x="6493" y="7223"/>
              <a:ext cx="6214" cy="1298"/>
            </a:xfrm>
            <a:prstGeom prst="ellipse">
              <a:avLst/>
            </a:prstGeom>
            <a:gradFill>
              <a:gsLst>
                <a:gs pos="0">
                  <a:srgbClr val="1552D1">
                    <a:alpha val="62000"/>
                  </a:srgbClr>
                </a:gs>
                <a:gs pos="100000">
                  <a:srgbClr val="1552D1"/>
                </a:gs>
              </a:gsLst>
              <a:lin ang="5400000" scaled="0"/>
            </a:gra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90204" pitchFamily="34" charset="0"/>
                <a:ea typeface="微软雅黑" panose="020B0503020204020204" charset="-122"/>
                <a:cs typeface="微软雅黑" panose="020B0503020204020204" charset="-122"/>
                <a:sym typeface="Arial" panose="020B0604020202090204" pitchFamily="34" charset="0"/>
              </a:endParaRPr>
            </a:p>
          </p:txBody>
        </p:sp>
      </p:grpSp>
      <p:pic>
        <p:nvPicPr>
          <p:cNvPr id="12" name="图片 11" descr="花瓣素材_云计算概念_115395681"/>
          <p:cNvPicPr>
            <a:picLocks noChangeAspect="1"/>
          </p:cNvPicPr>
          <p:nvPr/>
        </p:nvPicPr>
        <p:blipFill>
          <a:blip r:embed="rId1"/>
          <a:srcRect/>
          <a:stretch>
            <a:fillRect/>
          </a:stretch>
        </p:blipFill>
        <p:spPr>
          <a:xfrm>
            <a:off x="6255385" y="4336415"/>
            <a:ext cx="2089785" cy="1466215"/>
          </a:xfrm>
          <a:prstGeom prst="rect">
            <a:avLst/>
          </a:prstGeom>
        </p:spPr>
      </p:pic>
      <p:sp>
        <p:nvSpPr>
          <p:cNvPr id="13" name="文本框 12"/>
          <p:cNvSpPr txBox="1"/>
          <p:nvPr/>
        </p:nvSpPr>
        <p:spPr>
          <a:xfrm>
            <a:off x="6741795" y="4950460"/>
            <a:ext cx="1423035" cy="368300"/>
          </a:xfrm>
          <a:prstGeom prst="rect">
            <a:avLst/>
          </a:prstGeom>
          <a:noFill/>
          <a:scene3d>
            <a:camera prst="perspectiveLeft">
              <a:rot lat="1200000" lon="1800000" rev="0"/>
            </a:camera>
            <a:lightRig rig="threePt" dir="t"/>
          </a:scene3d>
        </p:spPr>
        <p:txBody>
          <a:bodyPr wrap="square" rtlCol="0">
            <a:spAutoFit/>
          </a:bodyPr>
          <a:p>
            <a:r>
              <a:rPr lang="zh-CN" altLang="en-US" b="1">
                <a:ln>
                  <a:noFill/>
                </a:ln>
                <a:solidFill>
                  <a:schemeClr val="bg1"/>
                </a:solidFill>
              </a:rPr>
              <a:t>云服务底座</a:t>
            </a:r>
            <a:endParaRPr lang="zh-CN" altLang="en-US" b="1">
              <a:ln>
                <a:noFill/>
              </a:ln>
              <a:solidFill>
                <a:schemeClr val="bg1"/>
              </a:solidFill>
            </a:endParaRPr>
          </a:p>
        </p:txBody>
      </p:sp>
      <p:pic>
        <p:nvPicPr>
          <p:cNvPr id="15" name="图片 14"/>
          <p:cNvPicPr>
            <a:picLocks noChangeAspect="1"/>
          </p:cNvPicPr>
          <p:nvPr/>
        </p:nvPicPr>
        <p:blipFill>
          <a:blip r:embed="rId2"/>
          <a:srcRect/>
          <a:stretch>
            <a:fillRect/>
          </a:stretch>
        </p:blipFill>
        <p:spPr>
          <a:xfrm>
            <a:off x="4361180" y="5085715"/>
            <a:ext cx="914400" cy="537845"/>
          </a:xfrm>
          <a:prstGeom prst="rect">
            <a:avLst/>
          </a:prstGeom>
          <a:effectLst>
            <a:glow rad="38100">
              <a:srgbClr val="4179EC">
                <a:alpha val="33000"/>
              </a:srgbClr>
            </a:glow>
            <a:reflection blurRad="25400" stA="20000" endA="300" endPos="35000" dir="5400000" sy="-100000" algn="bl" rotWithShape="0"/>
          </a:effectLst>
        </p:spPr>
      </p:pic>
      <p:pic>
        <p:nvPicPr>
          <p:cNvPr id="16" name="图片 15"/>
          <p:cNvPicPr>
            <a:picLocks noChangeAspect="1"/>
          </p:cNvPicPr>
          <p:nvPr/>
        </p:nvPicPr>
        <p:blipFill>
          <a:blip r:embed="rId2"/>
          <a:srcRect/>
          <a:stretch>
            <a:fillRect/>
          </a:stretch>
        </p:blipFill>
        <p:spPr>
          <a:xfrm>
            <a:off x="4918710" y="5715000"/>
            <a:ext cx="914400" cy="537845"/>
          </a:xfrm>
          <a:prstGeom prst="rect">
            <a:avLst/>
          </a:prstGeom>
          <a:effectLst>
            <a:glow rad="38100">
              <a:srgbClr val="4179EC">
                <a:alpha val="33000"/>
              </a:srgbClr>
            </a:glow>
            <a:reflection blurRad="25400" stA="20000" endA="300" endPos="35000" dir="5400000" sy="-100000" algn="bl" rotWithShape="0"/>
          </a:effectLst>
        </p:spPr>
      </p:pic>
      <p:pic>
        <p:nvPicPr>
          <p:cNvPr id="17" name="图片 16"/>
          <p:cNvPicPr>
            <a:picLocks noChangeAspect="1"/>
          </p:cNvPicPr>
          <p:nvPr/>
        </p:nvPicPr>
        <p:blipFill>
          <a:blip r:embed="rId2"/>
          <a:srcRect/>
          <a:stretch>
            <a:fillRect/>
          </a:stretch>
        </p:blipFill>
        <p:spPr>
          <a:xfrm>
            <a:off x="6280785" y="5901690"/>
            <a:ext cx="914400" cy="537845"/>
          </a:xfrm>
          <a:prstGeom prst="rect">
            <a:avLst/>
          </a:prstGeom>
          <a:effectLst>
            <a:glow rad="38100">
              <a:schemeClr val="accent1">
                <a:satMod val="175000"/>
                <a:alpha val="33000"/>
              </a:schemeClr>
            </a:glow>
            <a:reflection blurRad="25400" stA="20000" endA="300" endPos="35000" dir="5400000" sy="-100000" algn="bl" rotWithShape="0"/>
          </a:effectLst>
        </p:spPr>
      </p:pic>
      <p:pic>
        <p:nvPicPr>
          <p:cNvPr id="18" name="图片 17"/>
          <p:cNvPicPr>
            <a:picLocks noChangeAspect="1"/>
          </p:cNvPicPr>
          <p:nvPr/>
        </p:nvPicPr>
        <p:blipFill>
          <a:blip r:embed="rId2"/>
          <a:srcRect/>
          <a:stretch>
            <a:fillRect/>
          </a:stretch>
        </p:blipFill>
        <p:spPr>
          <a:xfrm>
            <a:off x="7844790" y="5908040"/>
            <a:ext cx="914400" cy="537845"/>
          </a:xfrm>
          <a:prstGeom prst="rect">
            <a:avLst/>
          </a:prstGeom>
          <a:effectLst>
            <a:glow rad="38100">
              <a:srgbClr val="4179EC">
                <a:alpha val="33000"/>
              </a:srgbClr>
            </a:glow>
            <a:reflection blurRad="25400" stA="20000" endA="300" endPos="35000" dir="5400000" sy="-100000" algn="bl" rotWithShape="0"/>
          </a:effectLst>
        </p:spPr>
      </p:pic>
      <p:pic>
        <p:nvPicPr>
          <p:cNvPr id="19" name="图片 18"/>
          <p:cNvPicPr>
            <a:picLocks noChangeAspect="1"/>
          </p:cNvPicPr>
          <p:nvPr/>
        </p:nvPicPr>
        <p:blipFill>
          <a:blip r:embed="rId2"/>
          <a:srcRect/>
          <a:stretch>
            <a:fillRect/>
          </a:stretch>
        </p:blipFill>
        <p:spPr>
          <a:xfrm>
            <a:off x="9150350" y="5715000"/>
            <a:ext cx="914400" cy="537845"/>
          </a:xfrm>
          <a:prstGeom prst="rect">
            <a:avLst/>
          </a:prstGeom>
          <a:effectLst>
            <a:glow rad="38100">
              <a:srgbClr val="4179EC">
                <a:alpha val="33000"/>
              </a:srgbClr>
            </a:glow>
            <a:reflection blurRad="25400" stA="20000" endA="300" endPos="35000" dir="5400000" sy="-100000" algn="bl" rotWithShape="0"/>
          </a:effectLst>
        </p:spPr>
      </p:pic>
      <p:sp>
        <p:nvSpPr>
          <p:cNvPr id="20" name="文本框 19"/>
          <p:cNvSpPr txBox="1"/>
          <p:nvPr/>
        </p:nvSpPr>
        <p:spPr>
          <a:xfrm>
            <a:off x="4335780" y="5281930"/>
            <a:ext cx="965200" cy="306705"/>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云服务器</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1" name="文本框 20"/>
          <p:cNvSpPr txBox="1"/>
          <p:nvPr/>
        </p:nvSpPr>
        <p:spPr>
          <a:xfrm>
            <a:off x="4893310" y="5908040"/>
            <a:ext cx="965200" cy="306705"/>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云存储</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3" name="文本框 22"/>
          <p:cNvSpPr txBox="1"/>
          <p:nvPr/>
        </p:nvSpPr>
        <p:spPr>
          <a:xfrm>
            <a:off x="6255385" y="5946140"/>
            <a:ext cx="965200" cy="521970"/>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云架构</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设计</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4" name="文本框 23"/>
          <p:cNvSpPr txBox="1"/>
          <p:nvPr/>
        </p:nvSpPr>
        <p:spPr>
          <a:xfrm>
            <a:off x="7835265" y="6087745"/>
            <a:ext cx="965200" cy="306705"/>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云安全</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5" name="文本框 24"/>
          <p:cNvSpPr txBox="1"/>
          <p:nvPr/>
        </p:nvSpPr>
        <p:spPr>
          <a:xfrm>
            <a:off x="9158605" y="5901690"/>
            <a:ext cx="965200" cy="306705"/>
          </a:xfrm>
          <a:prstGeom prst="rect">
            <a:avLst/>
          </a:prstGeom>
          <a:noFill/>
        </p:spPr>
        <p:txBody>
          <a:bodyPr wrap="square" rtlCol="0" anchor="t">
            <a:spAutoFit/>
          </a:bodyPr>
          <a:p>
            <a:pPr algn="ct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AI</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接入</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pic>
        <p:nvPicPr>
          <p:cNvPr id="26" name="图片 25"/>
          <p:cNvPicPr>
            <a:picLocks noChangeAspect="1"/>
          </p:cNvPicPr>
          <p:nvPr/>
        </p:nvPicPr>
        <p:blipFill>
          <a:blip r:embed="rId2"/>
          <a:srcRect/>
          <a:stretch>
            <a:fillRect/>
          </a:stretch>
        </p:blipFill>
        <p:spPr>
          <a:xfrm>
            <a:off x="9796145" y="5085715"/>
            <a:ext cx="914400" cy="537845"/>
          </a:xfrm>
          <a:prstGeom prst="rect">
            <a:avLst/>
          </a:prstGeom>
          <a:effectLst>
            <a:glow rad="38100">
              <a:srgbClr val="4179EC">
                <a:alpha val="33000"/>
              </a:srgbClr>
            </a:glow>
            <a:reflection blurRad="25400" stA="20000" endA="300" endPos="35000" dir="5400000" sy="-100000" algn="bl" rotWithShape="0"/>
          </a:effectLst>
        </p:spPr>
      </p:pic>
      <p:sp>
        <p:nvSpPr>
          <p:cNvPr id="27" name="文本框 26"/>
          <p:cNvSpPr txBox="1"/>
          <p:nvPr/>
        </p:nvSpPr>
        <p:spPr>
          <a:xfrm>
            <a:off x="9804400" y="5272405"/>
            <a:ext cx="965200" cy="306705"/>
          </a:xfrm>
          <a:prstGeom prst="rect">
            <a:avLst/>
          </a:prstGeom>
          <a:noFill/>
        </p:spPr>
        <p:txBody>
          <a:bodyPr wrap="square" rtlCol="0" anchor="t">
            <a:spAutoFit/>
          </a:bodyPr>
          <a:p>
            <a:pPr algn="ctr"/>
            <a:r>
              <a:rPr 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a:t>
            </a:r>
            <a:endParaRPr 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9" name="任意多边形 28"/>
          <p:cNvSpPr/>
          <p:nvPr/>
        </p:nvSpPr>
        <p:spPr>
          <a:xfrm>
            <a:off x="5438775" y="2484120"/>
            <a:ext cx="4194175" cy="2835910"/>
          </a:xfrm>
          <a:custGeom>
            <a:avLst/>
            <a:gdLst/>
            <a:ahLst/>
            <a:cxnLst>
              <a:cxn ang="3">
                <a:pos x="hc" y="t"/>
              </a:cxn>
              <a:cxn ang="cd2">
                <a:pos x="l" y="vc"/>
              </a:cxn>
              <a:cxn ang="cd4">
                <a:pos x="hc" y="b"/>
              </a:cxn>
              <a:cxn ang="0">
                <a:pos x="r" y="vc"/>
              </a:cxn>
            </a:cxnLst>
            <a:rect l="l" t="t" r="r" b="b"/>
            <a:pathLst>
              <a:path w="4721" h="6106">
                <a:moveTo>
                  <a:pt x="0" y="0"/>
                </a:moveTo>
                <a:lnTo>
                  <a:pt x="4721" y="0"/>
                </a:lnTo>
                <a:lnTo>
                  <a:pt x="4695" y="24"/>
                </a:lnTo>
                <a:cubicBezTo>
                  <a:pt x="4122" y="538"/>
                  <a:pt x="3656" y="1311"/>
                  <a:pt x="3426" y="2234"/>
                </a:cubicBezTo>
                <a:cubicBezTo>
                  <a:pt x="3010" y="3899"/>
                  <a:pt x="3503" y="5499"/>
                  <a:pt x="4539" y="6098"/>
                </a:cubicBezTo>
                <a:lnTo>
                  <a:pt x="4552" y="6106"/>
                </a:lnTo>
                <a:lnTo>
                  <a:pt x="169" y="6106"/>
                </a:lnTo>
                <a:lnTo>
                  <a:pt x="183" y="6098"/>
                </a:lnTo>
                <a:cubicBezTo>
                  <a:pt x="1218" y="5499"/>
                  <a:pt x="1711" y="3899"/>
                  <a:pt x="1296" y="2234"/>
                </a:cubicBezTo>
                <a:cubicBezTo>
                  <a:pt x="1066" y="1311"/>
                  <a:pt x="600" y="538"/>
                  <a:pt x="27" y="24"/>
                </a:cubicBezTo>
                <a:lnTo>
                  <a:pt x="0" y="0"/>
                </a:lnTo>
                <a:close/>
              </a:path>
            </a:pathLst>
          </a:custGeom>
          <a:gradFill>
            <a:gsLst>
              <a:gs pos="0">
                <a:srgbClr val="15BAB1">
                  <a:alpha val="0"/>
                </a:srgbClr>
              </a:gs>
              <a:gs pos="63000">
                <a:srgbClr val="1552D1">
                  <a:alpha val="80000"/>
                </a:srgbClr>
              </a:gs>
              <a:gs pos="100000">
                <a:srgbClr val="1552D1">
                  <a:alpha val="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32" name="椭圆 31"/>
          <p:cNvSpPr/>
          <p:nvPr/>
        </p:nvSpPr>
        <p:spPr>
          <a:xfrm>
            <a:off x="4358005" y="2864485"/>
            <a:ext cx="6359525" cy="1241425"/>
          </a:xfrm>
          <a:prstGeom prst="ellipse">
            <a:avLst/>
          </a:prstGeom>
          <a:gradFill>
            <a:gsLst>
              <a:gs pos="0">
                <a:srgbClr val="4179EC">
                  <a:alpha val="0"/>
                </a:srgbClr>
              </a:gs>
              <a:gs pos="100000">
                <a:srgbClr val="1552D1">
                  <a:alpha val="40000"/>
                </a:srgbClr>
              </a:gs>
            </a:gsLst>
            <a:lin ang="5400000" scaled="0"/>
          </a:gradFill>
          <a:ln>
            <a:gradFill>
              <a:gsLst>
                <a:gs pos="0">
                  <a:srgbClr val="4179EC">
                    <a:alpha val="0"/>
                  </a:srgbClr>
                </a:gs>
                <a:gs pos="100000">
                  <a:srgbClr val="1552D1"/>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椭圆 32"/>
          <p:cNvSpPr/>
          <p:nvPr/>
        </p:nvSpPr>
        <p:spPr>
          <a:xfrm>
            <a:off x="5070475" y="1903095"/>
            <a:ext cx="4934585" cy="963295"/>
          </a:xfrm>
          <a:prstGeom prst="ellipse">
            <a:avLst/>
          </a:prstGeom>
          <a:gradFill>
            <a:gsLst>
              <a:gs pos="0">
                <a:srgbClr val="15BAB1">
                  <a:alpha val="20000"/>
                </a:srgbClr>
              </a:gs>
              <a:gs pos="100000">
                <a:srgbClr val="15BAB1">
                  <a:alpha val="32000"/>
                </a:srgbClr>
              </a:gs>
            </a:gsLst>
            <a:lin ang="5400000" scaled="0"/>
          </a:gradFill>
          <a:ln>
            <a:gradFill>
              <a:gsLst>
                <a:gs pos="0">
                  <a:srgbClr val="4179EC">
                    <a:alpha val="7000"/>
                  </a:srgbClr>
                </a:gs>
                <a:gs pos="100000">
                  <a:srgbClr val="15BAB1"/>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4" name="图片 33" descr="竖版"/>
          <p:cNvPicPr>
            <a:picLocks noChangeAspect="1"/>
          </p:cNvPicPr>
          <p:nvPr/>
        </p:nvPicPr>
        <p:blipFill>
          <a:blip r:embed="rId3"/>
          <a:srcRect/>
          <a:stretch>
            <a:fillRect/>
          </a:stretch>
        </p:blipFill>
        <p:spPr>
          <a:xfrm>
            <a:off x="7055485" y="1895475"/>
            <a:ext cx="965200" cy="568960"/>
          </a:xfrm>
          <a:prstGeom prst="rect">
            <a:avLst/>
          </a:prstGeom>
          <a:effectLst>
            <a:reflection blurRad="50800" stA="52000" endA="300" endPos="35000" dir="5400000" sy="-100000" algn="bl" rotWithShape="0"/>
          </a:effectLst>
        </p:spPr>
      </p:pic>
      <p:sp>
        <p:nvSpPr>
          <p:cNvPr id="39" name="文本框 38"/>
          <p:cNvSpPr txBox="1"/>
          <p:nvPr/>
        </p:nvSpPr>
        <p:spPr>
          <a:xfrm>
            <a:off x="4872990" y="3597275"/>
            <a:ext cx="1454785"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sym typeface="+mn-ea"/>
              </a:rPr>
              <a:t>业务管理应用</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41" name="椭圆 40"/>
          <p:cNvSpPr/>
          <p:nvPr/>
        </p:nvSpPr>
        <p:spPr>
          <a:xfrm>
            <a:off x="4341495" y="3302000"/>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椭圆 41"/>
          <p:cNvSpPr/>
          <p:nvPr/>
        </p:nvSpPr>
        <p:spPr>
          <a:xfrm>
            <a:off x="5537200" y="3910965"/>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椭圆 43"/>
          <p:cNvSpPr/>
          <p:nvPr/>
        </p:nvSpPr>
        <p:spPr>
          <a:xfrm>
            <a:off x="9331960" y="3910965"/>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椭圆 45"/>
          <p:cNvSpPr/>
          <p:nvPr/>
        </p:nvSpPr>
        <p:spPr>
          <a:xfrm>
            <a:off x="10617835" y="3302000"/>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文本框 47"/>
          <p:cNvSpPr txBox="1"/>
          <p:nvPr/>
        </p:nvSpPr>
        <p:spPr>
          <a:xfrm>
            <a:off x="3629660" y="2995295"/>
            <a:ext cx="1551305"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sym typeface="+mn-ea"/>
              </a:rPr>
              <a:t>经营管理应用</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50" name="文本框 49"/>
          <p:cNvSpPr txBox="1"/>
          <p:nvPr/>
        </p:nvSpPr>
        <p:spPr>
          <a:xfrm>
            <a:off x="8750935" y="3597275"/>
            <a:ext cx="1289050" cy="306705"/>
          </a:xfrm>
          <a:prstGeom prst="rect">
            <a:avLst/>
          </a:prstGeom>
          <a:noFill/>
        </p:spPr>
        <p:txBody>
          <a:bodyPr wrap="square" rtlCol="0" anchor="t">
            <a:spAutoFit/>
          </a:bodyPr>
          <a:p>
            <a:pPr algn="ctr"/>
            <a:r>
              <a:rPr 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生产管理系统</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52" name="文本框 51"/>
          <p:cNvSpPr txBox="1"/>
          <p:nvPr/>
        </p:nvSpPr>
        <p:spPr>
          <a:xfrm>
            <a:off x="9992995" y="2995295"/>
            <a:ext cx="1376680" cy="306705"/>
          </a:xfrm>
          <a:prstGeom prst="rect">
            <a:avLst/>
          </a:prstGeom>
          <a:noFill/>
        </p:spPr>
        <p:txBody>
          <a:bodyPr wrap="square" rtlCol="0" anchor="t">
            <a:spAutoFit/>
          </a:bodyPr>
          <a:p>
            <a:pPr algn="ct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a:t>
            </a:r>
            <a:endPar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cxnSp>
        <p:nvCxnSpPr>
          <p:cNvPr id="64" name="直接连接符 63"/>
          <p:cNvCxnSpPr/>
          <p:nvPr/>
        </p:nvCxnSpPr>
        <p:spPr>
          <a:xfrm flipH="1">
            <a:off x="2277745" y="5715000"/>
            <a:ext cx="1000125" cy="0"/>
          </a:xfrm>
          <a:prstGeom prst="line">
            <a:avLst/>
          </a:prstGeom>
          <a:ln w="0">
            <a:solidFill>
              <a:srgbClr val="4179EC"/>
            </a:solidFill>
            <a:prstDash val="dash"/>
          </a:ln>
        </p:spPr>
        <p:style>
          <a:lnRef idx="2">
            <a:schemeClr val="accent1"/>
          </a:lnRef>
          <a:fillRef idx="0">
            <a:srgbClr val="FFFFFF"/>
          </a:fillRef>
          <a:effectRef idx="0">
            <a:srgbClr val="FFFFFF"/>
          </a:effectRef>
          <a:fontRef idx="minor">
            <a:schemeClr val="tx1"/>
          </a:fontRef>
        </p:style>
      </p:cxnSp>
      <p:cxnSp>
        <p:nvCxnSpPr>
          <p:cNvPr id="65" name="直接连接符 64"/>
          <p:cNvCxnSpPr/>
          <p:nvPr/>
        </p:nvCxnSpPr>
        <p:spPr>
          <a:xfrm flipH="1">
            <a:off x="2277745" y="3489960"/>
            <a:ext cx="1499235" cy="0"/>
          </a:xfrm>
          <a:prstGeom prst="line">
            <a:avLst/>
          </a:prstGeom>
          <a:ln w="0">
            <a:solidFill>
              <a:srgbClr val="4179EC"/>
            </a:solidFill>
            <a:prstDash val="dash"/>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621030" y="2068195"/>
            <a:ext cx="1501775" cy="459740"/>
            <a:chOff x="978" y="3257"/>
            <a:chExt cx="2365" cy="724"/>
          </a:xfrm>
        </p:grpSpPr>
        <p:sp>
          <p:nvSpPr>
            <p:cNvPr id="69" name="矩形 68"/>
            <p:cNvSpPr/>
            <p:nvPr/>
          </p:nvSpPr>
          <p:spPr>
            <a:xfrm>
              <a:off x="978" y="3755"/>
              <a:ext cx="2364" cy="221"/>
            </a:xfrm>
            <a:prstGeom prst="rect">
              <a:avLst/>
            </a:prstGeom>
            <a:solidFill>
              <a:srgbClr val="3671F6"/>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2" name="文本框 71"/>
            <p:cNvSpPr txBox="1"/>
            <p:nvPr/>
          </p:nvSpPr>
          <p:spPr>
            <a:xfrm>
              <a:off x="979" y="3257"/>
              <a:ext cx="2364" cy="725"/>
            </a:xfrm>
            <a:prstGeom prst="rect">
              <a:avLst/>
            </a:prstGeom>
            <a:noFill/>
          </p:spPr>
          <p:txBody>
            <a:bodyPr wrap="square" rtlCol="0">
              <a:spAutoFit/>
            </a:bodyPr>
            <a:p>
              <a:pPr algn="ctr"/>
              <a:r>
                <a:rPr lang="zh-CN" altLang="en-US" sz="2400" b="1">
                  <a:solidFill>
                    <a:schemeClr val="tx1"/>
                  </a:solidFill>
                  <a:latin typeface="+mn-ea"/>
                </a:rPr>
                <a:t>产品自研</a:t>
              </a:r>
              <a:endParaRPr lang="zh-CN" altLang="en-US" sz="2400" b="1">
                <a:solidFill>
                  <a:schemeClr val="tx1"/>
                </a:solidFill>
                <a:latin typeface="+mn-ea"/>
              </a:endParaRPr>
            </a:p>
          </p:txBody>
        </p:sp>
      </p:grpSp>
      <p:sp>
        <p:nvSpPr>
          <p:cNvPr id="253" name="旁门左道出品"/>
          <p:cNvSpPr/>
          <p:nvPr/>
        </p:nvSpPr>
        <p:spPr>
          <a:xfrm>
            <a:off x="6082665" y="2829560"/>
            <a:ext cx="3009265" cy="660400"/>
          </a:xfrm>
          <a:prstGeom prst="ellipse">
            <a:avLst/>
          </a:prstGeom>
          <a:noFill/>
          <a:ln w="6350" cap="rnd">
            <a:gradFill>
              <a:gsLst>
                <a:gs pos="59000">
                  <a:srgbClr val="4179EC">
                    <a:alpha val="0"/>
                  </a:srgbClr>
                </a:gs>
                <a:gs pos="100000">
                  <a:srgbClr val="15BAB1"/>
                </a:gs>
              </a:gsLst>
              <a:lin ang="7620000" scaled="1"/>
            </a:gra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90204" pitchFamily="34" charset="0"/>
              <a:ea typeface="微软雅黑" panose="020B0503020204020204" charset="-122"/>
              <a:cs typeface="微软雅黑" panose="020B0503020204020204" charset="-122"/>
              <a:sym typeface="Arial" panose="020B0604020202090204" pitchFamily="34" charset="0"/>
            </a:endParaRPr>
          </a:p>
        </p:txBody>
      </p:sp>
      <p:sp>
        <p:nvSpPr>
          <p:cNvPr id="81" name="旁门左道出品"/>
          <p:cNvSpPr/>
          <p:nvPr/>
        </p:nvSpPr>
        <p:spPr>
          <a:xfrm>
            <a:off x="6174740" y="4001770"/>
            <a:ext cx="2701925" cy="466725"/>
          </a:xfrm>
          <a:prstGeom prst="ellipse">
            <a:avLst/>
          </a:prstGeom>
          <a:noFill/>
          <a:ln w="6350" cap="rnd">
            <a:gradFill>
              <a:gsLst>
                <a:gs pos="59000">
                  <a:srgbClr val="4179EC">
                    <a:alpha val="0"/>
                  </a:srgbClr>
                </a:gs>
                <a:gs pos="100000">
                  <a:srgbClr val="4179EC">
                    <a:alpha val="80000"/>
                  </a:srgbClr>
                </a:gs>
              </a:gsLst>
              <a:lin ang="1860000" scaled="1"/>
            </a:gra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90204" pitchFamily="34" charset="0"/>
              <a:ea typeface="微软雅黑" panose="020B0503020204020204" charset="-122"/>
              <a:cs typeface="微软雅黑" panose="020B0503020204020204" charset="-122"/>
              <a:sym typeface="Arial" panose="020B0604020202090204" pitchFamily="34" charset="0"/>
            </a:endParaRPr>
          </a:p>
        </p:txBody>
      </p:sp>
      <p:sp>
        <p:nvSpPr>
          <p:cNvPr id="82" name="椭圆 81"/>
          <p:cNvSpPr/>
          <p:nvPr/>
        </p:nvSpPr>
        <p:spPr>
          <a:xfrm>
            <a:off x="6864350" y="185991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3" name="椭圆 82"/>
          <p:cNvSpPr/>
          <p:nvPr/>
        </p:nvSpPr>
        <p:spPr>
          <a:xfrm>
            <a:off x="8164830" y="185991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4" name="椭圆 83"/>
          <p:cNvSpPr/>
          <p:nvPr/>
        </p:nvSpPr>
        <p:spPr>
          <a:xfrm>
            <a:off x="5564505" y="200977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5" name="椭圆 84"/>
          <p:cNvSpPr/>
          <p:nvPr/>
        </p:nvSpPr>
        <p:spPr>
          <a:xfrm>
            <a:off x="6347460" y="2739390"/>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6" name="椭圆 85"/>
          <p:cNvSpPr/>
          <p:nvPr/>
        </p:nvSpPr>
        <p:spPr>
          <a:xfrm>
            <a:off x="8589010" y="273748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7" name="椭圆 86"/>
          <p:cNvSpPr/>
          <p:nvPr/>
        </p:nvSpPr>
        <p:spPr>
          <a:xfrm>
            <a:off x="9380855" y="200977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8" name="文本框 87"/>
          <p:cNvSpPr txBox="1"/>
          <p:nvPr/>
        </p:nvSpPr>
        <p:spPr>
          <a:xfrm>
            <a:off x="5013325" y="1703070"/>
            <a:ext cx="1228725" cy="306705"/>
          </a:xfrm>
          <a:prstGeom prst="rect">
            <a:avLst/>
          </a:prstGeom>
          <a:noFill/>
        </p:spPr>
        <p:txBody>
          <a:bodyPr wrap="square" rtlCol="0" anchor="t">
            <a:spAutoFit/>
          </a:bodyPr>
          <a:p>
            <a:pPr algn="ct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AI</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知识库</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89" name="文本框 88"/>
          <p:cNvSpPr txBox="1"/>
          <p:nvPr/>
        </p:nvSpPr>
        <p:spPr>
          <a:xfrm>
            <a:off x="6271260" y="1553210"/>
            <a:ext cx="131445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企业</a:t>
            </a: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MES</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系统</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0" name="文本框 89"/>
          <p:cNvSpPr txBox="1"/>
          <p:nvPr/>
        </p:nvSpPr>
        <p:spPr>
          <a:xfrm>
            <a:off x="7985125" y="1553210"/>
            <a:ext cx="486410" cy="306705"/>
          </a:xfrm>
          <a:prstGeom prst="rect">
            <a:avLst/>
          </a:prstGeom>
          <a:noFill/>
        </p:spPr>
        <p:txBody>
          <a:bodyPr wrap="square" rtlCol="0" anchor="t">
            <a:spAutoFit/>
          </a:bodyPr>
          <a:p>
            <a:pPr algn="ctr"/>
            <a:r>
              <a:rPr lang="en-US" sz="1400">
                <a:solidFill>
                  <a:srgbClr val="15BAB1"/>
                </a:solidFill>
                <a:latin typeface="微软雅黑 Light" panose="020B0502040204020203" charset="-122"/>
                <a:ea typeface="微软雅黑 Light" panose="020B0502040204020203" charset="-122"/>
                <a:cs typeface="微软雅黑 Light" panose="020B0502040204020203" charset="-122"/>
                <a:sym typeface="+mn-ea"/>
              </a:rPr>
              <a:t>……</a:t>
            </a:r>
            <a:endParaRPr lang="en-US" sz="1400">
              <a:solidFill>
                <a:srgbClr val="15BAB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1" name="文本框 90"/>
          <p:cNvSpPr txBox="1"/>
          <p:nvPr/>
        </p:nvSpPr>
        <p:spPr>
          <a:xfrm>
            <a:off x="8690610" y="1703070"/>
            <a:ext cx="1506855"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在线商城小程序</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2" name="文本框 91"/>
          <p:cNvSpPr txBox="1"/>
          <p:nvPr/>
        </p:nvSpPr>
        <p:spPr>
          <a:xfrm>
            <a:off x="8037195" y="2217420"/>
            <a:ext cx="1228725" cy="521970"/>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企业</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网站搭建</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3" name="文本框 92"/>
          <p:cNvSpPr txBox="1"/>
          <p:nvPr/>
        </p:nvSpPr>
        <p:spPr>
          <a:xfrm>
            <a:off x="5796915" y="2217420"/>
            <a:ext cx="1228725" cy="521970"/>
          </a:xfrm>
          <a:prstGeom prst="rect">
            <a:avLst/>
          </a:prstGeom>
          <a:noFill/>
        </p:spPr>
        <p:txBody>
          <a:bodyPr wrap="square" rtlCol="0" anchor="t">
            <a:spAutoFit/>
          </a:bodyPr>
          <a:p>
            <a:pPr algn="ct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CaseCrafter </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软件测试</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cxnSp>
        <p:nvCxnSpPr>
          <p:cNvPr id="97" name="直接连接符 96"/>
          <p:cNvCxnSpPr/>
          <p:nvPr/>
        </p:nvCxnSpPr>
        <p:spPr>
          <a:xfrm flipH="1">
            <a:off x="2277745" y="2384425"/>
            <a:ext cx="2558415" cy="0"/>
          </a:xfrm>
          <a:prstGeom prst="line">
            <a:avLst/>
          </a:prstGeom>
          <a:ln w="0">
            <a:solidFill>
              <a:srgbClr val="4179EC"/>
            </a:solidFill>
            <a:prstDash val="dash"/>
          </a:ln>
        </p:spPr>
        <p:style>
          <a:lnRef idx="2">
            <a:schemeClr val="accent1"/>
          </a:lnRef>
          <a:fillRef idx="0">
            <a:srgbClr val="FFFFFF"/>
          </a:fillRef>
          <a:effectRef idx="0">
            <a:srgbClr val="FFFFFF"/>
          </a:effectRef>
          <a:fontRef idx="minor">
            <a:schemeClr val="tx1"/>
          </a:fontRef>
        </p:style>
      </p:cxnSp>
      <p:grpSp>
        <p:nvGrpSpPr>
          <p:cNvPr id="8" name="组合 7"/>
          <p:cNvGrpSpPr/>
          <p:nvPr/>
        </p:nvGrpSpPr>
        <p:grpSpPr>
          <a:xfrm>
            <a:off x="623570" y="3183255"/>
            <a:ext cx="1501775" cy="460375"/>
            <a:chOff x="978" y="3257"/>
            <a:chExt cx="2365" cy="725"/>
          </a:xfrm>
        </p:grpSpPr>
        <p:sp>
          <p:nvSpPr>
            <p:cNvPr id="10" name="矩形 9"/>
            <p:cNvSpPr/>
            <p:nvPr/>
          </p:nvSpPr>
          <p:spPr>
            <a:xfrm>
              <a:off x="978" y="3755"/>
              <a:ext cx="2364" cy="221"/>
            </a:xfrm>
            <a:prstGeom prst="rect">
              <a:avLst/>
            </a:prstGeom>
            <a:solidFill>
              <a:srgbClr val="3671F6"/>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979" y="3257"/>
              <a:ext cx="2364" cy="725"/>
            </a:xfrm>
            <a:prstGeom prst="rect">
              <a:avLst/>
            </a:prstGeom>
            <a:noFill/>
          </p:spPr>
          <p:txBody>
            <a:bodyPr wrap="square" rtlCol="0">
              <a:spAutoFit/>
            </a:bodyPr>
            <a:p>
              <a:pPr algn="ctr"/>
              <a:r>
                <a:rPr lang="zh-CN" altLang="en-US" sz="2400" b="1">
                  <a:solidFill>
                    <a:schemeClr val="tx1"/>
                  </a:solidFill>
                  <a:latin typeface="+mn-ea"/>
                </a:rPr>
                <a:t>软件服务</a:t>
              </a:r>
              <a:endParaRPr lang="zh-CN" altLang="en-US" sz="2400" b="1">
                <a:solidFill>
                  <a:schemeClr val="tx1"/>
                </a:solidFill>
                <a:latin typeface="+mn-ea"/>
              </a:endParaRPr>
            </a:p>
          </p:txBody>
        </p:sp>
      </p:grpSp>
      <p:grpSp>
        <p:nvGrpSpPr>
          <p:cNvPr id="14" name="组合 13"/>
          <p:cNvGrpSpPr/>
          <p:nvPr/>
        </p:nvGrpSpPr>
        <p:grpSpPr>
          <a:xfrm>
            <a:off x="620395" y="5416550"/>
            <a:ext cx="1501775" cy="460375"/>
            <a:chOff x="978" y="3257"/>
            <a:chExt cx="2365" cy="725"/>
          </a:xfrm>
        </p:grpSpPr>
        <p:sp>
          <p:nvSpPr>
            <p:cNvPr id="22" name="矩形 21"/>
            <p:cNvSpPr/>
            <p:nvPr/>
          </p:nvSpPr>
          <p:spPr>
            <a:xfrm>
              <a:off x="978" y="3755"/>
              <a:ext cx="2364" cy="221"/>
            </a:xfrm>
            <a:prstGeom prst="rect">
              <a:avLst/>
            </a:prstGeom>
            <a:solidFill>
              <a:srgbClr val="3671F6"/>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文本框 27"/>
            <p:cNvSpPr txBox="1"/>
            <p:nvPr/>
          </p:nvSpPr>
          <p:spPr>
            <a:xfrm>
              <a:off x="979" y="3257"/>
              <a:ext cx="2364" cy="725"/>
            </a:xfrm>
            <a:prstGeom prst="rect">
              <a:avLst/>
            </a:prstGeom>
            <a:noFill/>
          </p:spPr>
          <p:txBody>
            <a:bodyPr wrap="square" rtlCol="0">
              <a:spAutoFit/>
            </a:bodyPr>
            <a:p>
              <a:pPr algn="ctr"/>
              <a:r>
                <a:rPr lang="zh-CN" altLang="en-US" sz="2400" b="1">
                  <a:solidFill>
                    <a:schemeClr val="tx1"/>
                  </a:solidFill>
                  <a:latin typeface="+mn-ea"/>
                </a:rPr>
                <a:t>云服务</a:t>
              </a:r>
              <a:endParaRPr lang="zh-CN" altLang="en-US" sz="2400" b="1">
                <a:solidFill>
                  <a:schemeClr val="tx1"/>
                </a:solidFill>
                <a:latin typeface="+mn-ea"/>
              </a:endParaRPr>
            </a:p>
          </p:txBody>
        </p:sp>
      </p:grpSp>
      <p:sp>
        <p:nvSpPr>
          <p:cNvPr id="31" name="椭圆 30"/>
          <p:cNvSpPr/>
          <p:nvPr/>
        </p:nvSpPr>
        <p:spPr>
          <a:xfrm>
            <a:off x="7523480" y="4046220"/>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nvSpPr>
        <p:spPr>
          <a:xfrm>
            <a:off x="6942455" y="3732530"/>
            <a:ext cx="1289050" cy="306705"/>
          </a:xfrm>
          <a:prstGeom prst="rect">
            <a:avLst/>
          </a:prstGeom>
          <a:noFill/>
        </p:spPr>
        <p:txBody>
          <a:bodyPr wrap="square" rtlCol="0" anchor="t">
            <a:spAutoFit/>
          </a:bodyPr>
          <a:p>
            <a:pPr algn="ctr"/>
            <a:r>
              <a:rPr 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ToC</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应用</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6600" y="574675"/>
            <a:ext cx="1464945" cy="368300"/>
          </a:xfrm>
          <a:prstGeom prst="rect">
            <a:avLst/>
          </a:prstGeom>
          <a:noFill/>
        </p:spPr>
        <p:txBody>
          <a:bodyPr wrap="square" rtlCol="0">
            <a:spAutoFit/>
          </a:bodyPr>
          <a:p>
            <a:pPr lvl="0" algn="l">
              <a:buClrTx/>
              <a:buSzTx/>
              <a:buFontTx/>
            </a:pPr>
            <a:r>
              <a:rPr lang="en-US" altLang="zh-CN">
                <a:latin typeface="微软雅黑 Light" panose="020B0502040204020203" charset="-122"/>
                <a:ea typeface="微软雅黑 Light" panose="020B0502040204020203" charset="-122"/>
                <a:sym typeface="+mn-ea"/>
              </a:rPr>
              <a:t>PART ONE</a:t>
            </a:r>
            <a:endParaRPr lang="en-US" altLang="zh-CN">
              <a:latin typeface="微软雅黑 Light" panose="020B0502040204020203" charset="-122"/>
              <a:ea typeface="微软雅黑 Light" panose="020B0502040204020203" charset="-122"/>
              <a:sym typeface="+mn-ea"/>
            </a:endParaRPr>
          </a:p>
        </p:txBody>
      </p:sp>
      <p:sp>
        <p:nvSpPr>
          <p:cNvPr id="5" name="文本框 4"/>
          <p:cNvSpPr txBox="1"/>
          <p:nvPr/>
        </p:nvSpPr>
        <p:spPr>
          <a:xfrm>
            <a:off x="2508250" y="574675"/>
            <a:ext cx="1464945" cy="368300"/>
          </a:xfrm>
          <a:prstGeom prst="rect">
            <a:avLst/>
          </a:prstGeom>
          <a:noFill/>
        </p:spPr>
        <p:txBody>
          <a:bodyPr wrap="square" rtlCol="0">
            <a:spAutoFit/>
          </a:bodyPr>
          <a:p>
            <a:pPr lvl="0" algn="l">
              <a:buClrTx/>
              <a:buSzTx/>
              <a:buFontTx/>
            </a:pPr>
            <a:r>
              <a:rPr lang="en-US" altLang="zh-CN">
                <a:latin typeface="微软雅黑 Light" panose="020B0502040204020203" charset="-122"/>
                <a:ea typeface="微软雅黑 Light" panose="020B0502040204020203" charset="-122"/>
                <a:sym typeface="+mn-ea"/>
              </a:rPr>
              <a:t>PART TWO</a:t>
            </a:r>
            <a:endParaRPr lang="en-US" altLang="zh-CN">
              <a:latin typeface="微软雅黑 Light" panose="020B0502040204020203" charset="-122"/>
              <a:ea typeface="微软雅黑 Light" panose="020B0502040204020203" charset="-122"/>
              <a:sym typeface="+mn-ea"/>
            </a:endParaRPr>
          </a:p>
        </p:txBody>
      </p:sp>
      <p:sp>
        <p:nvSpPr>
          <p:cNvPr id="6" name="文本框 5"/>
          <p:cNvSpPr txBox="1"/>
          <p:nvPr/>
        </p:nvSpPr>
        <p:spPr>
          <a:xfrm>
            <a:off x="4279900" y="574675"/>
            <a:ext cx="1883410" cy="368300"/>
          </a:xfrm>
          <a:prstGeom prst="rect">
            <a:avLst/>
          </a:prstGeom>
          <a:noFill/>
        </p:spPr>
        <p:txBody>
          <a:bodyPr wrap="square" rtlCol="0">
            <a:spAutoFit/>
          </a:bodyPr>
          <a:p>
            <a:pPr lvl="0" algn="l">
              <a:buClrTx/>
              <a:buSzTx/>
              <a:buFontTx/>
            </a:pPr>
            <a:r>
              <a:rPr lang="en-US" altLang="zh-CN">
                <a:solidFill>
                  <a:srgbClr val="3671F6"/>
                </a:solidFill>
                <a:sym typeface="+mn-ea"/>
              </a:rPr>
              <a:t>PART THREE</a:t>
            </a:r>
            <a:endParaRPr lang="en-US" altLang="zh-CN">
              <a:solidFill>
                <a:srgbClr val="3671F6"/>
              </a:solidFill>
              <a:sym typeface="+mn-ea"/>
            </a:endParaRPr>
          </a:p>
        </p:txBody>
      </p:sp>
      <p:sp>
        <p:nvSpPr>
          <p:cNvPr id="8" name="文本框 7"/>
          <p:cNvSpPr txBox="1"/>
          <p:nvPr/>
        </p:nvSpPr>
        <p:spPr>
          <a:xfrm>
            <a:off x="638810" y="3982720"/>
            <a:ext cx="5588635" cy="1322070"/>
          </a:xfrm>
          <a:prstGeom prst="rect">
            <a:avLst/>
          </a:prstGeom>
          <a:noFill/>
        </p:spPr>
        <p:txBody>
          <a:bodyPr wrap="square" rtlCol="0" anchor="t">
            <a:spAutoFit/>
          </a:bodyPr>
          <a:p>
            <a:r>
              <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云服务案例</a:t>
            </a:r>
            <a:endPar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0" name="直接连接符 9"/>
          <p:cNvCxnSpPr/>
          <p:nvPr/>
        </p:nvCxnSpPr>
        <p:spPr>
          <a:xfrm>
            <a:off x="731520" y="5457190"/>
            <a:ext cx="8761730" cy="0"/>
          </a:xfrm>
          <a:prstGeom prst="line">
            <a:avLst/>
          </a:prstGeom>
          <a:ln w="34925">
            <a:gradFill>
              <a:gsLst>
                <a:gs pos="0">
                  <a:srgbClr val="3671F6"/>
                </a:gs>
                <a:gs pos="100000">
                  <a:srgbClr val="15BAB1"/>
                </a:gs>
              </a:gsLst>
              <a:lin ang="0" scaled="1"/>
            </a:gradFill>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656590" y="5671820"/>
            <a:ext cx="6096000" cy="398780"/>
          </a:xfrm>
          <a:prstGeom prst="rect">
            <a:avLst/>
          </a:prstGeom>
          <a:noFill/>
        </p:spPr>
        <p:txBody>
          <a:bodyPr wrap="square" rtlCol="0" anchor="t">
            <a:spAutoFit/>
          </a:bodyPr>
          <a:p>
            <a:pPr algn="l"/>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客户案例</a:t>
            </a:r>
            <a:r>
              <a:rPr lang="en-US" altLang="zh-CN"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&amp;</a:t>
            </a:r>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行业解决方案</a:t>
            </a:r>
            <a:endPar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2" name="文本框 11"/>
          <p:cNvSpPr txBox="1"/>
          <p:nvPr/>
        </p:nvSpPr>
        <p:spPr>
          <a:xfrm>
            <a:off x="6090920" y="4764405"/>
            <a:ext cx="3834130" cy="460375"/>
          </a:xfrm>
          <a:prstGeom prst="rect">
            <a:avLst/>
          </a:prstGeom>
          <a:noFill/>
        </p:spPr>
        <p:txBody>
          <a:bodyPr wrap="square" rtlCol="0" anchor="t">
            <a:spAutoFit/>
          </a:bodyPr>
          <a:p>
            <a:pPr algn="dist"/>
            <a:r>
              <a:rPr lang="en-US" altLang="zh-CN" sz="2400">
                <a:solidFill>
                  <a:srgbClr val="3671F6"/>
                </a:solidFill>
                <a:latin typeface="微软雅黑" panose="020B0503020204020204" charset="-122"/>
                <a:ea typeface="微软雅黑" panose="020B0503020204020204" charset="-122"/>
              </a:rPr>
              <a:t>CUSTOMER CASE</a:t>
            </a:r>
            <a:endParaRPr lang="en-US" altLang="zh-CN" sz="2400">
              <a:solidFill>
                <a:srgbClr val="3671F6"/>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9" name="图片 198" descr="T240429163814-PSD"/>
          <p:cNvPicPr>
            <a:picLocks noChangeAspect="1"/>
          </p:cNvPicPr>
          <p:nvPr/>
        </p:nvPicPr>
        <p:blipFill>
          <a:blip r:embed="rId1">
            <a:alphaModFix amt="10000"/>
          </a:blip>
          <a:srcRect/>
          <a:stretch>
            <a:fillRect/>
          </a:stretch>
        </p:blipFill>
        <p:spPr>
          <a:xfrm>
            <a:off x="6370955" y="1203325"/>
            <a:ext cx="5848985" cy="5654675"/>
          </a:xfrm>
          <a:prstGeom prst="rect">
            <a:avLst/>
          </a:prstGeom>
        </p:spPr>
      </p:pic>
      <p:sp>
        <p:nvSpPr>
          <p:cNvPr id="24" name="文本框 23"/>
          <p:cNvSpPr txBox="1"/>
          <p:nvPr/>
        </p:nvSpPr>
        <p:spPr>
          <a:xfrm>
            <a:off x="781685" y="512445"/>
            <a:ext cx="5663565" cy="1568450"/>
          </a:xfrm>
          <a:prstGeom prst="rect">
            <a:avLst/>
          </a:prstGeom>
          <a:noFill/>
        </p:spPr>
        <p:txBody>
          <a:bodyPr wrap="square" rtlCol="0">
            <a:spAutoFit/>
          </a:bodyPr>
          <a:p>
            <a:r>
              <a:rPr lang="zh-CN" altLang="en-US" sz="6000" b="1">
                <a:gradFill>
                  <a:gsLst>
                    <a:gs pos="0">
                      <a:srgbClr val="22BCAC"/>
                    </a:gs>
                    <a:gs pos="100000">
                      <a:srgbClr val="475AEE"/>
                    </a:gs>
                  </a:gsLst>
                  <a:lin ang="3000000" scaled="0"/>
                </a:gradFill>
                <a:latin typeface="微软雅黑" panose="020B0503020204020204" charset="-122"/>
                <a:ea typeface="微软雅黑" panose="020B0503020204020204" charset="-122"/>
                <a:cs typeface="微软雅黑" panose="020B0503020204020204" charset="-122"/>
              </a:rPr>
              <a:t>端木云服务</a:t>
            </a:r>
            <a:endParaRPr lang="zh-CN" altLang="en-US" sz="6000">
              <a:gradFill>
                <a:gsLst>
                  <a:gs pos="0">
                    <a:srgbClr val="06CB9B"/>
                  </a:gs>
                  <a:gs pos="100000">
                    <a:srgbClr val="475AEE"/>
                  </a:gs>
                </a:gsLst>
                <a:lin ang="3000000" scaled="0"/>
              </a:gradFill>
              <a:latin typeface="微软雅黑" panose="020B0503020204020204" charset="-122"/>
              <a:ea typeface="微软雅黑" panose="020B0503020204020204" charset="-122"/>
              <a:cs typeface="微软雅黑" panose="020B0503020204020204" charset="-122"/>
            </a:endParaRPr>
          </a:p>
          <a:p>
            <a:r>
              <a:rPr lang="zh-CN" altLang="en-US" sz="3600">
                <a:latin typeface="微软雅黑" panose="020B0503020204020204" charset="-122"/>
                <a:ea typeface="微软雅黑" panose="020B0503020204020204" charset="-122"/>
                <a:cs typeface="微软雅黑" panose="020B0503020204020204" charset="-122"/>
              </a:rPr>
              <a:t>客户案例</a:t>
            </a:r>
            <a:r>
              <a:rPr lang="en-US" altLang="zh-CN" sz="3600">
                <a:latin typeface="微软雅黑" panose="020B0503020204020204" charset="-122"/>
                <a:ea typeface="微软雅黑" panose="020B0503020204020204" charset="-122"/>
                <a:cs typeface="微软雅黑" panose="020B0503020204020204" charset="-122"/>
              </a:rPr>
              <a:t>&amp;</a:t>
            </a:r>
            <a:r>
              <a:rPr lang="zh-CN" altLang="en-US" sz="3600">
                <a:latin typeface="微软雅黑" panose="020B0503020204020204" charset="-122"/>
                <a:ea typeface="微软雅黑" panose="020B0503020204020204" charset="-122"/>
                <a:cs typeface="微软雅黑" panose="020B0503020204020204" charset="-122"/>
              </a:rPr>
              <a:t>行业解决方案</a:t>
            </a:r>
            <a:endParaRPr lang="zh-CN" altLang="en-US" sz="3600">
              <a:latin typeface="微软雅黑" panose="020B0503020204020204" charset="-122"/>
              <a:ea typeface="微软雅黑" panose="020B0503020204020204" charset="-122"/>
              <a:cs typeface="微软雅黑" panose="020B0503020204020204" charset="-122"/>
            </a:endParaRPr>
          </a:p>
        </p:txBody>
      </p:sp>
      <p:sp>
        <p:nvSpPr>
          <p:cNvPr id="103" name="文本框 102"/>
          <p:cNvSpPr txBox="1"/>
          <p:nvPr/>
        </p:nvSpPr>
        <p:spPr>
          <a:xfrm>
            <a:off x="781685" y="251333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浙江水利水电勘测设计院</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05" name="文本框 104"/>
          <p:cNvSpPr txBox="1"/>
          <p:nvPr/>
        </p:nvSpPr>
        <p:spPr>
          <a:xfrm>
            <a:off x="781685" y="286956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数字赋能水利新发展</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12" name="矩形 111"/>
          <p:cNvSpPr/>
          <p:nvPr/>
        </p:nvSpPr>
        <p:spPr>
          <a:xfrm>
            <a:off x="877570" y="3155950"/>
            <a:ext cx="265366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端木软件智慧政务云服务解决方案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27" name="矩形 126"/>
          <p:cNvSpPr/>
          <p:nvPr/>
        </p:nvSpPr>
        <p:spPr>
          <a:xfrm>
            <a:off x="873125" y="4494530"/>
            <a:ext cx="265366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端木软件传统零售业上云服务方案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73" name="文本框 172"/>
          <p:cNvSpPr txBox="1"/>
          <p:nvPr/>
        </p:nvSpPr>
        <p:spPr>
          <a:xfrm>
            <a:off x="781685" y="385127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水星家纺</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74" name="文本框 173"/>
          <p:cNvSpPr txBox="1"/>
          <p:nvPr/>
        </p:nvSpPr>
        <p:spPr>
          <a:xfrm>
            <a:off x="781685" y="4207510"/>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传统制造零售业的求变破局之路</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78" name="文本框 177"/>
          <p:cNvSpPr txBox="1"/>
          <p:nvPr/>
        </p:nvSpPr>
        <p:spPr>
          <a:xfrm>
            <a:off x="781685" y="518985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创米互联</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79" name="文本框 178"/>
          <p:cNvSpPr txBox="1"/>
          <p:nvPr/>
        </p:nvSpPr>
        <p:spPr>
          <a:xfrm>
            <a:off x="781685" y="5546090"/>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以自建物联网平台，赋能智慧生活万物互联</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80" name="矩形 179"/>
          <p:cNvSpPr/>
          <p:nvPr/>
        </p:nvSpPr>
        <p:spPr>
          <a:xfrm>
            <a:off x="877570" y="5832475"/>
            <a:ext cx="2192020"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端木软件物联网云服务方案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81" name="文本框 180"/>
          <p:cNvSpPr txBox="1"/>
          <p:nvPr/>
        </p:nvSpPr>
        <p:spPr>
          <a:xfrm>
            <a:off x="4688840" y="251333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深睿医疗科技</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82" name="文本框 181"/>
          <p:cNvSpPr txBox="1"/>
          <p:nvPr/>
        </p:nvSpPr>
        <p:spPr>
          <a:xfrm>
            <a:off x="4688840" y="286956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以智慧医疗让看病不再困难</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83" name="矩形 182"/>
          <p:cNvSpPr/>
          <p:nvPr/>
        </p:nvSpPr>
        <p:spPr>
          <a:xfrm>
            <a:off x="4784725" y="3155950"/>
            <a:ext cx="267144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端木软件智慧医疗云服务解决方案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84" name="文本框 183"/>
          <p:cNvSpPr txBox="1"/>
          <p:nvPr/>
        </p:nvSpPr>
        <p:spPr>
          <a:xfrm>
            <a:off x="4688205" y="382397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四川川投云链科技</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85" name="文本框 184"/>
          <p:cNvSpPr txBox="1"/>
          <p:nvPr/>
        </p:nvSpPr>
        <p:spPr>
          <a:xfrm>
            <a:off x="4688205" y="418020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促进金融资源与产业端精准配置、高效对接</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86" name="矩形 185"/>
          <p:cNvSpPr/>
          <p:nvPr/>
        </p:nvSpPr>
        <p:spPr>
          <a:xfrm>
            <a:off x="4777105" y="4494530"/>
            <a:ext cx="2540000"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端木软件金融业云服务解决方案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90" name="文本框 189"/>
          <p:cNvSpPr txBox="1"/>
          <p:nvPr/>
        </p:nvSpPr>
        <p:spPr>
          <a:xfrm>
            <a:off x="4688840" y="518985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翰林科技</a:t>
            </a:r>
            <a:endParaRPr lang="en-US" altLang="zh-CN">
              <a:latin typeface="微软雅黑" panose="020B0503020204020204" charset="-122"/>
              <a:ea typeface="微软雅黑" panose="020B0503020204020204" charset="-122"/>
              <a:cs typeface="微软雅黑" panose="020B0503020204020204" charset="-122"/>
            </a:endParaRPr>
          </a:p>
        </p:txBody>
      </p:sp>
      <p:sp>
        <p:nvSpPr>
          <p:cNvPr id="191" name="文本框 190"/>
          <p:cNvSpPr txBox="1"/>
          <p:nvPr/>
        </p:nvSpPr>
        <p:spPr>
          <a:xfrm>
            <a:off x="4688840" y="5546090"/>
            <a:ext cx="291846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以多样化智慧教育产品助力构建智慧校园平台</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92" name="矩形 191"/>
          <p:cNvSpPr/>
          <p:nvPr/>
        </p:nvSpPr>
        <p:spPr>
          <a:xfrm>
            <a:off x="4784725" y="5832475"/>
            <a:ext cx="259651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端木软件在线教育云服务解决方案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93" name="文本框 192"/>
          <p:cNvSpPr txBox="1"/>
          <p:nvPr/>
        </p:nvSpPr>
        <p:spPr>
          <a:xfrm>
            <a:off x="8473440" y="251523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成都顺火互娱</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94" name="文本框 193"/>
          <p:cNvSpPr txBox="1"/>
          <p:nvPr/>
        </p:nvSpPr>
        <p:spPr>
          <a:xfrm>
            <a:off x="8473440" y="2871470"/>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高效、安全、智能的游戏运营</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95" name="矩形 194"/>
          <p:cNvSpPr/>
          <p:nvPr/>
        </p:nvSpPr>
        <p:spPr>
          <a:xfrm>
            <a:off x="8569325" y="3157855"/>
            <a:ext cx="267144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端木软件游戏行业云服务解决方案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96" name="文本框 195"/>
          <p:cNvSpPr txBox="1"/>
          <p:nvPr/>
        </p:nvSpPr>
        <p:spPr>
          <a:xfrm>
            <a:off x="8472170" y="385191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弗思特建筑</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97" name="文本框 196"/>
          <p:cNvSpPr txBox="1"/>
          <p:nvPr/>
        </p:nvSpPr>
        <p:spPr>
          <a:xfrm>
            <a:off x="8472170" y="420814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跨国企业办公模式的智慧变革</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98" name="矩形 197"/>
          <p:cNvSpPr/>
          <p:nvPr/>
        </p:nvSpPr>
        <p:spPr>
          <a:xfrm>
            <a:off x="8568055" y="4494530"/>
            <a:ext cx="2540000"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端木软件无影智慧办公解决方案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2" name="文本框 1"/>
          <p:cNvSpPr txBox="1"/>
          <p:nvPr>
            <p:custDataLst>
              <p:tags r:id="rId2"/>
            </p:custDataLst>
          </p:nvPr>
        </p:nvSpPr>
        <p:spPr>
          <a:xfrm>
            <a:off x="8491220" y="518858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沐坤</a:t>
            </a:r>
            <a:r>
              <a:rPr lang="zh-CN" altLang="en-US">
                <a:latin typeface="微软雅黑" panose="020B0503020204020204" charset="-122"/>
                <a:ea typeface="微软雅黑" panose="020B0503020204020204" charset="-122"/>
                <a:cs typeface="微软雅黑" panose="020B0503020204020204" charset="-122"/>
              </a:rPr>
              <a:t>教育</a:t>
            </a:r>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custDataLst>
              <p:tags r:id="rId3"/>
            </p:custDataLst>
          </p:nvPr>
        </p:nvSpPr>
        <p:spPr>
          <a:xfrm>
            <a:off x="8491220" y="5544820"/>
            <a:ext cx="2918460" cy="245110"/>
          </a:xfrm>
          <a:prstGeom prst="rect">
            <a:avLst/>
          </a:prstGeom>
          <a:noFill/>
        </p:spPr>
        <p:txBody>
          <a:bodyPr wrap="square" rtlCol="0" anchor="t">
            <a:spAutoFit/>
          </a:bodyPr>
          <a:p>
            <a:r>
              <a:rPr lang="en-US" altLang="zh-CN" sz="1000">
                <a:latin typeface="微软雅黑 Light" panose="020B0502040204020203" charset="-122"/>
                <a:ea typeface="微软雅黑 Light" panose="020B0502040204020203" charset="-122"/>
                <a:cs typeface="微软雅黑" panose="020B0503020204020204" charset="-122"/>
                <a:sym typeface="+mn-ea"/>
              </a:rPr>
              <a:t>AI</a:t>
            </a:r>
            <a:r>
              <a:rPr lang="zh-CN" altLang="en-US" sz="1000">
                <a:latin typeface="微软雅黑 Light" panose="020B0502040204020203" charset="-122"/>
                <a:ea typeface="微软雅黑 Light" panose="020B0502040204020203" charset="-122"/>
                <a:cs typeface="微软雅黑" panose="020B0503020204020204" charset="-122"/>
                <a:sym typeface="+mn-ea"/>
              </a:rPr>
              <a:t>赋能</a:t>
            </a:r>
            <a:r>
              <a:rPr lang="zh-CN" altLang="en-US" sz="1000">
                <a:latin typeface="微软雅黑 Light" panose="020B0502040204020203" charset="-122"/>
                <a:ea typeface="微软雅黑 Light" panose="020B0502040204020203" charset="-122"/>
                <a:cs typeface="微软雅黑" panose="020B0503020204020204" charset="-122"/>
                <a:sym typeface="+mn-ea"/>
              </a:rPr>
              <a:t>打造作业智能评阅系统</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4" name="矩形 3"/>
          <p:cNvSpPr/>
          <p:nvPr>
            <p:custDataLst>
              <p:tags r:id="rId4"/>
            </p:custDataLst>
          </p:nvPr>
        </p:nvSpPr>
        <p:spPr>
          <a:xfrm>
            <a:off x="8587105" y="5831205"/>
            <a:ext cx="259651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200">
                <a:latin typeface="微软雅黑 Light" panose="020B0502040204020203" charset="-122"/>
                <a:ea typeface="微软雅黑 Light" panose="020B0502040204020203" charset="-122"/>
                <a:cs typeface="微软雅黑" panose="020B0503020204020204" charset="-122"/>
                <a:sym typeface="+mn-ea"/>
              </a:rPr>
              <a:t> </a:t>
            </a:r>
            <a:r>
              <a:rPr lang="zh-CN" altLang="en-US" sz="1200">
                <a:latin typeface="微软雅黑 Light" panose="020B0502040204020203" charset="-122"/>
                <a:ea typeface="微软雅黑 Light" panose="020B0502040204020203" charset="-122"/>
                <a:cs typeface="微软雅黑" panose="020B0503020204020204" charset="-122"/>
                <a:sym typeface="+mn-ea"/>
              </a:rPr>
              <a:t>端木软件</a:t>
            </a:r>
            <a:r>
              <a:rPr lang="en-US" altLang="zh-CN" sz="1200">
                <a:latin typeface="微软雅黑 Light" panose="020B0502040204020203" charset="-122"/>
                <a:ea typeface="微软雅黑 Light" panose="020B0502040204020203" charset="-122"/>
                <a:cs typeface="微软雅黑" panose="020B0503020204020204" charset="-122"/>
                <a:sym typeface="+mn-ea"/>
              </a:rPr>
              <a:t>AI</a:t>
            </a:r>
            <a:r>
              <a:rPr lang="zh-CN" altLang="en-US" sz="1200">
                <a:latin typeface="微软雅黑 Light" panose="020B0502040204020203" charset="-122"/>
                <a:ea typeface="微软雅黑 Light" panose="020B0502040204020203" charset="-122"/>
                <a:cs typeface="微软雅黑" panose="020B0503020204020204" charset="-122"/>
                <a:sym typeface="+mn-ea"/>
              </a:rPr>
              <a:t>教育解决方案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24CEBC"/>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浙江水利水电勘测设计院</a:t>
            </a:r>
            <a:r>
              <a:rPr lang="en-US" altLang="zh-CN" sz="2400">
                <a:latin typeface="微软雅黑 Light" panose="020B0502040204020203" charset="-122"/>
                <a:ea typeface="微软雅黑 Light" panose="020B0502040204020203" charset="-122"/>
                <a:cs typeface="微软雅黑 Light" panose="020B0502040204020203" charset="-122"/>
              </a:rPr>
              <a:t> </a:t>
            </a:r>
            <a:r>
              <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rPr>
              <a:t>数字赋能水利新发展</a:t>
            </a:r>
            <a:endPar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endParaRPr>
          </a:p>
        </p:txBody>
      </p:sp>
      <p:sp>
        <p:nvSpPr>
          <p:cNvPr id="4" name="文本框 3"/>
          <p:cNvSpPr txBox="1"/>
          <p:nvPr/>
        </p:nvSpPr>
        <p:spPr>
          <a:xfrm>
            <a:off x="604520" y="1042988"/>
            <a:ext cx="5080000" cy="368300"/>
          </a:xfrm>
          <a:prstGeom prst="rect">
            <a:avLst/>
          </a:prstGeom>
        </p:spPr>
        <p:txBody>
          <a:bodyPr>
            <a:spAutoFit/>
          </a:bodyPr>
          <a:p>
            <a:pPr indent="0" algn="just" defTabSz="266700">
              <a:spcBef>
                <a:spcPct val="0"/>
              </a:spcBef>
              <a:spcAft>
                <a:spcPct val="0"/>
              </a:spcAft>
              <a:buFont typeface="微软雅黑" panose="020B0503020204020204" charset="-122"/>
              <a:buNone/>
            </a:pPr>
            <a:r>
              <a:rPr lang="zh-CN" altLang="en-US" b="1">
                <a:latin typeface="微软雅黑" panose="020B0503020204020204" charset="-122"/>
                <a:ea typeface="微软雅黑" panose="020B0503020204020204" charset="-122"/>
                <a:cs typeface="微软雅黑" panose="020B0503020204020204" charset="-122"/>
              </a:rPr>
              <a:t>拥抱数字化</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探索</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智水</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新思路</a:t>
            </a:r>
            <a:r>
              <a:rPr lang="en-US" altLang="zh-CN" b="1">
                <a:latin typeface="微软雅黑" panose="020B0503020204020204" charset="-122"/>
                <a:ea typeface="微软雅黑" panose="020B0503020204020204" charset="-122"/>
                <a:cs typeface="微软雅黑" panose="020B0503020204020204" charset="-122"/>
              </a:rPr>
              <a:t> </a:t>
            </a:r>
            <a:endParaRPr lang="en-US" altLang="zh-CN" b="1">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325120" y="1469390"/>
            <a:ext cx="11550015" cy="1383665"/>
          </a:xfrm>
          <a:prstGeom prst="rect">
            <a:avLst/>
          </a:prstGeom>
        </p:spPr>
        <p:txBody>
          <a:bodyPr wrap="square">
            <a:spAutoFit/>
          </a:bodyPr>
          <a:p>
            <a:pPr indent="0" algn="just" defTabSz="266700" fontAlgn="auto">
              <a:spcBef>
                <a:spcPts val="600"/>
              </a:spcBef>
              <a:spcAft>
                <a:spcPct val="0"/>
              </a:spcAft>
            </a:pP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rPr>
              <a:t>浙江水利水电勘测设计院创建于</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rPr>
              <a:t>1956</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rPr>
              <a:t>年，是一家集咨询、勘测、设计、科研、岩土工程施工、工程建设监理、工程总承包、项目代建、水库蓄水安全鉴定、施工图设计审查和投资等业务于一体的大型专业勘测设计单位。</a:t>
            </a:r>
            <a:endPar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endParaRPr>
          </a:p>
          <a:p>
            <a:pPr indent="0" algn="just" defTabSz="266700" fontAlgn="auto">
              <a:spcBef>
                <a:spcPts val="600"/>
              </a:spcBef>
              <a:spcAft>
                <a:spcPct val="0"/>
              </a:spcAft>
            </a:pP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rPr>
              <a:t>数字化的力量正在注入各行各业，在水利监测与管理中也发挥着越来越重要的作用。</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浙江水利水电勘测设计院近年来</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rPr>
              <a:t>全面贯彻落实全省数字化改革整体部署和水利部智慧水利建设总体要求，通过数字化水利管理平台实时监测全省水利设施状态；设计院还积极探索基于数字孪生和大数据技术的安全监测预警与处置系统，通过模拟真实水利环境，对潜在风险进行精准预测和预警，为水利工程的安全运行提供有力保障。</a:t>
            </a:r>
            <a:endPar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endParaRPr>
          </a:p>
          <a:p>
            <a:pPr indent="0" algn="just" defTabSz="266700" fontAlgn="auto">
              <a:spcBef>
                <a:spcPts val="600"/>
              </a:spcBef>
              <a:spcAft>
                <a:spcPct val="0"/>
              </a:spcAft>
            </a:pPr>
            <a:r>
              <a:rPr lang="zh-CN" altLang="en-US" sz="1400" b="1">
                <a:solidFill>
                  <a:srgbClr val="2F71EB"/>
                </a:solidFill>
                <a:latin typeface="微软雅黑" panose="020B0503020204020204" charset="-122"/>
                <a:ea typeface="微软雅黑" panose="020B0503020204020204" charset="-122"/>
                <a:cs typeface="微软雅黑" panose="020B0503020204020204" charset="-122"/>
              </a:rPr>
              <a:t>在其探索智慧水利的过程中，端木软件为其水利管理平台的云上运营提供了有力的云服务支持。</a:t>
            </a:r>
            <a:endParaRPr lang="zh-CN" altLang="en-US" sz="1400" b="1">
              <a:solidFill>
                <a:srgbClr val="2F71EB"/>
              </a:solidFill>
              <a:latin typeface="微软雅黑" panose="020B0503020204020204" charset="-122"/>
              <a:ea typeface="微软雅黑" panose="020B0503020204020204" charset="-122"/>
              <a:cs typeface="微软雅黑" panose="020B0503020204020204" charset="-122"/>
            </a:endParaRPr>
          </a:p>
        </p:txBody>
      </p:sp>
      <p:pic>
        <p:nvPicPr>
          <p:cNvPr id="10" name="图片 9"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1134110"/>
            <a:ext cx="186055" cy="186055"/>
          </a:xfrm>
          <a:prstGeom prst="rect">
            <a:avLst/>
          </a:prstGeom>
        </p:spPr>
      </p:pic>
      <p:sp>
        <p:nvSpPr>
          <p:cNvPr id="13" name="圆角矩形 12"/>
          <p:cNvSpPr/>
          <p:nvPr/>
        </p:nvSpPr>
        <p:spPr>
          <a:xfrm>
            <a:off x="325755" y="3216910"/>
            <a:ext cx="11549380" cy="3320415"/>
          </a:xfrm>
          <a:prstGeom prst="roundRect">
            <a:avLst>
              <a:gd name="adj" fmla="val 8932"/>
            </a:avLst>
          </a:prstGeom>
          <a:gradFill>
            <a:gsLst>
              <a:gs pos="100000">
                <a:schemeClr val="bg1">
                  <a:alpha val="90000"/>
                </a:schemeClr>
              </a:gs>
              <a:gs pos="0">
                <a:srgbClr val="BED0F0">
                  <a:alpha val="70000"/>
                </a:srgbClr>
              </a:gs>
            </a:gsLst>
            <a:lin ang="4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cs typeface="微软雅黑" panose="020B0503020204020204" charset="-122"/>
            </a:endParaRPr>
          </a:p>
        </p:txBody>
      </p:sp>
      <p:sp>
        <p:nvSpPr>
          <p:cNvPr id="15" name="矩形 14"/>
          <p:cNvSpPr/>
          <p:nvPr/>
        </p:nvSpPr>
        <p:spPr>
          <a:xfrm>
            <a:off x="563245" y="3442335"/>
            <a:ext cx="5309235" cy="32131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sym typeface="+mn-ea"/>
              </a:rPr>
              <a:t>业务挑战：水利管理上云面临安全防护与庞大数据量处理挑战</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1207770" y="4141470"/>
            <a:ext cx="2633980" cy="644525"/>
          </a:xfrm>
          <a:prstGeom prst="rect">
            <a:avLst/>
          </a:prstGeom>
          <a:noFill/>
        </p:spPr>
        <p:txBody>
          <a:bodyPr wrap="square" rtlCol="0" anchor="t">
            <a:spAutoFit/>
          </a:bodyPr>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旧有业务系统</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安全防护能力不足</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3" name="椭圆 22"/>
          <p:cNvSpPr/>
          <p:nvPr/>
        </p:nvSpPr>
        <p:spPr>
          <a:xfrm>
            <a:off x="572135" y="4180840"/>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28" name="文本框 27"/>
          <p:cNvSpPr txBox="1"/>
          <p:nvPr/>
        </p:nvSpPr>
        <p:spPr>
          <a:xfrm>
            <a:off x="5050155" y="4141470"/>
            <a:ext cx="2633980" cy="644525"/>
          </a:xfrm>
          <a:prstGeom prst="rect">
            <a:avLst/>
          </a:prstGeom>
          <a:noFill/>
        </p:spPr>
        <p:txBody>
          <a:bodyPr wrap="square" rtlCol="0" anchor="t">
            <a:spAutoFit/>
          </a:bodyPr>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水利监测数据量庞大</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稳定性要求较高</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9" name="椭圆 28"/>
          <p:cNvSpPr/>
          <p:nvPr/>
        </p:nvSpPr>
        <p:spPr>
          <a:xfrm>
            <a:off x="4413885" y="4180840"/>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33" name="文本框 32"/>
          <p:cNvSpPr txBox="1"/>
          <p:nvPr/>
        </p:nvSpPr>
        <p:spPr>
          <a:xfrm>
            <a:off x="8891905" y="4141470"/>
            <a:ext cx="2564765" cy="644525"/>
          </a:xfrm>
          <a:prstGeom prst="rect">
            <a:avLst/>
          </a:prstGeom>
          <a:noFill/>
        </p:spPr>
        <p:txBody>
          <a:bodyPr wrap="square" rtlCol="0" anchor="t">
            <a:spAutoFit/>
          </a:bodyPr>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旧有架构运营成本高</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急需降本增效</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4" name="椭圆 33"/>
          <p:cNvSpPr/>
          <p:nvPr/>
        </p:nvSpPr>
        <p:spPr>
          <a:xfrm>
            <a:off x="8255635" y="4180840"/>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2" name="文本框 1"/>
          <p:cNvSpPr txBox="1"/>
          <p:nvPr/>
        </p:nvSpPr>
        <p:spPr>
          <a:xfrm>
            <a:off x="8247380" y="5035550"/>
            <a:ext cx="3279140" cy="953135"/>
          </a:xfrm>
          <a:prstGeom prst="rect">
            <a:avLst/>
          </a:prstGeom>
        </p:spPr>
        <p:txBody>
          <a:bodyPr wrap="square">
            <a:spAutoFit/>
          </a:bodyPr>
          <a:p>
            <a:pPr indent="0" fontAlgn="auto">
              <a:spcBef>
                <a:spcPts val="600"/>
              </a:spcBef>
            </a:pPr>
            <a:r>
              <a:rPr lang="zh-CN" sz="1400">
                <a:latin typeface="微软雅黑 Light" panose="020B0502040204020203" charset="-122"/>
                <a:ea typeface="微软雅黑 Light" panose="020B0502040204020203" charset="-122"/>
                <a:cs typeface="微软雅黑 Light" panose="020B0502040204020203" charset="-122"/>
                <a:sym typeface="+mn-ea"/>
              </a:rPr>
              <a:t>旧有架构配置不够合理，资源利用率与扩展灵活度较低，</a:t>
            </a: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rPr>
              <a:t>导致运营成本较高，期望降低不必要的开支的同时优化性能与配置。</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p:txBody>
      </p:sp>
      <p:sp>
        <p:nvSpPr>
          <p:cNvPr id="5" name="文本框 4"/>
          <p:cNvSpPr txBox="1"/>
          <p:nvPr/>
        </p:nvSpPr>
        <p:spPr>
          <a:xfrm>
            <a:off x="4404995" y="5035550"/>
            <a:ext cx="3279140" cy="953135"/>
          </a:xfrm>
          <a:prstGeom prst="rect">
            <a:avLst/>
          </a:prstGeom>
        </p:spPr>
        <p:txBody>
          <a:bodyPr wrap="square">
            <a:spAutoFit/>
          </a:bodyPr>
          <a:p>
            <a:pPr indent="0" fontAlgn="auto">
              <a:spcBef>
                <a:spcPts val="600"/>
              </a:spcBef>
            </a:pPr>
            <a:r>
              <a:rPr lang="zh-CN" sz="1400">
                <a:latin typeface="微软雅黑 Light" panose="020B0502040204020203" charset="-122"/>
                <a:ea typeface="微软雅黑 Light" panose="020B0502040204020203" charset="-122"/>
                <a:cs typeface="微软雅黑 Light" panose="020B0502040204020203" charset="-122"/>
                <a:sym typeface="+mn-ea"/>
              </a:rPr>
              <a:t>覆盖全省的</a:t>
            </a:r>
            <a:r>
              <a:rPr lang="zh-CN" altLang="en-US" sz="1400">
                <a:latin typeface="微软雅黑 Light" panose="020B0502040204020203" charset="-122"/>
                <a:ea typeface="微软雅黑 Light" panose="020B0502040204020203" charset="-122"/>
                <a:cs typeface="微软雅黑 Light" panose="020B0502040204020203" charset="-122"/>
                <a:sym typeface="+mn-ea"/>
              </a:rPr>
              <a:t>水利平台将产生海量数据，包括实时监控数据、实时分析预警、历史记录等，对系统稳定性有严格要求，也对数据存储和管理提出了极高的要求。</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7" name="文本框 6"/>
          <p:cNvSpPr txBox="1"/>
          <p:nvPr/>
        </p:nvSpPr>
        <p:spPr>
          <a:xfrm>
            <a:off x="563245" y="5035550"/>
            <a:ext cx="3279140" cy="953135"/>
          </a:xfrm>
          <a:prstGeom prst="rect">
            <a:avLst/>
          </a:prstGeom>
        </p:spPr>
        <p:txBody>
          <a:bodyPr wrap="square">
            <a:spAutoFit/>
          </a:bodyPr>
          <a:p>
            <a:pPr indent="0" fontAlgn="auto">
              <a:spcBef>
                <a:spcPts val="600"/>
              </a:spcBef>
            </a:pPr>
            <a:r>
              <a:rPr lang="zh-CN" sz="1400">
                <a:latin typeface="微软雅黑 Light" panose="020B0502040204020203" charset="-122"/>
                <a:ea typeface="微软雅黑 Light" panose="020B0502040204020203" charset="-122"/>
                <a:cs typeface="微软雅黑 Light" panose="020B0502040204020203" charset="-122"/>
                <a:sym typeface="+mn-ea"/>
              </a:rPr>
              <a:t>该水利管理平台覆盖浙江全省水利设施信息，</a:t>
            </a: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rPr>
              <a:t>旧有业务系统安防能力不足，有敏感信息泄露和系统遭受外部攻击的风险。</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p:txBody>
      </p:sp>
      <p:pic>
        <p:nvPicPr>
          <p:cNvPr id="8" name="图片 7" descr="安全"/>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995" y="4330700"/>
            <a:ext cx="336550" cy="336550"/>
          </a:xfrm>
          <a:prstGeom prst="rect">
            <a:avLst/>
          </a:prstGeom>
          <a:gradFill>
            <a:gsLst>
              <a:gs pos="27000">
                <a:srgbClr val="2868EA"/>
              </a:gs>
              <a:gs pos="100000">
                <a:schemeClr val="accent4"/>
              </a:gs>
            </a:gsLst>
            <a:lin ang="1440000" scaled="0"/>
          </a:gradFill>
        </p:spPr>
      </p:pic>
      <p:pic>
        <p:nvPicPr>
          <p:cNvPr id="11" name="图片 10" descr="数据"/>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95495" y="4370705"/>
            <a:ext cx="271780" cy="271780"/>
          </a:xfrm>
          <a:prstGeom prst="rect">
            <a:avLst/>
          </a:prstGeom>
        </p:spPr>
      </p:pic>
      <p:pic>
        <p:nvPicPr>
          <p:cNvPr id="16" name="图片 15" descr="报价工具"/>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25180" y="4349750"/>
            <a:ext cx="297180" cy="297180"/>
          </a:xfrm>
          <a:prstGeom prst="rect">
            <a:avLst/>
          </a:prstGeom>
        </p:spPr>
      </p:pic>
    </p:spTree>
    <p:custDataLst>
      <p:tags r:id="rId9"/>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摄图网_500601747_桥下河水波光粼粼(非企业商用)"/>
          <p:cNvPicPr>
            <a:picLocks noChangeAspect="1"/>
          </p:cNvPicPr>
          <p:nvPr/>
        </p:nvPicPr>
        <p:blipFill>
          <a:blip r:embed="rId1"/>
          <a:srcRect/>
          <a:stretch>
            <a:fillRect/>
          </a:stretch>
        </p:blipFill>
        <p:spPr>
          <a:xfrm>
            <a:off x="635" y="0"/>
            <a:ext cx="12191365" cy="6858000"/>
          </a:xfrm>
          <a:prstGeom prst="rect">
            <a:avLst/>
          </a:prstGeom>
        </p:spPr>
      </p:pic>
      <p:sp>
        <p:nvSpPr>
          <p:cNvPr id="4" name="矩形 3"/>
          <p:cNvSpPr/>
          <p:nvPr/>
        </p:nvSpPr>
        <p:spPr>
          <a:xfrm>
            <a:off x="0" y="0"/>
            <a:ext cx="12192000" cy="6858000"/>
          </a:xfrm>
          <a:prstGeom prst="rect">
            <a:avLst/>
          </a:prstGeom>
          <a:solidFill>
            <a:schemeClr val="tx1">
              <a:lumMod val="95000"/>
              <a:lumOff val="5000"/>
              <a:alpha val="8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 name="文本框 5"/>
          <p:cNvSpPr txBox="1"/>
          <p:nvPr/>
        </p:nvSpPr>
        <p:spPr>
          <a:xfrm>
            <a:off x="323215" y="476250"/>
            <a:ext cx="6231255" cy="521970"/>
          </a:xfrm>
          <a:prstGeom prst="rect">
            <a:avLst/>
          </a:prstGeom>
          <a:noFill/>
        </p:spPr>
        <p:txBody>
          <a:bodyPr wrap="square" rtlCol="0" anchor="t">
            <a:spAutoFit/>
          </a:bodyPr>
          <a:p>
            <a:r>
              <a:rPr lang="zh-CN" altLang="en-US" sz="2800" b="1">
                <a:solidFill>
                  <a:schemeClr val="bg1"/>
                </a:solidFill>
                <a:latin typeface="微软雅黑" panose="020B0503020204020204" charset="-122"/>
                <a:ea typeface="微软雅黑" panose="020B0503020204020204" charset="-122"/>
                <a:cs typeface="微软雅黑" panose="020B0503020204020204" charset="-122"/>
              </a:rPr>
              <a:t>端木软件智慧政务云服务解决方案</a:t>
            </a:r>
            <a:endParaRPr lang="zh-CN" altLang="en-US" sz="2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2" name="弧形 41"/>
          <p:cNvSpPr/>
          <p:nvPr>
            <p:custDataLst>
              <p:tags r:id="rId2"/>
            </p:custDataLst>
          </p:nvPr>
        </p:nvSpPr>
        <p:spPr>
          <a:xfrm rot="10800000">
            <a:off x="1473200" y="1127760"/>
            <a:ext cx="9252585" cy="2962910"/>
          </a:xfrm>
          <a:prstGeom prst="arc">
            <a:avLst>
              <a:gd name="adj1" fmla="val 9452879"/>
              <a:gd name="adj2" fmla="val 1362437"/>
            </a:avLst>
          </a:prstGeom>
          <a:noFill/>
          <a:ln w="31750">
            <a:gradFill>
              <a:gsLst>
                <a:gs pos="0">
                  <a:schemeClr val="bg1">
                    <a:alpha val="0"/>
                  </a:schemeClr>
                </a:gs>
                <a:gs pos="100000">
                  <a:srgbClr val="2868EA">
                    <a:alpha val="20000"/>
                  </a:srgbClr>
                </a:gs>
              </a:gsLst>
              <a:lin ang="16200000" scaled="0"/>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1400">
              <a:latin typeface="+mn-ea"/>
              <a:cs typeface="微软雅黑" panose="020B0503020204020204" charset="-122"/>
              <a:sym typeface="+mn-ea"/>
            </a:endParaRPr>
          </a:p>
        </p:txBody>
      </p:sp>
      <p:sp>
        <p:nvSpPr>
          <p:cNvPr id="15" name="椭圆 14"/>
          <p:cNvSpPr/>
          <p:nvPr>
            <p:custDataLst>
              <p:tags r:id="rId3"/>
            </p:custDataLst>
          </p:nvPr>
        </p:nvSpPr>
        <p:spPr>
          <a:xfrm>
            <a:off x="2067560" y="3097530"/>
            <a:ext cx="611505" cy="612140"/>
          </a:xfrm>
          <a:prstGeom prst="ellipse">
            <a:avLst/>
          </a:prstGeom>
          <a:gradFill>
            <a:gsLst>
              <a:gs pos="34000">
                <a:srgbClr val="2868EA"/>
              </a:gs>
              <a:gs pos="100000">
                <a:srgbClr val="24CEBC"/>
              </a:gs>
            </a:gsLst>
            <a:lin ang="276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200" b="1">
              <a:latin typeface="+mn-ea"/>
              <a:cs typeface="微软雅黑" panose="020B0503020204020204" charset="-122"/>
              <a:sym typeface="+mn-ea"/>
            </a:endParaRPr>
          </a:p>
        </p:txBody>
      </p:sp>
      <p:sp>
        <p:nvSpPr>
          <p:cNvPr id="17" name="椭圆 16"/>
          <p:cNvSpPr/>
          <p:nvPr>
            <p:custDataLst>
              <p:tags r:id="rId4"/>
            </p:custDataLst>
          </p:nvPr>
        </p:nvSpPr>
        <p:spPr>
          <a:xfrm>
            <a:off x="5793740" y="3667125"/>
            <a:ext cx="611505" cy="612140"/>
          </a:xfrm>
          <a:prstGeom prst="ellipse">
            <a:avLst/>
          </a:prstGeom>
          <a:gradFill>
            <a:gsLst>
              <a:gs pos="34000">
                <a:srgbClr val="2868EA"/>
              </a:gs>
              <a:gs pos="100000">
                <a:srgbClr val="24CEBC"/>
              </a:gs>
            </a:gsLst>
            <a:lin ang="276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a:latin typeface="+mn-ea"/>
              <a:cs typeface="微软雅黑" panose="020B0503020204020204" charset="-122"/>
              <a:sym typeface="+mn-ea"/>
            </a:endParaRPr>
          </a:p>
        </p:txBody>
      </p:sp>
      <p:sp>
        <p:nvSpPr>
          <p:cNvPr id="18" name="椭圆 17"/>
          <p:cNvSpPr/>
          <p:nvPr>
            <p:custDataLst>
              <p:tags r:id="rId5"/>
            </p:custDataLst>
          </p:nvPr>
        </p:nvSpPr>
        <p:spPr>
          <a:xfrm>
            <a:off x="9519920" y="3097530"/>
            <a:ext cx="611505" cy="612140"/>
          </a:xfrm>
          <a:prstGeom prst="ellipse">
            <a:avLst/>
          </a:prstGeom>
          <a:gradFill>
            <a:gsLst>
              <a:gs pos="34000">
                <a:srgbClr val="2868EA"/>
              </a:gs>
              <a:gs pos="100000">
                <a:srgbClr val="24CEBC"/>
              </a:gs>
            </a:gsLst>
            <a:lin ang="276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200" b="1">
              <a:latin typeface="+mn-ea"/>
              <a:cs typeface="微软雅黑" panose="020B0503020204020204" charset="-122"/>
              <a:sym typeface="+mn-ea"/>
            </a:endParaRPr>
          </a:p>
        </p:txBody>
      </p:sp>
      <p:pic>
        <p:nvPicPr>
          <p:cNvPr id="26" name="图片 5" descr="343435383036303b343532343134393bcdb7c4d4b7e7b1a9"/>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2246630" y="3276600"/>
            <a:ext cx="254635" cy="254635"/>
          </a:xfrm>
          <a:prstGeom prst="rect">
            <a:avLst/>
          </a:prstGeom>
        </p:spPr>
      </p:pic>
      <p:pic>
        <p:nvPicPr>
          <p:cNvPr id="27" name="图片 12" descr="343439383331313b343532303032383bbfcdbba7b9dcc0ed"/>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9696450" y="3274060"/>
            <a:ext cx="258445" cy="258445"/>
          </a:xfrm>
          <a:prstGeom prst="rect">
            <a:avLst/>
          </a:prstGeom>
        </p:spPr>
      </p:pic>
      <p:pic>
        <p:nvPicPr>
          <p:cNvPr id="28" name="图片 15" descr="343439383331313b343532303033313bd3a6d3c3c9ccb3c7"/>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5988050" y="3860800"/>
            <a:ext cx="223520" cy="223520"/>
          </a:xfrm>
          <a:prstGeom prst="rect">
            <a:avLst/>
          </a:prstGeom>
        </p:spPr>
      </p:pic>
      <p:sp>
        <p:nvSpPr>
          <p:cNvPr id="24" name="椭圆 23"/>
          <p:cNvSpPr/>
          <p:nvPr>
            <p:custDataLst>
              <p:tags r:id="rId15"/>
            </p:custDataLst>
          </p:nvPr>
        </p:nvSpPr>
        <p:spPr>
          <a:xfrm>
            <a:off x="4371340" y="2016125"/>
            <a:ext cx="3437255" cy="1069340"/>
          </a:xfrm>
          <a:prstGeom prst="ellipse">
            <a:avLst/>
          </a:prstGeom>
          <a:gradFill>
            <a:gsLst>
              <a:gs pos="4000">
                <a:srgbClr val="2868EA"/>
              </a:gs>
              <a:gs pos="45000">
                <a:srgbClr val="2868EA">
                  <a:alpha val="29000"/>
                </a:srgbClr>
              </a:gs>
              <a:gs pos="100000">
                <a:srgbClr val="2F71EB"/>
              </a:gs>
            </a:gsLst>
            <a:lin ang="16800000" scaled="0"/>
          </a:gradFill>
          <a:ln w="12700">
            <a:gradFill>
              <a:gsLst>
                <a:gs pos="0">
                  <a:schemeClr val="accent1">
                    <a:alpha val="0"/>
                  </a:schemeClr>
                </a:gs>
                <a:gs pos="73000">
                  <a:schemeClr val="accent1">
                    <a:alpha val="50000"/>
                  </a:schemeClr>
                </a:gs>
                <a:gs pos="100000">
                  <a:schemeClr val="accent1">
                    <a:alpha val="40000"/>
                  </a:schemeClr>
                </a:gs>
                <a:gs pos="57000">
                  <a:schemeClr val="accent1">
                    <a:alpha val="20000"/>
                  </a:schemeClr>
                </a:gs>
                <a:gs pos="44000">
                  <a:schemeClr val="accent1">
                    <a:alpha val="0"/>
                  </a:schemeClr>
                </a:gs>
              </a:gsLst>
              <a:lin ang="5760000" scaled="0"/>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1400">
              <a:latin typeface="+mn-ea"/>
              <a:cs typeface="微软雅黑" panose="020B0503020204020204" charset="-122"/>
              <a:sym typeface="+mn-ea"/>
            </a:endParaRPr>
          </a:p>
        </p:txBody>
      </p:sp>
      <p:sp>
        <p:nvSpPr>
          <p:cNvPr id="25" name="弧形 24"/>
          <p:cNvSpPr/>
          <p:nvPr>
            <p:custDataLst>
              <p:tags r:id="rId16"/>
            </p:custDataLst>
          </p:nvPr>
        </p:nvSpPr>
        <p:spPr>
          <a:xfrm rot="10800000">
            <a:off x="3859530" y="1965960"/>
            <a:ext cx="4460240" cy="1428750"/>
          </a:xfrm>
          <a:prstGeom prst="arc">
            <a:avLst>
              <a:gd name="adj1" fmla="val 9688906"/>
              <a:gd name="adj2" fmla="val 1102107"/>
            </a:avLst>
          </a:prstGeom>
          <a:ln w="1905">
            <a:gradFill>
              <a:gsLst>
                <a:gs pos="100000">
                  <a:srgbClr val="689FF0">
                    <a:alpha val="0"/>
                  </a:srgbClr>
                </a:gs>
                <a:gs pos="0">
                  <a:srgbClr val="689FF0"/>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latin typeface="+mn-ea"/>
              <a:cs typeface="微软雅黑" panose="020B0503020204020204" charset="-122"/>
            </a:endParaRPr>
          </a:p>
        </p:txBody>
      </p:sp>
      <p:sp>
        <p:nvSpPr>
          <p:cNvPr id="32" name="椭圆 31"/>
          <p:cNvSpPr/>
          <p:nvPr>
            <p:custDataLst>
              <p:tags r:id="rId17"/>
            </p:custDataLst>
          </p:nvPr>
        </p:nvSpPr>
        <p:spPr>
          <a:xfrm>
            <a:off x="4561840" y="2006600"/>
            <a:ext cx="3056255" cy="873125"/>
          </a:xfrm>
          <a:prstGeom prst="ellipse">
            <a:avLst/>
          </a:prstGeom>
          <a:noFill/>
          <a:ln w="6350">
            <a:gradFill>
              <a:gsLst>
                <a:gs pos="0">
                  <a:schemeClr val="accent1">
                    <a:alpha val="5000"/>
                  </a:schemeClr>
                </a:gs>
                <a:gs pos="64000">
                  <a:schemeClr val="accent1">
                    <a:alpha val="25000"/>
                  </a:schemeClr>
                </a:gs>
                <a:gs pos="100000">
                  <a:schemeClr val="accent1">
                    <a:alpha val="0"/>
                  </a:schemeClr>
                </a:gs>
                <a:gs pos="57000">
                  <a:schemeClr val="accent1">
                    <a:alpha val="20000"/>
                  </a:schemeClr>
                </a:gs>
                <a:gs pos="44000">
                  <a:schemeClr val="accent1">
                    <a:alpha val="5000"/>
                  </a:schemeClr>
                </a:gs>
              </a:gsLst>
              <a:lin ang="2106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1400">
              <a:latin typeface="+mn-ea"/>
              <a:cs typeface="微软雅黑" panose="020B0503020204020204" charset="-122"/>
              <a:sym typeface="+mn-ea"/>
            </a:endParaRPr>
          </a:p>
        </p:txBody>
      </p:sp>
      <p:sp>
        <p:nvSpPr>
          <p:cNvPr id="5" name="弧形 4"/>
          <p:cNvSpPr/>
          <p:nvPr>
            <p:custDataLst>
              <p:tags r:id="rId18"/>
            </p:custDataLst>
          </p:nvPr>
        </p:nvSpPr>
        <p:spPr>
          <a:xfrm rot="10800000">
            <a:off x="3565525" y="1778000"/>
            <a:ext cx="5047615" cy="1616710"/>
          </a:xfrm>
          <a:prstGeom prst="arc">
            <a:avLst>
              <a:gd name="adj1" fmla="val 9741748"/>
              <a:gd name="adj2" fmla="val 1074510"/>
            </a:avLst>
          </a:prstGeom>
          <a:ln w="9525">
            <a:gradFill>
              <a:gsLst>
                <a:gs pos="100000">
                  <a:srgbClr val="2868EA">
                    <a:alpha val="0"/>
                  </a:srgbClr>
                </a:gs>
                <a:gs pos="0">
                  <a:srgbClr val="2868EA"/>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latin typeface="+mn-ea"/>
              <a:cs typeface="微软雅黑" panose="020B0503020204020204" charset="-122"/>
            </a:endParaRPr>
          </a:p>
        </p:txBody>
      </p:sp>
      <p:sp>
        <p:nvSpPr>
          <p:cNvPr id="39" name="等腰三角形 38"/>
          <p:cNvSpPr/>
          <p:nvPr>
            <p:custDataLst>
              <p:tags r:id="rId19"/>
            </p:custDataLst>
          </p:nvPr>
        </p:nvSpPr>
        <p:spPr>
          <a:xfrm rot="16680000">
            <a:off x="4949190" y="3204845"/>
            <a:ext cx="128905" cy="236220"/>
          </a:xfrm>
          <a:prstGeom prst="triangle">
            <a:avLst>
              <a:gd name="adj" fmla="val 62096"/>
            </a:avLst>
          </a:prstGeom>
          <a:gradFill>
            <a:gsLst>
              <a:gs pos="34000">
                <a:srgbClr val="2868EA"/>
              </a:gs>
              <a:gs pos="100000">
                <a:schemeClr val="accent1">
                  <a:lumMod val="10000"/>
                  <a:lumOff val="90000"/>
                  <a:alpha val="73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a:latin typeface="+mn-ea"/>
              <a:cs typeface="微软雅黑" panose="020B0503020204020204" charset="-122"/>
              <a:sym typeface="+mn-ea"/>
            </a:endParaRPr>
          </a:p>
        </p:txBody>
      </p:sp>
      <p:sp>
        <p:nvSpPr>
          <p:cNvPr id="40" name="等腰三角形 39"/>
          <p:cNvSpPr/>
          <p:nvPr>
            <p:custDataLst>
              <p:tags r:id="rId20"/>
            </p:custDataLst>
          </p:nvPr>
        </p:nvSpPr>
        <p:spPr>
          <a:xfrm rot="15600000">
            <a:off x="6936740" y="3226435"/>
            <a:ext cx="128905" cy="236220"/>
          </a:xfrm>
          <a:prstGeom prst="triangle">
            <a:avLst>
              <a:gd name="adj" fmla="val 60926"/>
            </a:avLst>
          </a:prstGeom>
          <a:gradFill>
            <a:gsLst>
              <a:gs pos="34000">
                <a:srgbClr val="2868EA"/>
              </a:gs>
              <a:gs pos="100000">
                <a:schemeClr val="accent1">
                  <a:lumMod val="10000"/>
                  <a:lumOff val="90000"/>
                  <a:alpha val="73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a:latin typeface="+mn-ea"/>
              <a:cs typeface="微软雅黑" panose="020B0503020204020204" charset="-122"/>
              <a:sym typeface="+mn-ea"/>
            </a:endParaRPr>
          </a:p>
        </p:txBody>
      </p:sp>
      <p:pic>
        <p:nvPicPr>
          <p:cNvPr id="9" name="图片 8" descr="竖版"/>
          <p:cNvPicPr>
            <a:picLocks noChangeAspect="1"/>
          </p:cNvPicPr>
          <p:nvPr/>
        </p:nvPicPr>
        <p:blipFill>
          <a:blip r:embed="rId21"/>
          <a:srcRect/>
          <a:stretch>
            <a:fillRect/>
          </a:stretch>
        </p:blipFill>
        <p:spPr>
          <a:xfrm>
            <a:off x="5183505" y="1526540"/>
            <a:ext cx="1831975" cy="1082675"/>
          </a:xfrm>
          <a:prstGeom prst="rect">
            <a:avLst/>
          </a:prstGeom>
          <a:effectLst>
            <a:reflection blurRad="50800" stA="65000" endA="300" endPos="35000" dir="5400000" sy="-100000" algn="bl" rotWithShape="0"/>
          </a:effectLst>
        </p:spPr>
      </p:pic>
      <p:sp>
        <p:nvSpPr>
          <p:cNvPr id="10" name="文本框 9"/>
          <p:cNvSpPr txBox="1"/>
          <p:nvPr/>
        </p:nvSpPr>
        <p:spPr>
          <a:xfrm>
            <a:off x="1183640" y="3847465"/>
            <a:ext cx="2386965" cy="368300"/>
          </a:xfrm>
          <a:prstGeom prst="rect">
            <a:avLst/>
          </a:prstGeom>
          <a:noFill/>
        </p:spPr>
        <p:txBody>
          <a:bodyPr wrap="square" rtlCol="0" anchor="t">
            <a:spAutoFit/>
          </a:bodyPr>
          <a:p>
            <a:pPr algn="ctr"/>
            <a:r>
              <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rPr>
              <a:t>安全架构重点增强</a:t>
            </a:r>
            <a:endPar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1" name="文本框 10"/>
          <p:cNvSpPr txBox="1"/>
          <p:nvPr/>
        </p:nvSpPr>
        <p:spPr>
          <a:xfrm>
            <a:off x="4906645" y="4398645"/>
            <a:ext cx="2386965" cy="368300"/>
          </a:xfrm>
          <a:prstGeom prst="rect">
            <a:avLst/>
          </a:prstGeom>
          <a:noFill/>
        </p:spPr>
        <p:txBody>
          <a:bodyPr wrap="square" rtlCol="0" anchor="t">
            <a:spAutoFit/>
          </a:bodyPr>
          <a:p>
            <a:pPr algn="ctr"/>
            <a:r>
              <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rPr>
              <a:t>优化架构稳定性</a:t>
            </a:r>
            <a:endPar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2" name="文本框 11"/>
          <p:cNvSpPr txBox="1"/>
          <p:nvPr/>
        </p:nvSpPr>
        <p:spPr>
          <a:xfrm>
            <a:off x="8629015" y="3847465"/>
            <a:ext cx="2386965" cy="368300"/>
          </a:xfrm>
          <a:prstGeom prst="rect">
            <a:avLst/>
          </a:prstGeom>
          <a:noFill/>
        </p:spPr>
        <p:txBody>
          <a:bodyPr wrap="square" rtlCol="0" anchor="t">
            <a:spAutoFit/>
          </a:bodyPr>
          <a:p>
            <a:pPr algn="ctr"/>
            <a:r>
              <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rPr>
              <a:t>资源利用率优化</a:t>
            </a:r>
            <a:endPar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3" name="文本框 12"/>
          <p:cNvSpPr txBox="1"/>
          <p:nvPr/>
        </p:nvSpPr>
        <p:spPr>
          <a:xfrm>
            <a:off x="923290" y="4332605"/>
            <a:ext cx="2900045" cy="1276350"/>
          </a:xfrm>
          <a:prstGeom prst="rect">
            <a:avLst/>
          </a:prstGeom>
          <a:noFill/>
        </p:spPr>
        <p:txBody>
          <a:bodyPr wrap="square" rtlCol="0" anchor="t">
            <a:spAutoFit/>
          </a:bodyPr>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重新评估并设计业务系统的安全架构，采用分层防御策略。</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集成阿里云的安全产品如</a:t>
            </a:r>
            <a:r>
              <a:rPr lang="en-US" alt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WAF</a:t>
            </a: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a:t>
            </a:r>
            <a:r>
              <a:rPr lang="en-US" alt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Web</a:t>
            </a: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应用防火墙）、云防火墙、云安全中心服务等，构建全面的安全防护体系，有效防止敏感信息泄露和外部攻击。</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4" name="文本框 13"/>
          <p:cNvSpPr txBox="1"/>
          <p:nvPr/>
        </p:nvSpPr>
        <p:spPr>
          <a:xfrm>
            <a:off x="4634865" y="4904740"/>
            <a:ext cx="2900045" cy="1537970"/>
          </a:xfrm>
          <a:prstGeom prst="rect">
            <a:avLst/>
          </a:prstGeom>
          <a:noFill/>
        </p:spPr>
        <p:txBody>
          <a:bodyPr wrap="square" rtlCol="0" anchor="t">
            <a:spAutoFit/>
          </a:bodyPr>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构建具备容错能力和自动故障转移机制的高可用系统架构；</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Arial" panose="020B0604020202090204" pitchFamily="34" charset="0"/>
              <a:buChar char="•"/>
            </a:pPr>
            <a:r>
              <a:rPr 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通过</a:t>
            </a: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弹性计算资源与分布式存储，确保数据高并发的稳定性；</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Arial" panose="020B0604020202090204" pitchFamily="34" charset="0"/>
              <a:buChar char="•"/>
            </a:pPr>
            <a:r>
              <a:rPr 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同时</a:t>
            </a: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持续监测系统的性能指标，及时发现潜在问题，并通过参数调优、代码改进等提高系统效率。</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9" name="文本框 18"/>
          <p:cNvSpPr txBox="1"/>
          <p:nvPr/>
        </p:nvSpPr>
        <p:spPr>
          <a:xfrm>
            <a:off x="8368665" y="4332605"/>
            <a:ext cx="2900045" cy="1353820"/>
          </a:xfrm>
          <a:prstGeom prst="rect">
            <a:avLst/>
          </a:prstGeom>
          <a:noFill/>
        </p:spPr>
        <p:txBody>
          <a:bodyPr wrap="square" rtlCol="0" anchor="t">
            <a:spAutoFit/>
          </a:bodyPr>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采用微服务架构提升系统扩展性，实现资源按需分配；</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利用容器化技术提高资源利用率，降低闲置成本；</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通过智能监控与调优，持续优化系统性能，实现整体架构的降本增效。</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pic>
        <p:nvPicPr>
          <p:cNvPr id="2" name="图片 1" descr="全彩版"/>
          <p:cNvPicPr>
            <a:picLocks noChangeAspect="1"/>
          </p:cNvPicPr>
          <p:nvPr userDrawn="1"/>
        </p:nvPicPr>
        <p:blipFill>
          <a:blip r:embed="rId22"/>
          <a:stretch>
            <a:fillRect/>
          </a:stretch>
        </p:blipFill>
        <p:spPr>
          <a:xfrm>
            <a:off x="10339070" y="217805"/>
            <a:ext cx="1607820" cy="407035"/>
          </a:xfrm>
          <a:prstGeom prst="rect">
            <a:avLst/>
          </a:prstGeom>
        </p:spPr>
      </p:pic>
    </p:spTree>
    <p:custDataLst>
      <p:tags r:id="rId2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24CEBC"/>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水星家纺</a:t>
            </a:r>
            <a:r>
              <a:rPr lang="en-US" altLang="zh-CN" sz="2400">
                <a:latin typeface="微软雅黑 Light" panose="020B0502040204020203" charset="-122"/>
                <a:ea typeface="微软雅黑 Light" panose="020B0502040204020203" charset="-122"/>
                <a:cs typeface="微软雅黑 Light" panose="020B0502040204020203" charset="-122"/>
              </a:rPr>
              <a:t> </a:t>
            </a:r>
            <a:r>
              <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rPr>
              <a:t>传统制造零售业的求变破局之路</a:t>
            </a:r>
            <a:endPar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endParaRPr>
          </a:p>
        </p:txBody>
      </p:sp>
      <p:sp>
        <p:nvSpPr>
          <p:cNvPr id="4" name="文本框 3"/>
          <p:cNvSpPr txBox="1"/>
          <p:nvPr/>
        </p:nvSpPr>
        <p:spPr>
          <a:xfrm>
            <a:off x="604520" y="1042988"/>
            <a:ext cx="5080000" cy="368300"/>
          </a:xfrm>
          <a:prstGeom prst="rect">
            <a:avLst/>
          </a:prstGeom>
        </p:spPr>
        <p:txBody>
          <a:bodyPr>
            <a:spAutoFit/>
          </a:bodyPr>
          <a:p>
            <a:pPr indent="0" algn="just" defTabSz="266700">
              <a:spcBef>
                <a:spcPct val="0"/>
              </a:spcBef>
              <a:spcAft>
                <a:spcPct val="0"/>
              </a:spcAft>
              <a:buFont typeface="微软雅黑" panose="020B0503020204020204" charset="-122"/>
              <a:buNone/>
            </a:pPr>
            <a:r>
              <a:rPr lang="zh-CN" altLang="en-US" b="1">
                <a:latin typeface="微软雅黑" panose="020B0503020204020204" charset="-122"/>
                <a:ea typeface="微软雅黑" panose="020B0503020204020204" charset="-122"/>
                <a:cs typeface="微软雅黑" panose="020B0503020204020204" charset="-122"/>
                <a:sym typeface="+mn-ea"/>
              </a:rPr>
              <a:t>互联网时代的前瞻性布局</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325120" y="1469390"/>
            <a:ext cx="11550015" cy="906780"/>
          </a:xfrm>
          <a:prstGeom prst="rect">
            <a:avLst/>
          </a:prstGeom>
        </p:spPr>
        <p:txBody>
          <a:bodyPr wrap="square">
            <a:spAutoFit/>
          </a:bodyPr>
          <a:p>
            <a:pPr indent="0" algn="just" defTabSz="266700" fontAlgn="auto">
              <a:spcBef>
                <a:spcPts val="600"/>
              </a:spcBef>
              <a:spcAft>
                <a:spcPct val="0"/>
              </a:spcAft>
            </a:pPr>
            <a:r>
              <a:rPr lang="zh-CN" altLang="en-US" sz="1200">
                <a:latin typeface="微软雅黑 Light" panose="020B0502040204020203" charset="-122"/>
                <a:ea typeface="微软雅黑 Light" panose="020B0502040204020203" charset="-122"/>
                <a:cs typeface="微软雅黑 Light" panose="020B0502040204020203" charset="-122"/>
                <a:sym typeface="+mn-ea"/>
              </a:rPr>
              <a:t>这家始建于</a:t>
            </a:r>
            <a:r>
              <a:rPr lang="en-US" altLang="zh-CN" sz="1200">
                <a:latin typeface="微软雅黑 Light" panose="020B0502040204020203" charset="-122"/>
                <a:ea typeface="微软雅黑 Light" panose="020B0502040204020203" charset="-122"/>
                <a:cs typeface="微软雅黑 Light" panose="020B0502040204020203" charset="-122"/>
                <a:sym typeface="+mn-ea"/>
              </a:rPr>
              <a:t>1987</a:t>
            </a:r>
            <a:r>
              <a:rPr lang="zh-CN" altLang="en-US" sz="1200">
                <a:latin typeface="微软雅黑 Light" panose="020B0502040204020203" charset="-122"/>
                <a:ea typeface="微软雅黑 Light" panose="020B0502040204020203" charset="-122"/>
                <a:cs typeface="微软雅黑 Light" panose="020B0502040204020203" charset="-122"/>
                <a:sym typeface="+mn-ea"/>
              </a:rPr>
              <a:t>年的老牌家纺业企业，被誉为家纺行业的</a:t>
            </a:r>
            <a:r>
              <a:rPr lang="en-US" altLang="zh-CN" sz="1200">
                <a:latin typeface="微软雅黑 Light" panose="020B0502040204020203" charset="-122"/>
                <a:ea typeface="微软雅黑 Light" panose="020B0502040204020203" charset="-122"/>
                <a:cs typeface="微软雅黑 Light" panose="020B0502040204020203" charset="-122"/>
                <a:sym typeface="+mn-ea"/>
              </a:rPr>
              <a:t>“</a:t>
            </a:r>
            <a:r>
              <a:rPr lang="zh-CN" altLang="en-US" sz="1200">
                <a:latin typeface="微软雅黑 Light" panose="020B0502040204020203" charset="-122"/>
                <a:ea typeface="微软雅黑 Light" panose="020B0502040204020203" charset="-122"/>
                <a:cs typeface="微软雅黑 Light" panose="020B0502040204020203" charset="-122"/>
                <a:sym typeface="+mn-ea"/>
              </a:rPr>
              <a:t>优衣库</a:t>
            </a:r>
            <a:r>
              <a:rPr lang="en-US" altLang="zh-CN" sz="1200">
                <a:latin typeface="微软雅黑 Light" panose="020B0502040204020203" charset="-122"/>
                <a:ea typeface="微软雅黑 Light" panose="020B0502040204020203" charset="-122"/>
                <a:cs typeface="微软雅黑 Light" panose="020B0502040204020203" charset="-122"/>
                <a:sym typeface="+mn-ea"/>
              </a:rPr>
              <a:t>”</a:t>
            </a:r>
            <a:r>
              <a:rPr lang="zh-CN" altLang="en-US" sz="1200">
                <a:latin typeface="微软雅黑 Light" panose="020B0502040204020203" charset="-122"/>
                <a:ea typeface="微软雅黑 Light" panose="020B0502040204020203" charset="-122"/>
                <a:cs typeface="微软雅黑 Light" panose="020B0502040204020203" charset="-122"/>
                <a:sym typeface="+mn-ea"/>
              </a:rPr>
              <a:t>，经过三十多年的发展，已经成为集研发、设计、生产、销售于一体的行业头部企业。一直以来，水星家纺作为一家传统零售，市场打法却从不</a:t>
            </a:r>
            <a:r>
              <a:rPr lang="en-US" altLang="zh-CN" sz="1200">
                <a:latin typeface="微软雅黑 Light" panose="020B0502040204020203" charset="-122"/>
                <a:ea typeface="微软雅黑 Light" panose="020B0502040204020203" charset="-122"/>
                <a:cs typeface="微软雅黑 Light" panose="020B0502040204020203" charset="-122"/>
                <a:sym typeface="+mn-ea"/>
              </a:rPr>
              <a:t>“</a:t>
            </a:r>
            <a:r>
              <a:rPr lang="zh-CN" altLang="en-US" sz="1200">
                <a:latin typeface="微软雅黑 Light" panose="020B0502040204020203" charset="-122"/>
                <a:ea typeface="微软雅黑 Light" panose="020B0502040204020203" charset="-122"/>
                <a:cs typeface="微软雅黑 Light" panose="020B0502040204020203" charset="-122"/>
                <a:sym typeface="+mn-ea"/>
              </a:rPr>
              <a:t>传统</a:t>
            </a:r>
            <a:r>
              <a:rPr lang="en-US" altLang="zh-CN" sz="1200">
                <a:latin typeface="微软雅黑 Light" panose="020B0502040204020203" charset="-122"/>
                <a:ea typeface="微软雅黑 Light" panose="020B0502040204020203" charset="-122"/>
                <a:cs typeface="微软雅黑 Light" panose="020B0502040204020203" charset="-122"/>
                <a:sym typeface="+mn-ea"/>
              </a:rPr>
              <a:t>”</a:t>
            </a:r>
            <a:r>
              <a:rPr lang="zh-CN" altLang="en-US" sz="1200">
                <a:latin typeface="微软雅黑 Light" panose="020B0502040204020203" charset="-122"/>
                <a:ea typeface="微软雅黑 Light" panose="020B0502040204020203" charset="-122"/>
                <a:cs typeface="微软雅黑 Light" panose="020B0502040204020203" charset="-122"/>
                <a:sym typeface="+mn-ea"/>
              </a:rPr>
              <a:t>，不断通过多元化全域营销、电商渠道的全线打通以及研发平台建设，实现品牌价值的持续提升和市场领先地位的稳固。</a:t>
            </a:r>
            <a:endParaRPr lang="zh-CN" altLang="en-US" sz="1200">
              <a:latin typeface="微软雅黑 Light" panose="020B0502040204020203" charset="-122"/>
              <a:ea typeface="微软雅黑 Light" panose="020B0502040204020203" charset="-122"/>
              <a:cs typeface="微软雅黑 Light" panose="020B0502040204020203" charset="-122"/>
            </a:endParaRPr>
          </a:p>
          <a:p>
            <a:pPr indent="0" algn="just" defTabSz="266700" fontAlgn="auto">
              <a:spcBef>
                <a:spcPts val="600"/>
              </a:spcBef>
              <a:spcAft>
                <a:spcPct val="0"/>
              </a:spcAft>
            </a:pPr>
            <a:r>
              <a:rPr lang="zh-CN" altLang="en-US" sz="1200">
                <a:latin typeface="微软雅黑 Light" panose="020B0502040204020203" charset="-122"/>
                <a:ea typeface="微软雅黑 Light" panose="020B0502040204020203" charset="-122"/>
                <a:cs typeface="微软雅黑 Light" panose="020B0502040204020203" charset="-122"/>
                <a:sym typeface="+mn-ea"/>
              </a:rPr>
              <a:t>线上渠道方面，水星家纺紧随互联网经济的步伐，有着十余年的互联网销售经验，全线打通多平台渠道，长期占据各大电商平台家纺类目销售前列；线下渠道方面，</a:t>
            </a:r>
            <a:r>
              <a:rPr lang="en-US" altLang="zh-CN" sz="1200">
                <a:latin typeface="微软雅黑 Light" panose="020B0502040204020203" charset="-122"/>
                <a:ea typeface="微软雅黑 Light" panose="020B0502040204020203" charset="-122"/>
                <a:cs typeface="微软雅黑 Light" panose="020B0502040204020203" charset="-122"/>
                <a:sym typeface="+mn-ea"/>
              </a:rPr>
              <a:t>2020</a:t>
            </a:r>
            <a:r>
              <a:rPr lang="zh-CN" altLang="en-US" sz="1200">
                <a:latin typeface="微软雅黑 Light" panose="020B0502040204020203" charset="-122"/>
                <a:ea typeface="微软雅黑 Light" panose="020B0502040204020203" charset="-122"/>
                <a:cs typeface="微软雅黑 Light" panose="020B0502040204020203" charset="-122"/>
                <a:sym typeface="+mn-ea"/>
              </a:rPr>
              <a:t>年开始，为了提振线下门店销售业绩，水星家纺加速实施全渠道全链路数字化改造战略。</a:t>
            </a:r>
            <a:endParaRPr lang="zh-CN" altLang="en-US" sz="1200">
              <a:solidFill>
                <a:srgbClr val="2F71EB"/>
              </a:solidFill>
              <a:latin typeface="微软雅黑" panose="020B0503020204020204" charset="-122"/>
              <a:ea typeface="微软雅黑" panose="020B0503020204020204" charset="-122"/>
              <a:cs typeface="微软雅黑" panose="020B0503020204020204" charset="-122"/>
            </a:endParaRPr>
          </a:p>
        </p:txBody>
      </p:sp>
      <p:pic>
        <p:nvPicPr>
          <p:cNvPr id="10" name="图片 9"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1134110"/>
            <a:ext cx="186055" cy="186055"/>
          </a:xfrm>
          <a:prstGeom prst="rect">
            <a:avLst/>
          </a:prstGeom>
        </p:spPr>
      </p:pic>
      <p:sp>
        <p:nvSpPr>
          <p:cNvPr id="13" name="圆角矩形 12"/>
          <p:cNvSpPr/>
          <p:nvPr/>
        </p:nvSpPr>
        <p:spPr>
          <a:xfrm>
            <a:off x="325755" y="3670300"/>
            <a:ext cx="11549380" cy="2865755"/>
          </a:xfrm>
          <a:prstGeom prst="roundRect">
            <a:avLst>
              <a:gd name="adj" fmla="val 8932"/>
            </a:avLst>
          </a:prstGeom>
          <a:gradFill>
            <a:gsLst>
              <a:gs pos="100000">
                <a:schemeClr val="bg1">
                  <a:alpha val="90000"/>
                </a:schemeClr>
              </a:gs>
              <a:gs pos="0">
                <a:srgbClr val="BED0F0">
                  <a:alpha val="70000"/>
                </a:srgbClr>
              </a:gs>
            </a:gsLst>
            <a:lin ang="4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400">
              <a:cs typeface="微软雅黑" panose="020B0503020204020204" charset="-122"/>
              <a:sym typeface="+mn-ea"/>
            </a:endParaRPr>
          </a:p>
        </p:txBody>
      </p:sp>
      <p:sp>
        <p:nvSpPr>
          <p:cNvPr id="15" name="矩形 14"/>
          <p:cNvSpPr/>
          <p:nvPr/>
        </p:nvSpPr>
        <p:spPr>
          <a:xfrm>
            <a:off x="563245" y="3895725"/>
            <a:ext cx="4093210" cy="32131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sym typeface="+mn-ea"/>
              </a:rPr>
              <a:t>业务挑战：传统业务架构上云成本高、改造难</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1207770" y="4594860"/>
            <a:ext cx="2633980" cy="645160"/>
          </a:xfrm>
          <a:prstGeom prst="rect">
            <a:avLst/>
          </a:prstGeom>
          <a:noFill/>
        </p:spPr>
        <p:txBody>
          <a:bodyPr wrap="square" rtlCol="0" anchor="t">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sym typeface="+mn-ea"/>
              </a:rPr>
              <a:t>期望通过上云</a:t>
            </a:r>
            <a:endParaRPr lang="zh-CN" altLang="en-US">
              <a:latin typeface="微软雅黑" panose="020B0503020204020204" charset="-122"/>
              <a:ea typeface="微软雅黑" panose="020B0503020204020204" charset="-122"/>
              <a:cs typeface="微软雅黑" panose="020B0503020204020204" charset="-122"/>
              <a:sym typeface="+mn-ea"/>
            </a:endParaRPr>
          </a:p>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sym typeface="+mn-ea"/>
              </a:rPr>
              <a:t>实现业务降本</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3" name="椭圆 22"/>
          <p:cNvSpPr/>
          <p:nvPr/>
        </p:nvSpPr>
        <p:spPr>
          <a:xfrm>
            <a:off x="572135" y="4634230"/>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28" name="文本框 27"/>
          <p:cNvSpPr txBox="1"/>
          <p:nvPr/>
        </p:nvSpPr>
        <p:spPr>
          <a:xfrm>
            <a:off x="6801485" y="4594860"/>
            <a:ext cx="2633980" cy="645160"/>
          </a:xfrm>
          <a:prstGeom prst="rect">
            <a:avLst/>
          </a:prstGeom>
          <a:noFill/>
        </p:spPr>
        <p:txBody>
          <a:bodyPr wrap="square" rtlCol="0" anchor="t">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sym typeface="+mn-ea"/>
              </a:rPr>
              <a:t>传统业务体系庞大</a:t>
            </a:r>
            <a:endParaRPr lang="zh-CN" altLang="en-US">
              <a:latin typeface="微软雅黑" panose="020B0503020204020204" charset="-122"/>
              <a:ea typeface="微软雅黑" panose="020B0503020204020204" charset="-122"/>
              <a:cs typeface="微软雅黑" panose="020B0503020204020204" charset="-122"/>
              <a:sym typeface="+mn-ea"/>
            </a:endParaRPr>
          </a:p>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sym typeface="+mn-ea"/>
              </a:rPr>
              <a:t>数字化改造落地难</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9" name="椭圆 28"/>
          <p:cNvSpPr/>
          <p:nvPr/>
        </p:nvSpPr>
        <p:spPr>
          <a:xfrm>
            <a:off x="6165215" y="4634230"/>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5" name="文本框 4"/>
          <p:cNvSpPr txBox="1"/>
          <p:nvPr/>
        </p:nvSpPr>
        <p:spPr>
          <a:xfrm>
            <a:off x="6156325" y="5431790"/>
            <a:ext cx="4847590" cy="737235"/>
          </a:xfrm>
          <a:prstGeom prst="rect">
            <a:avLst/>
          </a:prstGeom>
        </p:spPr>
        <p:txBody>
          <a:bodyPr wrap="square">
            <a:spAutoFit/>
          </a:bodyPr>
          <a:p>
            <a:pPr marL="0" indent="0" algn="just" defTabSz="266700">
              <a:spcBef>
                <a:spcPct val="0"/>
              </a:spcBef>
              <a:spcAft>
                <a:spcPct val="0"/>
              </a:spcAft>
            </a:pPr>
            <a:r>
              <a:rPr lang="zh-CN" altLang="en-US" sz="1400">
                <a:latin typeface="微软雅黑 Light" panose="020B0502040204020203" charset="-122"/>
                <a:ea typeface="微软雅黑 Light" panose="020B0502040204020203" charset="-122"/>
                <a:cs typeface="微软雅黑" panose="020B0503020204020204" charset="-122"/>
                <a:sym typeface="+mn-ea"/>
              </a:rPr>
              <a:t>水星家纺全国分布</a:t>
            </a:r>
            <a:r>
              <a:rPr lang="en-US" altLang="zh-CN" sz="1400">
                <a:latin typeface="微软雅黑 Light" panose="020B0502040204020203" charset="-122"/>
                <a:ea typeface="微软雅黑 Light" panose="020B0502040204020203" charset="-122"/>
                <a:cs typeface="微软雅黑" panose="020B0503020204020204" charset="-122"/>
                <a:sym typeface="+mn-ea"/>
              </a:rPr>
              <a:t>2000</a:t>
            </a:r>
            <a:r>
              <a:rPr lang="zh-CN" altLang="en-US" sz="1400">
                <a:latin typeface="微软雅黑 Light" panose="020B0502040204020203" charset="-122"/>
                <a:ea typeface="微软雅黑 Light" panose="020B0502040204020203" charset="-122"/>
                <a:cs typeface="微软雅黑" panose="020B0503020204020204" charset="-122"/>
                <a:sym typeface="+mn-ea"/>
              </a:rPr>
              <a:t>余家线下门店，上云体量庞大；且长期传统经营模式下，对云技术的应用缺乏足够认知与落地经验，期望得到专业服务商的全方位支持。</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7" name="文本框 6"/>
          <p:cNvSpPr txBox="1"/>
          <p:nvPr/>
        </p:nvSpPr>
        <p:spPr>
          <a:xfrm>
            <a:off x="563245" y="5431790"/>
            <a:ext cx="4847590" cy="737235"/>
          </a:xfrm>
          <a:prstGeom prst="rect">
            <a:avLst/>
          </a:prstGeom>
        </p:spPr>
        <p:txBody>
          <a:bodyPr wrap="square">
            <a:spAutoFit/>
          </a:bodyPr>
          <a:p>
            <a:pPr marL="0" indent="0" algn="just" defTabSz="266700">
              <a:spcBef>
                <a:spcPct val="0"/>
              </a:spcBef>
              <a:spcAft>
                <a:spcPct val="0"/>
              </a:spcAft>
            </a:pPr>
            <a:r>
              <a:rPr lang="zh-CN" altLang="en-US" sz="1400">
                <a:latin typeface="微软雅黑 Light" panose="020B0502040204020203" charset="-122"/>
                <a:ea typeface="微软雅黑 Light" panose="020B0502040204020203" charset="-122"/>
                <a:cs typeface="微软雅黑" panose="020B0503020204020204" charset="-122"/>
                <a:sym typeface="+mn-ea"/>
              </a:rPr>
              <a:t>庞大的业务体系下，企业承担着相应的高额运营成本，期望通过门店上云实现成本优化管理、提升运营效率，通过优化云上产品配置与付费模式来降低技术开支。</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p:txBody>
      </p:sp>
      <p:sp>
        <p:nvSpPr>
          <p:cNvPr id="8" name="文本框 7"/>
          <p:cNvSpPr txBox="1"/>
          <p:nvPr/>
        </p:nvSpPr>
        <p:spPr>
          <a:xfrm>
            <a:off x="604520" y="2433638"/>
            <a:ext cx="5080000" cy="368300"/>
          </a:xfrm>
          <a:prstGeom prst="rect">
            <a:avLst/>
          </a:prstGeom>
        </p:spPr>
        <p:txBody>
          <a:bodyPr>
            <a:spAutoFit/>
          </a:bodyPr>
          <a:p>
            <a:pPr indent="0" algn="just" defTabSz="266700">
              <a:spcBef>
                <a:spcPct val="0"/>
              </a:spcBef>
              <a:spcAft>
                <a:spcPct val="0"/>
              </a:spcAft>
              <a:buFont typeface="微软雅黑" panose="020B0503020204020204" charset="-122"/>
              <a:buNone/>
            </a:pPr>
            <a:r>
              <a:rPr lang="zh-CN" altLang="en-US" b="1">
                <a:latin typeface="微软雅黑" panose="020B0503020204020204" charset="-122"/>
                <a:ea typeface="微软雅黑" panose="020B0503020204020204" charset="-122"/>
                <a:cs typeface="微软雅黑" panose="020B0503020204020204" charset="-122"/>
                <a:sym typeface="+mn-ea"/>
              </a:rPr>
              <a:t>全链路数字化改造，线下门店全面上云</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pic>
        <p:nvPicPr>
          <p:cNvPr id="11" name="图片 10"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2524760"/>
            <a:ext cx="186055" cy="186055"/>
          </a:xfrm>
          <a:prstGeom prst="rect">
            <a:avLst/>
          </a:prstGeom>
        </p:spPr>
      </p:pic>
      <p:sp>
        <p:nvSpPr>
          <p:cNvPr id="16" name="文本框 15"/>
          <p:cNvSpPr txBox="1"/>
          <p:nvPr/>
        </p:nvSpPr>
        <p:spPr>
          <a:xfrm>
            <a:off x="325120" y="2830195"/>
            <a:ext cx="11550015" cy="521970"/>
          </a:xfrm>
          <a:prstGeom prst="rect">
            <a:avLst/>
          </a:prstGeom>
        </p:spPr>
        <p:txBody>
          <a:bodyPr wrap="square">
            <a:spAutoFit/>
          </a:bodyPr>
          <a:p>
            <a:pPr marL="0" indent="0" algn="just" defTabSz="266700">
              <a:spcBef>
                <a:spcPct val="0"/>
              </a:spcBef>
              <a:spcAft>
                <a:spcPct val="0"/>
              </a:spcAft>
            </a:pP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为了实现全渠道全链路的数字化改造，水星家纺布局</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2000</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余家经销商门店全面上云，通过门店上云为门店营造全时全域一体化的经营渠道。</a:t>
            </a:r>
            <a:r>
              <a:rPr lang="zh-CN" altLang="en-US" sz="1400" b="1">
                <a:solidFill>
                  <a:srgbClr val="2868EA"/>
                </a:solidFill>
                <a:latin typeface="微软雅黑" panose="020B0503020204020204" charset="-122"/>
                <a:ea typeface="微软雅黑" panose="020B0503020204020204" charset="-122"/>
                <a:cs typeface="微软雅黑 Light" panose="020B0502040204020203" charset="-122"/>
                <a:sym typeface="+mn-ea"/>
              </a:rPr>
              <a:t>端木软件在其上云过程中提供了全周期的云服务支持，针对其数据库赋能与业务降本的突出需求提供了针对性行业应用方案。</a:t>
            </a:r>
            <a:endParaRPr lang="zh-CN" altLang="en-US" sz="1400" b="1">
              <a:solidFill>
                <a:srgbClr val="2868EA"/>
              </a:solidFill>
              <a:latin typeface="微软雅黑" panose="020B0503020204020204" charset="-122"/>
              <a:ea typeface="微软雅黑" panose="020B0503020204020204" charset="-122"/>
              <a:cs typeface="微软雅黑 Light" panose="020B0502040204020203" charset="-122"/>
              <a:sym typeface="+mn-ea"/>
            </a:endParaRPr>
          </a:p>
        </p:txBody>
      </p:sp>
      <p:pic>
        <p:nvPicPr>
          <p:cNvPr id="30" name="图片 29" descr="全球"/>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6030" y="4805045"/>
            <a:ext cx="294640" cy="294640"/>
          </a:xfrm>
          <a:prstGeom prst="rect">
            <a:avLst/>
          </a:prstGeom>
        </p:spPr>
      </p:pic>
      <p:pic>
        <p:nvPicPr>
          <p:cNvPr id="31" name="图片 30" descr="下降"/>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3905" y="4826635"/>
            <a:ext cx="252095" cy="252095"/>
          </a:xfrm>
          <a:prstGeom prst="rect">
            <a:avLst/>
          </a:prstGeom>
        </p:spPr>
      </p:pic>
    </p:spTree>
    <p:custDataLst>
      <p:tags r:id="rId7"/>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摄图网_500537847_卧室场景图(仅交流学习使用)"/>
          <p:cNvPicPr>
            <a:picLocks noChangeAspect="1"/>
          </p:cNvPicPr>
          <p:nvPr/>
        </p:nvPicPr>
        <p:blipFill>
          <a:blip r:embed="rId1"/>
          <a:srcRect/>
          <a:stretch>
            <a:fillRect/>
          </a:stretch>
        </p:blipFill>
        <p:spPr>
          <a:xfrm>
            <a:off x="635" y="0"/>
            <a:ext cx="12190730" cy="6858000"/>
          </a:xfrm>
          <a:prstGeom prst="rect">
            <a:avLst/>
          </a:prstGeom>
        </p:spPr>
      </p:pic>
      <p:sp>
        <p:nvSpPr>
          <p:cNvPr id="16" name="矩形 15"/>
          <p:cNvSpPr/>
          <p:nvPr/>
        </p:nvSpPr>
        <p:spPr>
          <a:xfrm>
            <a:off x="635" y="0"/>
            <a:ext cx="12190730" cy="6858000"/>
          </a:xfrm>
          <a:prstGeom prst="rect">
            <a:avLst/>
          </a:prstGeom>
          <a:solidFill>
            <a:schemeClr val="tx1">
              <a:lumMod val="95000"/>
              <a:lumOff val="5000"/>
              <a:alpha val="8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0" name="任意多边形 19"/>
          <p:cNvSpPr/>
          <p:nvPr/>
        </p:nvSpPr>
        <p:spPr>
          <a:xfrm>
            <a:off x="0" y="4775200"/>
            <a:ext cx="12190730" cy="208724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4399" h="2465">
                <a:moveTo>
                  <a:pt x="7200" y="0"/>
                </a:moveTo>
                <a:cubicBezTo>
                  <a:pt x="9709" y="0"/>
                  <a:pt x="12128" y="389"/>
                  <a:pt x="14398" y="1111"/>
                </a:cubicBezTo>
                <a:lnTo>
                  <a:pt x="14399" y="1111"/>
                </a:lnTo>
                <a:lnTo>
                  <a:pt x="14399" y="2465"/>
                </a:lnTo>
                <a:lnTo>
                  <a:pt x="0" y="2465"/>
                </a:lnTo>
                <a:lnTo>
                  <a:pt x="0" y="1112"/>
                </a:lnTo>
                <a:lnTo>
                  <a:pt x="2" y="1111"/>
                </a:lnTo>
                <a:cubicBezTo>
                  <a:pt x="2272" y="389"/>
                  <a:pt x="4691" y="0"/>
                  <a:pt x="7200" y="0"/>
                </a:cubicBezTo>
                <a:close/>
              </a:path>
            </a:pathLst>
          </a:custGeom>
          <a:gradFill>
            <a:gsLst>
              <a:gs pos="100000">
                <a:srgbClr val="2868EA">
                  <a:alpha val="58000"/>
                </a:srgbClr>
              </a:gs>
              <a:gs pos="0">
                <a:schemeClr val="tx1">
                  <a:lumMod val="95000"/>
                  <a:lumOff val="5000"/>
                  <a:alpha val="40000"/>
                </a:schemeClr>
              </a:gs>
            </a:gsLst>
            <a:lin ang="1620000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2" name="矩形 21"/>
          <p:cNvSpPr/>
          <p:nvPr/>
        </p:nvSpPr>
        <p:spPr>
          <a:xfrm>
            <a:off x="1345565" y="1929765"/>
            <a:ext cx="2529840" cy="4041775"/>
          </a:xfrm>
          <a:prstGeom prst="rect">
            <a:avLst/>
          </a:prstGeom>
          <a:solidFill>
            <a:schemeClr val="bg1">
              <a:alpha val="84000"/>
            </a:schemeClr>
          </a:solidFill>
          <a:ln>
            <a:noFill/>
          </a:ln>
          <a:effectLst>
            <a:reflection blurRad="241300" stA="35000" endA="300" endPos="160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23" name="矩形 22"/>
          <p:cNvSpPr/>
          <p:nvPr/>
        </p:nvSpPr>
        <p:spPr>
          <a:xfrm>
            <a:off x="4831080" y="1568450"/>
            <a:ext cx="2529840" cy="4413250"/>
          </a:xfrm>
          <a:prstGeom prst="rect">
            <a:avLst/>
          </a:prstGeom>
          <a:solidFill>
            <a:schemeClr val="bg1">
              <a:alpha val="84000"/>
            </a:schemeClr>
          </a:solidFill>
          <a:ln>
            <a:noFill/>
          </a:ln>
          <a:effectLst>
            <a:reflection blurRad="241300" stA="35000" endA="300" endPos="160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24" name="矩形 23"/>
          <p:cNvSpPr/>
          <p:nvPr/>
        </p:nvSpPr>
        <p:spPr>
          <a:xfrm>
            <a:off x="8316595" y="1929765"/>
            <a:ext cx="2529840" cy="4041775"/>
          </a:xfrm>
          <a:prstGeom prst="rect">
            <a:avLst/>
          </a:prstGeom>
          <a:solidFill>
            <a:schemeClr val="bg1">
              <a:alpha val="84000"/>
            </a:schemeClr>
          </a:solidFill>
          <a:ln>
            <a:noFill/>
          </a:ln>
          <a:effectLst>
            <a:reflection blurRad="241300" stA="35000" endA="300" endPos="160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25" name="椭圆 24"/>
          <p:cNvSpPr/>
          <p:nvPr/>
        </p:nvSpPr>
        <p:spPr>
          <a:xfrm>
            <a:off x="2178685" y="2077720"/>
            <a:ext cx="863600" cy="863600"/>
          </a:xfrm>
          <a:prstGeom prst="ellipse">
            <a:avLst/>
          </a:prstGeom>
          <a:gradFill>
            <a:gsLst>
              <a:gs pos="82000">
                <a:srgbClr val="2868EA">
                  <a:alpha val="100000"/>
                </a:srgbClr>
              </a:gs>
              <a:gs pos="0">
                <a:srgbClr val="24CEBC"/>
              </a:gs>
            </a:gsLst>
            <a:lin ang="149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26" name="椭圆 25"/>
          <p:cNvSpPr/>
          <p:nvPr/>
        </p:nvSpPr>
        <p:spPr>
          <a:xfrm>
            <a:off x="5664200" y="1704340"/>
            <a:ext cx="863600" cy="863600"/>
          </a:xfrm>
          <a:prstGeom prst="ellipse">
            <a:avLst/>
          </a:prstGeom>
          <a:gradFill>
            <a:gsLst>
              <a:gs pos="82000">
                <a:srgbClr val="2868EA">
                  <a:alpha val="100000"/>
                </a:srgbClr>
              </a:gs>
              <a:gs pos="0">
                <a:srgbClr val="24CEBC"/>
              </a:gs>
            </a:gsLst>
            <a:lin ang="149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27" name="椭圆 26"/>
          <p:cNvSpPr/>
          <p:nvPr/>
        </p:nvSpPr>
        <p:spPr>
          <a:xfrm>
            <a:off x="9149715" y="2077720"/>
            <a:ext cx="863600" cy="863600"/>
          </a:xfrm>
          <a:prstGeom prst="ellipse">
            <a:avLst/>
          </a:prstGeom>
          <a:gradFill>
            <a:gsLst>
              <a:gs pos="82000">
                <a:srgbClr val="2868EA">
                  <a:alpha val="100000"/>
                </a:srgbClr>
              </a:gs>
              <a:gs pos="0">
                <a:srgbClr val="24CEBC"/>
              </a:gs>
            </a:gsLst>
            <a:lin ang="149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pic>
        <p:nvPicPr>
          <p:cNvPr id="28" name="图片 27" descr="云"/>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4545" y="1924685"/>
            <a:ext cx="423545" cy="423545"/>
          </a:xfrm>
          <a:prstGeom prst="rect">
            <a:avLst/>
          </a:prstGeom>
        </p:spPr>
      </p:pic>
      <p:pic>
        <p:nvPicPr>
          <p:cNvPr id="29" name="图片 28" descr="数据"/>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92680" y="2292350"/>
            <a:ext cx="434975" cy="434975"/>
          </a:xfrm>
          <a:prstGeom prst="rect">
            <a:avLst/>
          </a:prstGeom>
        </p:spPr>
      </p:pic>
      <p:pic>
        <p:nvPicPr>
          <p:cNvPr id="30" name="图片 29" descr="培训"/>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62440" y="2291080"/>
            <a:ext cx="438150" cy="438150"/>
          </a:xfrm>
          <a:prstGeom prst="rect">
            <a:avLst/>
          </a:prstGeom>
        </p:spPr>
      </p:pic>
      <p:sp>
        <p:nvSpPr>
          <p:cNvPr id="31" name="文本框 30"/>
          <p:cNvSpPr txBox="1"/>
          <p:nvPr/>
        </p:nvSpPr>
        <p:spPr>
          <a:xfrm>
            <a:off x="4956175" y="2682875"/>
            <a:ext cx="2279650" cy="583565"/>
          </a:xfrm>
          <a:prstGeom prst="rect">
            <a:avLst/>
          </a:prstGeom>
        </p:spPr>
        <p:txBody>
          <a:bodyPr wrap="square">
            <a:spAutoFit/>
          </a:bodyPr>
          <a:p>
            <a:pPr marL="0" indent="0" algn="ctr" defTabSz="266700">
              <a:spcBef>
                <a:spcPct val="0"/>
              </a:spcBef>
              <a:spcAft>
                <a:spcPct val="0"/>
              </a:spcAft>
            </a:pPr>
            <a:r>
              <a:rPr lang="zh-CN" altLang="en-US" sz="1600" b="1">
                <a:latin typeface="微软雅黑" panose="020B0503020204020204" charset="-122"/>
                <a:ea typeface="微软雅黑" panose="020B0503020204020204" charset="-122"/>
                <a:cs typeface="微软雅黑" panose="020B0503020204020204" charset="-122"/>
              </a:rPr>
              <a:t>云基础设施搭建</a:t>
            </a:r>
            <a:endParaRPr lang="zh-CN" altLang="en-US" sz="1600" b="1">
              <a:latin typeface="微软雅黑" panose="020B0503020204020204" charset="-122"/>
              <a:ea typeface="微软雅黑" panose="020B0503020204020204" charset="-122"/>
              <a:cs typeface="微软雅黑" panose="020B0503020204020204" charset="-122"/>
            </a:endParaRPr>
          </a:p>
          <a:p>
            <a:pPr marL="0" indent="0" algn="ctr" defTabSz="266700">
              <a:spcBef>
                <a:spcPct val="0"/>
              </a:spcBef>
              <a:spcAft>
                <a:spcPct val="0"/>
              </a:spcAft>
            </a:pPr>
            <a:r>
              <a:rPr lang="zh-CN" altLang="en-US" sz="1600" b="1">
                <a:latin typeface="微软雅黑" panose="020B0503020204020204" charset="-122"/>
                <a:ea typeface="微软雅黑" panose="020B0503020204020204" charset="-122"/>
                <a:cs typeface="微软雅黑" panose="020B0503020204020204" charset="-122"/>
              </a:rPr>
              <a:t>云产品成本全面优化</a:t>
            </a:r>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4956175" y="3320415"/>
            <a:ext cx="2279650" cy="2384425"/>
          </a:xfrm>
          <a:prstGeom prst="rect">
            <a:avLst/>
          </a:prstGeom>
        </p:spPr>
        <p:txBody>
          <a:bodyPr wrap="square">
            <a:spAutoFit/>
          </a:bodyPr>
          <a:p>
            <a:pPr indent="0" algn="just" defTabSz="266700" fontAlgn="auto">
              <a:spcBef>
                <a:spcPts val="600"/>
              </a:spcBef>
              <a:spcAft>
                <a:spcPct val="0"/>
              </a:spcAft>
            </a:pPr>
            <a:r>
              <a:rPr lang="zh-CN" altLang="en-US" sz="1200">
                <a:latin typeface="微软雅黑 Light" panose="020B0502040204020203" charset="-122"/>
                <a:ea typeface="微软雅黑 Light" panose="020B0502040204020203" charset="-122"/>
                <a:cs typeface="微软雅黑" panose="020B0503020204020204" charset="-122"/>
              </a:rPr>
              <a:t>利用阿里云的云计算资源为企业搭建稳定、可扩展的云基础设施，包括云服务器、云存储、云数据库等，满足其线上线下业务的数据处理和存储需求；</a:t>
            </a:r>
            <a:endParaRPr lang="zh-CN" altLang="en-US" sz="1200">
              <a:latin typeface="微软雅黑 Light" panose="020B0502040204020203" charset="-122"/>
              <a:ea typeface="微软雅黑 Light" panose="020B0502040204020203" charset="-122"/>
              <a:cs typeface="微软雅黑" panose="020B0503020204020204" charset="-122"/>
            </a:endParaRPr>
          </a:p>
          <a:p>
            <a:pPr indent="0" algn="just" defTabSz="266700" fontAlgn="auto">
              <a:spcBef>
                <a:spcPts val="600"/>
              </a:spcBef>
              <a:spcAft>
                <a:spcPct val="0"/>
              </a:spcAft>
            </a:pPr>
            <a:r>
              <a:rPr lang="zh-CN" altLang="en-US" sz="1200">
                <a:latin typeface="微软雅黑 Light" panose="020B0502040204020203" charset="-122"/>
                <a:ea typeface="微软雅黑 Light" panose="020B0502040204020203" charset="-122"/>
                <a:cs typeface="微软雅黑" panose="020B0503020204020204" charset="-122"/>
              </a:rPr>
              <a:t>同时优化云产品成本管理，如结合实际业务负载进行降配操作，或针对企业常用的后付费产品，协助其平稳过渡到包年包月付费模式等，以这些降本措施杜绝资源闲置与浪费，实现成本精细化管理。</a:t>
            </a:r>
            <a:endParaRPr lang="zh-CN" altLang="en-US" sz="1200">
              <a:latin typeface="微软雅黑 Light" panose="020B0502040204020203" charset="-122"/>
              <a:ea typeface="微软雅黑 Light" panose="020B0502040204020203" charset="-122"/>
              <a:cs typeface="微软雅黑" panose="020B0503020204020204" charset="-122"/>
            </a:endParaRPr>
          </a:p>
        </p:txBody>
      </p:sp>
      <p:sp>
        <p:nvSpPr>
          <p:cNvPr id="33" name="文本框 32"/>
          <p:cNvSpPr txBox="1"/>
          <p:nvPr/>
        </p:nvSpPr>
        <p:spPr>
          <a:xfrm>
            <a:off x="1470660" y="3061335"/>
            <a:ext cx="2279650" cy="583565"/>
          </a:xfrm>
          <a:prstGeom prst="rect">
            <a:avLst/>
          </a:prstGeom>
        </p:spPr>
        <p:txBody>
          <a:bodyPr wrap="square">
            <a:spAutoFit/>
          </a:bodyPr>
          <a:p>
            <a:pPr marL="0" indent="0" algn="ctr" defTabSz="266700">
              <a:spcBef>
                <a:spcPct val="0"/>
              </a:spcBef>
              <a:spcAft>
                <a:spcPct val="0"/>
              </a:spcAft>
            </a:pPr>
            <a:r>
              <a:rPr lang="zh-CN" altLang="en-US" sz="1600" b="1">
                <a:latin typeface="微软雅黑" panose="020B0503020204020204" charset="-122"/>
                <a:ea typeface="微软雅黑" panose="020B0503020204020204" charset="-122"/>
                <a:cs typeface="微软雅黑" panose="020B0503020204020204" charset="-122"/>
              </a:rPr>
              <a:t>数据库</a:t>
            </a:r>
            <a:endParaRPr lang="zh-CN" altLang="en-US" sz="1600" b="1">
              <a:latin typeface="微软雅黑" panose="020B0503020204020204" charset="-122"/>
              <a:ea typeface="微软雅黑" panose="020B0503020204020204" charset="-122"/>
              <a:cs typeface="微软雅黑" panose="020B0503020204020204" charset="-122"/>
            </a:endParaRPr>
          </a:p>
          <a:p>
            <a:pPr marL="0" indent="0" algn="ctr" defTabSz="266700">
              <a:spcBef>
                <a:spcPct val="0"/>
              </a:spcBef>
              <a:spcAft>
                <a:spcPct val="0"/>
              </a:spcAft>
            </a:pPr>
            <a:r>
              <a:rPr lang="zh-CN" altLang="en-US" sz="1600" b="1">
                <a:latin typeface="微软雅黑" panose="020B0503020204020204" charset="-122"/>
                <a:ea typeface="微软雅黑" panose="020B0503020204020204" charset="-122"/>
                <a:cs typeface="微软雅黑" panose="020B0503020204020204" charset="-122"/>
              </a:rPr>
              <a:t>性能提升与赋能</a:t>
            </a:r>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1470660" y="3698875"/>
            <a:ext cx="2279650" cy="1753235"/>
          </a:xfrm>
          <a:prstGeom prst="rect">
            <a:avLst/>
          </a:prstGeom>
        </p:spPr>
        <p:txBody>
          <a:bodyPr wrap="square">
            <a:spAutoFit/>
          </a:bodyPr>
          <a:p>
            <a:pPr marL="0" indent="0" algn="just" defTabSz="266700">
              <a:spcBef>
                <a:spcPct val="0"/>
              </a:spcBef>
              <a:spcAft>
                <a:spcPct val="0"/>
              </a:spcAft>
            </a:pPr>
            <a:r>
              <a:rPr lang="zh-CN" altLang="en-US" sz="1200">
                <a:latin typeface="微软雅黑 Light" panose="020B0502040204020203" charset="-122"/>
                <a:ea typeface="微软雅黑 Light" panose="020B0502040204020203" charset="-122"/>
                <a:cs typeface="微软雅黑" panose="020B0503020204020204" charset="-122"/>
              </a:rPr>
              <a:t>针对销售数据库对零售企业业务优化运营的重要支撑作用，集中专业力量协助企业对</a:t>
            </a:r>
            <a:r>
              <a:rPr lang="en-US" altLang="zh-CN" sz="1200">
                <a:latin typeface="微软雅黑 Light" panose="020B0502040204020203" charset="-122"/>
                <a:ea typeface="微软雅黑 Light" panose="020B0502040204020203" charset="-122"/>
                <a:cs typeface="微软雅黑" panose="020B0503020204020204" charset="-122"/>
              </a:rPr>
              <a:t> RDS </a:t>
            </a:r>
            <a:r>
              <a:rPr lang="zh-CN" altLang="en-US" sz="1200">
                <a:latin typeface="微软雅黑 Light" panose="020B0502040204020203" charset="-122"/>
                <a:ea typeface="微软雅黑 Light" panose="020B0502040204020203" charset="-122"/>
                <a:cs typeface="微软雅黑" panose="020B0503020204020204" charset="-122"/>
              </a:rPr>
              <a:t>进行</a:t>
            </a:r>
            <a:r>
              <a:rPr lang="en-US" altLang="zh-CN" sz="1200">
                <a:latin typeface="微软雅黑 Light" panose="020B0502040204020203" charset="-122"/>
                <a:ea typeface="微软雅黑 Light" panose="020B0502040204020203" charset="-122"/>
                <a:cs typeface="微软雅黑" panose="020B0503020204020204" charset="-122"/>
              </a:rPr>
              <a:t> SQL </a:t>
            </a:r>
            <a:r>
              <a:rPr lang="zh-CN" altLang="en-US" sz="1200">
                <a:latin typeface="微软雅黑 Light" panose="020B0502040204020203" charset="-122"/>
                <a:ea typeface="微软雅黑 Light" panose="020B0502040204020203" charset="-122"/>
                <a:cs typeface="微软雅黑" panose="020B0503020204020204" charset="-122"/>
              </a:rPr>
              <a:t>优化。深入分析现有</a:t>
            </a:r>
            <a:r>
              <a:rPr lang="en-US" altLang="zh-CN" sz="1200">
                <a:latin typeface="微软雅黑 Light" panose="020B0502040204020203" charset="-122"/>
                <a:ea typeface="微软雅黑 Light" panose="020B0502040204020203" charset="-122"/>
                <a:cs typeface="微软雅黑" panose="020B0503020204020204" charset="-122"/>
              </a:rPr>
              <a:t> SQL </a:t>
            </a:r>
            <a:r>
              <a:rPr lang="zh-CN" altLang="en-US" sz="1200">
                <a:latin typeface="微软雅黑 Light" panose="020B0502040204020203" charset="-122"/>
                <a:ea typeface="微软雅黑 Light" panose="020B0502040204020203" charset="-122"/>
                <a:cs typeface="微软雅黑" panose="020B0503020204020204" charset="-122"/>
              </a:rPr>
              <a:t>查询语句，找出执行效率低下的症结，通过索引优化、语句重构等手段，大幅提升数据库查询响应速度，增强业务系统的实时交互性。</a:t>
            </a:r>
            <a:endParaRPr lang="zh-CN" altLang="en-US" sz="1200">
              <a:latin typeface="微软雅黑 Light" panose="020B0502040204020203" charset="-122"/>
              <a:ea typeface="微软雅黑 Light" panose="020B0502040204020203" charset="-122"/>
              <a:cs typeface="微软雅黑" panose="020B0503020204020204" charset="-122"/>
            </a:endParaRPr>
          </a:p>
        </p:txBody>
      </p:sp>
      <p:sp>
        <p:nvSpPr>
          <p:cNvPr id="35" name="文本框 34"/>
          <p:cNvSpPr txBox="1"/>
          <p:nvPr/>
        </p:nvSpPr>
        <p:spPr>
          <a:xfrm>
            <a:off x="8441690" y="3061335"/>
            <a:ext cx="2279650" cy="583565"/>
          </a:xfrm>
          <a:prstGeom prst="rect">
            <a:avLst/>
          </a:prstGeom>
        </p:spPr>
        <p:txBody>
          <a:bodyPr wrap="square">
            <a:spAutoFit/>
          </a:bodyPr>
          <a:p>
            <a:pPr marL="0" indent="0" algn="ctr" defTabSz="266700">
              <a:spcBef>
                <a:spcPct val="0"/>
              </a:spcBef>
              <a:spcAft>
                <a:spcPct val="0"/>
              </a:spcAft>
            </a:pPr>
            <a:r>
              <a:rPr lang="zh-CN" altLang="en-US" sz="1600" b="1">
                <a:latin typeface="微软雅黑" panose="020B0503020204020204" charset="-122"/>
                <a:ea typeface="微软雅黑" panose="020B0503020204020204" charset="-122"/>
                <a:cs typeface="微软雅黑" panose="020B0503020204020204" charset="-122"/>
              </a:rPr>
              <a:t>全周期培训</a:t>
            </a:r>
            <a:endParaRPr lang="zh-CN" altLang="en-US" sz="1600" b="1">
              <a:latin typeface="微软雅黑" panose="020B0503020204020204" charset="-122"/>
              <a:ea typeface="微软雅黑" panose="020B0503020204020204" charset="-122"/>
              <a:cs typeface="微软雅黑" panose="020B0503020204020204" charset="-122"/>
            </a:endParaRPr>
          </a:p>
          <a:p>
            <a:pPr marL="0" indent="0" algn="ctr" defTabSz="266700">
              <a:spcBef>
                <a:spcPct val="0"/>
              </a:spcBef>
              <a:spcAft>
                <a:spcPct val="0"/>
              </a:spcAft>
            </a:pPr>
            <a:r>
              <a:rPr lang="zh-CN" altLang="en-US" sz="1600" b="1">
                <a:latin typeface="微软雅黑" panose="020B0503020204020204" charset="-122"/>
                <a:ea typeface="微软雅黑" panose="020B0503020204020204" charset="-122"/>
                <a:cs typeface="微软雅黑" panose="020B0503020204020204" charset="-122"/>
              </a:rPr>
              <a:t>与技术支持</a:t>
            </a:r>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8441690" y="3698875"/>
            <a:ext cx="2279650" cy="1198880"/>
          </a:xfrm>
          <a:prstGeom prst="rect">
            <a:avLst/>
          </a:prstGeom>
        </p:spPr>
        <p:txBody>
          <a:bodyPr wrap="square">
            <a:spAutoFit/>
          </a:bodyPr>
          <a:p>
            <a:pPr marL="0" indent="0" algn="just" defTabSz="266700">
              <a:spcBef>
                <a:spcPct val="0"/>
              </a:spcBef>
              <a:spcAft>
                <a:spcPct val="0"/>
              </a:spcAft>
            </a:pPr>
            <a:r>
              <a:rPr lang="zh-CN" altLang="en-US" sz="1200">
                <a:latin typeface="微软雅黑 Light" panose="020B0502040204020203" charset="-122"/>
                <a:ea typeface="微软雅黑 Light" panose="020B0502040204020203" charset="-122"/>
                <a:cs typeface="微软雅黑" panose="020B0503020204020204" charset="-122"/>
              </a:rPr>
              <a:t>为企业内部团队提供云产品使用培训和技术支持，帮助其快速适应数字化转型的节奏；同时设立专属客户服务团队，随时解答云技术落地中遇到的问题和困惑。</a:t>
            </a:r>
            <a:endParaRPr lang="zh-CN" altLang="en-US" sz="1200">
              <a:latin typeface="微软雅黑 Light" panose="020B0502040204020203" charset="-122"/>
              <a:ea typeface="微软雅黑 Light" panose="020B0502040204020203" charset="-122"/>
              <a:cs typeface="微软雅黑" panose="020B0503020204020204" charset="-122"/>
            </a:endParaRPr>
          </a:p>
        </p:txBody>
      </p:sp>
      <p:sp>
        <p:nvSpPr>
          <p:cNvPr id="3" name="文本框 2"/>
          <p:cNvSpPr txBox="1"/>
          <p:nvPr/>
        </p:nvSpPr>
        <p:spPr>
          <a:xfrm>
            <a:off x="323215" y="476250"/>
            <a:ext cx="6231255" cy="521970"/>
          </a:xfrm>
          <a:prstGeom prst="rect">
            <a:avLst/>
          </a:prstGeom>
          <a:noFill/>
        </p:spPr>
        <p:txBody>
          <a:bodyPr wrap="square" rtlCol="0" anchor="t">
            <a:spAutoFit/>
          </a:bodyPr>
          <a:p>
            <a:r>
              <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rPr>
              <a:t>端木软件传统零售业上云服务方案</a:t>
            </a:r>
            <a:endPar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descr="全彩版"/>
          <p:cNvPicPr>
            <a:picLocks noChangeAspect="1"/>
          </p:cNvPicPr>
          <p:nvPr userDrawn="1"/>
        </p:nvPicPr>
        <p:blipFill>
          <a:blip r:embed="rId8"/>
          <a:stretch>
            <a:fillRect/>
          </a:stretch>
        </p:blipFill>
        <p:spPr>
          <a:xfrm>
            <a:off x="10339070" y="217805"/>
            <a:ext cx="1607820" cy="407035"/>
          </a:xfrm>
          <a:prstGeom prst="rect">
            <a:avLst/>
          </a:prstGeom>
        </p:spPr>
      </p:pic>
    </p:spTree>
    <p:custDataLst>
      <p:tags r:id="rId9"/>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24CEBC"/>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创米互联</a:t>
            </a:r>
            <a:r>
              <a:rPr lang="en-US" altLang="zh-CN" sz="2400">
                <a:latin typeface="微软雅黑 Light" panose="020B0502040204020203" charset="-122"/>
                <a:ea typeface="微软雅黑 Light" panose="020B0502040204020203" charset="-122"/>
                <a:cs typeface="微软雅黑 Light" panose="020B0502040204020203" charset="-122"/>
              </a:rPr>
              <a:t> </a:t>
            </a:r>
            <a:r>
              <a:rPr lang="en-US" altLang="zh-CN" sz="1600">
                <a:solidFill>
                  <a:srgbClr val="3671F6"/>
                </a:solidFill>
                <a:latin typeface="微软雅黑 Light" panose="020B0502040204020203" charset="-122"/>
                <a:ea typeface="微软雅黑 Light" panose="020B0502040204020203" charset="-122"/>
                <a:cs typeface="微软雅黑 Light" panose="020B0502040204020203" charset="-122"/>
              </a:rPr>
              <a:t> </a:t>
            </a:r>
            <a:r>
              <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rPr>
              <a:t>以自建物联网平台，赋能智慧生活万物互联</a:t>
            </a:r>
            <a:endPar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endParaRPr>
          </a:p>
        </p:txBody>
      </p:sp>
      <p:sp>
        <p:nvSpPr>
          <p:cNvPr id="4" name="文本框 3"/>
          <p:cNvSpPr txBox="1"/>
          <p:nvPr/>
        </p:nvSpPr>
        <p:spPr>
          <a:xfrm>
            <a:off x="604520" y="1042988"/>
            <a:ext cx="5080000" cy="368300"/>
          </a:xfrm>
          <a:prstGeom prst="rect">
            <a:avLst/>
          </a:prstGeom>
        </p:spPr>
        <p:txBody>
          <a:bodyPr>
            <a:spAutoFit/>
          </a:bodyPr>
          <a:p>
            <a:pPr indent="0" algn="just" defTabSz="266700">
              <a:spcBef>
                <a:spcPct val="0"/>
              </a:spcBef>
              <a:spcAft>
                <a:spcPct val="0"/>
              </a:spcAft>
              <a:buFont typeface="微软雅黑" panose="020B0503020204020204" charset="-122"/>
              <a:buNone/>
            </a:pPr>
            <a:r>
              <a:rPr lang="zh-CN" altLang="en-US" b="1">
                <a:latin typeface="微软雅黑" panose="020B0503020204020204" charset="-122"/>
                <a:ea typeface="微软雅黑" panose="020B0503020204020204" charset="-122"/>
                <a:cs typeface="微软雅黑" panose="020B0503020204020204" charset="-122"/>
                <a:sym typeface="+mn-ea"/>
              </a:rPr>
              <a:t>从智能单品到全屋智能</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325120" y="1469390"/>
            <a:ext cx="11550015" cy="906780"/>
          </a:xfrm>
          <a:prstGeom prst="rect">
            <a:avLst/>
          </a:prstGeom>
        </p:spPr>
        <p:txBody>
          <a:bodyPr wrap="square">
            <a:spAutoFit/>
          </a:bodyPr>
          <a:p>
            <a:pPr indent="0" algn="just" defTabSz="266700" fontAlgn="auto">
              <a:spcBef>
                <a:spcPts val="600"/>
              </a:spcBef>
              <a:spcAft>
                <a:spcPct val="0"/>
              </a:spcAft>
            </a:pPr>
            <a:r>
              <a:rPr lang="zh-CN" altLang="en-US" sz="1200">
                <a:latin typeface="微软雅黑 Light" panose="020B0502040204020203" charset="-122"/>
                <a:ea typeface="微软雅黑 Light" panose="020B0502040204020203" charset="-122"/>
                <a:cs typeface="微软雅黑 Light" panose="020B0502040204020203" charset="-122"/>
                <a:sym typeface="+mn-ea"/>
              </a:rPr>
              <a:t>创米数联是一家依托移动互联、人工智能（</a:t>
            </a:r>
            <a:r>
              <a:rPr lang="en-US" altLang="zh-CN" sz="1200">
                <a:latin typeface="微软雅黑 Light" panose="020B0502040204020203" charset="-122"/>
                <a:ea typeface="微软雅黑 Light" panose="020B0502040204020203" charset="-122"/>
                <a:cs typeface="微软雅黑 Light" panose="020B0502040204020203" charset="-122"/>
                <a:sym typeface="+mn-ea"/>
              </a:rPr>
              <a:t>AI</a:t>
            </a:r>
            <a:r>
              <a:rPr lang="zh-CN" altLang="en-US" sz="1200">
                <a:latin typeface="微软雅黑 Light" panose="020B0502040204020203" charset="-122"/>
                <a:ea typeface="微软雅黑 Light" panose="020B0502040204020203" charset="-122"/>
                <a:cs typeface="微软雅黑 Light" panose="020B0502040204020203" charset="-122"/>
                <a:sym typeface="+mn-ea"/>
              </a:rPr>
              <a:t>）技术，提供多品类全屋智能家居产品及服务的科技企业。创米</a:t>
            </a:r>
            <a:r>
              <a:rPr lang="en-US" altLang="zh-CN" sz="1200">
                <a:latin typeface="微软雅黑 Light" panose="020B0502040204020203" charset="-122"/>
                <a:ea typeface="微软雅黑 Light" panose="020B0502040204020203" charset="-122"/>
                <a:cs typeface="微软雅黑 Light" panose="020B0502040204020203" charset="-122"/>
                <a:sym typeface="+mn-ea"/>
              </a:rPr>
              <a:t>2014</a:t>
            </a:r>
            <a:r>
              <a:rPr lang="zh-CN" altLang="en-US" sz="1200">
                <a:latin typeface="微软雅黑 Light" panose="020B0502040204020203" charset="-122"/>
                <a:ea typeface="微软雅黑 Light" panose="020B0502040204020203" charset="-122"/>
                <a:cs typeface="微软雅黑 Light" panose="020B0502040204020203" charset="-122"/>
                <a:sym typeface="+mn-ea"/>
              </a:rPr>
              <a:t>年成立，随后在第二年，以智能插座等家庭智能物联产品为突破口，企业年营收突破</a:t>
            </a:r>
            <a:r>
              <a:rPr lang="en-US" altLang="zh-CN" sz="1200">
                <a:latin typeface="微软雅黑 Light" panose="020B0502040204020203" charset="-122"/>
                <a:ea typeface="微软雅黑 Light" panose="020B0502040204020203" charset="-122"/>
                <a:cs typeface="微软雅黑 Light" panose="020B0502040204020203" charset="-122"/>
                <a:sym typeface="+mn-ea"/>
              </a:rPr>
              <a:t>1</a:t>
            </a:r>
            <a:r>
              <a:rPr lang="zh-CN" altLang="en-US" sz="1200">
                <a:latin typeface="微软雅黑 Light" panose="020B0502040204020203" charset="-122"/>
                <a:ea typeface="微软雅黑 Light" panose="020B0502040204020203" charset="-122"/>
                <a:cs typeface="微软雅黑 Light" panose="020B0502040204020203" charset="-122"/>
                <a:sym typeface="+mn-ea"/>
              </a:rPr>
              <a:t>亿元。</a:t>
            </a:r>
            <a:endParaRPr lang="zh-CN" altLang="en-US" sz="1200">
              <a:latin typeface="微软雅黑 Light" panose="020B0502040204020203" charset="-122"/>
              <a:ea typeface="微软雅黑 Light" panose="020B0502040204020203" charset="-122"/>
              <a:cs typeface="微软雅黑 Light" panose="020B0502040204020203" charset="-122"/>
            </a:endParaRPr>
          </a:p>
          <a:p>
            <a:pPr indent="0" algn="just" defTabSz="266700" fontAlgn="auto">
              <a:spcBef>
                <a:spcPts val="600"/>
              </a:spcBef>
              <a:spcAft>
                <a:spcPct val="0"/>
              </a:spcAft>
            </a:pPr>
            <a:r>
              <a:rPr lang="zh-CN" altLang="en-US" sz="1200">
                <a:latin typeface="微软雅黑 Light" panose="020B0502040204020203" charset="-122"/>
                <a:ea typeface="微软雅黑 Light" panose="020B0502040204020203" charset="-122"/>
                <a:cs typeface="微软雅黑 Light" panose="020B0502040204020203" charset="-122"/>
                <a:sym typeface="+mn-ea"/>
              </a:rPr>
              <a:t>作为早期加入智能家居赛道的厂商，</a:t>
            </a:r>
            <a:r>
              <a:rPr lang="en-US" altLang="zh-CN" sz="1200">
                <a:latin typeface="微软雅黑 Light" panose="020B0502040204020203" charset="-122"/>
                <a:ea typeface="微软雅黑 Light" panose="020B0502040204020203" charset="-122"/>
                <a:cs typeface="微软雅黑 Light" panose="020B0502040204020203" charset="-122"/>
                <a:sym typeface="+mn-ea"/>
              </a:rPr>
              <a:t>10</a:t>
            </a:r>
            <a:r>
              <a:rPr lang="zh-CN" altLang="en-US" sz="1200">
                <a:latin typeface="微软雅黑 Light" panose="020B0502040204020203" charset="-122"/>
                <a:ea typeface="微软雅黑 Light" panose="020B0502040204020203" charset="-122"/>
                <a:cs typeface="微软雅黑 Light" panose="020B0502040204020203" charset="-122"/>
                <a:sym typeface="+mn-ea"/>
              </a:rPr>
              <a:t>年间创米同样经历了智能家居的行业的三个发展阶段</a:t>
            </a:r>
            <a:r>
              <a:rPr lang="en-US" altLang="zh-CN" sz="1200">
                <a:latin typeface="微软雅黑 Light" panose="020B0502040204020203" charset="-122"/>
                <a:ea typeface="微软雅黑 Light" panose="020B0502040204020203" charset="-122"/>
                <a:cs typeface="微软雅黑 Light" panose="020B0502040204020203" charset="-122"/>
                <a:sym typeface="+mn-ea"/>
              </a:rPr>
              <a:t>——</a:t>
            </a:r>
            <a:r>
              <a:rPr lang="zh-CN" altLang="en-US" sz="1200">
                <a:latin typeface="微软雅黑 Light" panose="020B0502040204020203" charset="-122"/>
                <a:ea typeface="微软雅黑 Light" panose="020B0502040204020203" charset="-122"/>
                <a:cs typeface="微软雅黑 Light" panose="020B0502040204020203" charset="-122"/>
                <a:sym typeface="+mn-ea"/>
              </a:rPr>
              <a:t>早期以爆款智能单品为中心，逐渐叠加多元场景；随着智能化产品越来越多，用户对这些产品的相互联动有了更多要求，创米的发展也随之迈进了全屋智能阶段。</a:t>
            </a:r>
            <a:endParaRPr lang="zh-CN" altLang="en-US" sz="1200">
              <a:solidFill>
                <a:srgbClr val="2F71EB"/>
              </a:solidFill>
              <a:latin typeface="微软雅黑" panose="020B0503020204020204" charset="-122"/>
              <a:ea typeface="微软雅黑" panose="020B0503020204020204" charset="-122"/>
              <a:cs typeface="微软雅黑" panose="020B0503020204020204" charset="-122"/>
            </a:endParaRPr>
          </a:p>
        </p:txBody>
      </p:sp>
      <p:pic>
        <p:nvPicPr>
          <p:cNvPr id="10" name="图片 9"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1134110"/>
            <a:ext cx="186055" cy="186055"/>
          </a:xfrm>
          <a:prstGeom prst="rect">
            <a:avLst/>
          </a:prstGeom>
        </p:spPr>
      </p:pic>
      <p:sp>
        <p:nvSpPr>
          <p:cNvPr id="13" name="圆角矩形 12"/>
          <p:cNvSpPr/>
          <p:nvPr/>
        </p:nvSpPr>
        <p:spPr>
          <a:xfrm>
            <a:off x="325755" y="3765550"/>
            <a:ext cx="11549380" cy="2717165"/>
          </a:xfrm>
          <a:prstGeom prst="roundRect">
            <a:avLst>
              <a:gd name="adj" fmla="val 8932"/>
            </a:avLst>
          </a:prstGeom>
          <a:gradFill>
            <a:gsLst>
              <a:gs pos="100000">
                <a:schemeClr val="bg1">
                  <a:alpha val="90000"/>
                </a:schemeClr>
              </a:gs>
              <a:gs pos="0">
                <a:srgbClr val="BED0F0">
                  <a:alpha val="70000"/>
                </a:srgbClr>
              </a:gs>
            </a:gsLst>
            <a:lin ang="4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400">
              <a:cs typeface="微软雅黑" panose="020B0503020204020204" charset="-122"/>
              <a:sym typeface="+mn-ea"/>
            </a:endParaRPr>
          </a:p>
        </p:txBody>
      </p:sp>
      <p:sp>
        <p:nvSpPr>
          <p:cNvPr id="15" name="矩形 14"/>
          <p:cNvSpPr/>
          <p:nvPr/>
        </p:nvSpPr>
        <p:spPr>
          <a:xfrm>
            <a:off x="563245" y="3990975"/>
            <a:ext cx="4093210" cy="32131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sym typeface="+mn-ea"/>
              </a:rPr>
              <a:t>业务挑战：物联平台稳定性、安全性压力较大</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1208405" y="4777740"/>
            <a:ext cx="2633980" cy="368300"/>
          </a:xfrm>
          <a:prstGeom prst="rect">
            <a:avLst/>
          </a:prstGeom>
          <a:noFill/>
        </p:spPr>
        <p:txBody>
          <a:bodyPr wrap="square" rtlCol="0" anchor="t">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sym typeface="+mn-ea"/>
              </a:rPr>
              <a:t>云产品认知挑战</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3" name="椭圆 22"/>
          <p:cNvSpPr/>
          <p:nvPr/>
        </p:nvSpPr>
        <p:spPr>
          <a:xfrm>
            <a:off x="572135" y="4643755"/>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28" name="文本框 27"/>
          <p:cNvSpPr txBox="1"/>
          <p:nvPr/>
        </p:nvSpPr>
        <p:spPr>
          <a:xfrm>
            <a:off x="4768850" y="4643755"/>
            <a:ext cx="2633980" cy="645160"/>
          </a:xfrm>
          <a:prstGeom prst="rect">
            <a:avLst/>
          </a:prstGeom>
          <a:noFill/>
        </p:spPr>
        <p:txBody>
          <a:bodyPr wrap="square" rtlCol="0" anchor="t">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sym typeface="+mn-ea"/>
              </a:rPr>
              <a:t>百万连接稳定性、消息高并发挑战</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9" name="椭圆 28"/>
          <p:cNvSpPr/>
          <p:nvPr/>
        </p:nvSpPr>
        <p:spPr>
          <a:xfrm>
            <a:off x="4132580" y="4683125"/>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5" name="文本框 4"/>
          <p:cNvSpPr txBox="1"/>
          <p:nvPr/>
        </p:nvSpPr>
        <p:spPr>
          <a:xfrm>
            <a:off x="4123690" y="5480685"/>
            <a:ext cx="3279775" cy="737235"/>
          </a:xfrm>
          <a:prstGeom prst="rect">
            <a:avLst/>
          </a:prstGeom>
        </p:spPr>
        <p:txBody>
          <a:bodyPr wrap="square">
            <a:spAutoFit/>
          </a:bodyPr>
          <a:p>
            <a:pPr marL="0" indent="0" algn="just" defTabSz="266700">
              <a:spcBef>
                <a:spcPct val="0"/>
              </a:spcBef>
              <a:spcAft>
                <a:spcPct val="0"/>
              </a:spcAft>
            </a:pPr>
            <a:r>
              <a:rPr lang="zh-CN" altLang="en-US" sz="1400">
                <a:latin typeface="微软雅黑 Light" panose="020B0502040204020203" charset="-122"/>
                <a:ea typeface="微软雅黑 Light" panose="020B0502040204020203" charset="-122"/>
                <a:cs typeface="微软雅黑" panose="020B0503020204020204" charset="-122"/>
                <a:sym typeface="+mn-ea"/>
              </a:rPr>
              <a:t>系统需承受巨大资源压力，确保在高并发下服务器性能不出现瓶颈，避免内存泄漏、</a:t>
            </a:r>
            <a:r>
              <a:rPr lang="en-US" altLang="zh-CN" sz="1400">
                <a:latin typeface="微软雅黑 Light" panose="020B0502040204020203" charset="-122"/>
                <a:ea typeface="微软雅黑 Light" panose="020B0502040204020203" charset="-122"/>
                <a:cs typeface="微软雅黑" panose="020B0503020204020204" charset="-122"/>
                <a:sym typeface="+mn-ea"/>
              </a:rPr>
              <a:t>CPU</a:t>
            </a:r>
            <a:r>
              <a:rPr lang="zh-CN" altLang="en-US" sz="1400">
                <a:latin typeface="微软雅黑 Light" panose="020B0502040204020203" charset="-122"/>
                <a:ea typeface="微软雅黑 Light" panose="020B0502040204020203" charset="-122"/>
                <a:cs typeface="微软雅黑" panose="020B0503020204020204" charset="-122"/>
                <a:sym typeface="+mn-ea"/>
              </a:rPr>
              <a:t>过载等问题。</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7" name="文本框 6"/>
          <p:cNvSpPr txBox="1"/>
          <p:nvPr/>
        </p:nvSpPr>
        <p:spPr>
          <a:xfrm>
            <a:off x="563245" y="5441315"/>
            <a:ext cx="3163570" cy="737235"/>
          </a:xfrm>
          <a:prstGeom prst="rect">
            <a:avLst/>
          </a:prstGeom>
        </p:spPr>
        <p:txBody>
          <a:bodyPr wrap="square">
            <a:spAutoFit/>
          </a:bodyPr>
          <a:p>
            <a:pPr marL="0" indent="0" algn="just" defTabSz="266700">
              <a:spcBef>
                <a:spcPct val="0"/>
              </a:spcBef>
              <a:spcAft>
                <a:spcPct val="0"/>
              </a:spcAft>
            </a:pPr>
            <a:r>
              <a:rPr lang="zh-CN" altLang="en-US" sz="1400">
                <a:latin typeface="微软雅黑 Light" panose="020B0502040204020203" charset="-122"/>
                <a:ea typeface="微软雅黑 Light" panose="020B0502040204020203" charset="-122"/>
                <a:cs typeface="微软雅黑" panose="020B0503020204020204" charset="-122"/>
                <a:sym typeface="+mn-ea"/>
              </a:rPr>
              <a:t>搭建物联网平台过程中，由于缺少对云产品深度使用方式的系统认知，遇到了选型难问题。</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p:txBody>
      </p:sp>
      <p:sp>
        <p:nvSpPr>
          <p:cNvPr id="8" name="文本框 7"/>
          <p:cNvSpPr txBox="1"/>
          <p:nvPr/>
        </p:nvSpPr>
        <p:spPr>
          <a:xfrm>
            <a:off x="604520" y="2433638"/>
            <a:ext cx="5080000" cy="368300"/>
          </a:xfrm>
          <a:prstGeom prst="rect">
            <a:avLst/>
          </a:prstGeom>
        </p:spPr>
        <p:txBody>
          <a:bodyPr>
            <a:spAutoFit/>
          </a:bodyPr>
          <a:p>
            <a:pPr indent="0" algn="just" defTabSz="266700">
              <a:spcBef>
                <a:spcPct val="0"/>
              </a:spcBef>
              <a:spcAft>
                <a:spcPct val="0"/>
              </a:spcAft>
              <a:buFont typeface="微软雅黑" panose="020B0503020204020204" charset="-122"/>
              <a:buNone/>
            </a:pPr>
            <a:r>
              <a:rPr lang="zh-CN" altLang="en-US" b="1">
                <a:latin typeface="微软雅黑" panose="020B0503020204020204" charset="-122"/>
                <a:ea typeface="微软雅黑" panose="020B0503020204020204" charset="-122"/>
                <a:cs typeface="微软雅黑" panose="020B0503020204020204" charset="-122"/>
                <a:sym typeface="+mn-ea"/>
              </a:rPr>
              <a:t>自建物联网平台面临云技术挑战</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pic>
        <p:nvPicPr>
          <p:cNvPr id="11" name="图片 10"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2524760"/>
            <a:ext cx="186055" cy="186055"/>
          </a:xfrm>
          <a:prstGeom prst="rect">
            <a:avLst/>
          </a:prstGeom>
        </p:spPr>
      </p:pic>
      <p:sp>
        <p:nvSpPr>
          <p:cNvPr id="16" name="文本框 15"/>
          <p:cNvSpPr txBox="1"/>
          <p:nvPr/>
        </p:nvSpPr>
        <p:spPr>
          <a:xfrm>
            <a:off x="325120" y="2830195"/>
            <a:ext cx="11550015" cy="706755"/>
          </a:xfrm>
          <a:prstGeom prst="rect">
            <a:avLst/>
          </a:prstGeom>
        </p:spPr>
        <p:txBody>
          <a:bodyPr wrap="square">
            <a:spAutoFit/>
          </a:bodyPr>
          <a:p>
            <a:pPr marL="0" indent="0" algn="just" defTabSz="266700">
              <a:spcBef>
                <a:spcPct val="0"/>
              </a:spcBef>
              <a:spcAft>
                <a:spcPct val="0"/>
              </a:spcAft>
            </a:pPr>
            <a:r>
              <a:rPr lang="zh-CN" altLang="en-US" sz="1200">
                <a:latin typeface="微软雅黑 Light" panose="020B0502040204020203" charset="-122"/>
                <a:ea typeface="微软雅黑 Light" panose="020B0502040204020203" charset="-122"/>
                <a:cs typeface="微软雅黑 Light" panose="020B0502040204020203" charset="-122"/>
                <a:sym typeface="+mn-ea"/>
              </a:rPr>
              <a:t>在智能家居市场快速迭代的背景下，创米数联面临着发布和迭代的稳定性挑战，以及多方物联网（</a:t>
            </a:r>
            <a:r>
              <a:rPr lang="en-US" altLang="zh-CN" sz="1200">
                <a:latin typeface="微软雅黑 Light" panose="020B0502040204020203" charset="-122"/>
                <a:ea typeface="微软雅黑 Light" panose="020B0502040204020203" charset="-122"/>
                <a:cs typeface="微软雅黑 Light" panose="020B0502040204020203" charset="-122"/>
                <a:sym typeface="+mn-ea"/>
              </a:rPr>
              <a:t>IoT</a:t>
            </a:r>
            <a:r>
              <a:rPr lang="zh-CN" altLang="en-US" sz="1200">
                <a:latin typeface="微软雅黑 Light" panose="020B0502040204020203" charset="-122"/>
                <a:ea typeface="微软雅黑 Light" panose="020B0502040204020203" charset="-122"/>
                <a:cs typeface="微软雅黑 Light" panose="020B0502040204020203" charset="-122"/>
                <a:sym typeface="+mn-ea"/>
              </a:rPr>
              <a:t>）接入的性能和安全挑战。为了解决这些问题，创米数联决定自建物联网平台，通过综合物联网、云计算、人工智能等技术，实现智慧门技术架构，以及全屋智能技术框架。</a:t>
            </a:r>
            <a:r>
              <a:rPr lang="zh-CN" altLang="en-US" sz="1400" b="1">
                <a:solidFill>
                  <a:srgbClr val="2868EA"/>
                </a:solidFill>
                <a:latin typeface="微软雅黑" panose="020B0503020204020204" charset="-122"/>
                <a:ea typeface="微软雅黑" panose="020B0503020204020204" charset="-122"/>
                <a:cs typeface="微软雅黑 Light" panose="020B0502040204020203" charset="-122"/>
                <a:sym typeface="+mn-ea"/>
              </a:rPr>
              <a:t>端木软件为其物联网的搭建提供了全方位的云服务支持，确保平台的高效运行与弹性扩展。</a:t>
            </a:r>
            <a:endParaRPr lang="zh-CN" altLang="en-US" sz="1400" b="1">
              <a:solidFill>
                <a:srgbClr val="2868EA"/>
              </a:solidFill>
              <a:latin typeface="微软雅黑" panose="020B0503020204020204" charset="-122"/>
              <a:ea typeface="微软雅黑" panose="020B0503020204020204" charset="-122"/>
              <a:cs typeface="微软雅黑 Light" panose="020B0502040204020203" charset="-122"/>
              <a:sym typeface="+mn-ea"/>
            </a:endParaRPr>
          </a:p>
        </p:txBody>
      </p:sp>
      <p:sp>
        <p:nvSpPr>
          <p:cNvPr id="3" name="文本框 2"/>
          <p:cNvSpPr txBox="1"/>
          <p:nvPr/>
        </p:nvSpPr>
        <p:spPr>
          <a:xfrm>
            <a:off x="8444230" y="4634865"/>
            <a:ext cx="2633980" cy="645160"/>
          </a:xfrm>
          <a:prstGeom prst="rect">
            <a:avLst/>
          </a:prstGeom>
          <a:noFill/>
        </p:spPr>
        <p:txBody>
          <a:bodyPr wrap="square" rtlCol="0" anchor="t">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sym typeface="+mn-ea"/>
              </a:rPr>
              <a:t>跨境数据合规挑战，设备安全防护</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椭圆 8"/>
          <p:cNvSpPr/>
          <p:nvPr/>
        </p:nvSpPr>
        <p:spPr>
          <a:xfrm>
            <a:off x="7807960" y="4674235"/>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12" name="文本框 11"/>
          <p:cNvSpPr txBox="1"/>
          <p:nvPr/>
        </p:nvSpPr>
        <p:spPr>
          <a:xfrm>
            <a:off x="7799070" y="5471795"/>
            <a:ext cx="3279775" cy="521970"/>
          </a:xfrm>
          <a:prstGeom prst="rect">
            <a:avLst/>
          </a:prstGeom>
        </p:spPr>
        <p:txBody>
          <a:bodyPr wrap="square">
            <a:spAutoFit/>
          </a:bodyPr>
          <a:p>
            <a:pPr marL="0" indent="0" algn="just" defTabSz="266700">
              <a:spcBef>
                <a:spcPct val="0"/>
              </a:spcBef>
              <a:spcAft>
                <a:spcPct val="0"/>
              </a:spcAft>
            </a:pPr>
            <a:r>
              <a:rPr lang="zh-CN" altLang="en-US" sz="1400">
                <a:latin typeface="微软雅黑 Light" panose="020B0502040204020203" charset="-122"/>
                <a:ea typeface="微软雅黑 Light" panose="020B0502040204020203" charset="-122"/>
                <a:cs typeface="微软雅黑" panose="020B0503020204020204" charset="-122"/>
                <a:sym typeface="+mn-ea"/>
              </a:rPr>
              <a:t>企业业务遍布全国，需确保跨境数据传输过程中的合规性与安全稳定。</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sym typeface="+mn-ea"/>
            </a:endParaRPr>
          </a:p>
        </p:txBody>
      </p:sp>
      <p:pic>
        <p:nvPicPr>
          <p:cNvPr id="18" name="图片 17" descr="云"/>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6915" y="4788535"/>
            <a:ext cx="346710" cy="346710"/>
          </a:xfrm>
          <a:prstGeom prst="rect">
            <a:avLst/>
          </a:prstGeom>
        </p:spPr>
      </p:pic>
      <p:pic>
        <p:nvPicPr>
          <p:cNvPr id="19" name="图片 18" descr="分享连接"/>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17048" y="4867593"/>
            <a:ext cx="267335" cy="267335"/>
          </a:xfrm>
          <a:prstGeom prst="rect">
            <a:avLst/>
          </a:prstGeom>
        </p:spPr>
      </p:pic>
      <p:pic>
        <p:nvPicPr>
          <p:cNvPr id="20" name="图片 19" descr="全球"/>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78775" y="4845050"/>
            <a:ext cx="294640" cy="294640"/>
          </a:xfrm>
          <a:prstGeom prst="rect">
            <a:avLst/>
          </a:prstGeom>
        </p:spPr>
      </p:pic>
    </p:spTree>
    <p:custDataLst>
      <p:tags r:id="rId9"/>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摄图网_500532617_智能家居创意生活(非企业商用)"/>
          <p:cNvPicPr>
            <a:picLocks noChangeAspect="1"/>
          </p:cNvPicPr>
          <p:nvPr/>
        </p:nvPicPr>
        <p:blipFill>
          <a:blip r:embed="rId1">
            <a:grayscl/>
            <a:lum bright="-12000" contrast="24000"/>
          </a:blip>
          <a:srcRect/>
          <a:stretch>
            <a:fillRect/>
          </a:stretch>
        </p:blipFill>
        <p:spPr>
          <a:xfrm>
            <a:off x="-635" y="0"/>
            <a:ext cx="12192635" cy="6858000"/>
          </a:xfrm>
          <a:prstGeom prst="rect">
            <a:avLst/>
          </a:prstGeom>
        </p:spPr>
      </p:pic>
      <p:sp>
        <p:nvSpPr>
          <p:cNvPr id="16" name="矩形 15"/>
          <p:cNvSpPr/>
          <p:nvPr/>
        </p:nvSpPr>
        <p:spPr>
          <a:xfrm>
            <a:off x="635" y="635"/>
            <a:ext cx="12192000" cy="6858000"/>
          </a:xfrm>
          <a:prstGeom prst="rect">
            <a:avLst/>
          </a:prstGeom>
          <a:solidFill>
            <a:schemeClr val="tx1">
              <a:lumMod val="95000"/>
              <a:lumOff val="5000"/>
              <a:alpha val="8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 name="圆角矩形 6"/>
          <p:cNvSpPr/>
          <p:nvPr/>
        </p:nvSpPr>
        <p:spPr>
          <a:xfrm>
            <a:off x="802640" y="1389380"/>
            <a:ext cx="5245735" cy="2438400"/>
          </a:xfrm>
          <a:prstGeom prst="roundRect">
            <a:avLst/>
          </a:prstGeom>
          <a:gradFill>
            <a:gsLst>
              <a:gs pos="17000">
                <a:srgbClr val="2868EA">
                  <a:alpha val="53000"/>
                </a:srgbClr>
              </a:gs>
              <a:gs pos="85000">
                <a:srgbClr val="24CEBC">
                  <a:alpha val="2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8" name="文本框 7"/>
          <p:cNvSpPr txBox="1"/>
          <p:nvPr/>
        </p:nvSpPr>
        <p:spPr>
          <a:xfrm>
            <a:off x="1188085" y="1620520"/>
            <a:ext cx="3844290" cy="368300"/>
          </a:xfrm>
          <a:prstGeom prst="rect">
            <a:avLst/>
          </a:prstGeom>
        </p:spPr>
        <p:txBody>
          <a:bodyPr wrap="square">
            <a:spAutoFit/>
          </a:bodyPr>
          <a:p>
            <a:pPr marL="0" indent="0" algn="just" defTabSz="266700">
              <a:spcBef>
                <a:spcPct val="0"/>
              </a:spcBef>
              <a:spcAft>
                <a:spcPct val="0"/>
              </a:spcAft>
            </a:pPr>
            <a:r>
              <a:rPr lang="zh-CN" altLang="en-US" b="1">
                <a:solidFill>
                  <a:schemeClr val="bg1"/>
                </a:solidFill>
                <a:latin typeface="微软雅黑" panose="020B0503020204020204" charset="-122"/>
                <a:ea typeface="微软雅黑" panose="020B0503020204020204" charset="-122"/>
                <a:cs typeface="微软雅黑" panose="020B0503020204020204" charset="-122"/>
              </a:rPr>
              <a:t>云基础设施支持，定制采购方案</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0" name="图片 9" descr="互联网"/>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5685" y="1741805"/>
            <a:ext cx="175895" cy="175895"/>
          </a:xfrm>
          <a:prstGeom prst="rect">
            <a:avLst/>
          </a:prstGeom>
        </p:spPr>
      </p:pic>
      <p:sp>
        <p:nvSpPr>
          <p:cNvPr id="9" name="文本框 8"/>
          <p:cNvSpPr txBox="1"/>
          <p:nvPr/>
        </p:nvSpPr>
        <p:spPr>
          <a:xfrm>
            <a:off x="1035685" y="2106930"/>
            <a:ext cx="4779645" cy="860425"/>
          </a:xfrm>
          <a:prstGeom prst="rect">
            <a:avLst/>
          </a:prstGeom>
        </p:spPr>
        <p:txBody>
          <a:bodyPr wrap="square">
            <a:spAutoFit/>
          </a:bodyPr>
          <a:p>
            <a:pPr indent="0" algn="just" defTabSz="266700" fontAlgn="auto">
              <a:lnSpc>
                <a:spcPts val="1500"/>
              </a:lnSpc>
              <a:spcBef>
                <a:spcPct val="0"/>
              </a:spcBef>
              <a:spcAft>
                <a:spcPct val="0"/>
              </a:spcAft>
            </a:pPr>
            <a:r>
              <a:rPr lang="zh-CN" altLang="en-US" sz="1300">
                <a:solidFill>
                  <a:schemeClr val="bg1"/>
                </a:solidFill>
                <a:latin typeface="微软雅黑 Light" panose="020B0502040204020203" charset="-122"/>
                <a:ea typeface="微软雅黑 Light" panose="020B0502040204020203" charset="-122"/>
                <a:cs typeface="微软雅黑" panose="020B0503020204020204" charset="-122"/>
              </a:rPr>
              <a:t>端木软件基于与阿里云的全系云产品合作，为平台提供云服务器、云存储等基础设施资源包，同时从长期成本控制、资源灵活调配等方面考虑，提供迁移转新购包月的的建议方案，清晰呈现新推荐模式在性能提升、成本节省等维度的优势。</a:t>
            </a:r>
            <a:endParaRPr lang="zh-CN" altLang="en-US" sz="13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1" name="圆角矩形 10"/>
          <p:cNvSpPr/>
          <p:nvPr/>
        </p:nvSpPr>
        <p:spPr>
          <a:xfrm>
            <a:off x="802640" y="3814445"/>
            <a:ext cx="5245735" cy="2438400"/>
          </a:xfrm>
          <a:prstGeom prst="roundRect">
            <a:avLst/>
          </a:prstGeom>
          <a:gradFill>
            <a:gsLst>
              <a:gs pos="17000">
                <a:srgbClr val="2868EA">
                  <a:alpha val="53000"/>
                </a:srgbClr>
              </a:gs>
              <a:gs pos="85000">
                <a:srgbClr val="24CEBC">
                  <a:alpha val="2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12" name="文本框 11"/>
          <p:cNvSpPr txBox="1"/>
          <p:nvPr/>
        </p:nvSpPr>
        <p:spPr>
          <a:xfrm>
            <a:off x="1188085" y="4044950"/>
            <a:ext cx="3844290" cy="368300"/>
          </a:xfrm>
          <a:prstGeom prst="rect">
            <a:avLst/>
          </a:prstGeom>
        </p:spPr>
        <p:txBody>
          <a:bodyPr wrap="square">
            <a:spAutoFit/>
          </a:bodyPr>
          <a:p>
            <a:pPr marL="0" indent="0" algn="just" defTabSz="266700">
              <a:spcBef>
                <a:spcPct val="0"/>
              </a:spcBef>
              <a:spcAft>
                <a:spcPct val="0"/>
              </a:spcAft>
            </a:pPr>
            <a:r>
              <a:rPr lang="zh-CN" altLang="en-US" b="1">
                <a:solidFill>
                  <a:schemeClr val="bg1"/>
                </a:solidFill>
                <a:latin typeface="微软雅黑" panose="020B0503020204020204" charset="-122"/>
                <a:ea typeface="微软雅黑" panose="020B0503020204020204" charset="-122"/>
                <a:cs typeface="微软雅黑" panose="020B0503020204020204" charset="-122"/>
              </a:rPr>
              <a:t>自动化运维，降低人力成本</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3" name="图片 12" descr="互联网"/>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1035685" y="4166870"/>
            <a:ext cx="175895" cy="175895"/>
          </a:xfrm>
          <a:prstGeom prst="rect">
            <a:avLst/>
          </a:prstGeom>
        </p:spPr>
      </p:pic>
      <p:sp>
        <p:nvSpPr>
          <p:cNvPr id="14" name="文本框 13"/>
          <p:cNvSpPr txBox="1"/>
          <p:nvPr/>
        </p:nvSpPr>
        <p:spPr>
          <a:xfrm>
            <a:off x="1035685" y="4531995"/>
            <a:ext cx="4779645" cy="860425"/>
          </a:xfrm>
          <a:prstGeom prst="rect">
            <a:avLst/>
          </a:prstGeom>
        </p:spPr>
        <p:txBody>
          <a:bodyPr wrap="square">
            <a:spAutoFit/>
          </a:bodyPr>
          <a:p>
            <a:pPr indent="0" algn="just" defTabSz="266700" fontAlgn="auto">
              <a:lnSpc>
                <a:spcPts val="1500"/>
              </a:lnSpc>
              <a:spcBef>
                <a:spcPct val="0"/>
              </a:spcBef>
              <a:spcAft>
                <a:spcPct val="0"/>
              </a:spcAft>
            </a:pPr>
            <a:r>
              <a:rPr lang="zh-CN" altLang="en-US" sz="1300">
                <a:solidFill>
                  <a:schemeClr val="bg1"/>
                </a:solidFill>
                <a:latin typeface="微软雅黑 Light" panose="020B0502040204020203" charset="-122"/>
                <a:ea typeface="微软雅黑 Light" panose="020B0502040204020203" charset="-122"/>
                <a:cs typeface="微软雅黑" panose="020B0503020204020204" charset="-122"/>
              </a:rPr>
              <a:t>基于阿里云</a:t>
            </a:r>
            <a:r>
              <a:rPr lang="en-US" altLang="zh-CN" sz="1300">
                <a:solidFill>
                  <a:schemeClr val="bg1"/>
                </a:solidFill>
                <a:latin typeface="微软雅黑 Light" panose="020B0502040204020203" charset="-122"/>
                <a:ea typeface="微软雅黑 Light" panose="020B0502040204020203" charset="-122"/>
                <a:cs typeface="微软雅黑" panose="020B0503020204020204" charset="-122"/>
              </a:rPr>
              <a:t>ARMS</a:t>
            </a:r>
            <a:r>
              <a:rPr lang="zh-CN" altLang="en-US" sz="1300">
                <a:solidFill>
                  <a:schemeClr val="bg1"/>
                </a:solidFill>
                <a:latin typeface="微软雅黑 Light" panose="020B0502040204020203" charset="-122"/>
                <a:ea typeface="微软雅黑 Light" panose="020B0502040204020203" charset="-122"/>
                <a:cs typeface="微软雅黑" panose="020B0503020204020204" charset="-122"/>
              </a:rPr>
              <a:t>，云监控等产品，实现自动化监控与告警，</a:t>
            </a:r>
            <a:r>
              <a:rPr lang="zh-CN" altLang="en-US" sz="1300">
                <a:solidFill>
                  <a:schemeClr val="bg1"/>
                </a:solidFill>
                <a:latin typeface="微软雅黑 Light" panose="020B0502040204020203" charset="-122"/>
                <a:ea typeface="微软雅黑 Light" panose="020B0502040204020203" charset="-122"/>
                <a:cs typeface="微软雅黑" panose="020B0503020204020204" charset="-122"/>
                <a:sym typeface="+mn-ea"/>
              </a:rPr>
              <a:t>让企业能够随时随地掌握自身业务的资源使用情况，及时发现使用异常与费用异常波动，同时降低人力运维成本、提高运维效率。</a:t>
            </a:r>
            <a:endParaRPr lang="zh-CN" altLang="en-US" sz="13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15" name="圆角矩形 14"/>
          <p:cNvSpPr/>
          <p:nvPr/>
        </p:nvSpPr>
        <p:spPr>
          <a:xfrm>
            <a:off x="6143625" y="1381760"/>
            <a:ext cx="5245735" cy="2438400"/>
          </a:xfrm>
          <a:prstGeom prst="roundRect">
            <a:avLst/>
          </a:prstGeom>
          <a:gradFill>
            <a:gsLst>
              <a:gs pos="17000">
                <a:srgbClr val="2868EA">
                  <a:alpha val="53000"/>
                </a:srgbClr>
              </a:gs>
              <a:gs pos="85000">
                <a:srgbClr val="24CEBC">
                  <a:alpha val="2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17" name="文本框 16"/>
          <p:cNvSpPr txBox="1"/>
          <p:nvPr/>
        </p:nvSpPr>
        <p:spPr>
          <a:xfrm>
            <a:off x="6529070" y="1612265"/>
            <a:ext cx="3844290" cy="368300"/>
          </a:xfrm>
          <a:prstGeom prst="rect">
            <a:avLst/>
          </a:prstGeom>
        </p:spPr>
        <p:txBody>
          <a:bodyPr wrap="square">
            <a:spAutoFit/>
          </a:bodyPr>
          <a:p>
            <a:pPr marL="0" indent="0" algn="just" defTabSz="266700">
              <a:spcBef>
                <a:spcPct val="0"/>
              </a:spcBef>
              <a:spcAft>
                <a:spcPct val="0"/>
              </a:spcAft>
            </a:pPr>
            <a:r>
              <a:rPr lang="zh-CN" altLang="en-US" b="1">
                <a:solidFill>
                  <a:schemeClr val="bg1"/>
                </a:solidFill>
                <a:latin typeface="微软雅黑" panose="020B0503020204020204" charset="-122"/>
                <a:ea typeface="微软雅黑" panose="020B0503020204020204" charset="-122"/>
                <a:cs typeface="微软雅黑" panose="020B0503020204020204" charset="-122"/>
              </a:rPr>
              <a:t>跨国数据安全和数据合规</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8" name="图片 17" descr="互联网"/>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6376670" y="1734185"/>
            <a:ext cx="175895" cy="175895"/>
          </a:xfrm>
          <a:prstGeom prst="rect">
            <a:avLst/>
          </a:prstGeom>
        </p:spPr>
      </p:pic>
      <p:sp>
        <p:nvSpPr>
          <p:cNvPr id="19" name="文本框 18"/>
          <p:cNvSpPr txBox="1"/>
          <p:nvPr/>
        </p:nvSpPr>
        <p:spPr>
          <a:xfrm>
            <a:off x="6376670" y="2099310"/>
            <a:ext cx="4779645" cy="1052830"/>
          </a:xfrm>
          <a:prstGeom prst="rect">
            <a:avLst/>
          </a:prstGeom>
        </p:spPr>
        <p:txBody>
          <a:bodyPr wrap="square">
            <a:spAutoFit/>
          </a:bodyPr>
          <a:p>
            <a:pPr indent="0" algn="just" defTabSz="266700" fontAlgn="auto">
              <a:lnSpc>
                <a:spcPts val="1500"/>
              </a:lnSpc>
              <a:spcBef>
                <a:spcPct val="0"/>
              </a:spcBef>
              <a:spcAft>
                <a:spcPct val="0"/>
              </a:spcAft>
            </a:pPr>
            <a:r>
              <a:rPr lang="zh-CN" altLang="en-US" sz="1300">
                <a:solidFill>
                  <a:schemeClr val="bg1"/>
                </a:solidFill>
                <a:latin typeface="微软雅黑 Light" panose="020B0502040204020203" charset="-122"/>
                <a:ea typeface="微软雅黑 Light" panose="020B0502040204020203" charset="-122"/>
                <a:cs typeface="微软雅黑" panose="020B0503020204020204" charset="-122"/>
              </a:rPr>
              <a:t>端木软件集成阿里云安全管理和合规工具，依托阿里云遍布全球的数据中心网络帮助企业实现数据分布式存储，满足跨境数据本地化合规问题；对传输中和静态存储的数据进行高强度加密处理，确保数据在跨境传输中的安全性，构建坚固的数据安全防线。</a:t>
            </a:r>
            <a:endParaRPr lang="zh-CN" altLang="en-US" sz="13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0" name="圆角矩形 19"/>
          <p:cNvSpPr/>
          <p:nvPr/>
        </p:nvSpPr>
        <p:spPr>
          <a:xfrm>
            <a:off x="6143625" y="3814445"/>
            <a:ext cx="5245735" cy="2438400"/>
          </a:xfrm>
          <a:prstGeom prst="roundRect">
            <a:avLst/>
          </a:prstGeom>
          <a:gradFill>
            <a:gsLst>
              <a:gs pos="17000">
                <a:srgbClr val="2868EA">
                  <a:alpha val="53000"/>
                </a:srgbClr>
              </a:gs>
              <a:gs pos="85000">
                <a:srgbClr val="24CEBC">
                  <a:alpha val="2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21" name="文本框 20"/>
          <p:cNvSpPr txBox="1"/>
          <p:nvPr/>
        </p:nvSpPr>
        <p:spPr>
          <a:xfrm>
            <a:off x="6529070" y="4045585"/>
            <a:ext cx="3844290" cy="368300"/>
          </a:xfrm>
          <a:prstGeom prst="rect">
            <a:avLst/>
          </a:prstGeom>
        </p:spPr>
        <p:txBody>
          <a:bodyPr wrap="square">
            <a:spAutoFit/>
          </a:bodyPr>
          <a:p>
            <a:pPr marL="0" indent="0" algn="just" defTabSz="266700">
              <a:spcBef>
                <a:spcPct val="0"/>
              </a:spcBef>
              <a:spcAft>
                <a:spcPct val="0"/>
              </a:spcAft>
            </a:pPr>
            <a:r>
              <a:rPr lang="zh-CN" altLang="en-US" b="1">
                <a:solidFill>
                  <a:schemeClr val="bg1"/>
                </a:solidFill>
                <a:latin typeface="微软雅黑" panose="020B0503020204020204" charset="-122"/>
                <a:ea typeface="微软雅黑" panose="020B0503020204020204" charset="-122"/>
                <a:cs typeface="微软雅黑" panose="020B0503020204020204" charset="-122"/>
              </a:rPr>
              <a:t>消费成本分析，优化云上使用</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22" name="图片 21" descr="互联网"/>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6376670" y="4166870"/>
            <a:ext cx="175895" cy="175895"/>
          </a:xfrm>
          <a:prstGeom prst="rect">
            <a:avLst/>
          </a:prstGeom>
        </p:spPr>
      </p:pic>
      <p:sp>
        <p:nvSpPr>
          <p:cNvPr id="23" name="文本框 22"/>
          <p:cNvSpPr txBox="1"/>
          <p:nvPr/>
        </p:nvSpPr>
        <p:spPr>
          <a:xfrm>
            <a:off x="6376670" y="4531995"/>
            <a:ext cx="4779645" cy="860425"/>
          </a:xfrm>
          <a:prstGeom prst="rect">
            <a:avLst/>
          </a:prstGeom>
        </p:spPr>
        <p:txBody>
          <a:bodyPr wrap="square">
            <a:spAutoFit/>
          </a:bodyPr>
          <a:p>
            <a:pPr indent="0" algn="just" defTabSz="266700" fontAlgn="auto">
              <a:lnSpc>
                <a:spcPts val="1500"/>
              </a:lnSpc>
              <a:spcBef>
                <a:spcPct val="0"/>
              </a:spcBef>
              <a:spcAft>
                <a:spcPct val="0"/>
              </a:spcAft>
            </a:pPr>
            <a:r>
              <a:rPr lang="zh-CN" altLang="en-US" sz="1300">
                <a:solidFill>
                  <a:schemeClr val="bg1"/>
                </a:solidFill>
                <a:latin typeface="微软雅黑 Light" panose="020B0502040204020203" charset="-122"/>
                <a:ea typeface="微软雅黑 Light" panose="020B0502040204020203" charset="-122"/>
                <a:cs typeface="微软雅黑" panose="020B0503020204020204" charset="-122"/>
              </a:rPr>
              <a:t>基于费用中心的成本统计，帮助客户实时了解云上消费情况，一方面可启用预算与告警设置，避免资源浪费；另一方面端木软件根据成本分析为企业持续优化云上配置，提高资源利用率，降低成本。</a:t>
            </a:r>
            <a:endParaRPr lang="zh-CN" altLang="en-US" sz="13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 name="文本框 2"/>
          <p:cNvSpPr txBox="1"/>
          <p:nvPr/>
        </p:nvSpPr>
        <p:spPr>
          <a:xfrm>
            <a:off x="323215" y="476250"/>
            <a:ext cx="6231255" cy="521970"/>
          </a:xfrm>
          <a:prstGeom prst="rect">
            <a:avLst/>
          </a:prstGeom>
          <a:noFill/>
        </p:spPr>
        <p:txBody>
          <a:bodyPr wrap="square" rtlCol="0" anchor="t">
            <a:spAutoFit/>
          </a:bodyPr>
          <a:p>
            <a:r>
              <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rPr>
              <a:t>端木软件物联网云服务方案</a:t>
            </a:r>
            <a:endPar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descr="全彩版"/>
          <p:cNvPicPr>
            <a:picLocks noChangeAspect="1"/>
          </p:cNvPicPr>
          <p:nvPr userDrawn="1"/>
        </p:nvPicPr>
        <p:blipFill>
          <a:blip r:embed="rId6"/>
          <a:stretch>
            <a:fillRect/>
          </a:stretch>
        </p:blipFill>
        <p:spPr>
          <a:xfrm>
            <a:off x="10339070" y="217805"/>
            <a:ext cx="1607820" cy="407035"/>
          </a:xfrm>
          <a:prstGeom prst="rect">
            <a:avLst/>
          </a:prstGeom>
        </p:spPr>
      </p:pic>
    </p:spTree>
    <p:custDataLst>
      <p:tags r:id="rId7"/>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24CEBC"/>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深睿医疗科技</a:t>
            </a:r>
            <a:r>
              <a:rPr lang="en-US" altLang="zh-CN" sz="2400">
                <a:latin typeface="微软雅黑 Light" panose="020B0502040204020203" charset="-122"/>
                <a:ea typeface="微软雅黑 Light" panose="020B0502040204020203" charset="-122"/>
                <a:cs typeface="微软雅黑 Light" panose="020B0502040204020203" charset="-122"/>
              </a:rPr>
              <a:t> </a:t>
            </a:r>
            <a:r>
              <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rPr>
              <a:t>以智慧医疗让看病不再困难</a:t>
            </a:r>
            <a:endPar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endParaRPr>
          </a:p>
        </p:txBody>
      </p:sp>
      <p:sp>
        <p:nvSpPr>
          <p:cNvPr id="4" name="文本框 3"/>
          <p:cNvSpPr txBox="1"/>
          <p:nvPr/>
        </p:nvSpPr>
        <p:spPr>
          <a:xfrm>
            <a:off x="604520" y="1042988"/>
            <a:ext cx="5080000" cy="368300"/>
          </a:xfrm>
          <a:prstGeom prst="rect">
            <a:avLst/>
          </a:prstGeom>
        </p:spPr>
        <p:txBody>
          <a:bodyPr>
            <a:spAutoFit/>
          </a:bodyPr>
          <a:p>
            <a:pPr indent="0" algn="l" defTabSz="266700">
              <a:spcBef>
                <a:spcPct val="0"/>
              </a:spcBef>
              <a:spcAft>
                <a:spcPct val="0"/>
              </a:spcAft>
              <a:buFont typeface="微软雅黑" panose="020B0503020204020204" charset="-122"/>
              <a:buNone/>
            </a:pPr>
            <a:r>
              <a:rPr lang="zh-CN" altLang="en-US" b="1">
                <a:latin typeface="微软雅黑" panose="020B0503020204020204" charset="-122"/>
                <a:ea typeface="微软雅黑" panose="020B0503020204020204" charset="-122"/>
                <a:cs typeface="微软雅黑" panose="020B0503020204020204" charset="-122"/>
                <a:sym typeface="+mn-ea"/>
              </a:rPr>
              <a:t>深耕智慧医疗领域</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325120" y="1469390"/>
            <a:ext cx="11550015" cy="460375"/>
          </a:xfrm>
          <a:prstGeom prst="rect">
            <a:avLst/>
          </a:prstGeom>
        </p:spPr>
        <p:txBody>
          <a:bodyPr wrap="square">
            <a:spAutoFit/>
          </a:bodyPr>
          <a:p>
            <a:pPr indent="0" algn="just" defTabSz="266700" fontAlgn="auto">
              <a:spcBef>
                <a:spcPts val="600"/>
              </a:spcBef>
              <a:spcAft>
                <a:spcPct val="0"/>
              </a:spcAft>
            </a:pPr>
            <a:r>
              <a:rPr lang="zh-CN"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深睿医疗创立于</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2017</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年，致力于通过突破性的人工智能技术及自主研发的核心算法为国内外医疗服务机构提供人工智能和互联网医疗解决方案，依托</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影像</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文本</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双</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AI</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引擎，深睿医疗致力于推动放射医学向智能化、精准化方向发展，并助力医院实现智慧化建设。</a:t>
            </a:r>
            <a:endParaRPr lang="zh-CN" altLang="en-US" sz="1200">
              <a:solidFill>
                <a:srgbClr val="2F71EB"/>
              </a:solidFill>
              <a:latin typeface="微软雅黑" panose="020B0503020204020204" charset="-122"/>
              <a:ea typeface="微软雅黑" panose="020B0503020204020204" charset="-122"/>
              <a:cs typeface="微软雅黑" panose="020B0503020204020204" charset="-122"/>
            </a:endParaRPr>
          </a:p>
        </p:txBody>
      </p:sp>
      <p:pic>
        <p:nvPicPr>
          <p:cNvPr id="10" name="图片 9"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1134110"/>
            <a:ext cx="186055" cy="186055"/>
          </a:xfrm>
          <a:prstGeom prst="rect">
            <a:avLst/>
          </a:prstGeom>
        </p:spPr>
      </p:pic>
      <p:sp>
        <p:nvSpPr>
          <p:cNvPr id="13" name="圆角矩形 12"/>
          <p:cNvSpPr/>
          <p:nvPr/>
        </p:nvSpPr>
        <p:spPr>
          <a:xfrm>
            <a:off x="325755" y="3527425"/>
            <a:ext cx="11549380" cy="2957830"/>
          </a:xfrm>
          <a:prstGeom prst="roundRect">
            <a:avLst>
              <a:gd name="adj" fmla="val 8932"/>
            </a:avLst>
          </a:prstGeom>
          <a:gradFill>
            <a:gsLst>
              <a:gs pos="100000">
                <a:schemeClr val="bg1">
                  <a:alpha val="90000"/>
                </a:schemeClr>
              </a:gs>
              <a:gs pos="0">
                <a:srgbClr val="BED0F0">
                  <a:alpha val="70000"/>
                </a:srgbClr>
              </a:gs>
            </a:gsLst>
            <a:lin ang="4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400">
              <a:cs typeface="微软雅黑" panose="020B0503020204020204" charset="-122"/>
              <a:sym typeface="+mn-ea"/>
            </a:endParaRPr>
          </a:p>
        </p:txBody>
      </p:sp>
      <p:sp>
        <p:nvSpPr>
          <p:cNvPr id="15" name="矩形 14"/>
          <p:cNvSpPr/>
          <p:nvPr/>
        </p:nvSpPr>
        <p:spPr>
          <a:xfrm>
            <a:off x="563245" y="3752850"/>
            <a:ext cx="4699635" cy="32131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sym typeface="+mn-ea"/>
              </a:rPr>
              <a:t>业务挑战：大量的医疗影像处理带来性能与成本压力</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1208405" y="4482465"/>
            <a:ext cx="3710940" cy="645160"/>
          </a:xfrm>
          <a:prstGeom prst="rect">
            <a:avLst/>
          </a:prstGeom>
          <a:noFill/>
        </p:spPr>
        <p:txBody>
          <a:bodyPr wrap="square" rtlCol="0" anchor="t">
            <a:spAutoFit/>
          </a:bodyPr>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长期大量影像资源处理内存消耗大</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成本较高</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3" name="椭圆 22"/>
          <p:cNvSpPr/>
          <p:nvPr/>
        </p:nvSpPr>
        <p:spPr>
          <a:xfrm>
            <a:off x="572135" y="4491355"/>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7" name="文本框 6"/>
          <p:cNvSpPr txBox="1"/>
          <p:nvPr/>
        </p:nvSpPr>
        <p:spPr>
          <a:xfrm>
            <a:off x="563245" y="5288915"/>
            <a:ext cx="4577715" cy="737235"/>
          </a:xfrm>
          <a:prstGeom prst="rect">
            <a:avLst/>
          </a:prstGeom>
        </p:spPr>
        <p:txBody>
          <a:bodyPr wrap="square">
            <a:spAutoFit/>
          </a:bodyPr>
          <a:p>
            <a:pPr indent="0" fontAlgn="auto">
              <a:spcBef>
                <a:spcPts val="600"/>
              </a:spcBef>
            </a:pP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sym typeface="+mn-ea"/>
              </a:rPr>
              <a:t>深睿医疗的智能影像算法需要大量的计算资源来处理复杂的医学图像数据，以实现快速、准确的分析，导致系统内存压力大，成本消耗较高。</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p:txBody>
      </p:sp>
      <p:sp>
        <p:nvSpPr>
          <p:cNvPr id="8" name="文本框 7"/>
          <p:cNvSpPr txBox="1"/>
          <p:nvPr/>
        </p:nvSpPr>
        <p:spPr>
          <a:xfrm>
            <a:off x="604520" y="2024063"/>
            <a:ext cx="5080000" cy="368300"/>
          </a:xfrm>
          <a:prstGeom prst="rect">
            <a:avLst/>
          </a:prstGeom>
        </p:spPr>
        <p:txBody>
          <a:bodyPr>
            <a:spAutoFit/>
          </a:bodyPr>
          <a:p>
            <a:pPr indent="0" algn="just" defTabSz="266700">
              <a:spcBef>
                <a:spcPct val="0"/>
              </a:spcBef>
              <a:spcAft>
                <a:spcPct val="0"/>
              </a:spcAft>
              <a:buFont typeface="微软雅黑" panose="020B0503020204020204" charset="-122"/>
              <a:buNone/>
            </a:pPr>
            <a:r>
              <a:rPr lang="en-US" altLang="zh-CN" b="1">
                <a:latin typeface="微软雅黑" panose="020B0503020204020204" charset="-122"/>
                <a:ea typeface="微软雅黑" panose="020B0503020204020204" charset="-122"/>
                <a:cs typeface="微软雅黑" panose="020B0503020204020204" charset="-122"/>
                <a:sym typeface="+mn-ea"/>
              </a:rPr>
              <a:t>Deepwise MetAI </a:t>
            </a:r>
            <a:r>
              <a:rPr lang="zh-CN" altLang="en-US" b="1">
                <a:latin typeface="微软雅黑" panose="020B0503020204020204" charset="-122"/>
                <a:ea typeface="微软雅黑" panose="020B0503020204020204" charset="-122"/>
                <a:cs typeface="微软雅黑" panose="020B0503020204020204" charset="-122"/>
                <a:sym typeface="+mn-ea"/>
              </a:rPr>
              <a:t>智慧影像解决方案</a:t>
            </a:r>
            <a:endParaRPr lang="en-US" altLang="zh-CN" b="1">
              <a:latin typeface="微软雅黑" panose="020B0503020204020204" charset="-122"/>
              <a:ea typeface="微软雅黑" panose="020B0503020204020204" charset="-122"/>
              <a:cs typeface="微软雅黑" panose="020B0503020204020204" charset="-122"/>
            </a:endParaRPr>
          </a:p>
        </p:txBody>
      </p:sp>
      <p:pic>
        <p:nvPicPr>
          <p:cNvPr id="11" name="图片 10"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2115185"/>
            <a:ext cx="186055" cy="186055"/>
          </a:xfrm>
          <a:prstGeom prst="rect">
            <a:avLst/>
          </a:prstGeom>
        </p:spPr>
      </p:pic>
      <p:sp>
        <p:nvSpPr>
          <p:cNvPr id="16" name="文本框 15"/>
          <p:cNvSpPr txBox="1"/>
          <p:nvPr/>
        </p:nvSpPr>
        <p:spPr>
          <a:xfrm>
            <a:off x="325120" y="2420620"/>
            <a:ext cx="11550015" cy="753110"/>
          </a:xfrm>
          <a:prstGeom prst="rect">
            <a:avLst/>
          </a:prstGeom>
        </p:spPr>
        <p:txBody>
          <a:bodyPr wrap="square">
            <a:spAutoFit/>
          </a:bodyPr>
          <a:p>
            <a:pPr indent="0" algn="just" defTabSz="266700" fontAlgn="auto">
              <a:spcBef>
                <a:spcPts val="600"/>
              </a:spcBef>
              <a:spcAft>
                <a:spcPct val="0"/>
              </a:spcAft>
            </a:pPr>
            <a:r>
              <a:rPr lang="zh-CN"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深睿医疗重点深耕智慧影像解决方案，其</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Deepwise MetAI </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是国内首个融合计算机视觉、</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NLP</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、深度学习等人工智能前沿技术构建的智慧影像</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&amp;</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大数据通用平台，能够提供基于</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AI</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的一站式影像重建、一站式的</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AI</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rPr>
              <a:t>辅助诊断与评估等服务。</a:t>
            </a:r>
            <a:endPar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Light" panose="020B0502040204020203" charset="-122"/>
              <a:sym typeface="+mn-ea"/>
            </a:endParaRPr>
          </a:p>
          <a:p>
            <a:pPr indent="0" algn="just" defTabSz="266700" fontAlgn="auto">
              <a:spcBef>
                <a:spcPts val="600"/>
              </a:spcBef>
              <a:spcAft>
                <a:spcPct val="0"/>
              </a:spcAft>
            </a:pPr>
            <a:r>
              <a:rPr lang="zh-CN" altLang="en-US" sz="1400" b="1">
                <a:solidFill>
                  <a:srgbClr val="2868EA"/>
                </a:solidFill>
                <a:latin typeface="微软雅黑" panose="020B0503020204020204" charset="-122"/>
                <a:ea typeface="微软雅黑" panose="020B0503020204020204" charset="-122"/>
                <a:cs typeface="微软雅黑 Light" panose="020B0502040204020203" charset="-122"/>
                <a:sym typeface="+mn-ea"/>
              </a:rPr>
              <a:t>与端木软件达成合作后，端木软件为其智慧影像解决方案提供了云架构优化方案，助力性能与成本优化。</a:t>
            </a:r>
            <a:endParaRPr lang="zh-CN" altLang="en-US" sz="1400" b="1">
              <a:solidFill>
                <a:srgbClr val="2868EA"/>
              </a:solidFill>
              <a:latin typeface="微软雅黑" panose="020B0503020204020204" charset="-122"/>
              <a:ea typeface="微软雅黑" panose="020B0503020204020204" charset="-122"/>
              <a:cs typeface="微软雅黑 Light" panose="020B0502040204020203" charset="-122"/>
              <a:sym typeface="+mn-ea"/>
            </a:endParaRPr>
          </a:p>
        </p:txBody>
      </p:sp>
      <p:sp>
        <p:nvSpPr>
          <p:cNvPr id="3" name="文本框 2"/>
          <p:cNvSpPr txBox="1"/>
          <p:nvPr/>
        </p:nvSpPr>
        <p:spPr>
          <a:xfrm>
            <a:off x="6396355" y="4482465"/>
            <a:ext cx="3336290" cy="645160"/>
          </a:xfrm>
          <a:prstGeom prst="rect">
            <a:avLst/>
          </a:prstGeom>
          <a:noFill/>
        </p:spPr>
        <p:txBody>
          <a:bodyPr wrap="square" rtlCol="0" anchor="t">
            <a:spAutoFit/>
          </a:bodyPr>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需具备应对突发的</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大量影像数据处理能力</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椭圆 8"/>
          <p:cNvSpPr/>
          <p:nvPr/>
        </p:nvSpPr>
        <p:spPr>
          <a:xfrm>
            <a:off x="5760085" y="4521835"/>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12" name="文本框 11"/>
          <p:cNvSpPr txBox="1"/>
          <p:nvPr/>
        </p:nvSpPr>
        <p:spPr>
          <a:xfrm>
            <a:off x="5751195" y="5319395"/>
            <a:ext cx="4745355" cy="521970"/>
          </a:xfrm>
          <a:prstGeom prst="rect">
            <a:avLst/>
          </a:prstGeom>
        </p:spPr>
        <p:txBody>
          <a:bodyPr wrap="square">
            <a:spAutoFit/>
          </a:bodyPr>
          <a:p>
            <a:pPr indent="0" fontAlgn="auto">
              <a:spcBef>
                <a:spcPts val="600"/>
              </a:spcBef>
            </a:pP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sym typeface="+mn-ea"/>
              </a:rPr>
              <a:t>系统需要具备灵活快速扩展的能力，以应对突发高峰期的计算压力，提升灾备能力。</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sym typeface="+mn-ea"/>
            </a:endParaRPr>
          </a:p>
        </p:txBody>
      </p:sp>
      <p:pic>
        <p:nvPicPr>
          <p:cNvPr id="5" name="图片 4" descr="牙科影像"/>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360" y="4640580"/>
            <a:ext cx="337820" cy="337820"/>
          </a:xfrm>
          <a:prstGeom prst="rect">
            <a:avLst/>
          </a:prstGeom>
        </p:spPr>
      </p:pic>
      <p:pic>
        <p:nvPicPr>
          <p:cNvPr id="17" name="图片 16" descr="录影带"/>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28043" y="4689793"/>
            <a:ext cx="300355" cy="300355"/>
          </a:xfrm>
          <a:prstGeom prst="rect">
            <a:avLst/>
          </a:prstGeom>
        </p:spPr>
      </p:pic>
    </p:spTree>
    <p:custDataLst>
      <p:tags r:id="rId7"/>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摄图网_501351508_医疗团队会议讨论特写(仅交流学习使用)"/>
          <p:cNvPicPr>
            <a:picLocks noChangeAspect="1"/>
          </p:cNvPicPr>
          <p:nvPr/>
        </p:nvPicPr>
        <p:blipFill>
          <a:blip r:embed="rId1"/>
          <a:srcRect/>
          <a:stretch>
            <a:fillRect/>
          </a:stretch>
        </p:blipFill>
        <p:spPr>
          <a:xfrm>
            <a:off x="0" y="0"/>
            <a:ext cx="12192000" cy="6858000"/>
          </a:xfrm>
          <a:prstGeom prst="rect">
            <a:avLst/>
          </a:prstGeom>
        </p:spPr>
      </p:pic>
      <p:sp>
        <p:nvSpPr>
          <p:cNvPr id="16" name="矩形 15"/>
          <p:cNvSpPr/>
          <p:nvPr/>
        </p:nvSpPr>
        <p:spPr>
          <a:xfrm>
            <a:off x="0" y="0"/>
            <a:ext cx="12192000" cy="6858635"/>
          </a:xfrm>
          <a:prstGeom prst="rect">
            <a:avLst/>
          </a:prstGeom>
          <a:solidFill>
            <a:schemeClr val="tx1">
              <a:lumMod val="95000"/>
              <a:lumOff val="5000"/>
              <a:alpha val="8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 name="图片 4" descr="摄图网_401961858_科技医疗(非企业商用)"/>
          <p:cNvPicPr>
            <a:picLocks noChangeAspect="1"/>
          </p:cNvPicPr>
          <p:nvPr/>
        </p:nvPicPr>
        <p:blipFill>
          <a:blip r:embed="rId2"/>
          <a:srcRect/>
          <a:stretch>
            <a:fillRect/>
          </a:stretch>
        </p:blipFill>
        <p:spPr>
          <a:xfrm>
            <a:off x="414655" y="1417320"/>
            <a:ext cx="3655060" cy="4519295"/>
          </a:xfrm>
          <a:custGeom>
            <a:avLst/>
            <a:gdLst/>
            <a:ahLst/>
            <a:cxnLst>
              <a:cxn ang="3">
                <a:pos x="hc" y="t"/>
              </a:cxn>
              <a:cxn ang="cd2">
                <a:pos x="l" y="vc"/>
              </a:cxn>
              <a:cxn ang="cd4">
                <a:pos x="hc" y="b"/>
              </a:cxn>
              <a:cxn ang="0">
                <a:pos x="r" y="vc"/>
              </a:cxn>
            </a:cxnLst>
            <a:rect l="l" t="t" r="r" b="b"/>
            <a:pathLst>
              <a:path w="3946" h="5617">
                <a:moveTo>
                  <a:pt x="0" y="0"/>
                </a:moveTo>
                <a:lnTo>
                  <a:pt x="3946" y="0"/>
                </a:lnTo>
                <a:lnTo>
                  <a:pt x="3946" y="5617"/>
                </a:lnTo>
                <a:lnTo>
                  <a:pt x="0" y="5617"/>
                </a:lnTo>
                <a:lnTo>
                  <a:pt x="0" y="0"/>
                </a:lnTo>
                <a:close/>
              </a:path>
            </a:pathLst>
          </a:custGeom>
        </p:spPr>
      </p:pic>
      <p:sp>
        <p:nvSpPr>
          <p:cNvPr id="4" name="矩形 3"/>
          <p:cNvSpPr/>
          <p:nvPr/>
        </p:nvSpPr>
        <p:spPr>
          <a:xfrm>
            <a:off x="2310130" y="2553970"/>
            <a:ext cx="3263265" cy="3608070"/>
          </a:xfrm>
          <a:prstGeom prst="rect">
            <a:avLst/>
          </a:prstGeom>
          <a:gradFill>
            <a:gsLst>
              <a:gs pos="39000">
                <a:srgbClr val="2868EA">
                  <a:alpha val="79000"/>
                </a:srgbClr>
              </a:gs>
              <a:gs pos="100000">
                <a:srgbClr val="24CEBC">
                  <a:alpha val="72000"/>
                </a:srgbClr>
              </a:gs>
            </a:gsLst>
            <a:lin ang="39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Light" panose="020B0502040204020203" charset="-122"/>
              <a:ea typeface="微软雅黑 Light" panose="020B0502040204020203" charset="-122"/>
              <a:cs typeface="微软雅黑" panose="020B0503020204020204" charset="-122"/>
            </a:endParaRPr>
          </a:p>
        </p:txBody>
      </p:sp>
      <p:sp>
        <p:nvSpPr>
          <p:cNvPr id="8" name="文本框 7"/>
          <p:cNvSpPr txBox="1"/>
          <p:nvPr/>
        </p:nvSpPr>
        <p:spPr>
          <a:xfrm>
            <a:off x="2423795" y="4272280"/>
            <a:ext cx="3037205" cy="1076325"/>
          </a:xfrm>
          <a:prstGeom prst="rect">
            <a:avLst/>
          </a:prstGeom>
          <a:noFill/>
        </p:spPr>
        <p:txBody>
          <a:bodyPr wrap="square" rtlCol="0" anchor="t">
            <a:spAutoFit/>
          </a:bodyPr>
          <a:p>
            <a:pPr indent="0" algn="ctr" fontAlgn="auto">
              <a:spcBef>
                <a:spcPts val="600"/>
              </a:spcBef>
            </a:pPr>
            <a:r>
              <a:rPr lang="zh-CN" altLang="en-US">
                <a:solidFill>
                  <a:schemeClr val="bg1"/>
                </a:solidFill>
                <a:latin typeface="微软雅黑 Light" panose="020B0502040204020203" charset="-122"/>
                <a:ea typeface="微软雅黑 Light" panose="020B0502040204020203" charset="-122"/>
                <a:cs typeface="微软雅黑" panose="020B0503020204020204" charset="-122"/>
                <a:sym typeface="+mn-ea"/>
              </a:rPr>
              <a:t>针对智慧医疗行业</a:t>
            </a:r>
            <a:endParaRPr lang="zh-CN" altLang="en-US">
              <a:solidFill>
                <a:schemeClr val="bg1"/>
              </a:solidFill>
              <a:latin typeface="微软雅黑 Light" panose="020B0502040204020203" charset="-122"/>
              <a:ea typeface="微软雅黑 Light" panose="020B0502040204020203" charset="-122"/>
              <a:cs typeface="微软雅黑" panose="020B0503020204020204" charset="-122"/>
            </a:endParaRPr>
          </a:p>
          <a:p>
            <a:pPr indent="0" algn="ctr" fontAlgn="auto">
              <a:spcBef>
                <a:spcPts val="600"/>
              </a:spcBef>
            </a:pPr>
            <a:r>
              <a:rPr lang="zh-CN" altLang="en-US">
                <a:solidFill>
                  <a:schemeClr val="bg1"/>
                </a:solidFill>
                <a:latin typeface="微软雅黑 Light" panose="020B0502040204020203" charset="-122"/>
                <a:ea typeface="微软雅黑 Light" panose="020B0502040204020203" charset="-122"/>
                <a:cs typeface="微软雅黑" panose="020B0503020204020204" charset="-122"/>
                <a:sym typeface="+mn-ea"/>
              </a:rPr>
              <a:t>常见的影像处理问题</a:t>
            </a:r>
            <a:endParaRPr lang="zh-CN" altLang="en-US">
              <a:solidFill>
                <a:schemeClr val="bg1"/>
              </a:solidFill>
              <a:latin typeface="微软雅黑 Light" panose="020B0502040204020203" charset="-122"/>
              <a:ea typeface="微软雅黑 Light" panose="020B0502040204020203" charset="-122"/>
              <a:cs typeface="微软雅黑" panose="020B0503020204020204" charset="-122"/>
            </a:endParaRPr>
          </a:p>
          <a:p>
            <a:pPr indent="0" algn="ctr" fontAlgn="auto">
              <a:spcBef>
                <a:spcPts val="600"/>
              </a:spcBef>
            </a:pPr>
            <a:r>
              <a:rPr lang="zh-CN" altLang="en-US">
                <a:solidFill>
                  <a:schemeClr val="bg1"/>
                </a:solidFill>
                <a:latin typeface="微软雅黑 Light" panose="020B0502040204020203" charset="-122"/>
                <a:ea typeface="微软雅黑 Light" panose="020B0502040204020203" charset="-122"/>
                <a:cs typeface="微软雅黑" panose="020B0503020204020204" charset="-122"/>
                <a:sym typeface="+mn-ea"/>
              </a:rPr>
              <a:t>提供针对性成本优化方案</a:t>
            </a:r>
            <a:endParaRPr lang="zh-CN" altLang="en-US">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10" name="椭圆 9"/>
          <p:cNvSpPr/>
          <p:nvPr/>
        </p:nvSpPr>
        <p:spPr>
          <a:xfrm>
            <a:off x="3437255" y="3124835"/>
            <a:ext cx="1009015" cy="100901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pic>
        <p:nvPicPr>
          <p:cNvPr id="9" name="图片 8" descr="X光片"/>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63315" y="3350260"/>
            <a:ext cx="557530" cy="557530"/>
          </a:xfrm>
          <a:prstGeom prst="rect">
            <a:avLst/>
          </a:prstGeom>
        </p:spPr>
      </p:pic>
      <p:pic>
        <p:nvPicPr>
          <p:cNvPr id="11" name="图片 10" descr="医疗服务"/>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81700" y="1430655"/>
            <a:ext cx="412115" cy="412115"/>
          </a:xfrm>
          <a:prstGeom prst="rect">
            <a:avLst/>
          </a:prstGeom>
        </p:spPr>
      </p:pic>
      <p:sp>
        <p:nvSpPr>
          <p:cNvPr id="12" name="文本框 11"/>
          <p:cNvSpPr txBox="1"/>
          <p:nvPr/>
        </p:nvSpPr>
        <p:spPr>
          <a:xfrm>
            <a:off x="5981700" y="1965960"/>
            <a:ext cx="4869180" cy="583565"/>
          </a:xfrm>
          <a:prstGeom prst="rect">
            <a:avLst/>
          </a:prstGeom>
          <a:noFill/>
        </p:spPr>
        <p:txBody>
          <a:bodyPr wrap="square" rtlCol="0" anchor="t">
            <a:spAutoFit/>
          </a:bodyPr>
          <a:p>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利用阿里云的弹性伸缩服务，根据实际负载自动调整资源，实现成本优化。</a:t>
            </a:r>
            <a:endPar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3" name="文本框 12"/>
          <p:cNvSpPr txBox="1"/>
          <p:nvPr/>
        </p:nvSpPr>
        <p:spPr>
          <a:xfrm>
            <a:off x="6466205" y="1423035"/>
            <a:ext cx="2748280" cy="398780"/>
          </a:xfrm>
          <a:prstGeom prst="rect">
            <a:avLst/>
          </a:prstGeom>
          <a:noFill/>
        </p:spPr>
        <p:txBody>
          <a:bodyPr wrap="square" rtlCol="0" anchor="t">
            <a:spAutoFit/>
          </a:bodyPr>
          <a:p>
            <a:r>
              <a:rPr lang="zh-CN" altLang="en-US" sz="2000" b="1">
                <a:solidFill>
                  <a:schemeClr val="bg1"/>
                </a:solidFill>
                <a:latin typeface="微软雅黑" panose="020B0503020204020204" charset="-122"/>
                <a:ea typeface="微软雅黑" panose="020B0503020204020204" charset="-122"/>
                <a:cs typeface="微软雅黑 Light" panose="020B0502040204020203" charset="-122"/>
                <a:sym typeface="+mn-ea"/>
              </a:rPr>
              <a:t>弹性拓展与成本控制</a:t>
            </a:r>
            <a:endParaRPr lang="zh-CN" altLang="en-US" sz="2000" b="1">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pic>
        <p:nvPicPr>
          <p:cNvPr id="14" name="图片 13" descr="医疗服务"/>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5981700" y="2937510"/>
            <a:ext cx="412115" cy="412115"/>
          </a:xfrm>
          <a:prstGeom prst="rect">
            <a:avLst/>
          </a:prstGeom>
        </p:spPr>
      </p:pic>
      <p:sp>
        <p:nvSpPr>
          <p:cNvPr id="15" name="文本框 14"/>
          <p:cNvSpPr txBox="1"/>
          <p:nvPr/>
        </p:nvSpPr>
        <p:spPr>
          <a:xfrm>
            <a:off x="5981700" y="3472815"/>
            <a:ext cx="4869180" cy="830580"/>
          </a:xfrm>
          <a:prstGeom prst="rect">
            <a:avLst/>
          </a:prstGeom>
          <a:noFill/>
        </p:spPr>
        <p:txBody>
          <a:bodyPr wrap="square" rtlCol="0" anchor="t">
            <a:spAutoFit/>
          </a:bodyPr>
          <a:p>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对不同时间线文件设置不同存储类型，根据业务需求设定自动优化生命周期，以减少不必要的内存占用，优化内存成本。</a:t>
            </a:r>
            <a:endPar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7" name="文本框 16"/>
          <p:cNvSpPr txBox="1"/>
          <p:nvPr/>
        </p:nvSpPr>
        <p:spPr>
          <a:xfrm>
            <a:off x="6466205" y="2929890"/>
            <a:ext cx="3046730" cy="398780"/>
          </a:xfrm>
          <a:prstGeom prst="rect">
            <a:avLst/>
          </a:prstGeom>
          <a:noFill/>
        </p:spPr>
        <p:txBody>
          <a:bodyPr wrap="square" rtlCol="0" anchor="t">
            <a:spAutoFit/>
          </a:bodyPr>
          <a:p>
            <a:r>
              <a:rPr lang="zh-CN" altLang="en-US" sz="2000" b="1">
                <a:solidFill>
                  <a:schemeClr val="bg1"/>
                </a:solidFill>
                <a:latin typeface="微软雅黑" panose="020B0503020204020204" charset="-122"/>
                <a:ea typeface="微软雅黑" panose="020B0503020204020204" charset="-122"/>
                <a:cs typeface="微软雅黑 Light" panose="020B0502040204020203" charset="-122"/>
                <a:sym typeface="+mn-ea"/>
              </a:rPr>
              <a:t>对象存储生命周期管理</a:t>
            </a:r>
            <a:endParaRPr lang="zh-CN" altLang="en-US" sz="2000" b="1">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pic>
        <p:nvPicPr>
          <p:cNvPr id="18" name="图片 17" descr="医疗服务"/>
          <p:cNvPicPr>
            <a:picLocks noChangeAspect="1"/>
          </p:cNvPicPr>
          <p:nvPr/>
        </p:nvPicPr>
        <p:blipFill>
          <a:blip r:embed="rId5">
            <a:extLst>
              <a:ext uri="{96DAC541-7B7A-43D3-8B79-37D633B846F1}">
                <asvg:svgBlip xmlns:asvg="http://schemas.microsoft.com/office/drawing/2016/SVG/main" r:embed="rId8"/>
              </a:ext>
            </a:extLst>
          </a:blip>
          <a:stretch>
            <a:fillRect/>
          </a:stretch>
        </p:blipFill>
        <p:spPr>
          <a:xfrm>
            <a:off x="5981700" y="4702175"/>
            <a:ext cx="412115" cy="412115"/>
          </a:xfrm>
          <a:prstGeom prst="rect">
            <a:avLst/>
          </a:prstGeom>
        </p:spPr>
      </p:pic>
      <p:sp>
        <p:nvSpPr>
          <p:cNvPr id="19" name="文本框 18"/>
          <p:cNvSpPr txBox="1"/>
          <p:nvPr/>
        </p:nvSpPr>
        <p:spPr>
          <a:xfrm>
            <a:off x="5981700" y="5237480"/>
            <a:ext cx="4869180" cy="583565"/>
          </a:xfrm>
          <a:prstGeom prst="rect">
            <a:avLst/>
          </a:prstGeom>
          <a:noFill/>
        </p:spPr>
        <p:txBody>
          <a:bodyPr wrap="square" rtlCol="0" anchor="t">
            <a:spAutoFit/>
          </a:bodyPr>
          <a:p>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利用</a:t>
            </a:r>
            <a:r>
              <a:rPr lang="en-US" altLang="zh-CN"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GPU</a:t>
            </a:r>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实例加速深度学习模型的训练和推理，</a:t>
            </a:r>
            <a:r>
              <a:rPr lang="en-US" altLang="zh-CN"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ECS</a:t>
            </a:r>
            <a:r>
              <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rPr>
              <a:t>实例提供弹性计算能力，满足不同负载下的计算需求。</a:t>
            </a:r>
            <a:endParaRPr lang="zh-CN" altLang="en-US" sz="16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20" name="文本框 19"/>
          <p:cNvSpPr txBox="1"/>
          <p:nvPr/>
        </p:nvSpPr>
        <p:spPr>
          <a:xfrm>
            <a:off x="6466205" y="4694555"/>
            <a:ext cx="3046730" cy="398780"/>
          </a:xfrm>
          <a:prstGeom prst="rect">
            <a:avLst/>
          </a:prstGeom>
          <a:noFill/>
        </p:spPr>
        <p:txBody>
          <a:bodyPr wrap="square" rtlCol="0" anchor="t">
            <a:spAutoFit/>
          </a:bodyPr>
          <a:p>
            <a:r>
              <a:rPr lang="zh-CN" altLang="en-US" sz="2000" b="1">
                <a:solidFill>
                  <a:schemeClr val="bg1"/>
                </a:solidFill>
                <a:latin typeface="微软雅黑" panose="020B0503020204020204" charset="-122"/>
                <a:ea typeface="微软雅黑" panose="020B0503020204020204" charset="-122"/>
                <a:cs typeface="微软雅黑 Light" panose="020B0502040204020203" charset="-122"/>
                <a:sym typeface="+mn-ea"/>
              </a:rPr>
              <a:t>高性能计算架构</a:t>
            </a:r>
            <a:endParaRPr lang="zh-CN" altLang="en-US" sz="2000" b="1">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2" name="文本框 1"/>
          <p:cNvSpPr txBox="1"/>
          <p:nvPr/>
        </p:nvSpPr>
        <p:spPr>
          <a:xfrm>
            <a:off x="323215" y="476250"/>
            <a:ext cx="6231255" cy="521970"/>
          </a:xfrm>
          <a:prstGeom prst="rect">
            <a:avLst/>
          </a:prstGeom>
          <a:noFill/>
        </p:spPr>
        <p:txBody>
          <a:bodyPr wrap="square" rtlCol="0" anchor="t">
            <a:spAutoFit/>
          </a:bodyPr>
          <a:p>
            <a:r>
              <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rPr>
              <a:t>端木软件智慧医疗云服务解决方案</a:t>
            </a:r>
            <a:endPar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descr="全彩版"/>
          <p:cNvPicPr>
            <a:picLocks noChangeAspect="1"/>
          </p:cNvPicPr>
          <p:nvPr userDrawn="1"/>
        </p:nvPicPr>
        <p:blipFill>
          <a:blip r:embed="rId9"/>
          <a:stretch>
            <a:fillRect/>
          </a:stretch>
        </p:blipFill>
        <p:spPr>
          <a:xfrm>
            <a:off x="10339070" y="217805"/>
            <a:ext cx="1607820" cy="407035"/>
          </a:xfrm>
          <a:prstGeom prst="rect">
            <a:avLst/>
          </a:prstGeom>
        </p:spPr>
      </p:pic>
    </p:spTree>
    <p:custDataLst>
      <p:tags r:id="rId10"/>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24CEBC"/>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956500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四川川投云链科技</a:t>
            </a:r>
            <a:r>
              <a:rPr lang="en-US" altLang="zh-CN" sz="2400">
                <a:latin typeface="微软雅黑 Light" panose="020B0502040204020203" charset="-122"/>
                <a:ea typeface="微软雅黑 Light" panose="020B0502040204020203" charset="-122"/>
                <a:cs typeface="微软雅黑 Light" panose="020B0502040204020203" charset="-122"/>
              </a:rPr>
              <a:t> </a:t>
            </a:r>
            <a:r>
              <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rPr>
              <a:t>以线上化、数字化、平台化服务促进金融资源与产业端精准配置、高效对接</a:t>
            </a:r>
            <a:endPar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endParaRPr>
          </a:p>
        </p:txBody>
      </p:sp>
      <p:sp>
        <p:nvSpPr>
          <p:cNvPr id="5" name="文本框 4"/>
          <p:cNvSpPr txBox="1"/>
          <p:nvPr/>
        </p:nvSpPr>
        <p:spPr>
          <a:xfrm>
            <a:off x="604520" y="1042988"/>
            <a:ext cx="5080000" cy="368300"/>
          </a:xfrm>
          <a:prstGeom prst="rect">
            <a:avLst/>
          </a:prstGeom>
        </p:spPr>
        <p:txBody>
          <a:bodyPr>
            <a:spAutoFit/>
          </a:bodyPr>
          <a:p>
            <a:pPr indent="0" algn="l" defTabSz="266700">
              <a:spcBef>
                <a:spcPct val="0"/>
              </a:spcBef>
              <a:spcAft>
                <a:spcPct val="0"/>
              </a:spcAft>
              <a:buFont typeface="微软雅黑" panose="020B0503020204020204" charset="-122"/>
              <a:buNone/>
            </a:pPr>
            <a:r>
              <a:rPr lang="zh-CN" altLang="en-US" b="1">
                <a:latin typeface="微软雅黑" panose="020B0503020204020204" charset="-122"/>
                <a:ea typeface="微软雅黑" panose="020B0503020204020204" charset="-122"/>
                <a:cs typeface="微软雅黑" panose="020B0503020204020204" charset="-122"/>
              </a:rPr>
              <a:t>撮合拍供应链金融智慧服务平台</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325120" y="1469390"/>
            <a:ext cx="11550015" cy="1568450"/>
          </a:xfrm>
          <a:prstGeom prst="rect">
            <a:avLst/>
          </a:prstGeom>
        </p:spPr>
        <p:txBody>
          <a:bodyPr wrap="square">
            <a:spAutoFit/>
          </a:bodyPr>
          <a:p>
            <a:pPr indent="0" algn="just" defTabSz="266700" fontAlgn="auto">
              <a:spcBef>
                <a:spcPts val="600"/>
              </a:spcBef>
              <a:spcAft>
                <a:spcPct val="0"/>
              </a:spcAft>
            </a:pP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四川川投云链科技有限公司成立于</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 2018 </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年，是川投信息产业集团有限公司控股的省属国有企业，以落实普惠金融、促进产业链发展为己任，为国家高新技术企业、四川省</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专精特新</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企业、成都市高新区</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瞪羚</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企业。</a:t>
            </a:r>
            <a:endPar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endParaRPr>
          </a:p>
          <a:p>
            <a:pPr indent="0" algn="just" defTabSz="266700" fontAlgn="auto">
              <a:spcBef>
                <a:spcPts val="600"/>
              </a:spcBef>
              <a:spcAft>
                <a:spcPct val="0"/>
              </a:spcAft>
            </a:pP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川投云链积极响应党中央国务院、四川省委省政府关于推动供应链金融服务实体经济、普惠金融相关发展规划，综合运用区块链、大数据、云计算等科技技术，延伸银行、租赁、保理、担保等各类服务产品打造了</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撮合拍供应链金融智慧服务平台</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400" b="1">
                <a:solidFill>
                  <a:srgbClr val="2868EA"/>
                </a:solidFill>
                <a:latin typeface="微软雅黑" panose="020B0503020204020204" charset="-122"/>
                <a:ea typeface="微软雅黑" panose="020B0503020204020204" charset="-122"/>
                <a:cs typeface="微软雅黑 Light" panose="020B0502040204020203" charset="-122"/>
                <a:sym typeface="+mn-ea"/>
              </a:rPr>
              <a:t>端木软件与其合作后，重点为其该金融平台提供云上支持。</a:t>
            </a:r>
            <a:endParaRPr lang="zh-CN" altLang="en-US" sz="1400" b="1">
              <a:solidFill>
                <a:srgbClr val="2868EA"/>
              </a:solidFill>
              <a:latin typeface="微软雅黑" panose="020B0503020204020204" charset="-122"/>
              <a:ea typeface="微软雅黑" panose="020B0503020204020204" charset="-122"/>
              <a:cs typeface="微软雅黑 Light" panose="020B0502040204020203" charset="-122"/>
            </a:endParaRPr>
          </a:p>
          <a:p>
            <a:pPr indent="0" algn="just" defTabSz="266700" fontAlgn="auto">
              <a:spcBef>
                <a:spcPts val="600"/>
              </a:spcBef>
              <a:spcAft>
                <a:spcPct val="0"/>
              </a:spcAft>
            </a:pP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撮合拍平台和建行、工行、农行、交行、邮储、中信、华夏、招行、平安等</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20</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余家金融机构进行了系统对接，围绕产业供应链场景，为各类企业客户提供企业确权支持、场景金融搭建、资本市场对接、数字科技输出四大类综合服务，通过线上化、数字化、平台化的服务模式促进金融资源与产业端精准配置与高效对接，践行普惠金融，促进产业链实现降本增效。</a:t>
            </a:r>
            <a:endPar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endParaRPr>
          </a:p>
        </p:txBody>
      </p:sp>
      <p:pic>
        <p:nvPicPr>
          <p:cNvPr id="8" name="图片 7"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1134110"/>
            <a:ext cx="186055" cy="186055"/>
          </a:xfrm>
          <a:prstGeom prst="rect">
            <a:avLst/>
          </a:prstGeom>
        </p:spPr>
      </p:pic>
      <p:sp>
        <p:nvSpPr>
          <p:cNvPr id="12" name="圆角矩形 11"/>
          <p:cNvSpPr/>
          <p:nvPr/>
        </p:nvSpPr>
        <p:spPr>
          <a:xfrm>
            <a:off x="325755" y="3346450"/>
            <a:ext cx="11549380" cy="3130550"/>
          </a:xfrm>
          <a:prstGeom prst="roundRect">
            <a:avLst>
              <a:gd name="adj" fmla="val 8932"/>
            </a:avLst>
          </a:prstGeom>
          <a:gradFill>
            <a:gsLst>
              <a:gs pos="100000">
                <a:schemeClr val="bg1">
                  <a:alpha val="90000"/>
                </a:schemeClr>
              </a:gs>
              <a:gs pos="0">
                <a:srgbClr val="BED0F0">
                  <a:alpha val="70000"/>
                </a:srgbClr>
              </a:gs>
            </a:gsLst>
            <a:lin ang="4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400">
              <a:cs typeface="微软雅黑" panose="020B0503020204020204" charset="-122"/>
              <a:sym typeface="+mn-ea"/>
            </a:endParaRPr>
          </a:p>
        </p:txBody>
      </p:sp>
      <p:sp>
        <p:nvSpPr>
          <p:cNvPr id="14" name="矩形 13"/>
          <p:cNvSpPr/>
          <p:nvPr/>
        </p:nvSpPr>
        <p:spPr>
          <a:xfrm>
            <a:off x="563245" y="3571875"/>
            <a:ext cx="4699635" cy="32131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sym typeface="+mn-ea"/>
              </a:rPr>
              <a:t>业务挑战：平台庞大的业务处理量对稳定性提出高要求</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7" name="文本框 16"/>
          <p:cNvSpPr txBox="1"/>
          <p:nvPr/>
        </p:nvSpPr>
        <p:spPr>
          <a:xfrm>
            <a:off x="1208405" y="4301490"/>
            <a:ext cx="4381500" cy="645160"/>
          </a:xfrm>
          <a:prstGeom prst="rect">
            <a:avLst/>
          </a:prstGeom>
          <a:noFill/>
        </p:spPr>
        <p:txBody>
          <a:bodyPr wrap="square" rtlCol="0" anchor="t">
            <a:spAutoFit/>
          </a:bodyPr>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上下游对接大量机构与企业</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业务的快速增长需要平台性能高度稳定</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3" name="椭圆 22"/>
          <p:cNvSpPr/>
          <p:nvPr/>
        </p:nvSpPr>
        <p:spPr>
          <a:xfrm>
            <a:off x="572135" y="4310380"/>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18" name="文本框 17"/>
          <p:cNvSpPr txBox="1"/>
          <p:nvPr/>
        </p:nvSpPr>
        <p:spPr>
          <a:xfrm>
            <a:off x="563245" y="5107940"/>
            <a:ext cx="4832350" cy="737235"/>
          </a:xfrm>
          <a:prstGeom prst="rect">
            <a:avLst/>
          </a:prstGeom>
        </p:spPr>
        <p:txBody>
          <a:bodyPr wrap="square">
            <a:spAutoFit/>
          </a:bodyPr>
          <a:p>
            <a:pPr indent="0" fontAlgn="auto">
              <a:spcBef>
                <a:spcPts val="600"/>
              </a:spcBef>
            </a:pP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rPr>
              <a:t>平台上游对接</a:t>
            </a:r>
            <a:r>
              <a:rPr lang="en-US" altLang="zh-CN" sz="1400">
                <a:solidFill>
                  <a:srgbClr val="1A1A1A"/>
                </a:solidFill>
                <a:latin typeface="微软雅黑 Light" panose="020B0502040204020203" charset="-122"/>
                <a:ea typeface="微软雅黑 Light" panose="020B0502040204020203" charset="-122"/>
                <a:cs typeface="微软雅黑 Light" panose="020B0502040204020203" charset="-122"/>
              </a:rPr>
              <a:t>20</a:t>
            </a: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rPr>
              <a:t>余家金融机构，下游广泛服务电子信息类、能源类、军工类、建筑类、制造类、通讯类、医院类、轨道交通类等产业链，同时业务快速增长，平台稳定性压力较大。</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p:txBody>
      </p:sp>
      <p:sp>
        <p:nvSpPr>
          <p:cNvPr id="19" name="文本框 18"/>
          <p:cNvSpPr txBox="1"/>
          <p:nvPr/>
        </p:nvSpPr>
        <p:spPr>
          <a:xfrm>
            <a:off x="6538595" y="4301490"/>
            <a:ext cx="3596005" cy="645160"/>
          </a:xfrm>
          <a:prstGeom prst="rect">
            <a:avLst/>
          </a:prstGeom>
          <a:noFill/>
        </p:spPr>
        <p:txBody>
          <a:bodyPr wrap="square" rtlCol="0" anchor="t">
            <a:spAutoFit/>
          </a:bodyPr>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金融行业特性</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要求平台具备高度信息安防能力</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0" name="椭圆 19"/>
          <p:cNvSpPr/>
          <p:nvPr/>
        </p:nvSpPr>
        <p:spPr>
          <a:xfrm>
            <a:off x="5902325" y="4340860"/>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22" name="文本框 21"/>
          <p:cNvSpPr txBox="1"/>
          <p:nvPr/>
        </p:nvSpPr>
        <p:spPr>
          <a:xfrm>
            <a:off x="5893435" y="5138420"/>
            <a:ext cx="5008880" cy="521970"/>
          </a:xfrm>
          <a:prstGeom prst="rect">
            <a:avLst/>
          </a:prstGeom>
        </p:spPr>
        <p:txBody>
          <a:bodyPr wrap="square">
            <a:spAutoFit/>
          </a:bodyPr>
          <a:p>
            <a:pPr indent="0" fontAlgn="auto">
              <a:spcBef>
                <a:spcPts val="600"/>
              </a:spcBef>
            </a:pP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sym typeface="+mn-ea"/>
              </a:rPr>
              <a:t>平台业务涉及大量企业数据和金融交易信息，数据安全和隐私保护成为重要挑战。</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sym typeface="+mn-ea"/>
            </a:endParaRPr>
          </a:p>
        </p:txBody>
      </p:sp>
      <p:pic>
        <p:nvPicPr>
          <p:cNvPr id="3" name="图片 2" descr="三角"/>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5965" y="4474210"/>
            <a:ext cx="308610" cy="308610"/>
          </a:xfrm>
          <a:prstGeom prst="rect">
            <a:avLst/>
          </a:prstGeom>
        </p:spPr>
      </p:pic>
      <p:pic>
        <p:nvPicPr>
          <p:cNvPr id="4" name="图片 3" descr="金融"/>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59805" y="4498340"/>
            <a:ext cx="320675" cy="320675"/>
          </a:xfrm>
          <a:prstGeom prst="rect">
            <a:avLst/>
          </a:prstGeom>
        </p:spPr>
      </p:pic>
    </p:spTree>
    <p:custDataLst>
      <p:tags r:id="rId7"/>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摄图网_500445148_金融大厦(非企业商用)"/>
          <p:cNvPicPr>
            <a:picLocks noChangeAspect="1"/>
          </p:cNvPicPr>
          <p:nvPr/>
        </p:nvPicPr>
        <p:blipFill>
          <a:blip r:embed="rId1"/>
          <a:srcRect/>
          <a:stretch>
            <a:fillRect/>
          </a:stretch>
        </p:blipFill>
        <p:spPr>
          <a:xfrm>
            <a:off x="1270" y="0"/>
            <a:ext cx="12192635" cy="6858000"/>
          </a:xfrm>
          <a:prstGeom prst="rect">
            <a:avLst/>
          </a:prstGeom>
        </p:spPr>
      </p:pic>
      <p:sp>
        <p:nvSpPr>
          <p:cNvPr id="16" name="矩形 15"/>
          <p:cNvSpPr/>
          <p:nvPr/>
        </p:nvSpPr>
        <p:spPr>
          <a:xfrm>
            <a:off x="0" y="0"/>
            <a:ext cx="12192000" cy="6858000"/>
          </a:xfrm>
          <a:prstGeom prst="rect">
            <a:avLst/>
          </a:prstGeom>
          <a:solidFill>
            <a:schemeClr val="tx1">
              <a:lumMod val="95000"/>
              <a:lumOff val="5000"/>
              <a:alpha val="8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 name="文本框 1"/>
          <p:cNvSpPr txBox="1"/>
          <p:nvPr/>
        </p:nvSpPr>
        <p:spPr>
          <a:xfrm>
            <a:off x="323215" y="476250"/>
            <a:ext cx="6231255" cy="521970"/>
          </a:xfrm>
          <a:prstGeom prst="rect">
            <a:avLst/>
          </a:prstGeom>
          <a:noFill/>
        </p:spPr>
        <p:txBody>
          <a:bodyPr wrap="square" rtlCol="0" anchor="t">
            <a:spAutoFit/>
          </a:bodyPr>
          <a:p>
            <a:r>
              <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rPr>
              <a:t>端木软件金融业云服务解决方案</a:t>
            </a:r>
            <a:endPar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5" name="任意多边形 4"/>
          <p:cNvSpPr/>
          <p:nvPr/>
        </p:nvSpPr>
        <p:spPr>
          <a:xfrm>
            <a:off x="0" y="5441315"/>
            <a:ext cx="12192000" cy="1416685"/>
          </a:xfrm>
          <a:custGeom>
            <a:avLst/>
            <a:gdLst>
              <a:gd name="connisteX0" fmla="*/ 1024549 w 14596561"/>
              <a:gd name="connsiteY0" fmla="*/ 651836 h 1213628"/>
              <a:gd name="connisteX1" fmla="*/ 4079534 w 14596561"/>
              <a:gd name="connsiteY1" fmla="*/ 326 h 1213628"/>
              <a:gd name="connisteX2" fmla="*/ 8419124 w 14596561"/>
              <a:gd name="connsiteY2" fmla="*/ 726766 h 1213628"/>
              <a:gd name="connisteX3" fmla="*/ 11541419 w 14596561"/>
              <a:gd name="connsiteY3" fmla="*/ 264486 h 1213628"/>
              <a:gd name="connisteX4" fmla="*/ 13842659 w 14596561"/>
              <a:gd name="connsiteY4" fmla="*/ 566746 h 1213628"/>
              <a:gd name="connisteX5" fmla="*/ 13927749 w 14596561"/>
              <a:gd name="connsiteY5" fmla="*/ 708351 h 1213628"/>
              <a:gd name="connisteX6" fmla="*/ 13295924 w 14596561"/>
              <a:gd name="connsiteY6" fmla="*/ 1142056 h 1213628"/>
              <a:gd name="connisteX7" fmla="*/ 1090589 w 14596561"/>
              <a:gd name="connsiteY7" fmla="*/ 1142056 h 1213628"/>
              <a:gd name="connisteX8" fmla="*/ 1062014 w 14596561"/>
              <a:gd name="connsiteY8" fmla="*/ 623261 h 1213628"/>
              <a:gd name="connisteX9" fmla="*/ 995974 w 14596561"/>
              <a:gd name="connsiteY9" fmla="*/ 642311 h 121362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Lst>
            <a:rect l="l" t="t" r="r" b="b"/>
            <a:pathLst>
              <a:path w="19200" h="1488">
                <a:moveTo>
                  <a:pt x="4241" y="0"/>
                </a:moveTo>
                <a:cubicBezTo>
                  <a:pt x="4277" y="0"/>
                  <a:pt x="4313" y="0"/>
                  <a:pt x="4350" y="1"/>
                </a:cubicBezTo>
                <a:cubicBezTo>
                  <a:pt x="6679" y="25"/>
                  <a:pt x="8834" y="1061"/>
                  <a:pt x="11184" y="1144"/>
                </a:cubicBezTo>
                <a:cubicBezTo>
                  <a:pt x="13534" y="1227"/>
                  <a:pt x="14393" y="466"/>
                  <a:pt x="16101" y="416"/>
                </a:cubicBezTo>
                <a:cubicBezTo>
                  <a:pt x="17435" y="377"/>
                  <a:pt x="18437" y="604"/>
                  <a:pt x="19171" y="772"/>
                </a:cubicBezTo>
                <a:lnTo>
                  <a:pt x="19200" y="779"/>
                </a:lnTo>
                <a:lnTo>
                  <a:pt x="19200" y="1488"/>
                </a:lnTo>
                <a:lnTo>
                  <a:pt x="0" y="1488"/>
                </a:lnTo>
                <a:lnTo>
                  <a:pt x="0" y="877"/>
                </a:lnTo>
                <a:lnTo>
                  <a:pt x="37" y="864"/>
                </a:lnTo>
                <a:cubicBezTo>
                  <a:pt x="936" y="547"/>
                  <a:pt x="2366" y="2"/>
                  <a:pt x="4241" y="0"/>
                </a:cubicBezTo>
                <a:close/>
              </a:path>
            </a:pathLst>
          </a:custGeom>
          <a:gradFill>
            <a:gsLst>
              <a:gs pos="0">
                <a:srgbClr val="1371FF">
                  <a:alpha val="0"/>
                </a:srgbClr>
              </a:gs>
              <a:gs pos="81000">
                <a:srgbClr val="1371FF">
                  <a:alpha val="33000"/>
                </a:srgbClr>
              </a:gs>
              <a:gs pos="100000">
                <a:srgbClr val="1371FF">
                  <a:alpha val="100000"/>
                </a:srgbClr>
              </a:gs>
            </a:gsLst>
            <a:lin ang="16380000" scaled="0"/>
          </a:gradFill>
          <a:ln>
            <a:gradFill>
              <a:gsLst>
                <a:gs pos="0">
                  <a:srgbClr val="1371FF">
                    <a:alpha val="84000"/>
                  </a:srgbClr>
                </a:gs>
                <a:gs pos="48000">
                  <a:srgbClr val="1371FF">
                    <a:alpha val="0"/>
                  </a:srgbClr>
                </a:gs>
              </a:gsLst>
              <a:lin ang="5460000" scaled="0"/>
            </a:gra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pic>
        <p:nvPicPr>
          <p:cNvPr id="13" name="图片 12" descr="花瓣素材_医疗系列拟物盾牌医疗图标蓝色立体_193837280"/>
          <p:cNvPicPr>
            <a:picLocks noChangeAspect="1"/>
          </p:cNvPicPr>
          <p:nvPr/>
        </p:nvPicPr>
        <p:blipFill>
          <a:blip r:embed="rId2">
            <a:alphaModFix amt="80000"/>
          </a:blip>
          <a:stretch>
            <a:fillRect/>
          </a:stretch>
        </p:blipFill>
        <p:spPr>
          <a:xfrm>
            <a:off x="8698865" y="1914525"/>
            <a:ext cx="652780" cy="652780"/>
          </a:xfrm>
          <a:prstGeom prst="rect">
            <a:avLst/>
          </a:prstGeom>
        </p:spPr>
      </p:pic>
      <p:pic>
        <p:nvPicPr>
          <p:cNvPr id="14" name="图片 13" descr="T231012137301-饼图-PNG"/>
          <p:cNvPicPr>
            <a:picLocks noChangeAspect="1"/>
          </p:cNvPicPr>
          <p:nvPr/>
        </p:nvPicPr>
        <p:blipFill>
          <a:blip r:embed="rId3">
            <a:alphaModFix amt="80000"/>
          </a:blip>
          <a:stretch>
            <a:fillRect/>
          </a:stretch>
        </p:blipFill>
        <p:spPr>
          <a:xfrm flipH="1">
            <a:off x="5135880" y="1920240"/>
            <a:ext cx="647065" cy="647065"/>
          </a:xfrm>
          <a:prstGeom prst="rect">
            <a:avLst/>
          </a:prstGeom>
        </p:spPr>
      </p:pic>
      <p:pic>
        <p:nvPicPr>
          <p:cNvPr id="15" name="图片 14" descr="T230905187773-PNG-物品贴纸 2"/>
          <p:cNvPicPr>
            <a:picLocks noChangeAspect="1"/>
          </p:cNvPicPr>
          <p:nvPr/>
        </p:nvPicPr>
        <p:blipFill>
          <a:blip r:embed="rId4">
            <a:alphaModFix amt="80000"/>
          </a:blip>
          <a:stretch>
            <a:fillRect/>
          </a:stretch>
        </p:blipFill>
        <p:spPr>
          <a:xfrm>
            <a:off x="1550670" y="1917700"/>
            <a:ext cx="745490" cy="745490"/>
          </a:xfrm>
          <a:prstGeom prst="rect">
            <a:avLst/>
          </a:prstGeom>
        </p:spPr>
      </p:pic>
      <p:sp>
        <p:nvSpPr>
          <p:cNvPr id="17" name="文本框 16"/>
          <p:cNvSpPr txBox="1"/>
          <p:nvPr/>
        </p:nvSpPr>
        <p:spPr>
          <a:xfrm>
            <a:off x="1474470" y="2719070"/>
            <a:ext cx="2372995" cy="368300"/>
          </a:xfrm>
          <a:prstGeom prst="rect">
            <a:avLst/>
          </a:prstGeom>
          <a:noFill/>
        </p:spPr>
        <p:txBody>
          <a:bodyPr wrap="square" rtlCol="0" anchor="t">
            <a:spAutoFit/>
          </a:bodyPr>
          <a:p>
            <a:pPr lvl="0" algn="l">
              <a:buClrTx/>
              <a:buSzTx/>
              <a:buFontTx/>
            </a:pPr>
            <a:r>
              <a:rPr lang="zh-CN" altLang="en-US" b="1">
                <a:gradFill>
                  <a:gsLst>
                    <a:gs pos="0">
                      <a:schemeClr val="bg1"/>
                    </a:gs>
                    <a:gs pos="100000">
                      <a:srgbClr val="1371FF"/>
                    </a:gs>
                  </a:gsLst>
                  <a:lin ang="5400000" scaled="0"/>
                </a:gradFill>
                <a:latin typeface="微软雅黑" panose="020B0503020204020204" charset="-122"/>
                <a:ea typeface="微软雅黑" panose="020B0503020204020204" charset="-122"/>
                <a:cs typeface="微软雅黑" panose="020B0503020204020204" charset="-122"/>
                <a:sym typeface="+mn-ea"/>
              </a:rPr>
              <a:t>高并发与高性能保障</a:t>
            </a:r>
            <a:endParaRPr lang="zh-CN" altLang="en-US" b="1">
              <a:gradFill>
                <a:gsLst>
                  <a:gs pos="0">
                    <a:schemeClr val="bg1"/>
                  </a:gs>
                  <a:gs pos="100000">
                    <a:srgbClr val="1371FF"/>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1474470" y="3199765"/>
            <a:ext cx="2777490" cy="1599565"/>
          </a:xfrm>
          <a:prstGeom prst="rect">
            <a:avLst/>
          </a:prstGeom>
          <a:noFill/>
        </p:spPr>
        <p:txBody>
          <a:bodyPr wrap="square" rtlCol="0" anchor="t">
            <a:spAutoFit/>
          </a:bodyPr>
          <a:p>
            <a:pPr lvl="0" algn="l">
              <a:buClrTx/>
              <a:buSzTx/>
              <a:buFontTx/>
            </a:pP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采用云原生弹性伸缩</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容器化部署，根据实时流量动态调整资源，支撑百万级并发交易；同时使用</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Redis</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集群（热点数据内存缓存）</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 CDN</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边缘缓存（静态资源加速），降低数据库负载，提升响应速度。</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cxnSp>
        <p:nvCxnSpPr>
          <p:cNvPr id="19" name="直接连接符 18"/>
          <p:cNvCxnSpPr/>
          <p:nvPr/>
        </p:nvCxnSpPr>
        <p:spPr>
          <a:xfrm flipV="1">
            <a:off x="1355725" y="1914525"/>
            <a:ext cx="0" cy="3735705"/>
          </a:xfrm>
          <a:prstGeom prst="line">
            <a:avLst/>
          </a:prstGeom>
          <a:ln>
            <a:solidFill>
              <a:srgbClr val="1371FF"/>
            </a:solidFill>
            <a:headEnd type="oval"/>
            <a:tailEnd type="oval"/>
          </a:ln>
        </p:spPr>
        <p:style>
          <a:lnRef idx="2">
            <a:schemeClr val="accent1"/>
          </a:lnRef>
          <a:fillRef idx="0">
            <a:srgbClr val="FFFFFF"/>
          </a:fillRef>
          <a:effectRef idx="0">
            <a:srgbClr val="FFFFFF"/>
          </a:effectRef>
          <a:fontRef idx="minor">
            <a:schemeClr val="tx1"/>
          </a:fontRef>
        </p:style>
      </p:cxnSp>
      <p:cxnSp>
        <p:nvCxnSpPr>
          <p:cNvPr id="20" name="直接连接符 19"/>
          <p:cNvCxnSpPr/>
          <p:nvPr/>
        </p:nvCxnSpPr>
        <p:spPr>
          <a:xfrm flipV="1">
            <a:off x="4932045" y="1914525"/>
            <a:ext cx="0" cy="4060825"/>
          </a:xfrm>
          <a:prstGeom prst="line">
            <a:avLst/>
          </a:prstGeom>
          <a:ln>
            <a:solidFill>
              <a:srgbClr val="1371FF"/>
            </a:solidFill>
            <a:headEnd type="oval"/>
            <a:tailEnd type="oval"/>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flipV="1">
            <a:off x="8508365" y="1914525"/>
            <a:ext cx="0" cy="4443730"/>
          </a:xfrm>
          <a:prstGeom prst="line">
            <a:avLst/>
          </a:prstGeom>
          <a:ln>
            <a:solidFill>
              <a:srgbClr val="1371FF"/>
            </a:solidFill>
            <a:headEnd type="oval"/>
            <a:tailEnd type="oval"/>
          </a:ln>
        </p:spPr>
        <p:style>
          <a:lnRef idx="2">
            <a:schemeClr val="accent1"/>
          </a:lnRef>
          <a:fillRef idx="0">
            <a:srgbClr val="FFFFFF"/>
          </a:fillRef>
          <a:effectRef idx="0">
            <a:srgbClr val="FFFFFF"/>
          </a:effectRef>
          <a:fontRef idx="minor">
            <a:schemeClr val="tx1"/>
          </a:fontRef>
        </p:style>
      </p:cxnSp>
      <p:sp>
        <p:nvSpPr>
          <p:cNvPr id="22" name="文本框 21"/>
          <p:cNvSpPr txBox="1"/>
          <p:nvPr/>
        </p:nvSpPr>
        <p:spPr>
          <a:xfrm>
            <a:off x="5135880" y="2719070"/>
            <a:ext cx="2372995" cy="368300"/>
          </a:xfrm>
          <a:prstGeom prst="rect">
            <a:avLst/>
          </a:prstGeom>
          <a:noFill/>
        </p:spPr>
        <p:txBody>
          <a:bodyPr wrap="square" rtlCol="0" anchor="t">
            <a:spAutoFit/>
          </a:bodyPr>
          <a:p>
            <a:pPr lvl="0" algn="l">
              <a:buClrTx/>
              <a:buSzTx/>
              <a:buFontTx/>
            </a:pPr>
            <a:r>
              <a:rPr lang="zh-CN" altLang="en-US" b="1">
                <a:gradFill>
                  <a:gsLst>
                    <a:gs pos="0">
                      <a:schemeClr val="bg1"/>
                    </a:gs>
                    <a:gs pos="100000">
                      <a:srgbClr val="1371FF"/>
                    </a:gs>
                  </a:gsLst>
                  <a:lin ang="5400000" scaled="0"/>
                </a:gradFill>
                <a:latin typeface="微软雅黑" panose="020B0503020204020204" charset="-122"/>
                <a:ea typeface="微软雅黑" panose="020B0503020204020204" charset="-122"/>
                <a:cs typeface="微软雅黑" panose="020B0503020204020204" charset="-122"/>
                <a:sym typeface="+mn-ea"/>
              </a:rPr>
              <a:t>灵活可扩展架构</a:t>
            </a:r>
            <a:endParaRPr lang="zh-CN" altLang="en-US" b="1">
              <a:gradFill>
                <a:gsLst>
                  <a:gs pos="0">
                    <a:schemeClr val="bg1"/>
                  </a:gs>
                  <a:gs pos="100000">
                    <a:srgbClr val="1371FF"/>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nvSpPr>
        <p:spPr>
          <a:xfrm>
            <a:off x="5135880" y="3199765"/>
            <a:ext cx="2777490" cy="1168400"/>
          </a:xfrm>
          <a:prstGeom prst="rect">
            <a:avLst/>
          </a:prstGeom>
          <a:noFill/>
        </p:spPr>
        <p:txBody>
          <a:bodyPr wrap="square" rtlCol="0" anchor="t">
            <a:spAutoFit/>
          </a:bodyPr>
          <a:p>
            <a:pPr lvl="0" algn="l">
              <a:buClrTx/>
              <a:buSzTx/>
              <a:buFontTx/>
            </a:pPr>
            <a:r>
              <a:rPr 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构建灵活、可扩展的架构设计，通过</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容器化技术（如</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Docker</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）和自动扩展机制，确保应用可以高效运行并根据实时负载动态调整资源。</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4" name="文本框 23"/>
          <p:cNvSpPr txBox="1"/>
          <p:nvPr/>
        </p:nvSpPr>
        <p:spPr>
          <a:xfrm>
            <a:off x="8698865" y="2660650"/>
            <a:ext cx="2372995" cy="368300"/>
          </a:xfrm>
          <a:prstGeom prst="rect">
            <a:avLst/>
          </a:prstGeom>
          <a:noFill/>
        </p:spPr>
        <p:txBody>
          <a:bodyPr wrap="square" rtlCol="0" anchor="t">
            <a:spAutoFit/>
          </a:bodyPr>
          <a:p>
            <a:pPr lvl="0" algn="l">
              <a:buClrTx/>
              <a:buSzTx/>
              <a:buFontTx/>
            </a:pPr>
            <a:r>
              <a:rPr lang="zh-CN" altLang="en-US" b="1">
                <a:gradFill>
                  <a:gsLst>
                    <a:gs pos="0">
                      <a:schemeClr val="bg1"/>
                    </a:gs>
                    <a:gs pos="100000">
                      <a:srgbClr val="1371FF"/>
                    </a:gs>
                  </a:gsLst>
                  <a:lin ang="5400000" scaled="0"/>
                </a:gradFill>
                <a:latin typeface="微软雅黑" panose="020B0503020204020204" charset="-122"/>
                <a:ea typeface="微软雅黑" panose="020B0503020204020204" charset="-122"/>
                <a:cs typeface="微软雅黑" panose="020B0503020204020204" charset="-122"/>
                <a:sym typeface="+mn-ea"/>
              </a:rPr>
              <a:t>数据安全与隐私保护</a:t>
            </a:r>
            <a:endParaRPr lang="zh-CN" altLang="en-US" b="1">
              <a:gradFill>
                <a:gsLst>
                  <a:gs pos="0">
                    <a:schemeClr val="bg1"/>
                  </a:gs>
                  <a:gs pos="100000">
                    <a:srgbClr val="1371FF"/>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25" name="文本框 24"/>
          <p:cNvSpPr txBox="1"/>
          <p:nvPr/>
        </p:nvSpPr>
        <p:spPr>
          <a:xfrm>
            <a:off x="8698865" y="3141345"/>
            <a:ext cx="2777490" cy="1383665"/>
          </a:xfrm>
          <a:prstGeom prst="rect">
            <a:avLst/>
          </a:prstGeom>
          <a:noFill/>
        </p:spPr>
        <p:txBody>
          <a:bodyPr wrap="square" rtlCol="0" anchor="t">
            <a:spAutoFit/>
          </a:bodyPr>
          <a:p>
            <a:pPr lvl="0" algn="l">
              <a:buClrTx/>
              <a:buSzTx/>
              <a:buFontTx/>
            </a:pP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在数据传输和存储过程中使用高级加密标准（如</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AES</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）来保护数据的安全性；同时实施严格的访问控制策略，包括但不限于多因素认证（</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MFA</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）、角色基础的访问控制（</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RBAC</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）等措施。</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pic>
        <p:nvPicPr>
          <p:cNvPr id="4" name="图片 3" descr="全彩版"/>
          <p:cNvPicPr>
            <a:picLocks noChangeAspect="1"/>
          </p:cNvPicPr>
          <p:nvPr userDrawn="1"/>
        </p:nvPicPr>
        <p:blipFill>
          <a:blip r:embed="rId5"/>
          <a:stretch>
            <a:fillRect/>
          </a:stretch>
        </p:blipFill>
        <p:spPr>
          <a:xfrm>
            <a:off x="10339070" y="217805"/>
            <a:ext cx="1607820" cy="407035"/>
          </a:xfrm>
          <a:prstGeom prst="rect">
            <a:avLst/>
          </a:prstGeom>
        </p:spPr>
      </p:pic>
    </p:spTree>
    <p:custDataLst>
      <p:tags r:id="rId6"/>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24CEBC"/>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翰林科技</a:t>
            </a:r>
            <a:r>
              <a:rPr lang="en-US" altLang="zh-CN" sz="2400">
                <a:latin typeface="微软雅黑 Light" panose="020B0502040204020203" charset="-122"/>
                <a:ea typeface="微软雅黑 Light" panose="020B0502040204020203" charset="-122"/>
                <a:cs typeface="微软雅黑 Light" panose="020B0502040204020203" charset="-122"/>
              </a:rPr>
              <a:t> </a:t>
            </a:r>
            <a:r>
              <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rPr>
              <a:t>以多样化智慧教育产品助力构建智慧校园平台</a:t>
            </a:r>
            <a:endPar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endParaRPr>
          </a:p>
        </p:txBody>
      </p:sp>
      <p:grpSp>
        <p:nvGrpSpPr>
          <p:cNvPr id="7" name="组合 6"/>
          <p:cNvGrpSpPr/>
          <p:nvPr/>
        </p:nvGrpSpPr>
        <p:grpSpPr>
          <a:xfrm rot="0">
            <a:off x="8735695" y="1043305"/>
            <a:ext cx="2743835" cy="5615940"/>
            <a:chOff x="10084" y="1483"/>
            <a:chExt cx="3684" cy="7539"/>
          </a:xfrm>
          <a:effectLst>
            <a:outerShdw blurRad="165100" sx="102000" sy="102000" algn="ctr" rotWithShape="0">
              <a:prstClr val="black">
                <a:alpha val="5000"/>
              </a:prstClr>
            </a:outerShdw>
          </a:effectLst>
        </p:grpSpPr>
        <p:sp>
          <p:nvSpPr>
            <p:cNvPr id="5" name="圆角矩形 4"/>
            <p:cNvSpPr/>
            <p:nvPr/>
          </p:nvSpPr>
          <p:spPr>
            <a:xfrm>
              <a:off x="10084" y="1483"/>
              <a:ext cx="3684" cy="7539"/>
            </a:xfrm>
            <a:prstGeom prst="roundRect">
              <a:avLst>
                <a:gd name="adj" fmla="val 10898"/>
              </a:avLst>
            </a:prstGeom>
            <a:solidFill>
              <a:schemeClr val="tx1">
                <a:lumMod val="85000"/>
                <a:lumOff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1" name="椭圆 10"/>
            <p:cNvSpPr/>
            <p:nvPr/>
          </p:nvSpPr>
          <p:spPr>
            <a:xfrm>
              <a:off x="11866" y="1586"/>
              <a:ext cx="120" cy="120"/>
            </a:xfrm>
            <a:prstGeom prst="ellipse">
              <a:avLst/>
            </a:prstGeom>
            <a:solidFill>
              <a:schemeClr val="tx1">
                <a:lumMod val="65000"/>
                <a:lumOff val="35000"/>
              </a:schemeClr>
            </a:solidFill>
            <a:ln>
              <a:solidFill>
                <a:schemeClr val="tx1">
                  <a:lumMod val="75000"/>
                  <a:lumOff val="2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3" name="图片 2" descr="img_localize_d88a4020a39b7d1355530bc794b60c47_414x736"/>
          <p:cNvPicPr>
            <a:picLocks noChangeAspect="1"/>
          </p:cNvPicPr>
          <p:nvPr/>
        </p:nvPicPr>
        <p:blipFill>
          <a:blip r:embed="rId1"/>
          <a:srcRect/>
          <a:stretch>
            <a:fillRect/>
          </a:stretch>
        </p:blipFill>
        <p:spPr>
          <a:xfrm>
            <a:off x="8735695" y="1351915"/>
            <a:ext cx="2743200" cy="5013325"/>
          </a:xfrm>
          <a:prstGeom prst="roundRect">
            <a:avLst>
              <a:gd name="adj" fmla="val 4398"/>
            </a:avLst>
          </a:prstGeom>
        </p:spPr>
      </p:pic>
      <p:sp>
        <p:nvSpPr>
          <p:cNvPr id="4" name="文本框 3"/>
          <p:cNvSpPr txBox="1"/>
          <p:nvPr/>
        </p:nvSpPr>
        <p:spPr>
          <a:xfrm>
            <a:off x="604520" y="1043305"/>
            <a:ext cx="5843270" cy="368300"/>
          </a:xfrm>
          <a:prstGeom prst="rect">
            <a:avLst/>
          </a:prstGeom>
        </p:spPr>
        <p:txBody>
          <a:bodyPr wrap="square">
            <a:spAutoFit/>
          </a:bodyPr>
          <a:p>
            <a:pPr indent="0" algn="just" defTabSz="266700">
              <a:spcBef>
                <a:spcPct val="0"/>
              </a:spcBef>
              <a:spcAft>
                <a:spcPct val="0"/>
              </a:spcAft>
              <a:buFont typeface="微软雅黑" panose="020B0503020204020204" charset="-122"/>
              <a:buNone/>
            </a:pPr>
            <a:r>
              <a:rPr lang="zh-CN" altLang="en-US" b="1">
                <a:latin typeface="微软雅黑" panose="020B0503020204020204" charset="-122"/>
                <a:ea typeface="微软雅黑" panose="020B0503020204020204" charset="-122"/>
                <a:cs typeface="微软雅黑" panose="020B0503020204020204" charset="-122"/>
              </a:rPr>
              <a:t>打造教育行业信息化践行者</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325120" y="1469390"/>
            <a:ext cx="7889875" cy="829945"/>
          </a:xfrm>
          <a:prstGeom prst="rect">
            <a:avLst/>
          </a:prstGeom>
        </p:spPr>
        <p:txBody>
          <a:bodyPr wrap="square">
            <a:spAutoFit/>
          </a:bodyPr>
          <a:p>
            <a:pPr indent="0" algn="just" defTabSz="266700" fontAlgn="auto">
              <a:spcBef>
                <a:spcPts val="600"/>
              </a:spcBef>
              <a:spcAft>
                <a:spcPct val="0"/>
              </a:spcAft>
            </a:pP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合肥翰林数码科技有限公司成立于</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2006</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年</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5</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月，致力于教育信息技术现代化为行业用户提供整体解决方案、专业咨询、应用软件开发与系统集成服务，以</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翰林金榜</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品牌为主打的网上阅卷系统项目获得市场的高度认可，同时开发了考务管理系统、智慧作业平台、电子试卷档案系统等一系列在线教学管理工具，为教育系统提供整体性智慧解决方案。</a:t>
            </a:r>
            <a:endPar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endParaRPr>
          </a:p>
        </p:txBody>
      </p:sp>
      <p:pic>
        <p:nvPicPr>
          <p:cNvPr id="10" name="图片 9" descr="互联网"/>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8465" y="1134110"/>
            <a:ext cx="186055" cy="186055"/>
          </a:xfrm>
          <a:prstGeom prst="rect">
            <a:avLst/>
          </a:prstGeom>
        </p:spPr>
      </p:pic>
      <p:sp>
        <p:nvSpPr>
          <p:cNvPr id="13" name="圆角矩形 12"/>
          <p:cNvSpPr/>
          <p:nvPr/>
        </p:nvSpPr>
        <p:spPr>
          <a:xfrm>
            <a:off x="325120" y="3981450"/>
            <a:ext cx="7889875" cy="2524760"/>
          </a:xfrm>
          <a:prstGeom prst="roundRect">
            <a:avLst>
              <a:gd name="adj" fmla="val 8932"/>
            </a:avLst>
          </a:prstGeom>
          <a:gradFill>
            <a:gsLst>
              <a:gs pos="100000">
                <a:schemeClr val="bg1">
                  <a:alpha val="90000"/>
                </a:schemeClr>
              </a:gs>
              <a:gs pos="0">
                <a:srgbClr val="BED0F0">
                  <a:alpha val="70000"/>
                </a:srgbClr>
              </a:gs>
            </a:gsLst>
            <a:lin ang="4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400">
              <a:cs typeface="微软雅黑" panose="020B0503020204020204" charset="-122"/>
              <a:sym typeface="+mn-ea"/>
            </a:endParaRPr>
          </a:p>
        </p:txBody>
      </p:sp>
      <p:sp>
        <p:nvSpPr>
          <p:cNvPr id="15" name="矩形 14"/>
          <p:cNvSpPr/>
          <p:nvPr/>
        </p:nvSpPr>
        <p:spPr>
          <a:xfrm>
            <a:off x="562610" y="4199255"/>
            <a:ext cx="5182870" cy="309245"/>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sym typeface="+mn-ea"/>
              </a:rPr>
              <a:t>业务挑战：教育系统的峰谷期对平台性能与成本控制兼有挑战</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6" name="文本框 15"/>
          <p:cNvSpPr txBox="1"/>
          <p:nvPr/>
        </p:nvSpPr>
        <p:spPr>
          <a:xfrm>
            <a:off x="325120" y="3413760"/>
            <a:ext cx="7889875" cy="360045"/>
          </a:xfrm>
          <a:prstGeom prst="rect">
            <a:avLst/>
          </a:prstGeom>
        </p:spPr>
        <p:txBody>
          <a:bodyPr wrap="square">
            <a:noAutofit/>
          </a:bodyPr>
          <a:p>
            <a:pPr indent="0" algn="l" defTabSz="266700">
              <a:spcBef>
                <a:spcPct val="0"/>
              </a:spcBef>
              <a:spcAft>
                <a:spcPct val="0"/>
              </a:spcAft>
              <a:buFont typeface="微软雅黑" panose="020B0503020204020204" charset="-122"/>
              <a:buNone/>
            </a:pPr>
            <a:r>
              <a:rPr lang="zh-CN" altLang="en-US" sz="1400" b="1">
                <a:solidFill>
                  <a:srgbClr val="2868EA"/>
                </a:solidFill>
                <a:latin typeface="微软雅黑" panose="020B0503020204020204" charset="-122"/>
                <a:ea typeface="微软雅黑" panose="020B0503020204020204" charset="-122"/>
                <a:cs typeface="微软雅黑" panose="020B0503020204020204" charset="-122"/>
              </a:rPr>
              <a:t>基于翰林科技的核心产品服务，端木软件为其平台的运营提供重要云服务支持。</a:t>
            </a:r>
            <a:endParaRPr lang="zh-CN" altLang="en-US" sz="1400" b="1">
              <a:solidFill>
                <a:srgbClr val="2868EA"/>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1167130" y="4723130"/>
            <a:ext cx="2974975" cy="645160"/>
          </a:xfrm>
          <a:prstGeom prst="rect">
            <a:avLst/>
          </a:prstGeom>
        </p:spPr>
        <p:txBody>
          <a:bodyPr wrap="square">
            <a:spAutoFit/>
          </a:bodyPr>
          <a:p>
            <a:pPr marL="0" indent="0" algn="l" defTabSz="266700">
              <a:spcBef>
                <a:spcPct val="0"/>
              </a:spcBef>
              <a:spcAft>
                <a:spcPct val="0"/>
              </a:spcAft>
            </a:pPr>
            <a:r>
              <a:rPr lang="zh-CN">
                <a:latin typeface="微软雅黑" panose="020B0503020204020204" charset="-122"/>
                <a:ea typeface="微软雅黑" panose="020B0503020204020204" charset="-122"/>
                <a:cs typeface="微软雅黑" panose="020B0503020204020204" charset="-122"/>
                <a:sym typeface="+mn-ea"/>
              </a:rPr>
              <a:t>峰谷期流量波动大</a:t>
            </a:r>
            <a:endParaRPr lang="zh-CN">
              <a:latin typeface="微软雅黑" panose="020B0503020204020204" charset="-122"/>
              <a:ea typeface="微软雅黑" panose="020B0503020204020204" charset="-122"/>
              <a:cs typeface="微软雅黑" panose="020B0503020204020204" charset="-122"/>
              <a:sym typeface="+mn-ea"/>
            </a:endParaRPr>
          </a:p>
          <a:p>
            <a:pPr marL="0" indent="0" algn="l" defTabSz="266700">
              <a:spcBef>
                <a:spcPct val="0"/>
              </a:spcBef>
              <a:spcAft>
                <a:spcPct val="0"/>
              </a:spcAft>
            </a:pPr>
            <a:r>
              <a:rPr lang="zh-CN">
                <a:latin typeface="微软雅黑" panose="020B0503020204020204" charset="-122"/>
                <a:ea typeface="微软雅黑" panose="020B0503020204020204" charset="-122"/>
                <a:cs typeface="微软雅黑" panose="020B0503020204020204" charset="-122"/>
              </a:rPr>
              <a:t>需兼顾稳定性与利用率</a:t>
            </a:r>
            <a:endParaRPr lang="zh-CN">
              <a:latin typeface="微软雅黑" panose="020B0503020204020204" charset="-122"/>
              <a:ea typeface="微软雅黑" panose="020B0503020204020204" charset="-122"/>
              <a:cs typeface="微软雅黑" panose="020B0503020204020204" charset="-122"/>
            </a:endParaRPr>
          </a:p>
        </p:txBody>
      </p:sp>
      <p:sp>
        <p:nvSpPr>
          <p:cNvPr id="18" name="椭圆 17"/>
          <p:cNvSpPr/>
          <p:nvPr/>
        </p:nvSpPr>
        <p:spPr>
          <a:xfrm>
            <a:off x="568960" y="4751705"/>
            <a:ext cx="570865" cy="57086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19" name="文本框 18"/>
          <p:cNvSpPr txBox="1"/>
          <p:nvPr/>
        </p:nvSpPr>
        <p:spPr>
          <a:xfrm>
            <a:off x="4756150" y="4723130"/>
            <a:ext cx="2715895" cy="64516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旧有架构</a:t>
            </a:r>
            <a:endParaRPr lang="zh-CN" altLang="en-US">
              <a:latin typeface="微软雅黑" panose="020B0503020204020204" charset="-122"/>
              <a:ea typeface="微软雅黑" panose="020B0503020204020204" charset="-122"/>
              <a:cs typeface="微软雅黑" panose="020B0503020204020204" charset="-122"/>
            </a:endParaRPr>
          </a:p>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运维管理程度高</a:t>
            </a:r>
            <a:endParaRPr lang="zh-CN" altLang="en-US">
              <a:latin typeface="微软雅黑" panose="020B0503020204020204" charset="-122"/>
              <a:ea typeface="微软雅黑" panose="020B0503020204020204" charset="-122"/>
              <a:cs typeface="微软雅黑" panose="020B0503020204020204" charset="-122"/>
            </a:endParaRPr>
          </a:p>
        </p:txBody>
      </p:sp>
      <p:pic>
        <p:nvPicPr>
          <p:cNvPr id="9" name="图片 8" descr="数据"/>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0248" y="4892993"/>
            <a:ext cx="288290" cy="288290"/>
          </a:xfrm>
          <a:prstGeom prst="rect">
            <a:avLst/>
          </a:prstGeom>
        </p:spPr>
      </p:pic>
      <p:sp>
        <p:nvSpPr>
          <p:cNvPr id="20" name="椭圆 19"/>
          <p:cNvSpPr/>
          <p:nvPr/>
        </p:nvSpPr>
        <p:spPr>
          <a:xfrm>
            <a:off x="4190365" y="4751705"/>
            <a:ext cx="565785" cy="56578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pic>
        <p:nvPicPr>
          <p:cNvPr id="22" name="图片 21" descr="电商商铺"/>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36415" y="4897755"/>
            <a:ext cx="273685" cy="273685"/>
          </a:xfrm>
          <a:prstGeom prst="rect">
            <a:avLst/>
          </a:prstGeom>
        </p:spPr>
      </p:pic>
      <p:sp>
        <p:nvSpPr>
          <p:cNvPr id="23" name="文本框 22"/>
          <p:cNvSpPr txBox="1"/>
          <p:nvPr/>
        </p:nvSpPr>
        <p:spPr>
          <a:xfrm>
            <a:off x="568960" y="5497195"/>
            <a:ext cx="3234690" cy="737235"/>
          </a:xfrm>
          <a:prstGeom prst="rect">
            <a:avLst/>
          </a:prstGeom>
        </p:spPr>
        <p:txBody>
          <a:bodyPr wrap="square">
            <a:spAutoFit/>
          </a:bodyPr>
          <a:p>
            <a:pPr marL="0" indent="0" algn="just" defTabSz="266700">
              <a:spcBef>
                <a:spcPct val="0"/>
              </a:spcBef>
              <a:spcAft>
                <a:spcPct val="0"/>
              </a:spcAft>
            </a:pPr>
            <a:r>
              <a:rPr lang="zh-CN" altLang="en-US" sz="1400">
                <a:latin typeface="微软雅黑 Light" panose="020B0502040204020203" charset="-122"/>
                <a:ea typeface="微软雅黑 Light" panose="020B0502040204020203" charset="-122"/>
                <a:cs typeface="微软雅黑" panose="020B0503020204020204" charset="-122"/>
              </a:rPr>
              <a:t>由于教育行业特性，阅卷系统存在明显峰谷，阶段性高峰时存在系统崩溃不可用情况。</a:t>
            </a:r>
            <a:endParaRPr lang="zh-CN" altLang="en-US" sz="1400">
              <a:latin typeface="微软雅黑 Light" panose="020B0502040204020203" charset="-122"/>
              <a:ea typeface="微软雅黑 Light" panose="020B0502040204020203" charset="-122"/>
              <a:cs typeface="微软雅黑" panose="020B0503020204020204" charset="-122"/>
            </a:endParaRPr>
          </a:p>
        </p:txBody>
      </p:sp>
      <p:sp>
        <p:nvSpPr>
          <p:cNvPr id="24" name="文本框 23"/>
          <p:cNvSpPr txBox="1"/>
          <p:nvPr/>
        </p:nvSpPr>
        <p:spPr>
          <a:xfrm>
            <a:off x="4190365" y="5497195"/>
            <a:ext cx="3458845" cy="737235"/>
          </a:xfrm>
          <a:prstGeom prst="rect">
            <a:avLst/>
          </a:prstGeom>
        </p:spPr>
        <p:txBody>
          <a:bodyPr wrap="square">
            <a:spAutoFit/>
          </a:bodyPr>
          <a:p>
            <a:pPr marL="0" indent="0" algn="just" defTabSz="266700">
              <a:spcBef>
                <a:spcPct val="0"/>
              </a:spcBef>
              <a:spcAft>
                <a:spcPct val="0"/>
              </a:spcAft>
            </a:pPr>
            <a:r>
              <a:rPr lang="zh-CN" altLang="en-US" sz="1400">
                <a:latin typeface="微软雅黑 Light" panose="020B0502040204020203" charset="-122"/>
                <a:ea typeface="微软雅黑 Light" panose="020B0502040204020203" charset="-122"/>
                <a:cs typeface="微软雅黑" panose="020B0503020204020204" charset="-122"/>
              </a:rPr>
              <a:t>旧架构运维管理程度高，资源利用率低成本较高，需要服务商专业技术团队支持进行架构优化。</a:t>
            </a:r>
            <a:endParaRPr lang="zh-CN" altLang="en-US" sz="1400">
              <a:latin typeface="微软雅黑 Light" panose="020B0502040204020203" charset="-122"/>
              <a:ea typeface="微软雅黑 Light" panose="020B0502040204020203" charset="-122"/>
              <a:cs typeface="微软雅黑" panose="020B0503020204020204" charset="-122"/>
            </a:endParaRPr>
          </a:p>
        </p:txBody>
      </p:sp>
      <p:sp>
        <p:nvSpPr>
          <p:cNvPr id="30" name="文本框 29"/>
          <p:cNvSpPr txBox="1"/>
          <p:nvPr/>
        </p:nvSpPr>
        <p:spPr>
          <a:xfrm>
            <a:off x="604520" y="2402205"/>
            <a:ext cx="5843270" cy="368300"/>
          </a:xfrm>
          <a:prstGeom prst="rect">
            <a:avLst/>
          </a:prstGeom>
        </p:spPr>
        <p:txBody>
          <a:bodyPr wrap="square">
            <a:spAutoFit/>
          </a:bodyPr>
          <a:p>
            <a:pPr indent="0" algn="just" defTabSz="266700">
              <a:spcBef>
                <a:spcPct val="0"/>
              </a:spcBef>
              <a:spcAft>
                <a:spcPct val="0"/>
              </a:spcAft>
              <a:buFont typeface="微软雅黑" panose="020B0503020204020204" charset="-122"/>
              <a:buNone/>
            </a:pPr>
            <a:r>
              <a:rPr lang="zh-CN" altLang="en-US" b="1">
                <a:latin typeface="微软雅黑" panose="020B0503020204020204" charset="-122"/>
                <a:ea typeface="微软雅黑" panose="020B0503020204020204" charset="-122"/>
                <a:cs typeface="微软雅黑" panose="020B0503020204020204" charset="-122"/>
              </a:rPr>
              <a:t>翰林金榜网上阅卷系统</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325120" y="2828290"/>
            <a:ext cx="7889875" cy="460375"/>
          </a:xfrm>
          <a:prstGeom prst="rect">
            <a:avLst/>
          </a:prstGeom>
        </p:spPr>
        <p:txBody>
          <a:bodyPr wrap="square">
            <a:spAutoFit/>
          </a:bodyPr>
          <a:p>
            <a:pPr indent="0" algn="just" defTabSz="266700" fontAlgn="auto">
              <a:spcBef>
                <a:spcPts val="600"/>
              </a:spcBef>
              <a:spcAft>
                <a:spcPct val="0"/>
              </a:spcAft>
            </a:pP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rPr>
              <a:t>翰林金榜网上阅卷系统作为翰林科技的核心产品，能够帮助老师们更轻松高效、更智能地进行试卷批改，同时能够在线组卷、智能成绩分析、易错题分析等，在全国多所中高级院校中常态化应用。</a:t>
            </a:r>
            <a:endPar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endParaRPr>
          </a:p>
        </p:txBody>
      </p:sp>
      <p:pic>
        <p:nvPicPr>
          <p:cNvPr id="32" name="图片 31" descr="互联网"/>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8465" y="2493010"/>
            <a:ext cx="186055" cy="186055"/>
          </a:xfrm>
          <a:prstGeom prst="rect">
            <a:avLst/>
          </a:prstGeom>
        </p:spPr>
      </p:pic>
    </p:spTree>
    <p:custDataLst>
      <p:tags r:id="rId8"/>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摄图网_500509906_四川省图书馆(非企业商用)"/>
          <p:cNvPicPr>
            <a:picLocks noChangeAspect="1"/>
          </p:cNvPicPr>
          <p:nvPr/>
        </p:nvPicPr>
        <p:blipFill>
          <a:blip r:embed="rId1"/>
          <a:srcRect/>
          <a:stretch>
            <a:fillRect/>
          </a:stretch>
        </p:blipFill>
        <p:spPr>
          <a:xfrm>
            <a:off x="0" y="0"/>
            <a:ext cx="12192000" cy="6858000"/>
          </a:xfrm>
          <a:prstGeom prst="rect">
            <a:avLst/>
          </a:prstGeom>
        </p:spPr>
      </p:pic>
      <p:sp>
        <p:nvSpPr>
          <p:cNvPr id="16" name="矩形 15"/>
          <p:cNvSpPr/>
          <p:nvPr/>
        </p:nvSpPr>
        <p:spPr>
          <a:xfrm>
            <a:off x="0" y="0"/>
            <a:ext cx="12192000" cy="6858000"/>
          </a:xfrm>
          <a:prstGeom prst="rect">
            <a:avLst/>
          </a:prstGeom>
          <a:solidFill>
            <a:schemeClr val="tx1">
              <a:lumMod val="95000"/>
              <a:lumOff val="5000"/>
              <a:alpha val="8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4" name="图片 3" descr="摄图网_501642360_戴耳机的女老师头戴耳麦和学生沟通在线教育(仅交流学习使用)"/>
          <p:cNvPicPr>
            <a:picLocks noChangeAspect="1"/>
          </p:cNvPicPr>
          <p:nvPr/>
        </p:nvPicPr>
        <p:blipFill>
          <a:blip r:embed="rId2"/>
          <a:srcRect/>
          <a:stretch>
            <a:fillRect/>
          </a:stretch>
        </p:blipFill>
        <p:spPr>
          <a:xfrm>
            <a:off x="675323" y="1786255"/>
            <a:ext cx="4058920" cy="4379278"/>
          </a:xfrm>
          <a:custGeom>
            <a:avLst/>
            <a:gdLst/>
            <a:ahLst/>
            <a:cxnLst>
              <a:cxn ang="3">
                <a:pos x="hc" y="t"/>
              </a:cxn>
              <a:cxn ang="cd2">
                <a:pos x="l" y="vc"/>
              </a:cxn>
              <a:cxn ang="cd4">
                <a:pos x="hc" y="b"/>
              </a:cxn>
              <a:cxn ang="0">
                <a:pos x="r" y="vc"/>
              </a:cxn>
            </a:cxnLst>
            <a:rect l="l" t="t" r="r" b="b"/>
            <a:pathLst>
              <a:path w="6392" h="6897">
                <a:moveTo>
                  <a:pt x="0" y="0"/>
                </a:moveTo>
                <a:lnTo>
                  <a:pt x="5114" y="0"/>
                </a:lnTo>
                <a:lnTo>
                  <a:pt x="6392" y="6897"/>
                </a:lnTo>
                <a:lnTo>
                  <a:pt x="0" y="6897"/>
                </a:lnTo>
                <a:lnTo>
                  <a:pt x="0" y="0"/>
                </a:lnTo>
                <a:close/>
              </a:path>
            </a:pathLst>
          </a:custGeom>
        </p:spPr>
      </p:pic>
      <p:sp>
        <p:nvSpPr>
          <p:cNvPr id="2" name="文本框 1"/>
          <p:cNvSpPr txBox="1"/>
          <p:nvPr/>
        </p:nvSpPr>
        <p:spPr>
          <a:xfrm>
            <a:off x="323215" y="476250"/>
            <a:ext cx="6231255" cy="521970"/>
          </a:xfrm>
          <a:prstGeom prst="rect">
            <a:avLst/>
          </a:prstGeom>
          <a:noFill/>
        </p:spPr>
        <p:txBody>
          <a:bodyPr wrap="square" rtlCol="0" anchor="t">
            <a:spAutoFit/>
          </a:bodyPr>
          <a:p>
            <a:r>
              <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rPr>
              <a:t>端木软件在线教育云服务解决方案</a:t>
            </a:r>
            <a:endParaRPr lang="zh-CN" altLang="en-US" sz="2800"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8" name="图片 7" descr="摄图网_500749334_现代互联网学习教育(非企业商用)"/>
          <p:cNvPicPr>
            <a:picLocks noChangeAspect="1"/>
          </p:cNvPicPr>
          <p:nvPr/>
        </p:nvPicPr>
        <p:blipFill>
          <a:blip r:embed="rId3"/>
          <a:srcRect/>
          <a:stretch>
            <a:fillRect/>
          </a:stretch>
        </p:blipFill>
        <p:spPr>
          <a:xfrm>
            <a:off x="4056380" y="1791970"/>
            <a:ext cx="4079875" cy="4383405"/>
          </a:xfrm>
          <a:custGeom>
            <a:avLst/>
            <a:gdLst/>
            <a:ahLst/>
            <a:cxnLst>
              <a:cxn ang="3">
                <a:pos x="hc" y="t"/>
              </a:cxn>
              <a:cxn ang="cd2">
                <a:pos x="l" y="vc"/>
              </a:cxn>
              <a:cxn ang="cd4">
                <a:pos x="hc" y="b"/>
              </a:cxn>
              <a:cxn ang="0">
                <a:pos x="r" y="vc"/>
              </a:cxn>
            </a:cxnLst>
            <a:rect l="l" t="t" r="r" b="b"/>
            <a:pathLst>
              <a:path w="6425" h="6903">
                <a:moveTo>
                  <a:pt x="0" y="0"/>
                </a:moveTo>
                <a:lnTo>
                  <a:pt x="5112" y="0"/>
                </a:lnTo>
                <a:lnTo>
                  <a:pt x="6425" y="6903"/>
                </a:lnTo>
                <a:lnTo>
                  <a:pt x="1313" y="6903"/>
                </a:lnTo>
                <a:lnTo>
                  <a:pt x="0" y="0"/>
                </a:lnTo>
                <a:close/>
              </a:path>
            </a:pathLst>
          </a:custGeom>
        </p:spPr>
      </p:pic>
      <p:pic>
        <p:nvPicPr>
          <p:cNvPr id="9" name="图片 8" descr="摄图网_501808208_美女数学老师在线教育直播讲课(仅交流学习使用)"/>
          <p:cNvPicPr>
            <a:picLocks noChangeAspect="1"/>
          </p:cNvPicPr>
          <p:nvPr/>
        </p:nvPicPr>
        <p:blipFill>
          <a:blip r:embed="rId4"/>
          <a:srcRect/>
          <a:stretch>
            <a:fillRect/>
          </a:stretch>
        </p:blipFill>
        <p:spPr>
          <a:xfrm>
            <a:off x="7478713" y="1791018"/>
            <a:ext cx="4058920" cy="4379595"/>
          </a:xfrm>
          <a:custGeom>
            <a:avLst/>
            <a:gdLst/>
            <a:ahLst/>
            <a:cxnLst>
              <a:cxn ang="3">
                <a:pos x="hc" y="t"/>
              </a:cxn>
              <a:cxn ang="cd2">
                <a:pos x="l" y="vc"/>
              </a:cxn>
              <a:cxn ang="cd4">
                <a:pos x="hc" y="b"/>
              </a:cxn>
              <a:cxn ang="0">
                <a:pos x="r" y="vc"/>
              </a:cxn>
            </a:cxnLst>
            <a:rect l="l" t="t" r="r" b="b"/>
            <a:pathLst>
              <a:path w="6392" h="6897">
                <a:moveTo>
                  <a:pt x="0" y="0"/>
                </a:moveTo>
                <a:lnTo>
                  <a:pt x="6392" y="0"/>
                </a:lnTo>
                <a:lnTo>
                  <a:pt x="6392" y="6897"/>
                </a:lnTo>
                <a:lnTo>
                  <a:pt x="1278" y="6897"/>
                </a:lnTo>
                <a:lnTo>
                  <a:pt x="0" y="0"/>
                </a:lnTo>
                <a:close/>
              </a:path>
            </a:pathLst>
          </a:custGeom>
        </p:spPr>
      </p:pic>
      <p:sp>
        <p:nvSpPr>
          <p:cNvPr id="19" name="流程图: 手动输入 18"/>
          <p:cNvSpPr/>
          <p:nvPr/>
        </p:nvSpPr>
        <p:spPr>
          <a:xfrm rot="5400000" flipH="1" flipV="1">
            <a:off x="7318375" y="1951355"/>
            <a:ext cx="4379595" cy="4058920"/>
          </a:xfrm>
          <a:prstGeom prst="flowChartManualInput">
            <a:avLst/>
          </a:prstGeom>
          <a:gradFill>
            <a:gsLst>
              <a:gs pos="0">
                <a:srgbClr val="1371FF">
                  <a:alpha val="100000"/>
                </a:srgbClr>
              </a:gs>
              <a:gs pos="100000">
                <a:srgbClr val="1371FF">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0" name="平行四边形 19"/>
          <p:cNvSpPr/>
          <p:nvPr/>
        </p:nvSpPr>
        <p:spPr>
          <a:xfrm flipH="1">
            <a:off x="4056380" y="1795780"/>
            <a:ext cx="4079875" cy="4383405"/>
          </a:xfrm>
          <a:prstGeom prst="parallelogram">
            <a:avLst>
              <a:gd name="adj" fmla="val 20435"/>
            </a:avLst>
          </a:prstGeom>
          <a:gradFill>
            <a:gsLst>
              <a:gs pos="0">
                <a:srgbClr val="22BCAC"/>
              </a:gs>
              <a:gs pos="100000">
                <a:srgbClr val="1371FF">
                  <a:alpha val="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3" name="剪去同侧角的矩形 12"/>
          <p:cNvSpPr/>
          <p:nvPr/>
        </p:nvSpPr>
        <p:spPr>
          <a:xfrm flipV="1">
            <a:off x="4507230" y="1786255"/>
            <a:ext cx="501650" cy="768985"/>
          </a:xfrm>
          <a:prstGeom prst="snip2SameRect">
            <a:avLst>
              <a:gd name="adj1" fmla="val 50000"/>
              <a:gd name="adj2" fmla="val 0"/>
            </a:avLst>
          </a:prstGeom>
          <a:solidFill>
            <a:srgbClr val="1371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 name="文本框 13"/>
          <p:cNvSpPr txBox="1"/>
          <p:nvPr/>
        </p:nvSpPr>
        <p:spPr>
          <a:xfrm>
            <a:off x="4507230" y="1898650"/>
            <a:ext cx="501650" cy="368300"/>
          </a:xfrm>
          <a:prstGeom prst="rect">
            <a:avLst/>
          </a:prstGeom>
          <a:noFill/>
        </p:spPr>
        <p:txBody>
          <a:bodyPr wrap="square" rtlCol="0">
            <a:spAutoFit/>
          </a:bodyPr>
          <a:p>
            <a:pPr algn="ctr"/>
            <a:r>
              <a:rPr lang="en-US" altLang="zh-CN">
                <a:solidFill>
                  <a:schemeClr val="bg1"/>
                </a:solidFill>
                <a:latin typeface="微软雅黑" panose="020B0503020204020204" charset="-122"/>
                <a:ea typeface="微软雅黑" panose="020B0503020204020204" charset="-122"/>
                <a:cs typeface="微软雅黑" panose="020B0503020204020204" charset="-122"/>
              </a:rPr>
              <a:t>02</a:t>
            </a:r>
            <a:endParaRPr lang="en-US" altLang="zh-CN">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剪去同侧角的矩形 14"/>
          <p:cNvSpPr/>
          <p:nvPr/>
        </p:nvSpPr>
        <p:spPr>
          <a:xfrm flipV="1">
            <a:off x="7896225" y="1786255"/>
            <a:ext cx="501650" cy="768985"/>
          </a:xfrm>
          <a:prstGeom prst="snip2SameRect">
            <a:avLst>
              <a:gd name="adj1" fmla="val 50000"/>
              <a:gd name="adj2" fmla="val 0"/>
            </a:avLst>
          </a:prstGeom>
          <a:solidFill>
            <a:srgbClr val="1371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7" name="文本框 16"/>
          <p:cNvSpPr txBox="1"/>
          <p:nvPr/>
        </p:nvSpPr>
        <p:spPr>
          <a:xfrm>
            <a:off x="7896225" y="1898650"/>
            <a:ext cx="501650" cy="368300"/>
          </a:xfrm>
          <a:prstGeom prst="rect">
            <a:avLst/>
          </a:prstGeom>
          <a:noFill/>
        </p:spPr>
        <p:txBody>
          <a:bodyPr wrap="square" rtlCol="0">
            <a:spAutoFit/>
          </a:bodyPr>
          <a:p>
            <a:pPr algn="ctr"/>
            <a:r>
              <a:rPr lang="en-US" altLang="zh-CN">
                <a:solidFill>
                  <a:schemeClr val="bg1"/>
                </a:solidFill>
                <a:latin typeface="微软雅黑" panose="020B0503020204020204" charset="-122"/>
                <a:ea typeface="微软雅黑" panose="020B0503020204020204" charset="-122"/>
                <a:cs typeface="微软雅黑" panose="020B0503020204020204" charset="-122"/>
              </a:rPr>
              <a:t>03</a:t>
            </a:r>
            <a:endParaRPr lang="en-US" altLang="zh-CN">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4946015" y="4051300"/>
            <a:ext cx="2389505" cy="398780"/>
          </a:xfrm>
          <a:prstGeom prst="rect">
            <a:avLst/>
          </a:prstGeom>
          <a:noFill/>
        </p:spPr>
        <p:txBody>
          <a:bodyPr wrap="square" rtlCol="0">
            <a:spAutoFit/>
          </a:bodyPr>
          <a:p>
            <a:r>
              <a:rPr lang="zh-CN" altLang="en-US" sz="2000" b="1">
                <a:solidFill>
                  <a:schemeClr val="bg1"/>
                </a:solidFill>
                <a:latin typeface="微软雅黑" panose="020B0503020204020204" charset="-122"/>
                <a:ea typeface="微软雅黑" panose="020B0503020204020204" charset="-122"/>
                <a:cs typeface="微软雅黑" panose="020B0503020204020204" charset="-122"/>
              </a:rPr>
              <a:t>教学资源管理优化</a:t>
            </a:r>
            <a:endParaRPr lang="zh-CN" altLang="en-US" sz="2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a:off x="4946015" y="4556760"/>
            <a:ext cx="2807335" cy="1168400"/>
          </a:xfrm>
          <a:prstGeom prst="rect">
            <a:avLst/>
          </a:prstGeom>
          <a:noFill/>
        </p:spPr>
        <p:txBody>
          <a:bodyPr wrap="square" rtlCol="0">
            <a:spAutoFit/>
          </a:bodyPr>
          <a:p>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针对系统内大量教学资源的管理，改变原始自建数据库和系统文件图片存储方式等情况，</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通过优化资源管理进一步</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提高系统可用性及和稳定性。</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5" name="文本框 24"/>
          <p:cNvSpPr txBox="1"/>
          <p:nvPr/>
        </p:nvSpPr>
        <p:spPr>
          <a:xfrm>
            <a:off x="8397875" y="4051300"/>
            <a:ext cx="2389505" cy="398780"/>
          </a:xfrm>
          <a:prstGeom prst="rect">
            <a:avLst/>
          </a:prstGeom>
          <a:noFill/>
        </p:spPr>
        <p:txBody>
          <a:bodyPr wrap="square" rtlCol="0">
            <a:spAutoFit/>
          </a:bodyPr>
          <a:p>
            <a:r>
              <a:rPr lang="zh-CN" altLang="en-US" sz="2000" b="1">
                <a:solidFill>
                  <a:schemeClr val="bg1"/>
                </a:solidFill>
                <a:latin typeface="微软雅黑" panose="020B0503020204020204" charset="-122"/>
                <a:ea typeface="微软雅黑" panose="020B0503020204020204" charset="-122"/>
                <a:cs typeface="微软雅黑" panose="020B0503020204020204" charset="-122"/>
              </a:rPr>
              <a:t>优化产品成本</a:t>
            </a:r>
            <a:endParaRPr lang="zh-CN" altLang="en-US" sz="2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a:off x="8397875" y="4556760"/>
            <a:ext cx="2891790" cy="953135"/>
          </a:xfrm>
          <a:prstGeom prst="rect">
            <a:avLst/>
          </a:prstGeom>
          <a:noFill/>
        </p:spPr>
        <p:txBody>
          <a:bodyPr wrap="square" rtlCol="0">
            <a:spAutoFit/>
          </a:bodyPr>
          <a:p>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以资源包抵扣后付费产品，采用更高性价比的下行流量资源包，保证系统可用性和稳定性的同时进一步优化成本投入。</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1" name="流程图: 手动输入 10"/>
          <p:cNvSpPr/>
          <p:nvPr/>
        </p:nvSpPr>
        <p:spPr>
          <a:xfrm rot="5400000">
            <a:off x="514985" y="1946275"/>
            <a:ext cx="4379595" cy="4058920"/>
          </a:xfrm>
          <a:prstGeom prst="flowChartManualInput">
            <a:avLst/>
          </a:prstGeom>
          <a:gradFill>
            <a:gsLst>
              <a:gs pos="0">
                <a:srgbClr val="1371FF">
                  <a:alpha val="100000"/>
                </a:srgbClr>
              </a:gs>
              <a:gs pos="100000">
                <a:srgbClr val="1371FF">
                  <a:alpha val="0"/>
                </a:srgb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0" name="剪去同侧角的矩形 9"/>
          <p:cNvSpPr/>
          <p:nvPr/>
        </p:nvSpPr>
        <p:spPr>
          <a:xfrm flipV="1">
            <a:off x="1010920" y="1786255"/>
            <a:ext cx="501650" cy="768985"/>
          </a:xfrm>
          <a:prstGeom prst="snip2SameRect">
            <a:avLst>
              <a:gd name="adj1" fmla="val 50000"/>
              <a:gd name="adj2" fmla="val 0"/>
            </a:avLst>
          </a:prstGeom>
          <a:solidFill>
            <a:srgbClr val="1371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 name="文本框 11"/>
          <p:cNvSpPr txBox="1"/>
          <p:nvPr/>
        </p:nvSpPr>
        <p:spPr>
          <a:xfrm>
            <a:off x="1010920" y="1898650"/>
            <a:ext cx="501650" cy="368300"/>
          </a:xfrm>
          <a:prstGeom prst="rect">
            <a:avLst/>
          </a:prstGeom>
          <a:noFill/>
        </p:spPr>
        <p:txBody>
          <a:bodyPr wrap="square" rtlCol="0">
            <a:spAutoFit/>
          </a:bodyPr>
          <a:p>
            <a:pPr algn="ctr"/>
            <a:r>
              <a:rPr lang="en-US" altLang="zh-CN">
                <a:solidFill>
                  <a:schemeClr val="bg1"/>
                </a:solidFill>
                <a:latin typeface="微软雅黑" panose="020B0503020204020204" charset="-122"/>
                <a:ea typeface="微软雅黑" panose="020B0503020204020204" charset="-122"/>
                <a:cs typeface="微软雅黑" panose="020B0503020204020204" charset="-122"/>
              </a:rPr>
              <a:t>01</a:t>
            </a:r>
            <a:endParaRPr lang="en-US" altLang="zh-CN">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881380" y="4051300"/>
            <a:ext cx="3174365" cy="398780"/>
          </a:xfrm>
          <a:prstGeom prst="rect">
            <a:avLst/>
          </a:prstGeom>
          <a:noFill/>
        </p:spPr>
        <p:txBody>
          <a:bodyPr wrap="square" rtlCol="0">
            <a:spAutoFit/>
          </a:bodyPr>
          <a:p>
            <a:r>
              <a:rPr lang="zh-CN" altLang="en-US" sz="2000" b="1">
                <a:solidFill>
                  <a:schemeClr val="bg1"/>
                </a:solidFill>
                <a:latin typeface="微软雅黑" panose="020B0503020204020204" charset="-122"/>
                <a:ea typeface="微软雅黑" panose="020B0503020204020204" charset="-122"/>
                <a:cs typeface="微软雅黑" panose="020B0503020204020204" charset="-122"/>
              </a:rPr>
              <a:t>峰谷期弹性伸缩架构设计</a:t>
            </a:r>
            <a:endParaRPr lang="zh-CN" altLang="en-US" sz="2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881380" y="4556760"/>
            <a:ext cx="3023870" cy="1168400"/>
          </a:xfrm>
          <a:prstGeom prst="rect">
            <a:avLst/>
          </a:prstGeom>
          <a:noFill/>
        </p:spPr>
        <p:txBody>
          <a:bodyPr wrap="square" rtlCol="0">
            <a:spAutoFit/>
          </a:bodyPr>
          <a:p>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针对在线教育行业常见的平台峰谷流量问题，采用弹性伸缩架构设计，在高峰期自动增加计算资源以确保系统的稳定运行；在低谷期减少资源分配，降低运营成本。</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endParaRPr>
          </a:p>
        </p:txBody>
      </p:sp>
      <p:pic>
        <p:nvPicPr>
          <p:cNvPr id="5" name="图片 4" descr="全彩版"/>
          <p:cNvPicPr>
            <a:picLocks noChangeAspect="1"/>
          </p:cNvPicPr>
          <p:nvPr userDrawn="1"/>
        </p:nvPicPr>
        <p:blipFill>
          <a:blip r:embed="rId5"/>
          <a:stretch>
            <a:fillRect/>
          </a:stretch>
        </p:blipFill>
        <p:spPr>
          <a:xfrm>
            <a:off x="10339070" y="217805"/>
            <a:ext cx="1607820" cy="407035"/>
          </a:xfrm>
          <a:prstGeom prst="rect">
            <a:avLst/>
          </a:prstGeom>
        </p:spPr>
      </p:pic>
    </p:spTree>
    <p:custDataLst>
      <p:tags r:id="rId6"/>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24CEBC"/>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5092700"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成都顺火互娱</a:t>
            </a:r>
            <a:r>
              <a:rPr lang="en-US" altLang="zh-CN" sz="2400">
                <a:latin typeface="微软雅黑 Light" panose="020B0502040204020203" charset="-122"/>
                <a:ea typeface="微软雅黑 Light" panose="020B0502040204020203" charset="-122"/>
                <a:cs typeface="微软雅黑 Light" panose="020B0502040204020203" charset="-122"/>
              </a:rPr>
              <a:t> </a:t>
            </a:r>
            <a:r>
              <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rPr>
              <a:t>高效、安全、智能的游戏运营</a:t>
            </a:r>
            <a:endPar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endParaRPr>
          </a:p>
        </p:txBody>
      </p:sp>
      <p:sp>
        <p:nvSpPr>
          <p:cNvPr id="4" name="文本框 3"/>
          <p:cNvSpPr txBox="1"/>
          <p:nvPr/>
        </p:nvSpPr>
        <p:spPr>
          <a:xfrm>
            <a:off x="604520" y="1042988"/>
            <a:ext cx="5080000" cy="368300"/>
          </a:xfrm>
          <a:prstGeom prst="rect">
            <a:avLst/>
          </a:prstGeom>
        </p:spPr>
        <p:txBody>
          <a:bodyPr>
            <a:spAutoFit/>
          </a:bodyPr>
          <a:p>
            <a:pPr indent="0" algn="l" defTabSz="266700">
              <a:spcBef>
                <a:spcPct val="0"/>
              </a:spcBef>
              <a:spcAft>
                <a:spcPct val="0"/>
              </a:spcAft>
              <a:buFont typeface="微软雅黑" panose="020B0503020204020204" charset="-122"/>
              <a:buNone/>
            </a:pPr>
            <a:r>
              <a:rPr lang="zh-CN" b="1">
                <a:latin typeface="微软雅黑" panose="020B0503020204020204" charset="-122"/>
                <a:ea typeface="微软雅黑" panose="020B0503020204020204" charset="-122"/>
                <a:cs typeface="微软雅黑" panose="020B0503020204020204" charset="-122"/>
                <a:sym typeface="+mn-ea"/>
              </a:rPr>
              <a:t>多款网络游戏同期运营</a:t>
            </a:r>
            <a:endParaRPr lang="zh-CN" b="1">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325120" y="1469390"/>
            <a:ext cx="7335520" cy="829945"/>
          </a:xfrm>
          <a:prstGeom prst="rect">
            <a:avLst/>
          </a:prstGeom>
        </p:spPr>
        <p:txBody>
          <a:bodyPr wrap="square">
            <a:spAutoFit/>
          </a:bodyPr>
          <a:p>
            <a:pPr indent="0" algn="just" defTabSz="266700" fontAlgn="auto">
              <a:spcBef>
                <a:spcPts val="600"/>
              </a:spcBef>
              <a:spcAft>
                <a:spcPct val="0"/>
              </a:spcAft>
            </a:pPr>
            <a:r>
              <a:rPr lang="zh-CN" sz="1200">
                <a:latin typeface="微软雅黑 Light" panose="020B0502040204020203" charset="-122"/>
                <a:ea typeface="微软雅黑 Light" panose="020B0502040204020203" charset="-122"/>
                <a:cs typeface="微软雅黑 Light" panose="020B0502040204020203" charset="-122"/>
                <a:sym typeface="+mn-ea"/>
              </a:rPr>
              <a:t>顺火互娱是一家成立于</a:t>
            </a:r>
            <a:r>
              <a:rPr lang="en-US" altLang="zh-CN" sz="1200">
                <a:latin typeface="微软雅黑 Light" panose="020B0502040204020203" charset="-122"/>
                <a:ea typeface="微软雅黑 Light" panose="020B0502040204020203" charset="-122"/>
                <a:cs typeface="微软雅黑 Light" panose="020B0502040204020203" charset="-122"/>
                <a:sym typeface="+mn-ea"/>
              </a:rPr>
              <a:t>2021</a:t>
            </a:r>
            <a:r>
              <a:rPr lang="zh-CN" altLang="en-US" sz="1200">
                <a:latin typeface="微软雅黑 Light" panose="020B0502040204020203" charset="-122"/>
                <a:ea typeface="微软雅黑 Light" panose="020B0502040204020203" charset="-122"/>
                <a:cs typeface="微软雅黑 Light" panose="020B0502040204020203" charset="-122"/>
                <a:sym typeface="+mn-ea"/>
              </a:rPr>
              <a:t>年的网络游戏企业，经营有《大秦帝国》、《逍遥九歌行》、《</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仙侠神域》等多款游戏，游戏类型覆盖策略经营、</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MMO</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、角色扮演、竞技类等</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PC</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端游</a:t>
            </a:r>
            <a:r>
              <a:rPr lang="en-US" altLang="zh-CN"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a:t>
            </a:r>
            <a:r>
              <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手游。顺火互娱游戏库不断更新，紧跟游戏行业的发展趋势，及时引入最新、最受欢迎的游戏作品。同时，平台具备先进的技术支持，确保游戏运行流畅稳定，为玩家提供优质的游戏环境。</a:t>
            </a:r>
            <a:endParaRPr lang="zh-CN" altLang="en-US" sz="12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pic>
        <p:nvPicPr>
          <p:cNvPr id="10" name="图片 9"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1134110"/>
            <a:ext cx="186055" cy="186055"/>
          </a:xfrm>
          <a:prstGeom prst="rect">
            <a:avLst/>
          </a:prstGeom>
        </p:spPr>
      </p:pic>
      <p:sp>
        <p:nvSpPr>
          <p:cNvPr id="16" name="文本框 15"/>
          <p:cNvSpPr txBox="1"/>
          <p:nvPr/>
        </p:nvSpPr>
        <p:spPr>
          <a:xfrm>
            <a:off x="325120" y="2357120"/>
            <a:ext cx="7336155" cy="360045"/>
          </a:xfrm>
          <a:prstGeom prst="rect">
            <a:avLst/>
          </a:prstGeom>
        </p:spPr>
        <p:txBody>
          <a:bodyPr wrap="square">
            <a:noAutofit/>
          </a:bodyPr>
          <a:p>
            <a:pPr indent="0" algn="l" defTabSz="266700">
              <a:spcBef>
                <a:spcPct val="0"/>
              </a:spcBef>
              <a:spcAft>
                <a:spcPct val="0"/>
              </a:spcAft>
              <a:buFont typeface="微软雅黑" panose="020B0503020204020204" charset="-122"/>
              <a:buNone/>
            </a:pPr>
            <a:r>
              <a:rPr lang="zh-CN" altLang="en-US" sz="1400" b="1">
                <a:solidFill>
                  <a:srgbClr val="2868EA"/>
                </a:solidFill>
                <a:latin typeface="微软雅黑" panose="020B0503020204020204" charset="-122"/>
                <a:ea typeface="微软雅黑" panose="020B0503020204020204" charset="-122"/>
                <a:cs typeface="微软雅黑" panose="020B0503020204020204" charset="-122"/>
              </a:rPr>
              <a:t>端木软件与顺火互娱达成合作后，为其游戏的稳定运营提供强有力的云服务支持。</a:t>
            </a:r>
            <a:endParaRPr lang="zh-CN" altLang="en-US" sz="1400" b="1">
              <a:solidFill>
                <a:srgbClr val="2868EA"/>
              </a:solidFill>
              <a:latin typeface="微软雅黑" panose="020B0503020204020204" charset="-122"/>
              <a:ea typeface="微软雅黑" panose="020B0503020204020204" charset="-122"/>
              <a:cs typeface="微软雅黑" panose="020B0503020204020204" charset="-122"/>
            </a:endParaRPr>
          </a:p>
        </p:txBody>
      </p:sp>
      <p:sp>
        <p:nvSpPr>
          <p:cNvPr id="18" name="圆角矩形 17"/>
          <p:cNvSpPr/>
          <p:nvPr/>
        </p:nvSpPr>
        <p:spPr>
          <a:xfrm>
            <a:off x="325120" y="2932430"/>
            <a:ext cx="7889875" cy="3538855"/>
          </a:xfrm>
          <a:prstGeom prst="roundRect">
            <a:avLst>
              <a:gd name="adj" fmla="val 8932"/>
            </a:avLst>
          </a:prstGeom>
          <a:gradFill>
            <a:gsLst>
              <a:gs pos="100000">
                <a:schemeClr val="bg1">
                  <a:alpha val="90000"/>
                </a:schemeClr>
              </a:gs>
              <a:gs pos="0">
                <a:srgbClr val="BED0F0">
                  <a:alpha val="70000"/>
                </a:srgbClr>
              </a:gs>
            </a:gsLst>
            <a:lin ang="4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400">
              <a:cs typeface="微软雅黑" panose="020B0503020204020204" charset="-122"/>
              <a:sym typeface="+mn-ea"/>
            </a:endParaRPr>
          </a:p>
        </p:txBody>
      </p:sp>
      <p:sp>
        <p:nvSpPr>
          <p:cNvPr id="20" name="矩形 19"/>
          <p:cNvSpPr/>
          <p:nvPr/>
        </p:nvSpPr>
        <p:spPr>
          <a:xfrm>
            <a:off x="562610" y="3150235"/>
            <a:ext cx="4516120" cy="309245"/>
          </a:xfrm>
          <a:prstGeom prst="rect">
            <a:avLst/>
          </a:prstGeom>
          <a:gradFill>
            <a:gsLst>
              <a:gs pos="0">
                <a:srgbClr val="2868EA"/>
              </a:gs>
              <a:gs pos="100000">
                <a:srgbClr val="22BCA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sym typeface="+mn-ea"/>
              </a:rPr>
              <a:t>业务挑战：多游戏同期运营稳定性成为第一保障要素</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22" name="文本框 21"/>
          <p:cNvSpPr txBox="1"/>
          <p:nvPr/>
        </p:nvSpPr>
        <p:spPr>
          <a:xfrm>
            <a:off x="1167130" y="3670935"/>
            <a:ext cx="1541780" cy="64516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网络延迟</a:t>
            </a:r>
            <a:endParaRPr lang="zh-CN" altLang="en-US">
              <a:latin typeface="微软雅黑" panose="020B0503020204020204" charset="-122"/>
              <a:ea typeface="微软雅黑" panose="020B0503020204020204" charset="-122"/>
              <a:cs typeface="微软雅黑" panose="020B0503020204020204" charset="-122"/>
            </a:endParaRPr>
          </a:p>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和带宽限制</a:t>
            </a:r>
            <a:endParaRPr lang="zh-CN" altLang="en-US">
              <a:latin typeface="微软雅黑" panose="020B0503020204020204" charset="-122"/>
              <a:ea typeface="微软雅黑" panose="020B0503020204020204" charset="-122"/>
              <a:cs typeface="微软雅黑" panose="020B0503020204020204" charset="-122"/>
            </a:endParaRPr>
          </a:p>
        </p:txBody>
      </p:sp>
      <p:sp>
        <p:nvSpPr>
          <p:cNvPr id="23" name="椭圆 22"/>
          <p:cNvSpPr/>
          <p:nvPr/>
        </p:nvSpPr>
        <p:spPr>
          <a:xfrm>
            <a:off x="568960" y="3699510"/>
            <a:ext cx="570865" cy="57086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42" name="文本框 41"/>
          <p:cNvSpPr txBox="1"/>
          <p:nvPr/>
        </p:nvSpPr>
        <p:spPr>
          <a:xfrm>
            <a:off x="568960" y="4445000"/>
            <a:ext cx="2139950" cy="1168400"/>
          </a:xfrm>
          <a:prstGeom prst="rect">
            <a:avLst/>
          </a:prstGeom>
        </p:spPr>
        <p:txBody>
          <a:bodyPr wrap="square">
            <a:spAutoFit/>
          </a:bodyPr>
          <a:p>
            <a:pPr marL="0" indent="0" algn="just" defTabSz="266700">
              <a:spcBef>
                <a:spcPct val="0"/>
              </a:spcBef>
              <a:spcAft>
                <a:spcPct val="0"/>
              </a:spcAft>
            </a:pPr>
            <a:r>
              <a:rPr lang="zh-CN" altLang="en-US" sz="1400">
                <a:latin typeface="微软雅黑 Light" panose="020B0502040204020203" charset="-122"/>
                <a:ea typeface="微软雅黑 Light" panose="020B0502040204020203" charset="-122"/>
                <a:cs typeface="微软雅黑" panose="020B0503020204020204" charset="-122"/>
              </a:rPr>
              <a:t>游戏对实时性要求极高，任何延迟都可能导致玩家体验的下降。多款游戏的同步运营更让顺火互娱在游戏体验上面临挑战。</a:t>
            </a:r>
            <a:endParaRPr lang="zh-CN" altLang="en-US" sz="1400">
              <a:latin typeface="微软雅黑 Light" panose="020B0502040204020203" charset="-122"/>
              <a:ea typeface="微软雅黑 Light" panose="020B0502040204020203" charset="-122"/>
              <a:cs typeface="微软雅黑" panose="020B0503020204020204" charset="-122"/>
            </a:endParaRPr>
          </a:p>
        </p:txBody>
      </p:sp>
      <p:sp>
        <p:nvSpPr>
          <p:cNvPr id="44" name="文本框 43"/>
          <p:cNvSpPr txBox="1"/>
          <p:nvPr/>
        </p:nvSpPr>
        <p:spPr>
          <a:xfrm>
            <a:off x="3643630" y="3670935"/>
            <a:ext cx="1541780" cy="64516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游戏高并发</a:t>
            </a:r>
            <a:endParaRPr lang="zh-CN" altLang="en-US">
              <a:latin typeface="微软雅黑" panose="020B0503020204020204" charset="-122"/>
              <a:ea typeface="微软雅黑" panose="020B0503020204020204" charset="-122"/>
              <a:cs typeface="微软雅黑" panose="020B0503020204020204" charset="-122"/>
            </a:endParaRPr>
          </a:p>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处理能力</a:t>
            </a:r>
            <a:endParaRPr lang="zh-CN" altLang="en-US">
              <a:latin typeface="微软雅黑" panose="020B0503020204020204" charset="-122"/>
              <a:ea typeface="微软雅黑" panose="020B0503020204020204" charset="-122"/>
              <a:cs typeface="微软雅黑" panose="020B0503020204020204" charset="-122"/>
            </a:endParaRPr>
          </a:p>
        </p:txBody>
      </p:sp>
      <p:sp>
        <p:nvSpPr>
          <p:cNvPr id="45" name="椭圆 44"/>
          <p:cNvSpPr/>
          <p:nvPr/>
        </p:nvSpPr>
        <p:spPr>
          <a:xfrm>
            <a:off x="3045460" y="3699510"/>
            <a:ext cx="570865" cy="57086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47" name="文本框 46"/>
          <p:cNvSpPr txBox="1"/>
          <p:nvPr/>
        </p:nvSpPr>
        <p:spPr>
          <a:xfrm>
            <a:off x="3045460" y="4445000"/>
            <a:ext cx="2139950" cy="1599565"/>
          </a:xfrm>
          <a:prstGeom prst="rect">
            <a:avLst/>
          </a:prstGeom>
        </p:spPr>
        <p:txBody>
          <a:bodyPr wrap="square">
            <a:spAutoFit/>
          </a:bodyPr>
          <a:p>
            <a:pPr marL="0" indent="0" algn="just" defTabSz="266700">
              <a:spcBef>
                <a:spcPct val="0"/>
              </a:spcBef>
              <a:spcAft>
                <a:spcPct val="0"/>
              </a:spcAft>
            </a:pPr>
            <a:r>
              <a:rPr lang="zh-CN" altLang="en-US" sz="1400">
                <a:latin typeface="微软雅黑 Light" panose="020B0502040204020203" charset="-122"/>
                <a:ea typeface="微软雅黑 Light" panose="020B0502040204020203" charset="-122"/>
                <a:cs typeface="微软雅黑" panose="020B0503020204020204" charset="-122"/>
              </a:rPr>
              <a:t>在游戏上线初期或特定活动期间，玩家数量激增可能导致服务器负载过高，影响用户体验。尤其多款游戏的同步运营，需要高并发的保障能力方能确保关键节点的游戏转化效果。</a:t>
            </a:r>
            <a:endParaRPr lang="zh-CN" altLang="en-US" sz="1400">
              <a:latin typeface="微软雅黑 Light" panose="020B0502040204020203" charset="-122"/>
              <a:ea typeface="微软雅黑 Light" panose="020B0502040204020203" charset="-122"/>
              <a:cs typeface="微软雅黑" panose="020B0503020204020204" charset="-122"/>
            </a:endParaRPr>
          </a:p>
        </p:txBody>
      </p:sp>
      <p:sp>
        <p:nvSpPr>
          <p:cNvPr id="48" name="文本框 47"/>
          <p:cNvSpPr txBox="1"/>
          <p:nvPr/>
        </p:nvSpPr>
        <p:spPr>
          <a:xfrm>
            <a:off x="6120130" y="3670935"/>
            <a:ext cx="1541780" cy="64516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性能与成本</a:t>
            </a:r>
            <a:endParaRPr lang="zh-CN" altLang="en-US">
              <a:latin typeface="微软雅黑" panose="020B0503020204020204" charset="-122"/>
              <a:ea typeface="微软雅黑" panose="020B0503020204020204" charset="-122"/>
              <a:cs typeface="微软雅黑" panose="020B0503020204020204" charset="-122"/>
            </a:endParaRPr>
          </a:p>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平衡控制</a:t>
            </a:r>
            <a:endParaRPr lang="zh-CN" altLang="en-US">
              <a:latin typeface="微软雅黑" panose="020B0503020204020204" charset="-122"/>
              <a:ea typeface="微软雅黑" panose="020B0503020204020204" charset="-122"/>
              <a:cs typeface="微软雅黑" panose="020B0503020204020204" charset="-122"/>
            </a:endParaRPr>
          </a:p>
        </p:txBody>
      </p:sp>
      <p:sp>
        <p:nvSpPr>
          <p:cNvPr id="49" name="椭圆 48"/>
          <p:cNvSpPr/>
          <p:nvPr/>
        </p:nvSpPr>
        <p:spPr>
          <a:xfrm>
            <a:off x="5521960" y="3699510"/>
            <a:ext cx="570865" cy="57086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cs typeface="微软雅黑" panose="020B0503020204020204" charset="-122"/>
            </a:endParaRPr>
          </a:p>
        </p:txBody>
      </p:sp>
      <p:sp>
        <p:nvSpPr>
          <p:cNvPr id="51" name="文本框 50"/>
          <p:cNvSpPr txBox="1"/>
          <p:nvPr/>
        </p:nvSpPr>
        <p:spPr>
          <a:xfrm>
            <a:off x="5521960" y="4445000"/>
            <a:ext cx="2139950" cy="953135"/>
          </a:xfrm>
          <a:prstGeom prst="rect">
            <a:avLst/>
          </a:prstGeom>
        </p:spPr>
        <p:txBody>
          <a:bodyPr wrap="square">
            <a:spAutoFit/>
          </a:bodyPr>
          <a:p>
            <a:pPr marL="0" indent="0" algn="just" defTabSz="266700">
              <a:spcBef>
                <a:spcPct val="0"/>
              </a:spcBef>
              <a:spcAft>
                <a:spcPct val="0"/>
              </a:spcAft>
            </a:pPr>
            <a:r>
              <a:rPr lang="zh-CN" altLang="en-US" sz="1400">
                <a:latin typeface="微软雅黑 Light" panose="020B0502040204020203" charset="-122"/>
                <a:ea typeface="微软雅黑 Light" panose="020B0502040204020203" charset="-122"/>
                <a:cs typeface="微软雅黑" panose="020B0503020204020204" charset="-122"/>
              </a:rPr>
              <a:t>游戏并发流量存在明显峰谷期，需要平衡性能与成本之间的关系，避免资源浪费。</a:t>
            </a:r>
            <a:endParaRPr lang="zh-CN" altLang="en-US" sz="1400">
              <a:latin typeface="微软雅黑 Light" panose="020B0502040204020203" charset="-122"/>
              <a:ea typeface="微软雅黑 Light" panose="020B0502040204020203" charset="-122"/>
              <a:cs typeface="微软雅黑" panose="020B0503020204020204" charset="-122"/>
            </a:endParaRPr>
          </a:p>
        </p:txBody>
      </p:sp>
      <p:grpSp>
        <p:nvGrpSpPr>
          <p:cNvPr id="14" name="组合 13"/>
          <p:cNvGrpSpPr/>
          <p:nvPr/>
        </p:nvGrpSpPr>
        <p:grpSpPr>
          <a:xfrm>
            <a:off x="7989570" y="1134110"/>
            <a:ext cx="3917315" cy="5150485"/>
            <a:chOff x="12582" y="1526"/>
            <a:chExt cx="6169" cy="8111"/>
          </a:xfrm>
          <a:effectLst>
            <a:reflection blurRad="190500" stA="39000" endA="300" endPos="12000" dist="25400" dir="5400000" sy="-100000" algn="bl" rotWithShape="0"/>
          </a:effectLst>
        </p:grpSpPr>
        <p:pic>
          <p:nvPicPr>
            <p:cNvPr id="12" name="图片 11" descr="640"/>
            <p:cNvPicPr>
              <a:picLocks noChangeAspect="1"/>
            </p:cNvPicPr>
            <p:nvPr/>
          </p:nvPicPr>
          <p:blipFill>
            <a:blip r:embed="rId3"/>
            <a:srcRect/>
            <a:stretch>
              <a:fillRect/>
            </a:stretch>
          </p:blipFill>
          <p:spPr>
            <a:xfrm>
              <a:off x="14695" y="1526"/>
              <a:ext cx="4056" cy="8111"/>
            </a:xfrm>
            <a:custGeom>
              <a:avLst/>
              <a:gdLst/>
              <a:ahLst/>
              <a:cxnLst>
                <a:cxn ang="3">
                  <a:pos x="hc" y="t"/>
                </a:cxn>
                <a:cxn ang="cd2">
                  <a:pos x="l" y="vc"/>
                </a:cxn>
                <a:cxn ang="cd4">
                  <a:pos x="hc" y="b"/>
                </a:cxn>
                <a:cxn ang="0">
                  <a:pos x="r" y="vc"/>
                </a:cxn>
              </a:cxnLst>
              <a:rect l="l" t="t" r="r" b="b"/>
              <a:pathLst>
                <a:path w="4056" h="8111">
                  <a:moveTo>
                    <a:pt x="0" y="0"/>
                  </a:moveTo>
                  <a:lnTo>
                    <a:pt x="2611" y="0"/>
                  </a:lnTo>
                  <a:lnTo>
                    <a:pt x="4056" y="8111"/>
                  </a:lnTo>
                  <a:lnTo>
                    <a:pt x="1445" y="8111"/>
                  </a:lnTo>
                  <a:lnTo>
                    <a:pt x="0" y="0"/>
                  </a:lnTo>
                  <a:close/>
                </a:path>
              </a:pathLst>
            </a:custGeom>
          </p:spPr>
        </p:pic>
        <p:pic>
          <p:nvPicPr>
            <p:cNvPr id="3" name="图片 2" descr="8e8065380cd791237e14594beb345982b2b7801e"/>
            <p:cNvPicPr>
              <a:picLocks noChangeAspect="1"/>
            </p:cNvPicPr>
            <p:nvPr/>
          </p:nvPicPr>
          <p:blipFill>
            <a:blip r:embed="rId4"/>
            <a:srcRect/>
            <a:stretch>
              <a:fillRect/>
            </a:stretch>
          </p:blipFill>
          <p:spPr>
            <a:xfrm>
              <a:off x="12582" y="3215"/>
              <a:ext cx="3211" cy="6422"/>
            </a:xfrm>
            <a:custGeom>
              <a:avLst/>
              <a:gdLst/>
              <a:ahLst/>
              <a:cxnLst>
                <a:cxn ang="3">
                  <a:pos x="hc" y="t"/>
                </a:cxn>
                <a:cxn ang="cd2">
                  <a:pos x="l" y="vc"/>
                </a:cxn>
                <a:cxn ang="cd4">
                  <a:pos x="hc" y="b"/>
                </a:cxn>
                <a:cxn ang="0">
                  <a:pos x="r" y="vc"/>
                </a:cxn>
              </a:cxnLst>
              <a:rect l="l" t="t" r="r" b="b"/>
              <a:pathLst>
                <a:path w="4056" h="8111">
                  <a:moveTo>
                    <a:pt x="0" y="0"/>
                  </a:moveTo>
                  <a:lnTo>
                    <a:pt x="2611" y="0"/>
                  </a:lnTo>
                  <a:lnTo>
                    <a:pt x="4056" y="8111"/>
                  </a:lnTo>
                  <a:lnTo>
                    <a:pt x="1445" y="8111"/>
                  </a:lnTo>
                  <a:lnTo>
                    <a:pt x="0" y="0"/>
                  </a:lnTo>
                  <a:close/>
                </a:path>
              </a:pathLst>
            </a:custGeom>
          </p:spPr>
        </p:pic>
      </p:grpSp>
      <p:pic>
        <p:nvPicPr>
          <p:cNvPr id="5" name="图片 4" descr="网络"/>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7705" y="3818255"/>
            <a:ext cx="332740" cy="332740"/>
          </a:xfrm>
          <a:prstGeom prst="rect">
            <a:avLst/>
          </a:prstGeom>
        </p:spPr>
      </p:pic>
      <p:pic>
        <p:nvPicPr>
          <p:cNvPr id="7" name="图片 6" descr="网络"/>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94050" y="3848100"/>
            <a:ext cx="273050" cy="273050"/>
          </a:xfrm>
          <a:prstGeom prst="rect">
            <a:avLst/>
          </a:prstGeom>
        </p:spPr>
      </p:pic>
      <p:pic>
        <p:nvPicPr>
          <p:cNvPr id="8" name="图片 7" descr="成本计算"/>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82298" y="3859848"/>
            <a:ext cx="250190" cy="250190"/>
          </a:xfrm>
          <a:prstGeom prst="rect">
            <a:avLst/>
          </a:prstGeom>
        </p:spPr>
      </p:pic>
    </p:spTree>
    <p:custDataLst>
      <p:tags r:id="rId1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摄图网_500654214_电竞游戏现场比赛(非企业商用)"/>
          <p:cNvPicPr>
            <a:picLocks noChangeAspect="1"/>
          </p:cNvPicPr>
          <p:nvPr/>
        </p:nvPicPr>
        <p:blipFill>
          <a:blip r:embed="rId1"/>
          <a:srcRect/>
          <a:stretch>
            <a:fillRect/>
          </a:stretch>
        </p:blipFill>
        <p:spPr>
          <a:xfrm>
            <a:off x="635" y="0"/>
            <a:ext cx="12191365" cy="6858000"/>
          </a:xfrm>
          <a:prstGeom prst="rect">
            <a:avLst/>
          </a:prstGeom>
        </p:spPr>
      </p:pic>
      <p:sp>
        <p:nvSpPr>
          <p:cNvPr id="16" name="矩形 15"/>
          <p:cNvSpPr/>
          <p:nvPr/>
        </p:nvSpPr>
        <p:spPr>
          <a:xfrm>
            <a:off x="0" y="0"/>
            <a:ext cx="12192000" cy="6858000"/>
          </a:xfrm>
          <a:prstGeom prst="rect">
            <a:avLst/>
          </a:prstGeom>
          <a:solidFill>
            <a:schemeClr val="tx1">
              <a:lumMod val="95000"/>
              <a:lumOff val="5000"/>
              <a:alpha val="8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 name="文本框 1"/>
          <p:cNvSpPr txBox="1"/>
          <p:nvPr/>
        </p:nvSpPr>
        <p:spPr>
          <a:xfrm>
            <a:off x="323215" y="476250"/>
            <a:ext cx="6231255" cy="521970"/>
          </a:xfrm>
          <a:prstGeom prst="rect">
            <a:avLst/>
          </a:prstGeom>
          <a:noFill/>
        </p:spPr>
        <p:txBody>
          <a:bodyPr wrap="square" rtlCol="0" anchor="t">
            <a:spAutoFit/>
          </a:bodyPr>
          <a:p>
            <a:r>
              <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rPr>
              <a:t>端木软件游戏行业云服务解决方案</a:t>
            </a:r>
            <a:endParaRPr lang="zh-CN" altLang="en-US" sz="2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323215" y="1285240"/>
            <a:ext cx="10277475" cy="368300"/>
          </a:xfrm>
          <a:prstGeom prst="rect">
            <a:avLst/>
          </a:prstGeom>
          <a:noFill/>
        </p:spPr>
        <p:txBody>
          <a:bodyPr wrap="square" rtlCol="0" anchor="t">
            <a:spAutoFit/>
          </a:bodyPr>
          <a:p>
            <a:pPr lvl="0" indent="0" algn="l">
              <a:buClrTx/>
              <a:buSzTx/>
              <a:buFont typeface="微软雅黑" panose="020B0503020204020204" charset="-122"/>
              <a:buNone/>
            </a:pPr>
            <a:r>
              <a:rPr lang="zh-CN" altLang="en-US">
                <a:gradFill>
                  <a:gsLst>
                    <a:gs pos="100000">
                      <a:srgbClr val="89B8FF">
                        <a:alpha val="100000"/>
                      </a:srgbClr>
                    </a:gs>
                    <a:gs pos="0">
                      <a:schemeClr val="bg1"/>
                    </a:gs>
                  </a:gsLst>
                  <a:lin ang="5400000" scaled="0"/>
                </a:gradFill>
                <a:latin typeface="微软雅黑 Light" panose="020B0502040204020203" charset="-122"/>
                <a:ea typeface="微软雅黑 Light" panose="020B0502040204020203" charset="-122"/>
                <a:cs typeface="微软雅黑" panose="020B0503020204020204" charset="-122"/>
                <a:sym typeface="+mn-ea"/>
              </a:rPr>
              <a:t>以弹性伸缩的架构设计、负载均衡策略、动态资源调整等，重点保障游戏的高效稳定运营</a:t>
            </a:r>
            <a:endParaRPr lang="zh-CN" altLang="en-US">
              <a:gradFill>
                <a:gsLst>
                  <a:gs pos="100000">
                    <a:srgbClr val="89B8FF">
                      <a:alpha val="100000"/>
                    </a:srgbClr>
                  </a:gs>
                  <a:gs pos="0">
                    <a:schemeClr val="bg1"/>
                  </a:gs>
                </a:gsLst>
                <a:lin ang="5400000" scaled="0"/>
              </a:gradFill>
              <a:latin typeface="微软雅黑 Light" panose="020B0502040204020203" charset="-122"/>
              <a:ea typeface="微软雅黑 Light" panose="020B0502040204020203" charset="-122"/>
              <a:cs typeface="微软雅黑" panose="020B0503020204020204" charset="-122"/>
              <a:sym typeface="+mn-ea"/>
            </a:endParaRPr>
          </a:p>
        </p:txBody>
      </p:sp>
      <p:cxnSp>
        <p:nvCxnSpPr>
          <p:cNvPr id="29" name="直接连接符 28"/>
          <p:cNvCxnSpPr/>
          <p:nvPr/>
        </p:nvCxnSpPr>
        <p:spPr>
          <a:xfrm>
            <a:off x="667068" y="2565400"/>
            <a:ext cx="10857865" cy="0"/>
          </a:xfrm>
          <a:prstGeom prst="line">
            <a:avLst/>
          </a:prstGeom>
          <a:ln>
            <a:solidFill>
              <a:srgbClr val="1371FF"/>
            </a:solidFill>
            <a:prstDash val="sysDash"/>
          </a:ln>
        </p:spPr>
        <p:style>
          <a:lnRef idx="2">
            <a:schemeClr val="accent1"/>
          </a:lnRef>
          <a:fillRef idx="0">
            <a:srgbClr val="FFFFFF"/>
          </a:fillRef>
          <a:effectRef idx="0">
            <a:srgbClr val="FFFFFF"/>
          </a:effectRef>
          <a:fontRef idx="minor">
            <a:schemeClr val="tx1"/>
          </a:fontRef>
        </p:style>
      </p:cxnSp>
      <p:sp>
        <p:nvSpPr>
          <p:cNvPr id="34" name="椭圆 33"/>
          <p:cNvSpPr/>
          <p:nvPr/>
        </p:nvSpPr>
        <p:spPr>
          <a:xfrm>
            <a:off x="5553710" y="2023110"/>
            <a:ext cx="1083945" cy="1083945"/>
          </a:xfrm>
          <a:prstGeom prst="ellipse">
            <a:avLst/>
          </a:prstGeom>
          <a:solidFill>
            <a:srgbClr val="1371FF">
              <a:alpha val="55000"/>
            </a:srgb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1" name="椭圆 30"/>
          <p:cNvSpPr/>
          <p:nvPr/>
        </p:nvSpPr>
        <p:spPr>
          <a:xfrm>
            <a:off x="5647690" y="2117090"/>
            <a:ext cx="896620" cy="896620"/>
          </a:xfrm>
          <a:prstGeom prst="ellipse">
            <a:avLst/>
          </a:prstGeom>
          <a:gradFill>
            <a:gsLst>
              <a:gs pos="0">
                <a:srgbClr val="22BCAC"/>
              </a:gs>
              <a:gs pos="100000">
                <a:srgbClr val="1371FF">
                  <a:alpha val="100000"/>
                </a:srgbClr>
              </a:gs>
            </a:gsLst>
            <a:lin ang="84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5" name="椭圆 34"/>
          <p:cNvSpPr/>
          <p:nvPr/>
        </p:nvSpPr>
        <p:spPr>
          <a:xfrm>
            <a:off x="8739505" y="2023110"/>
            <a:ext cx="1083945" cy="1083945"/>
          </a:xfrm>
          <a:prstGeom prst="ellipse">
            <a:avLst/>
          </a:prstGeom>
          <a:solidFill>
            <a:srgbClr val="1371FF">
              <a:alpha val="55000"/>
            </a:srgb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2" name="椭圆 31"/>
          <p:cNvSpPr/>
          <p:nvPr/>
        </p:nvSpPr>
        <p:spPr>
          <a:xfrm>
            <a:off x="8833485" y="2117090"/>
            <a:ext cx="896620" cy="896620"/>
          </a:xfrm>
          <a:prstGeom prst="ellipse">
            <a:avLst/>
          </a:prstGeom>
          <a:gradFill>
            <a:gsLst>
              <a:gs pos="0">
                <a:srgbClr val="22BCAC"/>
              </a:gs>
              <a:gs pos="100000">
                <a:srgbClr val="1371FF">
                  <a:alpha val="100000"/>
                </a:srgbClr>
              </a:gs>
            </a:gsLst>
            <a:lin ang="84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 name="椭圆 32"/>
          <p:cNvSpPr/>
          <p:nvPr/>
        </p:nvSpPr>
        <p:spPr>
          <a:xfrm>
            <a:off x="2367915" y="2023110"/>
            <a:ext cx="1083945" cy="1083945"/>
          </a:xfrm>
          <a:prstGeom prst="ellipse">
            <a:avLst/>
          </a:prstGeom>
          <a:solidFill>
            <a:srgbClr val="1371FF">
              <a:alpha val="55000"/>
            </a:srgb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0" name="椭圆 29"/>
          <p:cNvSpPr/>
          <p:nvPr/>
        </p:nvSpPr>
        <p:spPr>
          <a:xfrm>
            <a:off x="2461895" y="2117090"/>
            <a:ext cx="896620" cy="896620"/>
          </a:xfrm>
          <a:prstGeom prst="ellipse">
            <a:avLst/>
          </a:prstGeom>
          <a:gradFill>
            <a:gsLst>
              <a:gs pos="0">
                <a:srgbClr val="22BCAC"/>
              </a:gs>
              <a:gs pos="100000">
                <a:srgbClr val="1371FF">
                  <a:alpha val="100000"/>
                </a:srgbClr>
              </a:gs>
            </a:gsLst>
            <a:lin ang="84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6" name="圆角矩形 35"/>
          <p:cNvSpPr/>
          <p:nvPr/>
        </p:nvSpPr>
        <p:spPr>
          <a:xfrm>
            <a:off x="1693545" y="4062095"/>
            <a:ext cx="2443480" cy="2233930"/>
          </a:xfrm>
          <a:prstGeom prst="roundRect">
            <a:avLst>
              <a:gd name="adj" fmla="val 6418"/>
            </a:avLst>
          </a:prstGeom>
          <a:gradFill>
            <a:gsLst>
              <a:gs pos="0">
                <a:srgbClr val="1371FF">
                  <a:alpha val="0"/>
                </a:srgbClr>
              </a:gs>
              <a:gs pos="100000">
                <a:srgbClr val="1371FF">
                  <a:alpha val="74000"/>
                </a:srgbClr>
              </a:gs>
            </a:gsLst>
            <a:lin ang="16200000" scaled="0"/>
          </a:gradFill>
          <a:ln>
            <a:noFill/>
          </a:ln>
          <a:effectLst>
            <a:softEdge rad="317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7" name="圆角矩形 36"/>
          <p:cNvSpPr/>
          <p:nvPr/>
        </p:nvSpPr>
        <p:spPr>
          <a:xfrm>
            <a:off x="4874895" y="4062095"/>
            <a:ext cx="2443480" cy="2233930"/>
          </a:xfrm>
          <a:prstGeom prst="roundRect">
            <a:avLst>
              <a:gd name="adj" fmla="val 6418"/>
            </a:avLst>
          </a:prstGeom>
          <a:gradFill>
            <a:gsLst>
              <a:gs pos="0">
                <a:srgbClr val="1371FF">
                  <a:alpha val="0"/>
                </a:srgbClr>
              </a:gs>
              <a:gs pos="100000">
                <a:srgbClr val="1371FF">
                  <a:alpha val="74000"/>
                </a:srgbClr>
              </a:gs>
            </a:gsLst>
            <a:lin ang="16200000" scaled="0"/>
          </a:gradFill>
          <a:ln>
            <a:noFill/>
          </a:ln>
          <a:effectLst>
            <a:softEdge rad="317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8" name="圆角矩形 37"/>
          <p:cNvSpPr/>
          <p:nvPr/>
        </p:nvSpPr>
        <p:spPr>
          <a:xfrm>
            <a:off x="8056245" y="4062095"/>
            <a:ext cx="2443480" cy="2233930"/>
          </a:xfrm>
          <a:prstGeom prst="roundRect">
            <a:avLst>
              <a:gd name="adj" fmla="val 6418"/>
            </a:avLst>
          </a:prstGeom>
          <a:gradFill>
            <a:gsLst>
              <a:gs pos="0">
                <a:srgbClr val="1371FF">
                  <a:alpha val="0"/>
                </a:srgbClr>
              </a:gs>
              <a:gs pos="100000">
                <a:srgbClr val="1371FF">
                  <a:alpha val="74000"/>
                </a:srgbClr>
              </a:gs>
            </a:gsLst>
            <a:lin ang="16200000" scaled="0"/>
          </a:gradFill>
          <a:ln>
            <a:noFill/>
          </a:ln>
          <a:effectLst>
            <a:softEdge rad="317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9" name="文本框 38"/>
          <p:cNvSpPr txBox="1"/>
          <p:nvPr/>
        </p:nvSpPr>
        <p:spPr>
          <a:xfrm>
            <a:off x="1870710" y="3263900"/>
            <a:ext cx="2078355" cy="645160"/>
          </a:xfrm>
          <a:prstGeom prst="rect">
            <a:avLst/>
          </a:prstGeom>
          <a:noFill/>
        </p:spPr>
        <p:txBody>
          <a:bodyPr wrap="square" rtlCol="0">
            <a:spAutoFit/>
          </a:bodyPr>
          <a:p>
            <a:pPr algn="ctr"/>
            <a:r>
              <a:rPr lang="zh-CN" altLang="en-US">
                <a:solidFill>
                  <a:schemeClr val="bg1"/>
                </a:solidFill>
                <a:latin typeface="微软雅黑" panose="020B0503020204020204" charset="-122"/>
                <a:ea typeface="微软雅黑" panose="020B0503020204020204" charset="-122"/>
                <a:cs typeface="微软雅黑" panose="020B0503020204020204" charset="-122"/>
              </a:rPr>
              <a:t>强大算力支持</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cs typeface="微软雅黑" panose="020B0503020204020204" charset="-122"/>
              </a:rPr>
              <a:t>游戏稳定运营</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5057775" y="3263900"/>
            <a:ext cx="2078355" cy="645160"/>
          </a:xfrm>
          <a:prstGeom prst="rect">
            <a:avLst/>
          </a:prstGeom>
          <a:noFill/>
        </p:spPr>
        <p:txBody>
          <a:bodyPr wrap="square" rtlCol="0">
            <a:spAutoFit/>
          </a:bodyPr>
          <a:p>
            <a:pPr algn="ctr"/>
            <a:r>
              <a:rPr lang="zh-CN" altLang="en-US">
                <a:solidFill>
                  <a:schemeClr val="bg1"/>
                </a:solidFill>
                <a:latin typeface="微软雅黑" panose="020B0503020204020204" charset="-122"/>
                <a:ea typeface="微软雅黑" panose="020B0503020204020204" charset="-122"/>
                <a:cs typeface="微软雅黑" panose="020B0503020204020204" charset="-122"/>
              </a:rPr>
              <a:t>资源弹性伸缩</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cs typeface="微软雅黑" panose="020B0503020204020204" charset="-122"/>
              </a:rPr>
              <a:t>优化成本控制</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8244840" y="3263900"/>
            <a:ext cx="2078355" cy="645160"/>
          </a:xfrm>
          <a:prstGeom prst="rect">
            <a:avLst/>
          </a:prstGeom>
          <a:noFill/>
        </p:spPr>
        <p:txBody>
          <a:bodyPr wrap="square" rtlCol="0">
            <a:spAutoFit/>
          </a:bodyPr>
          <a:p>
            <a:pPr algn="ctr"/>
            <a:r>
              <a:rPr lang="zh-CN" altLang="en-US">
                <a:solidFill>
                  <a:schemeClr val="bg1"/>
                </a:solidFill>
                <a:latin typeface="微软雅黑" panose="020B0503020204020204" charset="-122"/>
                <a:ea typeface="微软雅黑" panose="020B0503020204020204" charset="-122"/>
                <a:cs typeface="微软雅黑" panose="020B0503020204020204" charset="-122"/>
              </a:rPr>
              <a:t>全链路安全服务</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cs typeface="微软雅黑" panose="020B0503020204020204" charset="-122"/>
              </a:rPr>
              <a:t>保障游戏数据安全</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1870710" y="4364990"/>
            <a:ext cx="2078355" cy="1383665"/>
          </a:xfrm>
          <a:prstGeom prst="rect">
            <a:avLst/>
          </a:prstGeom>
          <a:noFill/>
        </p:spPr>
        <p:txBody>
          <a:bodyPr wrap="square" rtlCol="0">
            <a:spAutoFit/>
          </a:bodyPr>
          <a:p>
            <a:pPr algn="just"/>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以阿里云云服务器</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rPr>
              <a:t> ECS</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为企业提供安全可靠、弹性可伸缩的云计算服务，满足复杂的游戏图形渲染和计算需求，保障游戏运营稳定性。</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43" name="文本框 42"/>
          <p:cNvSpPr txBox="1"/>
          <p:nvPr/>
        </p:nvSpPr>
        <p:spPr>
          <a:xfrm>
            <a:off x="5057775" y="4364990"/>
            <a:ext cx="2078355" cy="1383665"/>
          </a:xfrm>
          <a:prstGeom prst="rect">
            <a:avLst/>
          </a:prstGeom>
          <a:noFill/>
        </p:spPr>
        <p:txBody>
          <a:bodyPr wrap="square" rtlCol="0">
            <a:spAutoFit/>
          </a:bodyPr>
          <a:p>
            <a:pPr algn="just"/>
            <a:r>
              <a:rPr lang="zh-CN" sz="1400">
                <a:solidFill>
                  <a:schemeClr val="bg1"/>
                </a:solidFill>
                <a:latin typeface="微软雅黑 Light" panose="020B0502040204020203" charset="-122"/>
                <a:ea typeface="微软雅黑 Light" panose="020B0502040204020203" charset="-122"/>
                <a:cs typeface="微软雅黑" panose="020B0503020204020204" charset="-122"/>
              </a:rPr>
              <a:t>采用弹性伸缩架构方案，</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基于玩家在线量自动扩缩容</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rPr>
              <a:t>ECS</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实例，支持秒级响应流量峰值，预配置资源池</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rPr>
              <a:t>+</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竞价实例组合，降低</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rPr>
              <a:t>50%</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突发流量成本。</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44" name="文本框 43"/>
          <p:cNvSpPr txBox="1"/>
          <p:nvPr/>
        </p:nvSpPr>
        <p:spPr>
          <a:xfrm>
            <a:off x="8244205" y="4364990"/>
            <a:ext cx="2078355" cy="1168400"/>
          </a:xfrm>
          <a:prstGeom prst="rect">
            <a:avLst/>
          </a:prstGeom>
          <a:noFill/>
        </p:spPr>
        <p:txBody>
          <a:bodyPr wrap="square" rtlCol="0">
            <a:spAutoFit/>
          </a:bodyPr>
          <a:p>
            <a:pPr algn="just"/>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玩家数据加密存储，支持同城</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rPr>
              <a:t>/</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异地容灾备份，建立</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rPr>
              <a:t>1Tbps</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级</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rPr>
              <a:t>DDoS</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防护</a:t>
            </a: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rPr>
              <a:t>+Web</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应用防火墙，严密保障游戏数据安全。</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endParaRPr>
          </a:p>
        </p:txBody>
      </p:sp>
      <p:pic>
        <p:nvPicPr>
          <p:cNvPr id="45" name="图片 44" descr="云计算"/>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0495" y="2348865"/>
            <a:ext cx="450215" cy="450215"/>
          </a:xfrm>
          <a:prstGeom prst="rect">
            <a:avLst/>
          </a:prstGeom>
        </p:spPr>
      </p:pic>
      <p:pic>
        <p:nvPicPr>
          <p:cNvPr id="46" name="图片 45" descr="成本控制"/>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47080" y="2326005"/>
            <a:ext cx="496570" cy="496570"/>
          </a:xfrm>
          <a:prstGeom prst="rect">
            <a:avLst/>
          </a:prstGeom>
        </p:spPr>
      </p:pic>
      <p:pic>
        <p:nvPicPr>
          <p:cNvPr id="47" name="图片 46" descr="安全"/>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25890" y="2309495"/>
            <a:ext cx="511810" cy="511810"/>
          </a:xfrm>
          <a:prstGeom prst="rect">
            <a:avLst/>
          </a:prstGeom>
        </p:spPr>
      </p:pic>
      <p:pic>
        <p:nvPicPr>
          <p:cNvPr id="5" name="图片 4" descr="全彩版"/>
          <p:cNvPicPr>
            <a:picLocks noChangeAspect="1"/>
          </p:cNvPicPr>
          <p:nvPr userDrawn="1"/>
        </p:nvPicPr>
        <p:blipFill>
          <a:blip r:embed="rId8"/>
          <a:stretch>
            <a:fillRect/>
          </a:stretch>
        </p:blipFill>
        <p:spPr>
          <a:xfrm>
            <a:off x="10339070" y="217805"/>
            <a:ext cx="1607820" cy="407035"/>
          </a:xfrm>
          <a:prstGeom prst="rect">
            <a:avLst/>
          </a:prstGeom>
        </p:spPr>
      </p:pic>
    </p:spTree>
    <p:custDataLst>
      <p:tags r:id="rId9"/>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24CEBC"/>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5092700"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弗思特建筑</a:t>
            </a:r>
            <a:r>
              <a:rPr lang="en-US" altLang="zh-CN" sz="2400">
                <a:latin typeface="微软雅黑 Light" panose="020B0502040204020203" charset="-122"/>
                <a:ea typeface="微软雅黑 Light" panose="020B0502040204020203" charset="-122"/>
                <a:cs typeface="微软雅黑 Light" panose="020B0502040204020203" charset="-122"/>
              </a:rPr>
              <a:t> </a:t>
            </a:r>
            <a:r>
              <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rPr>
              <a:t>跨国企业办公模式的智慧变革</a:t>
            </a:r>
            <a:endPar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endParaRPr>
          </a:p>
        </p:txBody>
      </p:sp>
      <p:sp>
        <p:nvSpPr>
          <p:cNvPr id="4" name="文本框 3"/>
          <p:cNvSpPr txBox="1"/>
          <p:nvPr/>
        </p:nvSpPr>
        <p:spPr>
          <a:xfrm>
            <a:off x="604520" y="1042988"/>
            <a:ext cx="5080000" cy="368300"/>
          </a:xfrm>
          <a:prstGeom prst="rect">
            <a:avLst/>
          </a:prstGeom>
        </p:spPr>
        <p:txBody>
          <a:bodyPr>
            <a:spAutoFit/>
          </a:bodyPr>
          <a:p>
            <a:pPr indent="0" algn="l" defTabSz="266700">
              <a:spcBef>
                <a:spcPct val="0"/>
              </a:spcBef>
              <a:spcAft>
                <a:spcPct val="0"/>
              </a:spcAft>
              <a:buFont typeface="微软雅黑" panose="020B0503020204020204" charset="-122"/>
              <a:buNone/>
            </a:pPr>
            <a:r>
              <a:rPr lang="en-US" altLang="zh-CN" b="1">
                <a:latin typeface="微软雅黑" panose="020B0503020204020204" charset="-122"/>
                <a:ea typeface="微软雅黑" panose="020B0503020204020204" charset="-122"/>
                <a:cs typeface="微软雅黑" panose="020B0503020204020204" charset="-122"/>
                <a:sym typeface="+mn-ea"/>
              </a:rPr>
              <a:t>18</a:t>
            </a:r>
            <a:r>
              <a:rPr lang="zh-CN" altLang="en-US" b="1">
                <a:latin typeface="微软雅黑" panose="020B0503020204020204" charset="-122"/>
                <a:ea typeface="微软雅黑" panose="020B0503020204020204" charset="-122"/>
                <a:cs typeface="微软雅黑" panose="020B0503020204020204" charset="-122"/>
                <a:sym typeface="+mn-ea"/>
              </a:rPr>
              <a:t>年的全球快速开拓</a:t>
            </a:r>
            <a:endParaRPr lang="en-US" altLang="zh-CN" b="1">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325120" y="1469390"/>
            <a:ext cx="11550015" cy="645160"/>
          </a:xfrm>
          <a:prstGeom prst="rect">
            <a:avLst/>
          </a:prstGeom>
        </p:spPr>
        <p:txBody>
          <a:bodyPr wrap="square">
            <a:spAutoFit/>
          </a:bodyPr>
          <a:p>
            <a:pPr indent="0" algn="just" defTabSz="266700" fontAlgn="auto">
              <a:spcBef>
                <a:spcPts val="600"/>
              </a:spcBef>
              <a:spcAft>
                <a:spcPct val="0"/>
              </a:spcAft>
            </a:pPr>
            <a:r>
              <a:rPr lang="zh-CN" altLang="en-US" sz="1200">
                <a:latin typeface="微软雅黑 Light" panose="020B0502040204020203" charset="-122"/>
                <a:ea typeface="微软雅黑 Light" panose="020B0502040204020203" charset="-122"/>
                <a:cs typeface="微软雅黑 Light" panose="020B0502040204020203" charset="-122"/>
                <a:sym typeface="+mn-ea"/>
              </a:rPr>
              <a:t>弗思特建筑科技有限公司（</a:t>
            </a:r>
            <a:r>
              <a:rPr lang="en-US" altLang="zh-CN" sz="1200">
                <a:latin typeface="微软雅黑 Light" panose="020B0502040204020203" charset="-122"/>
                <a:ea typeface="微软雅黑 Light" panose="020B0502040204020203" charset="-122"/>
                <a:cs typeface="微软雅黑 Light" panose="020B0502040204020203" charset="-122"/>
                <a:sym typeface="+mn-ea"/>
              </a:rPr>
              <a:t>FORCITIS)</a:t>
            </a:r>
            <a:r>
              <a:rPr lang="zh-CN" altLang="en-US" sz="1200">
                <a:latin typeface="微软雅黑 Light" panose="020B0502040204020203" charset="-122"/>
                <a:ea typeface="微软雅黑 Light" panose="020B0502040204020203" charset="-122"/>
                <a:cs typeface="微软雅黑 Light" panose="020B0502040204020203" charset="-122"/>
                <a:sym typeface="+mn-ea"/>
              </a:rPr>
              <a:t>，始创于</a:t>
            </a:r>
            <a:r>
              <a:rPr lang="en-US" altLang="zh-CN" sz="1200">
                <a:latin typeface="微软雅黑 Light" panose="020B0502040204020203" charset="-122"/>
                <a:ea typeface="微软雅黑 Light" panose="020B0502040204020203" charset="-122"/>
                <a:cs typeface="微软雅黑 Light" panose="020B0502040204020203" charset="-122"/>
                <a:sym typeface="+mn-ea"/>
              </a:rPr>
              <a:t>2006</a:t>
            </a:r>
            <a:r>
              <a:rPr lang="zh-CN" altLang="en-US" sz="1200">
                <a:latin typeface="微软雅黑 Light" panose="020B0502040204020203" charset="-122"/>
                <a:ea typeface="微软雅黑 Light" panose="020B0502040204020203" charset="-122"/>
                <a:cs typeface="微软雅黑 Light" panose="020B0502040204020203" charset="-122"/>
                <a:sym typeface="+mn-ea"/>
              </a:rPr>
              <a:t>年，秉承</a:t>
            </a:r>
            <a:r>
              <a:rPr lang="en-US" altLang="zh-CN" sz="1200">
                <a:latin typeface="微软雅黑 Light" panose="020B0502040204020203" charset="-122"/>
                <a:ea typeface="微软雅黑 Light" panose="020B0502040204020203" charset="-122"/>
                <a:cs typeface="微软雅黑 Light" panose="020B0502040204020203" charset="-122"/>
                <a:sym typeface="+mn-ea"/>
              </a:rPr>
              <a:t>“</a:t>
            </a:r>
            <a:r>
              <a:rPr lang="zh-CN" altLang="en-US" sz="1200">
                <a:latin typeface="微软雅黑 Light" panose="020B0502040204020203" charset="-122"/>
                <a:ea typeface="微软雅黑 Light" panose="020B0502040204020203" charset="-122"/>
                <a:cs typeface="微软雅黑 Light" panose="020B0502040204020203" charset="-122"/>
                <a:sym typeface="+mn-ea"/>
              </a:rPr>
              <a:t>可持续</a:t>
            </a:r>
            <a:r>
              <a:rPr lang="en-US" altLang="zh-CN" sz="1200">
                <a:latin typeface="微软雅黑 Light" panose="020B0502040204020203" charset="-122"/>
                <a:ea typeface="微软雅黑 Light" panose="020B0502040204020203" charset="-122"/>
                <a:cs typeface="微软雅黑 Light" panose="020B0502040204020203" charset="-122"/>
                <a:sym typeface="+mn-ea"/>
              </a:rPr>
              <a:t>”</a:t>
            </a:r>
            <a:r>
              <a:rPr lang="zh-CN" altLang="en-US" sz="1200">
                <a:latin typeface="微软雅黑 Light" panose="020B0502040204020203" charset="-122"/>
                <a:ea typeface="微软雅黑 Light" panose="020B0502040204020203" charset="-122"/>
                <a:cs typeface="微软雅黑 Light" panose="020B0502040204020203" charset="-122"/>
                <a:sym typeface="+mn-ea"/>
              </a:rPr>
              <a:t>和</a:t>
            </a:r>
            <a:r>
              <a:rPr lang="en-US" altLang="zh-CN" sz="1200">
                <a:latin typeface="微软雅黑 Light" panose="020B0502040204020203" charset="-122"/>
                <a:ea typeface="微软雅黑 Light" panose="020B0502040204020203" charset="-122"/>
                <a:cs typeface="微软雅黑 Light" panose="020B0502040204020203" charset="-122"/>
                <a:sym typeface="+mn-ea"/>
              </a:rPr>
              <a:t>“</a:t>
            </a:r>
            <a:r>
              <a:rPr lang="zh-CN" altLang="en-US" sz="1200">
                <a:latin typeface="微软雅黑 Light" panose="020B0502040204020203" charset="-122"/>
                <a:ea typeface="微软雅黑 Light" panose="020B0502040204020203" charset="-122"/>
                <a:cs typeface="微软雅黑 Light" panose="020B0502040204020203" charset="-122"/>
                <a:sym typeface="+mn-ea"/>
              </a:rPr>
              <a:t>一体化设计</a:t>
            </a:r>
            <a:r>
              <a:rPr lang="en-US" altLang="zh-CN" sz="1200">
                <a:latin typeface="微软雅黑 Light" panose="020B0502040204020203" charset="-122"/>
                <a:ea typeface="微软雅黑 Light" panose="020B0502040204020203" charset="-122"/>
                <a:cs typeface="微软雅黑 Light" panose="020B0502040204020203" charset="-122"/>
                <a:sym typeface="+mn-ea"/>
              </a:rPr>
              <a:t>”</a:t>
            </a:r>
            <a:r>
              <a:rPr lang="zh-CN" altLang="en-US" sz="1200">
                <a:latin typeface="微软雅黑 Light" panose="020B0502040204020203" charset="-122"/>
                <a:ea typeface="微软雅黑 Light" panose="020B0502040204020203" charset="-122"/>
                <a:cs typeface="微软雅黑 Light" panose="020B0502040204020203" charset="-122"/>
                <a:sym typeface="+mn-ea"/>
              </a:rPr>
              <a:t>理念，为各类客户提供外墙、照明、景观等建筑外环境设计服务。</a:t>
            </a:r>
            <a:r>
              <a:rPr lang="en-US" altLang="zh-CN" sz="1200">
                <a:latin typeface="微软雅黑 Light" panose="020B0502040204020203" charset="-122"/>
                <a:ea typeface="微软雅黑 Light" panose="020B0502040204020203" charset="-122"/>
                <a:cs typeface="微软雅黑 Light" panose="020B0502040204020203" charset="-122"/>
                <a:sym typeface="+mn-ea"/>
              </a:rPr>
              <a:t>18</a:t>
            </a:r>
            <a:r>
              <a:rPr lang="zh-CN" altLang="en-US" sz="1200">
                <a:latin typeface="微软雅黑 Light" panose="020B0502040204020203" charset="-122"/>
                <a:ea typeface="微软雅黑 Light" panose="020B0502040204020203" charset="-122"/>
                <a:cs typeface="微软雅黑 Light" panose="020B0502040204020203" charset="-122"/>
                <a:sym typeface="+mn-ea"/>
              </a:rPr>
              <a:t>年的行业深耕，</a:t>
            </a:r>
            <a:r>
              <a:rPr lang="en-US" altLang="zh-CN" sz="1200">
                <a:latin typeface="微软雅黑 Light" panose="020B0502040204020203" charset="-122"/>
                <a:ea typeface="微软雅黑 Light" panose="020B0502040204020203" charset="-122"/>
                <a:cs typeface="微软雅黑 Light" panose="020B0502040204020203" charset="-122"/>
                <a:sym typeface="+mn-ea"/>
              </a:rPr>
              <a:t>FORCITIS</a:t>
            </a:r>
            <a:r>
              <a:rPr lang="zh-CN" altLang="en-US" sz="1200">
                <a:latin typeface="微软雅黑 Light" panose="020B0502040204020203" charset="-122"/>
                <a:ea typeface="微软雅黑 Light" panose="020B0502040204020203" charset="-122"/>
                <a:cs typeface="微软雅黑 Light" panose="020B0502040204020203" charset="-122"/>
                <a:sym typeface="+mn-ea"/>
              </a:rPr>
              <a:t>已发展成为国内建筑幕墙顾问细分领域的开拓者之一，企业分支覆盖国内外、服务客户遍布各行业、服务项目覆盖全国</a:t>
            </a:r>
            <a:r>
              <a:rPr lang="en-US" altLang="zh-CN" sz="1200">
                <a:latin typeface="微软雅黑 Light" panose="020B0502040204020203" charset="-122"/>
                <a:ea typeface="微软雅黑 Light" panose="020B0502040204020203" charset="-122"/>
                <a:cs typeface="微软雅黑 Light" panose="020B0502040204020203" charset="-122"/>
                <a:sym typeface="+mn-ea"/>
              </a:rPr>
              <a:t>50+</a:t>
            </a:r>
            <a:r>
              <a:rPr lang="zh-CN" altLang="en-US" sz="1200">
                <a:latin typeface="微软雅黑 Light" panose="020B0502040204020203" charset="-122"/>
                <a:ea typeface="微软雅黑 Light" panose="020B0502040204020203" charset="-122"/>
                <a:cs typeface="微软雅黑 Light" panose="020B0502040204020203" charset="-122"/>
                <a:sym typeface="+mn-ea"/>
              </a:rPr>
              <a:t>城市，正为推进国家城市化进程贡献蓬勃力量。</a:t>
            </a:r>
            <a:endParaRPr lang="zh-CN" altLang="en-US" sz="1400" b="1">
              <a:solidFill>
                <a:srgbClr val="2868EA"/>
              </a:solidFill>
              <a:latin typeface="微软雅黑" panose="020B0503020204020204" charset="-122"/>
              <a:ea typeface="微软雅黑" panose="020B0503020204020204" charset="-122"/>
              <a:cs typeface="微软雅黑" panose="020B0503020204020204" charset="-122"/>
              <a:sym typeface="+mn-ea"/>
            </a:endParaRPr>
          </a:p>
        </p:txBody>
      </p:sp>
      <p:pic>
        <p:nvPicPr>
          <p:cNvPr id="10" name="图片 9"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1134110"/>
            <a:ext cx="186055" cy="186055"/>
          </a:xfrm>
          <a:prstGeom prst="rect">
            <a:avLst/>
          </a:prstGeom>
        </p:spPr>
      </p:pic>
      <p:sp>
        <p:nvSpPr>
          <p:cNvPr id="13" name="圆角矩形 12"/>
          <p:cNvSpPr/>
          <p:nvPr/>
        </p:nvSpPr>
        <p:spPr>
          <a:xfrm>
            <a:off x="325755" y="2326640"/>
            <a:ext cx="11549380" cy="4231640"/>
          </a:xfrm>
          <a:prstGeom prst="roundRect">
            <a:avLst>
              <a:gd name="adj" fmla="val 8932"/>
            </a:avLst>
          </a:prstGeom>
          <a:gradFill>
            <a:gsLst>
              <a:gs pos="100000">
                <a:schemeClr val="bg1">
                  <a:alpha val="90000"/>
                </a:schemeClr>
              </a:gs>
              <a:gs pos="0">
                <a:srgbClr val="BED0F0">
                  <a:alpha val="70000"/>
                </a:srgbClr>
              </a:gs>
            </a:gsLst>
            <a:lin ang="4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400">
              <a:cs typeface="微软雅黑" panose="020B0503020204020204" charset="-122"/>
              <a:sym typeface="+mn-ea"/>
            </a:endParaRPr>
          </a:p>
        </p:txBody>
      </p:sp>
      <p:sp>
        <p:nvSpPr>
          <p:cNvPr id="15" name="矩形 14"/>
          <p:cNvSpPr/>
          <p:nvPr/>
        </p:nvSpPr>
        <p:spPr>
          <a:xfrm>
            <a:off x="563245" y="2552065"/>
            <a:ext cx="4699635" cy="321310"/>
          </a:xfrm>
          <a:prstGeom prst="rect">
            <a:avLst/>
          </a:prstGeom>
          <a:gradFill>
            <a:gsLst>
              <a:gs pos="0">
                <a:srgbClr val="2868EA"/>
              </a:gs>
              <a:gs pos="100000">
                <a:srgbClr val="22BCA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sym typeface="+mn-ea"/>
              </a:rPr>
              <a:t>业务挑战：庞大架构体系带来业务效能与运营成本的挑战</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5" name="矩形 4"/>
          <p:cNvSpPr/>
          <p:nvPr/>
        </p:nvSpPr>
        <p:spPr>
          <a:xfrm>
            <a:off x="1293495" y="3500120"/>
            <a:ext cx="2192020" cy="234315"/>
          </a:xfrm>
          <a:prstGeom prst="rect">
            <a:avLst/>
          </a:prstGeom>
          <a:gradFill>
            <a:gsLst>
              <a:gs pos="0">
                <a:srgbClr val="22BCAC"/>
              </a:gs>
              <a:gs pos="100000">
                <a:srgbClr val="2868EA"/>
              </a:gs>
            </a:gsLst>
            <a:lin ang="30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17" name="文本框 16"/>
          <p:cNvSpPr txBox="1"/>
          <p:nvPr/>
        </p:nvSpPr>
        <p:spPr>
          <a:xfrm>
            <a:off x="1179830" y="3175635"/>
            <a:ext cx="2519045" cy="614045"/>
          </a:xfrm>
          <a:prstGeom prst="rect">
            <a:avLst/>
          </a:prstGeom>
          <a:noFill/>
        </p:spPr>
        <p:txBody>
          <a:bodyPr wrap="square" rtlCol="0" anchor="t">
            <a:spAutoFit/>
          </a:bodyPr>
          <a:p>
            <a:pPr algn="l"/>
            <a:r>
              <a:rPr lang="zh-CN" altLang="en-US">
                <a:latin typeface="微软雅黑" panose="020B0503020204020204" charset="-122"/>
                <a:ea typeface="微软雅黑" panose="020B0503020204020204" charset="-122"/>
                <a:cs typeface="微软雅黑" panose="020B0503020204020204" charset="-122"/>
                <a:sym typeface="+mn-ea"/>
              </a:rPr>
              <a:t>企业体量快速增长</a:t>
            </a:r>
            <a:endParaRPr lang="zh-CN" altLang="en-US">
              <a:latin typeface="微软雅黑" panose="020B0503020204020204" charset="-122"/>
              <a:ea typeface="微软雅黑" panose="020B0503020204020204" charset="-122"/>
              <a:cs typeface="微软雅黑" panose="020B0503020204020204" charset="-122"/>
              <a:sym typeface="+mn-ea"/>
            </a:endParaRPr>
          </a:p>
          <a:p>
            <a:pPr algn="l"/>
            <a:r>
              <a:rPr lang="en-US" altLang="zh-CN" sz="160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企业办公成本随之提升</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9" name="椭圆 18"/>
          <p:cNvSpPr/>
          <p:nvPr/>
        </p:nvSpPr>
        <p:spPr>
          <a:xfrm>
            <a:off x="571500" y="3213100"/>
            <a:ext cx="608330" cy="60833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pic>
        <p:nvPicPr>
          <p:cNvPr id="24" name="图片 23" descr="成本"/>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4215" y="3345815"/>
            <a:ext cx="342265" cy="342265"/>
          </a:xfrm>
          <a:prstGeom prst="rect">
            <a:avLst/>
          </a:prstGeom>
        </p:spPr>
      </p:pic>
      <p:sp>
        <p:nvSpPr>
          <p:cNvPr id="26" name="文本框 25"/>
          <p:cNvSpPr txBox="1"/>
          <p:nvPr/>
        </p:nvSpPr>
        <p:spPr>
          <a:xfrm>
            <a:off x="563245" y="4040505"/>
            <a:ext cx="3501390" cy="1676400"/>
          </a:xfrm>
          <a:prstGeom prst="rect">
            <a:avLst/>
          </a:prstGeom>
        </p:spPr>
        <p:txBody>
          <a:bodyPr wrap="square">
            <a:spAutoFit/>
          </a:bodyPr>
          <a:p>
            <a:pPr indent="0" fontAlgn="auto">
              <a:spcBef>
                <a:spcPts val="600"/>
              </a:spcBef>
            </a:pPr>
            <a:r>
              <a:rPr lang="en-US" altLang="zh-CN" sz="1400">
                <a:latin typeface="微软雅黑 Light" panose="020B0502040204020203" charset="-122"/>
                <a:ea typeface="微软雅黑 Light" panose="020B0502040204020203" charset="-122"/>
                <a:cs typeface="微软雅黑 Light" panose="020B0502040204020203" charset="-122"/>
                <a:sym typeface="+mn-ea"/>
              </a:rPr>
              <a:t>FORCITIS </a:t>
            </a:r>
            <a:r>
              <a:rPr lang="en-US" altLang="zh-CN" sz="1400">
                <a:solidFill>
                  <a:srgbClr val="1A1A1A"/>
                </a:solidFill>
                <a:latin typeface="微软雅黑 Light" panose="020B0502040204020203" charset="-122"/>
                <a:ea typeface="微软雅黑 Light" panose="020B0502040204020203" charset="-122"/>
                <a:cs typeface="微软雅黑 Light" panose="020B0502040204020203" charset="-122"/>
              </a:rPr>
              <a:t>2021</a:t>
            </a: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rPr>
              <a:t>年于英国伦敦设立海外总部，拥有上海、伦敦、南京、杭州、北京、成都、深圳、武汉、西安和广州十间办公室，三百多名专业顾问团队；</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a:p>
            <a:pPr indent="0" fontAlgn="auto">
              <a:spcBef>
                <a:spcPts val="600"/>
              </a:spcBef>
            </a:pPr>
            <a:r>
              <a:rPr lang="zh-CN" altLang="en-US" sz="1400">
                <a:solidFill>
                  <a:srgbClr val="1A1A1A"/>
                </a:solidFill>
                <a:latin typeface="微软雅黑" panose="020B0503020204020204" charset="-122"/>
                <a:ea typeface="微软雅黑" panose="020B0503020204020204" charset="-122"/>
                <a:cs typeface="微软雅黑 Light" panose="020B0502040204020203" charset="-122"/>
              </a:rPr>
              <a:t>企业分支遍布国内外，团队规模较大，且拓展速度较快，随之带来企业管理运营成本的挑战。</a:t>
            </a:r>
            <a:endParaRPr lang="zh-CN" altLang="en-US" sz="1400">
              <a:solidFill>
                <a:srgbClr val="1A1A1A"/>
              </a:solidFill>
              <a:latin typeface="微软雅黑" panose="020B0503020204020204" charset="-122"/>
              <a:ea typeface="微软雅黑" panose="020B0503020204020204" charset="-122"/>
              <a:cs typeface="微软雅黑 Light" panose="020B0502040204020203" charset="-122"/>
            </a:endParaRPr>
          </a:p>
        </p:txBody>
      </p:sp>
      <p:sp>
        <p:nvSpPr>
          <p:cNvPr id="27" name="矩形 26"/>
          <p:cNvSpPr/>
          <p:nvPr/>
        </p:nvSpPr>
        <p:spPr>
          <a:xfrm>
            <a:off x="5081905" y="3500120"/>
            <a:ext cx="2016125" cy="234315"/>
          </a:xfrm>
          <a:prstGeom prst="rect">
            <a:avLst/>
          </a:prstGeom>
          <a:gradFill>
            <a:gsLst>
              <a:gs pos="0">
                <a:srgbClr val="22BCAC"/>
              </a:gs>
              <a:gs pos="100000">
                <a:srgbClr val="2868EA"/>
              </a:gs>
            </a:gsLst>
            <a:lin ang="30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28" name="文本框 27"/>
          <p:cNvSpPr txBox="1"/>
          <p:nvPr/>
        </p:nvSpPr>
        <p:spPr>
          <a:xfrm>
            <a:off x="4968240" y="3175635"/>
            <a:ext cx="2519045" cy="614045"/>
          </a:xfrm>
          <a:prstGeom prst="rect">
            <a:avLst/>
          </a:prstGeom>
          <a:noFill/>
        </p:spPr>
        <p:txBody>
          <a:bodyPr wrap="square" rtlCol="0" anchor="t">
            <a:spAutoFit/>
          </a:bodyPr>
          <a:p>
            <a:pPr algn="l"/>
            <a:r>
              <a:rPr lang="zh-CN" altLang="en-US">
                <a:latin typeface="微软雅黑" panose="020B0503020204020204" charset="-122"/>
                <a:ea typeface="微软雅黑" panose="020B0503020204020204" charset="-122"/>
                <a:cs typeface="微软雅黑" panose="020B0503020204020204" charset="-122"/>
                <a:sym typeface="+mn-ea"/>
              </a:rPr>
              <a:t>业务类型多、体量大</a:t>
            </a:r>
            <a:endParaRPr lang="zh-CN" altLang="en-US">
              <a:latin typeface="微软雅黑" panose="020B0503020204020204" charset="-122"/>
              <a:ea typeface="微软雅黑" panose="020B0503020204020204" charset="-122"/>
              <a:cs typeface="微软雅黑" panose="020B0503020204020204" charset="-122"/>
              <a:sym typeface="+mn-ea"/>
            </a:endParaRPr>
          </a:p>
          <a:p>
            <a:pPr algn="l"/>
            <a:r>
              <a:rPr lang="en-US" altLang="zh-CN" sz="160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需求响应需要更灵活</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9" name="椭圆 28"/>
          <p:cNvSpPr/>
          <p:nvPr/>
        </p:nvSpPr>
        <p:spPr>
          <a:xfrm>
            <a:off x="4359910" y="3213100"/>
            <a:ext cx="608330" cy="60833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31" name="文本框 30"/>
          <p:cNvSpPr txBox="1"/>
          <p:nvPr/>
        </p:nvSpPr>
        <p:spPr>
          <a:xfrm>
            <a:off x="4351655" y="4040505"/>
            <a:ext cx="3505835" cy="1891665"/>
          </a:xfrm>
          <a:prstGeom prst="rect">
            <a:avLst/>
          </a:prstGeom>
        </p:spPr>
        <p:txBody>
          <a:bodyPr wrap="square">
            <a:spAutoFit/>
          </a:bodyPr>
          <a:p>
            <a:pPr indent="0" fontAlgn="auto">
              <a:spcBef>
                <a:spcPts val="600"/>
              </a:spcBef>
            </a:pPr>
            <a:r>
              <a:rPr lang="en-US" altLang="zh-CN" sz="1400">
                <a:latin typeface="微软雅黑 Light" panose="020B0502040204020203" charset="-122"/>
                <a:ea typeface="微软雅黑 Light" panose="020B0502040204020203" charset="-122"/>
                <a:cs typeface="微软雅黑 Light" panose="020B0502040204020203" charset="-122"/>
                <a:sym typeface="+mn-ea"/>
              </a:rPr>
              <a:t>FORCITIS </a:t>
            </a:r>
            <a:r>
              <a:rPr lang="zh-CN" altLang="en-US" sz="1400">
                <a:latin typeface="微软雅黑 Light" panose="020B0502040204020203" charset="-122"/>
                <a:ea typeface="微软雅黑 Light" panose="020B0502040204020203" charset="-122"/>
                <a:cs typeface="微软雅黑 Light" panose="020B0502040204020203" charset="-122"/>
                <a:sym typeface="+mn-ea"/>
              </a:rPr>
              <a:t>凭借</a:t>
            </a:r>
            <a:r>
              <a:rPr lang="en-US" altLang="zh-CN" sz="1400">
                <a:solidFill>
                  <a:srgbClr val="1A1A1A"/>
                </a:solidFill>
                <a:latin typeface="微软雅黑 Light" panose="020B0502040204020203" charset="-122"/>
                <a:ea typeface="微软雅黑 Light" panose="020B0502040204020203" charset="-122"/>
                <a:cs typeface="微软雅黑 Light" panose="020B0502040204020203" charset="-122"/>
              </a:rPr>
              <a:t>4000+</a:t>
            </a: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rPr>
              <a:t>的项目经验沉淀，为企业客户、房地产客户、政府公共事业单位，提供优质专业的设计、工程管理和专项咨询服务，累计服务项目覆盖全国</a:t>
            </a:r>
            <a:r>
              <a:rPr lang="en-US" altLang="zh-CN" sz="1400">
                <a:solidFill>
                  <a:srgbClr val="1A1A1A"/>
                </a:solidFill>
                <a:latin typeface="微软雅黑 Light" panose="020B0502040204020203" charset="-122"/>
                <a:ea typeface="微软雅黑 Light" panose="020B0502040204020203" charset="-122"/>
                <a:cs typeface="微软雅黑 Light" panose="020B0502040204020203" charset="-122"/>
              </a:rPr>
              <a:t>50+</a:t>
            </a: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rPr>
              <a:t>城市。</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a:p>
            <a:pPr indent="0" fontAlgn="auto">
              <a:spcBef>
                <a:spcPts val="600"/>
              </a:spcBef>
            </a:pPr>
            <a:r>
              <a:rPr lang="zh-CN" altLang="en-US" sz="1400">
                <a:solidFill>
                  <a:srgbClr val="1A1A1A"/>
                </a:solidFill>
                <a:latin typeface="微软雅黑" panose="020B0503020204020204" charset="-122"/>
                <a:ea typeface="微软雅黑" panose="020B0503020204020204" charset="-122"/>
                <a:cs typeface="微软雅黑 Light" panose="020B0502040204020203" charset="-122"/>
              </a:rPr>
              <a:t>复杂的业务体系与项目类型可能带来高频的偶发性项目需求，需要团队</a:t>
            </a:r>
            <a:r>
              <a:rPr lang="zh-CN" altLang="en-US" sz="1400">
                <a:solidFill>
                  <a:srgbClr val="1A1A1A"/>
                </a:solidFill>
                <a:latin typeface="微软雅黑" panose="020B0503020204020204" charset="-122"/>
                <a:ea typeface="微软雅黑" panose="020B0503020204020204" charset="-122"/>
                <a:cs typeface="微软雅黑 Light" panose="020B0502040204020203" charset="-122"/>
                <a:sym typeface="+mn-ea"/>
              </a:rPr>
              <a:t>灵活</a:t>
            </a:r>
            <a:r>
              <a:rPr lang="zh-CN" altLang="en-US" sz="1400">
                <a:solidFill>
                  <a:srgbClr val="1A1A1A"/>
                </a:solidFill>
                <a:latin typeface="微软雅黑" panose="020B0503020204020204" charset="-122"/>
                <a:ea typeface="微软雅黑" panose="020B0503020204020204" charset="-122"/>
                <a:cs typeface="微软雅黑 Light" panose="020B0502040204020203" charset="-122"/>
              </a:rPr>
              <a:t>响应，灵活调度电脑资源。</a:t>
            </a:r>
            <a:endParaRPr lang="zh-CN" altLang="en-US" sz="1400">
              <a:solidFill>
                <a:srgbClr val="1A1A1A"/>
              </a:solidFill>
              <a:latin typeface="微软雅黑" panose="020B0503020204020204" charset="-122"/>
              <a:ea typeface="微软雅黑" panose="020B0503020204020204" charset="-122"/>
              <a:cs typeface="微软雅黑 Light" panose="020B0502040204020203" charset="-122"/>
            </a:endParaRPr>
          </a:p>
        </p:txBody>
      </p:sp>
      <p:sp>
        <p:nvSpPr>
          <p:cNvPr id="32" name="矩形 31"/>
          <p:cNvSpPr/>
          <p:nvPr/>
        </p:nvSpPr>
        <p:spPr>
          <a:xfrm>
            <a:off x="8889365" y="3500120"/>
            <a:ext cx="1999615" cy="234315"/>
          </a:xfrm>
          <a:prstGeom prst="rect">
            <a:avLst/>
          </a:prstGeom>
          <a:gradFill>
            <a:gsLst>
              <a:gs pos="0">
                <a:srgbClr val="22BCAC"/>
              </a:gs>
              <a:gs pos="100000">
                <a:srgbClr val="2868EA"/>
              </a:gs>
            </a:gsLst>
            <a:lin ang="30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33" name="文本框 32"/>
          <p:cNvSpPr txBox="1"/>
          <p:nvPr/>
        </p:nvSpPr>
        <p:spPr>
          <a:xfrm>
            <a:off x="8775700" y="3175635"/>
            <a:ext cx="2452370" cy="614045"/>
          </a:xfrm>
          <a:prstGeom prst="rect">
            <a:avLst/>
          </a:prstGeom>
          <a:noFill/>
        </p:spPr>
        <p:txBody>
          <a:bodyPr wrap="square" rtlCol="0" anchor="t">
            <a:spAutoFit/>
          </a:bodyPr>
          <a:p>
            <a:pPr algn="l"/>
            <a:r>
              <a:rPr lang="zh-CN" altLang="en-US">
                <a:latin typeface="微软雅黑" panose="020B0503020204020204" charset="-122"/>
                <a:ea typeface="微软雅黑" panose="020B0503020204020204" charset="-122"/>
                <a:cs typeface="微软雅黑" panose="020B0503020204020204" charset="-122"/>
                <a:sym typeface="+mn-ea"/>
              </a:rPr>
              <a:t>建筑业设计工作特性</a:t>
            </a:r>
            <a:endParaRPr lang="zh-CN" altLang="en-US">
              <a:latin typeface="微软雅黑" panose="020B0503020204020204" charset="-122"/>
              <a:ea typeface="微软雅黑" panose="020B0503020204020204" charset="-122"/>
              <a:cs typeface="微软雅黑" panose="020B0503020204020204" charset="-122"/>
              <a:sym typeface="+mn-ea"/>
            </a:endParaRPr>
          </a:p>
          <a:p>
            <a:pPr algn="l"/>
            <a:r>
              <a:rPr lang="en-US" altLang="zh-CN" sz="160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对员工电脑要求较高</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4" name="椭圆 33"/>
          <p:cNvSpPr/>
          <p:nvPr/>
        </p:nvSpPr>
        <p:spPr>
          <a:xfrm>
            <a:off x="8167370" y="3213100"/>
            <a:ext cx="608330" cy="60833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2" name="文本框 1"/>
          <p:cNvSpPr txBox="1"/>
          <p:nvPr/>
        </p:nvSpPr>
        <p:spPr>
          <a:xfrm>
            <a:off x="8159115" y="4040505"/>
            <a:ext cx="3288665" cy="953135"/>
          </a:xfrm>
          <a:prstGeom prst="rect">
            <a:avLst/>
          </a:prstGeom>
        </p:spPr>
        <p:txBody>
          <a:bodyPr wrap="square">
            <a:spAutoFit/>
          </a:bodyPr>
          <a:p>
            <a:pPr indent="0" fontAlgn="auto">
              <a:spcBef>
                <a:spcPts val="600"/>
              </a:spcBef>
            </a:pPr>
            <a:r>
              <a:rPr lang="zh-CN" sz="1400">
                <a:latin typeface="微软雅黑 Light" panose="020B0502040204020203" charset="-122"/>
                <a:ea typeface="微软雅黑 Light" panose="020B0502040204020203" charset="-122"/>
                <a:cs typeface="微软雅黑 Light" panose="020B0502040204020203" charset="-122"/>
                <a:sym typeface="+mn-ea"/>
              </a:rPr>
              <a:t>建筑行业的项目执行涉及大量图纸绘制工作，一方面对员工办公电脑的配置有较高要求，另一方面设计图纸作为企业资产，亦需要加强数据安全性</a:t>
            </a: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rPr>
              <a:t>。</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p:txBody>
      </p:sp>
      <p:pic>
        <p:nvPicPr>
          <p:cNvPr id="38" name="图片 37" descr="问题回答对话框"/>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98340" y="3342005"/>
            <a:ext cx="330835" cy="330835"/>
          </a:xfrm>
          <a:prstGeom prst="rect">
            <a:avLst/>
          </a:prstGeom>
          <a:gradFill>
            <a:gsLst>
              <a:gs pos="27000">
                <a:srgbClr val="2868EA"/>
              </a:gs>
              <a:gs pos="100000">
                <a:schemeClr val="accent4"/>
              </a:gs>
            </a:gsLst>
            <a:lin ang="1440000" scaled="0"/>
          </a:gradFill>
        </p:spPr>
      </p:pic>
      <p:pic>
        <p:nvPicPr>
          <p:cNvPr id="39" name="图片 38" descr="电脑"/>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21040" y="3357245"/>
            <a:ext cx="300990" cy="300990"/>
          </a:xfrm>
          <a:prstGeom prst="rect">
            <a:avLst/>
          </a:prstGeom>
        </p:spPr>
      </p:pic>
      <p:sp>
        <p:nvSpPr>
          <p:cNvPr id="3" name="文本框 2"/>
          <p:cNvSpPr txBox="1"/>
          <p:nvPr/>
        </p:nvSpPr>
        <p:spPr>
          <a:xfrm>
            <a:off x="571500" y="6024880"/>
            <a:ext cx="11002010" cy="306705"/>
          </a:xfrm>
          <a:prstGeom prst="rect">
            <a:avLst/>
          </a:prstGeom>
          <a:noFill/>
        </p:spPr>
        <p:txBody>
          <a:bodyPr wrap="square" rtlCol="0" anchor="t">
            <a:spAutoFit/>
          </a:bodyPr>
          <a:p>
            <a:r>
              <a:rPr lang="zh-CN" altLang="en-US" sz="1400" b="1">
                <a:solidFill>
                  <a:srgbClr val="2868EA"/>
                </a:solidFill>
                <a:latin typeface="微软雅黑" panose="020B0503020204020204" charset="-122"/>
                <a:ea typeface="微软雅黑" panose="020B0503020204020204" charset="-122"/>
                <a:cs typeface="微软雅黑" panose="020B0503020204020204" charset="-122"/>
                <a:sym typeface="+mn-ea"/>
              </a:rPr>
              <a:t>针对</a:t>
            </a:r>
            <a:r>
              <a:rPr lang="en-US" altLang="zh-CN" sz="1400" b="1">
                <a:solidFill>
                  <a:srgbClr val="2868EA"/>
                </a:solidFill>
                <a:latin typeface="微软雅黑" panose="020B0503020204020204" charset="-122"/>
                <a:ea typeface="微软雅黑" panose="020B0503020204020204" charset="-122"/>
                <a:cs typeface="微软雅黑" panose="020B0503020204020204" charset="-122"/>
                <a:sym typeface="+mn-ea"/>
              </a:rPr>
              <a:t>FORCITIS</a:t>
            </a:r>
            <a:r>
              <a:rPr lang="zh-CN" altLang="en-US" sz="1400" b="1">
                <a:solidFill>
                  <a:srgbClr val="2868EA"/>
                </a:solidFill>
                <a:latin typeface="微软雅黑" panose="020B0503020204020204" charset="-122"/>
                <a:ea typeface="微软雅黑" panose="020B0503020204020204" charset="-122"/>
                <a:cs typeface="微软雅黑" panose="020B0503020204020204" charset="-122"/>
                <a:sym typeface="+mn-ea"/>
              </a:rPr>
              <a:t>面临的这些挑战，端木软件为其定制了企业办公升级解决方案，助力其提升企业运营管理效能的同时显著降本。</a:t>
            </a:r>
            <a:endParaRPr lang="zh-CN" altLang="en-US" sz="1400" b="1">
              <a:solidFill>
                <a:srgbClr val="2868EA"/>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9"/>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摄图网_402662975_商务创意电脑云储存(非企业商用)"/>
          <p:cNvPicPr>
            <a:picLocks noChangeAspect="1"/>
          </p:cNvPicPr>
          <p:nvPr/>
        </p:nvPicPr>
        <p:blipFill>
          <a:blip r:embed="rId1"/>
          <a:srcRect/>
          <a:stretch>
            <a:fillRect/>
          </a:stretch>
        </p:blipFill>
        <p:spPr>
          <a:xfrm>
            <a:off x="0" y="0"/>
            <a:ext cx="12192635" cy="6858000"/>
          </a:xfrm>
          <a:prstGeom prst="rect">
            <a:avLst/>
          </a:prstGeom>
        </p:spPr>
      </p:pic>
      <p:sp>
        <p:nvSpPr>
          <p:cNvPr id="16" name="矩形 15"/>
          <p:cNvSpPr/>
          <p:nvPr/>
        </p:nvSpPr>
        <p:spPr>
          <a:xfrm>
            <a:off x="-635" y="0"/>
            <a:ext cx="12193905" cy="6858635"/>
          </a:xfrm>
          <a:prstGeom prst="rect">
            <a:avLst/>
          </a:prstGeom>
          <a:solidFill>
            <a:schemeClr val="tx1">
              <a:lumMod val="95000"/>
              <a:lumOff val="5000"/>
              <a:alpha val="8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8" name="矩形 17"/>
          <p:cNvSpPr/>
          <p:nvPr/>
        </p:nvSpPr>
        <p:spPr>
          <a:xfrm>
            <a:off x="745490" y="1569720"/>
            <a:ext cx="3107055" cy="4373880"/>
          </a:xfrm>
          <a:prstGeom prst="rect">
            <a:avLst/>
          </a:prstGeom>
          <a:gradFill>
            <a:gsLst>
              <a:gs pos="0">
                <a:srgbClr val="2868EA">
                  <a:alpha val="66000"/>
                </a:srgbClr>
              </a:gs>
              <a:gs pos="23000">
                <a:srgbClr val="2868EA">
                  <a:alpha val="22000"/>
                </a:srgbClr>
              </a:gs>
              <a:gs pos="100000">
                <a:srgbClr val="2868EA">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11" name="文本框 10"/>
          <p:cNvSpPr txBox="1"/>
          <p:nvPr/>
        </p:nvSpPr>
        <p:spPr>
          <a:xfrm>
            <a:off x="949960" y="2974340"/>
            <a:ext cx="2782570" cy="645160"/>
          </a:xfrm>
          <a:prstGeom prst="rect">
            <a:avLst/>
          </a:prstGeom>
          <a:noFill/>
        </p:spPr>
        <p:txBody>
          <a:bodyPr wrap="square" rtlCol="0">
            <a:spAutoFit/>
          </a:bodyPr>
          <a:p>
            <a:r>
              <a:rPr lang="zh-CN" altLang="en-US" b="1">
                <a:solidFill>
                  <a:schemeClr val="bg1"/>
                </a:solidFill>
                <a:latin typeface="微软雅黑" panose="020B0503020204020204" charset="-122"/>
                <a:ea typeface="微软雅黑" panose="020B0503020204020204" charset="-122"/>
                <a:cs typeface="微软雅黑" panose="020B0503020204020204" charset="-122"/>
              </a:rPr>
              <a:t>定制企业云电脑部署方案</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a:p>
            <a:r>
              <a:rPr lang="zh-CN" altLang="en-US" b="1">
                <a:solidFill>
                  <a:schemeClr val="bg1"/>
                </a:solidFill>
                <a:latin typeface="微软雅黑" panose="020B0503020204020204" charset="-122"/>
                <a:ea typeface="微软雅黑" panose="020B0503020204020204" charset="-122"/>
                <a:cs typeface="微软雅黑" panose="020B0503020204020204" charset="-122"/>
              </a:rPr>
              <a:t>灵活扩展</a:t>
            </a:r>
            <a:r>
              <a:rPr lang="en-US" altLang="zh-CN" b="1">
                <a:solidFill>
                  <a:schemeClr val="bg1"/>
                </a:solidFill>
                <a:latin typeface="微软雅黑" panose="020B0503020204020204" charset="-122"/>
                <a:ea typeface="微软雅黑" panose="020B0503020204020204" charset="-122"/>
                <a:cs typeface="微软雅黑" panose="020B0503020204020204" charset="-122"/>
              </a:rPr>
              <a:t> </a:t>
            </a:r>
            <a:r>
              <a:rPr lang="zh-CN" altLang="en-US" b="1">
                <a:solidFill>
                  <a:schemeClr val="bg1"/>
                </a:solidFill>
                <a:latin typeface="微软雅黑" panose="020B0503020204020204" charset="-122"/>
                <a:ea typeface="微软雅黑" panose="020B0503020204020204" charset="-122"/>
                <a:cs typeface="微软雅黑" panose="020B0503020204020204" charset="-122"/>
              </a:rPr>
              <a:t>按量计费</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椭圆 14"/>
          <p:cNvSpPr/>
          <p:nvPr/>
        </p:nvSpPr>
        <p:spPr>
          <a:xfrm>
            <a:off x="1073150" y="1826895"/>
            <a:ext cx="1014095" cy="1014095"/>
          </a:xfrm>
          <a:prstGeom prst="ellipse">
            <a:avLst/>
          </a:prstGeom>
          <a:gradFill>
            <a:gsLst>
              <a:gs pos="82000">
                <a:srgbClr val="2868EA">
                  <a:alpha val="100000"/>
                </a:srgbClr>
              </a:gs>
              <a:gs pos="0">
                <a:srgbClr val="22BCAC"/>
              </a:gs>
            </a:gsLst>
            <a:lin ang="149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17" name="文本框 16"/>
          <p:cNvSpPr txBox="1"/>
          <p:nvPr/>
        </p:nvSpPr>
        <p:spPr>
          <a:xfrm>
            <a:off x="949960" y="3717290"/>
            <a:ext cx="2782570" cy="1460500"/>
          </a:xfrm>
          <a:prstGeom prst="rect">
            <a:avLst/>
          </a:prstGeom>
          <a:noFill/>
        </p:spPr>
        <p:txBody>
          <a:bodyPr wrap="square" rtlCol="0">
            <a:spAutoFit/>
          </a:bodyPr>
          <a:p>
            <a:pPr marL="171450" indent="-171450" fontAlgn="auto">
              <a:spcBef>
                <a:spcPts val="600"/>
              </a:spcBef>
              <a:buFont typeface="微软雅黑" panose="020B0503020204020204" charset="-122"/>
              <a:buChar char="•"/>
            </a:pP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rPr>
              <a:t>根据企业的具体业务需求和应用场景定制部署方案，按需开通，灵活扩展配置与云电脑数量；</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endParaRPr>
          </a:p>
          <a:p>
            <a:pPr marL="171450" indent="-171450" fontAlgn="auto">
              <a:spcBef>
                <a:spcPts val="600"/>
              </a:spcBef>
              <a:buFont typeface="微软雅黑" panose="020B0503020204020204" charset="-122"/>
              <a:buChar char="•"/>
            </a:pPr>
            <a:r>
              <a:rPr lang="zh-CN" altLang="en-US" sz="1400">
                <a:solidFill>
                  <a:schemeClr val="bg1"/>
                </a:solidFill>
                <a:latin typeface="微软雅黑 Light" panose="020B0502040204020203" charset="-122"/>
                <a:ea typeface="微软雅黑 Light" panose="020B0502040204020203" charset="-122"/>
                <a:cs typeface="微软雅黑 Light" panose="020B0502040204020203" charset="-122"/>
                <a:sym typeface="+mn-ea"/>
              </a:rPr>
              <a:t>秒级分配，按量计费，灵活使用的同时避免资源与成本浪费。</a:t>
            </a:r>
            <a:endParaRPr lang="zh-CN" altLang="en-US" sz="14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cxnSp>
        <p:nvCxnSpPr>
          <p:cNvPr id="13" name="直接连接符 12"/>
          <p:cNvCxnSpPr/>
          <p:nvPr/>
        </p:nvCxnSpPr>
        <p:spPr>
          <a:xfrm>
            <a:off x="745490" y="1569720"/>
            <a:ext cx="0" cy="4373245"/>
          </a:xfrm>
          <a:prstGeom prst="line">
            <a:avLst/>
          </a:prstGeom>
          <a:ln>
            <a:solidFill>
              <a:srgbClr val="2F71EB"/>
            </a:solidFill>
          </a:ln>
        </p:spPr>
        <p:style>
          <a:lnRef idx="2">
            <a:schemeClr val="accent1"/>
          </a:lnRef>
          <a:fillRef idx="0">
            <a:srgbClr val="FFFFFF"/>
          </a:fillRef>
          <a:effectRef idx="0">
            <a:srgbClr val="FFFFFF"/>
          </a:effectRef>
          <a:fontRef idx="minor">
            <a:schemeClr val="tx1"/>
          </a:fontRef>
        </p:style>
      </p:cxnSp>
      <p:pic>
        <p:nvPicPr>
          <p:cNvPr id="19" name="图片 18" descr="成本计算"/>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43660" y="2097405"/>
            <a:ext cx="473075" cy="473075"/>
          </a:xfrm>
          <a:prstGeom prst="rect">
            <a:avLst/>
          </a:prstGeom>
        </p:spPr>
      </p:pic>
      <p:sp>
        <p:nvSpPr>
          <p:cNvPr id="21" name="矩形 20"/>
          <p:cNvSpPr/>
          <p:nvPr/>
        </p:nvSpPr>
        <p:spPr>
          <a:xfrm>
            <a:off x="4542155" y="1569720"/>
            <a:ext cx="3107055" cy="4373880"/>
          </a:xfrm>
          <a:prstGeom prst="rect">
            <a:avLst/>
          </a:prstGeom>
          <a:gradFill>
            <a:gsLst>
              <a:gs pos="0">
                <a:srgbClr val="2868EA">
                  <a:alpha val="66000"/>
                </a:srgbClr>
              </a:gs>
              <a:gs pos="23000">
                <a:srgbClr val="2868EA">
                  <a:alpha val="22000"/>
                </a:srgbClr>
              </a:gs>
              <a:gs pos="100000">
                <a:srgbClr val="2868EA">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37" name="文本框 36"/>
          <p:cNvSpPr txBox="1"/>
          <p:nvPr/>
        </p:nvSpPr>
        <p:spPr>
          <a:xfrm>
            <a:off x="4746625" y="2974340"/>
            <a:ext cx="2782570" cy="645160"/>
          </a:xfrm>
          <a:prstGeom prst="rect">
            <a:avLst/>
          </a:prstGeom>
          <a:noFill/>
        </p:spPr>
        <p:txBody>
          <a:bodyPr wrap="square" rtlCol="0">
            <a:spAutoFit/>
          </a:bodyPr>
          <a:p>
            <a:r>
              <a:rPr lang="zh-CN" altLang="en-US" b="1">
                <a:solidFill>
                  <a:schemeClr val="bg1"/>
                </a:solidFill>
                <a:latin typeface="微软雅黑" panose="020B0503020204020204" charset="-122"/>
                <a:ea typeface="微软雅黑" panose="020B0503020204020204" charset="-122"/>
                <a:cs typeface="微软雅黑" panose="020B0503020204020204" charset="-122"/>
              </a:rPr>
              <a:t>提供技术支持与培训</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a:p>
            <a:r>
              <a:rPr lang="zh-CN" altLang="en-US" b="1">
                <a:solidFill>
                  <a:schemeClr val="bg1"/>
                </a:solidFill>
                <a:latin typeface="微软雅黑" panose="020B0503020204020204" charset="-122"/>
                <a:ea typeface="微软雅黑" panose="020B0503020204020204" charset="-122"/>
                <a:cs typeface="微软雅黑" panose="020B0503020204020204" charset="-122"/>
              </a:rPr>
              <a:t>实现高效协作、灵活办公</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8" name="椭圆 37"/>
          <p:cNvSpPr/>
          <p:nvPr/>
        </p:nvSpPr>
        <p:spPr>
          <a:xfrm>
            <a:off x="4869815" y="1826895"/>
            <a:ext cx="1014095" cy="1014095"/>
          </a:xfrm>
          <a:prstGeom prst="ellipse">
            <a:avLst/>
          </a:prstGeom>
          <a:gradFill>
            <a:gsLst>
              <a:gs pos="82000">
                <a:srgbClr val="2868EA">
                  <a:alpha val="100000"/>
                </a:srgbClr>
              </a:gs>
              <a:gs pos="0">
                <a:srgbClr val="22BCAC"/>
              </a:gs>
            </a:gsLst>
            <a:lin ang="149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39" name="文本框 38"/>
          <p:cNvSpPr txBox="1"/>
          <p:nvPr/>
        </p:nvSpPr>
        <p:spPr>
          <a:xfrm>
            <a:off x="4746625" y="3717290"/>
            <a:ext cx="2782570" cy="1598930"/>
          </a:xfrm>
          <a:prstGeom prst="rect">
            <a:avLst/>
          </a:prstGeom>
          <a:noFill/>
        </p:spPr>
        <p:txBody>
          <a:bodyPr wrap="square" rtlCol="0">
            <a:spAutoFit/>
          </a:bodyPr>
          <a:p>
            <a:pPr marL="171450" indent="-171450" fontAlgn="auto">
              <a:spcBef>
                <a:spcPts val="600"/>
              </a:spcBef>
              <a:buFont typeface="微软雅黑" panose="020B0503020204020204" charset="-122"/>
              <a:buChar char="•"/>
            </a:pPr>
            <a:r>
              <a:rPr lang="zh-CN" altLang="en-US" sz="1400">
                <a:solidFill>
                  <a:schemeClr val="bg1"/>
                </a:solidFill>
                <a:latin typeface="微软雅黑 Light" panose="020B0502040204020203" charset="-122"/>
                <a:ea typeface="微软雅黑 Light" panose="020B0502040204020203" charset="-122"/>
                <a:cs typeface="微软雅黑 Light" panose="020B0502040204020203" charset="-122"/>
                <a:sym typeface="+mn-ea"/>
              </a:rPr>
              <a:t>提供专业的技术咨询服务，帮助快速掌握无影云电脑的操作方法和管理技巧，实现个人高效灵活办公的同时，赋能企业内部跨地域、跨部门的高效在线协作，帮助企业提高整体工作效率。</a:t>
            </a:r>
            <a:endParaRPr lang="zh-CN" altLang="en-US" sz="14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cxnSp>
        <p:nvCxnSpPr>
          <p:cNvPr id="40" name="直接连接符 39"/>
          <p:cNvCxnSpPr/>
          <p:nvPr/>
        </p:nvCxnSpPr>
        <p:spPr>
          <a:xfrm>
            <a:off x="4542155" y="1569720"/>
            <a:ext cx="0" cy="4373880"/>
          </a:xfrm>
          <a:prstGeom prst="line">
            <a:avLst/>
          </a:prstGeom>
          <a:ln>
            <a:solidFill>
              <a:srgbClr val="2F71EB"/>
            </a:solidFill>
          </a:ln>
        </p:spPr>
        <p:style>
          <a:lnRef idx="2">
            <a:schemeClr val="accent1"/>
          </a:lnRef>
          <a:fillRef idx="0">
            <a:srgbClr val="FFFFFF"/>
          </a:fillRef>
          <a:effectRef idx="0">
            <a:srgbClr val="FFFFFF"/>
          </a:effectRef>
          <a:fontRef idx="minor">
            <a:schemeClr val="tx1"/>
          </a:fontRef>
        </p:style>
      </p:cxnSp>
      <p:sp>
        <p:nvSpPr>
          <p:cNvPr id="42" name="矩形 41"/>
          <p:cNvSpPr/>
          <p:nvPr/>
        </p:nvSpPr>
        <p:spPr>
          <a:xfrm>
            <a:off x="8339455" y="1569720"/>
            <a:ext cx="3107055" cy="4373880"/>
          </a:xfrm>
          <a:prstGeom prst="rect">
            <a:avLst/>
          </a:prstGeom>
          <a:gradFill>
            <a:gsLst>
              <a:gs pos="0">
                <a:srgbClr val="2868EA">
                  <a:alpha val="66000"/>
                </a:srgbClr>
              </a:gs>
              <a:gs pos="23000">
                <a:srgbClr val="2868EA">
                  <a:alpha val="22000"/>
                </a:srgbClr>
              </a:gs>
              <a:gs pos="100000">
                <a:srgbClr val="2868EA">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43" name="文本框 42"/>
          <p:cNvSpPr txBox="1"/>
          <p:nvPr/>
        </p:nvSpPr>
        <p:spPr>
          <a:xfrm>
            <a:off x="8543290" y="2974340"/>
            <a:ext cx="2782570" cy="645160"/>
          </a:xfrm>
          <a:prstGeom prst="rect">
            <a:avLst/>
          </a:prstGeom>
          <a:noFill/>
        </p:spPr>
        <p:txBody>
          <a:bodyPr wrap="square" rtlCol="0">
            <a:spAutoFit/>
          </a:bodyPr>
          <a:p>
            <a:r>
              <a:rPr lang="zh-CN" altLang="en-US" b="1">
                <a:solidFill>
                  <a:schemeClr val="bg1"/>
                </a:solidFill>
                <a:latin typeface="微软雅黑" panose="020B0503020204020204" charset="-122"/>
                <a:ea typeface="微软雅黑" panose="020B0503020204020204" charset="-122"/>
                <a:cs typeface="微软雅黑" panose="020B0503020204020204" charset="-122"/>
              </a:rPr>
              <a:t>协助建立安全保护机制</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a:p>
            <a:r>
              <a:rPr lang="zh-CN" altLang="en-US" b="1">
                <a:solidFill>
                  <a:schemeClr val="bg1"/>
                </a:solidFill>
                <a:latin typeface="微软雅黑" panose="020B0503020204020204" charset="-122"/>
                <a:ea typeface="微软雅黑" panose="020B0503020204020204" charset="-122"/>
                <a:cs typeface="微软雅黑" panose="020B0503020204020204" charset="-122"/>
              </a:rPr>
              <a:t>保障数据安全管控</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4" name="椭圆 43"/>
          <p:cNvSpPr/>
          <p:nvPr/>
        </p:nvSpPr>
        <p:spPr>
          <a:xfrm>
            <a:off x="8666480" y="1826895"/>
            <a:ext cx="1014095" cy="1014095"/>
          </a:xfrm>
          <a:prstGeom prst="ellipse">
            <a:avLst/>
          </a:prstGeom>
          <a:gradFill>
            <a:gsLst>
              <a:gs pos="82000">
                <a:srgbClr val="2868EA">
                  <a:alpha val="100000"/>
                </a:srgbClr>
              </a:gs>
              <a:gs pos="0">
                <a:srgbClr val="22BCAC"/>
              </a:gs>
            </a:gsLst>
            <a:lin ang="149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45" name="文本框 44"/>
          <p:cNvSpPr txBox="1"/>
          <p:nvPr/>
        </p:nvSpPr>
        <p:spPr>
          <a:xfrm>
            <a:off x="8543290" y="3717290"/>
            <a:ext cx="2782570" cy="1891665"/>
          </a:xfrm>
          <a:prstGeom prst="rect">
            <a:avLst/>
          </a:prstGeom>
          <a:noFill/>
        </p:spPr>
        <p:txBody>
          <a:bodyPr wrap="square" rtlCol="0">
            <a:spAutoFit/>
          </a:bodyPr>
          <a:p>
            <a:pPr marL="171450" indent="-171450" fontAlgn="auto">
              <a:spcBef>
                <a:spcPts val="600"/>
              </a:spcBef>
              <a:buFont typeface="微软雅黑" panose="020B0503020204020204" charset="-122"/>
              <a:buChar char="•"/>
            </a:pPr>
            <a:r>
              <a:rPr lang="zh-CN" altLang="en-US" sz="1400">
                <a:solidFill>
                  <a:schemeClr val="bg1"/>
                </a:solidFill>
                <a:latin typeface="微软雅黑 Light" panose="020B0502040204020203" charset="-122"/>
                <a:ea typeface="微软雅黑 Light" panose="020B0502040204020203" charset="-122"/>
                <a:cs typeface="微软雅黑 Light" panose="020B0502040204020203" charset="-122"/>
                <a:sym typeface="+mn-ea"/>
              </a:rPr>
              <a:t>一方面赋能企业管理员通过云电脑管理后台追踪并限制敏感信息的访问与使用；</a:t>
            </a:r>
            <a:endParaRPr lang="zh-CN" altLang="en-US" sz="14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微软雅黑" panose="020B0503020204020204" charset="-122"/>
              <a:buChar char="•"/>
            </a:pPr>
            <a:r>
              <a:rPr lang="zh-CN" altLang="en-US" sz="1400">
                <a:solidFill>
                  <a:schemeClr val="bg1"/>
                </a:solidFill>
                <a:latin typeface="微软雅黑 Light" panose="020B0502040204020203" charset="-122"/>
                <a:ea typeface="微软雅黑 Light" panose="020B0502040204020203" charset="-122"/>
                <a:cs typeface="微软雅黑 Light" panose="020B0502040204020203" charset="-122"/>
                <a:sym typeface="+mn-ea"/>
              </a:rPr>
              <a:t>另一方面协助建立完善的数据安全保护机制，如制定合理的访问权限规则、加密传输协议等，保障企业信息资产的安全性。</a:t>
            </a:r>
            <a:endParaRPr lang="zh-CN" altLang="en-US" sz="14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cxnSp>
        <p:nvCxnSpPr>
          <p:cNvPr id="46" name="直接连接符 45"/>
          <p:cNvCxnSpPr/>
          <p:nvPr/>
        </p:nvCxnSpPr>
        <p:spPr>
          <a:xfrm>
            <a:off x="8339455" y="1569720"/>
            <a:ext cx="0" cy="4370070"/>
          </a:xfrm>
          <a:prstGeom prst="line">
            <a:avLst/>
          </a:prstGeom>
          <a:ln>
            <a:solidFill>
              <a:srgbClr val="2F71EB"/>
            </a:solidFill>
          </a:ln>
        </p:spPr>
        <p:style>
          <a:lnRef idx="2">
            <a:schemeClr val="accent1"/>
          </a:lnRef>
          <a:fillRef idx="0">
            <a:srgbClr val="FFFFFF"/>
          </a:fillRef>
          <a:effectRef idx="0">
            <a:srgbClr val="FFFFFF"/>
          </a:effectRef>
          <a:fontRef idx="minor">
            <a:schemeClr val="tx1"/>
          </a:fontRef>
        </p:style>
      </p:cxnSp>
      <p:pic>
        <p:nvPicPr>
          <p:cNvPr id="48" name="图片 47" descr="培训反馈"/>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76520" y="2133600"/>
            <a:ext cx="400685" cy="400685"/>
          </a:xfrm>
          <a:prstGeom prst="rect">
            <a:avLst/>
          </a:prstGeom>
        </p:spPr>
      </p:pic>
      <p:pic>
        <p:nvPicPr>
          <p:cNvPr id="49" name="图片 48" descr="安全"/>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7150" y="2106930"/>
            <a:ext cx="453390" cy="453390"/>
          </a:xfrm>
          <a:prstGeom prst="rect">
            <a:avLst/>
          </a:prstGeom>
        </p:spPr>
      </p:pic>
      <p:sp>
        <p:nvSpPr>
          <p:cNvPr id="2" name="文本框 1"/>
          <p:cNvSpPr txBox="1"/>
          <p:nvPr/>
        </p:nvSpPr>
        <p:spPr>
          <a:xfrm>
            <a:off x="323215" y="476250"/>
            <a:ext cx="6231255" cy="521970"/>
          </a:xfrm>
          <a:prstGeom prst="rect">
            <a:avLst/>
          </a:prstGeom>
          <a:noFill/>
        </p:spPr>
        <p:txBody>
          <a:bodyPr wrap="square" rtlCol="0" anchor="t">
            <a:spAutoFit/>
          </a:bodyPr>
          <a:p>
            <a:r>
              <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rPr>
              <a:t>端木软件无影智慧办公解决方案</a:t>
            </a:r>
            <a:endParaRPr lang="zh-CN" altLang="en-US" sz="2800"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5" name="图片 4" descr="全彩版"/>
          <p:cNvPicPr>
            <a:picLocks noChangeAspect="1"/>
          </p:cNvPicPr>
          <p:nvPr userDrawn="1"/>
        </p:nvPicPr>
        <p:blipFill>
          <a:blip r:embed="rId8"/>
          <a:stretch>
            <a:fillRect/>
          </a:stretch>
        </p:blipFill>
        <p:spPr>
          <a:xfrm>
            <a:off x="10339070" y="217805"/>
            <a:ext cx="1607820" cy="407035"/>
          </a:xfrm>
          <a:prstGeom prst="rect">
            <a:avLst/>
          </a:prstGeom>
        </p:spPr>
      </p:pic>
    </p:spTree>
    <p:custDataLst>
      <p:tags r:id="rId9"/>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1090930" y="1413510"/>
            <a:ext cx="3878580" cy="389890"/>
          </a:xfrm>
          <a:prstGeom prst="rect">
            <a:avLst/>
          </a:prstGeom>
          <a:gradFill>
            <a:gsLst>
              <a:gs pos="0">
                <a:srgbClr val="2A69EA"/>
              </a:gs>
              <a:gs pos="100000">
                <a:srgbClr val="15BAB1">
                  <a:alpha val="7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Light" panose="020B0502040204020203" charset="-122"/>
              <a:ea typeface="微软雅黑 Light" panose="020B0502040204020203" charset="-122"/>
            </a:endParaRPr>
          </a:p>
        </p:txBody>
      </p:sp>
      <p:sp>
        <p:nvSpPr>
          <p:cNvPr id="3" name="文本框 2"/>
          <p:cNvSpPr txBox="1"/>
          <p:nvPr/>
        </p:nvSpPr>
        <p:spPr>
          <a:xfrm>
            <a:off x="1090930" y="1363980"/>
            <a:ext cx="3694430" cy="460375"/>
          </a:xfrm>
          <a:prstGeom prst="rect">
            <a:avLst/>
          </a:prstGeom>
          <a:noFill/>
        </p:spPr>
        <p:txBody>
          <a:bodyPr wrap="square" rtlCol="0" anchor="t">
            <a:spAutoFit/>
          </a:bodyPr>
          <a:p>
            <a:r>
              <a:rPr lang="zh-CN" altLang="en-US" sz="2400">
                <a:solidFill>
                  <a:schemeClr val="bg1"/>
                </a:solidFill>
                <a:latin typeface="微软雅黑 Light" panose="020B0502040204020203" charset="-122"/>
                <a:ea typeface="微软雅黑 Light" panose="020B0502040204020203" charset="-122"/>
                <a:sym typeface="+mn-ea"/>
              </a:rPr>
              <a:t>科技之力，智启未来征途</a:t>
            </a:r>
            <a:endParaRPr lang="zh-CN" altLang="en-US" sz="2400">
              <a:solidFill>
                <a:schemeClr val="bg1"/>
              </a:solidFill>
              <a:latin typeface="微软雅黑 Light" panose="020B0502040204020203" charset="-122"/>
              <a:ea typeface="微软雅黑 Light" panose="020B0502040204020203" charset="-122"/>
              <a:sym typeface="+mn-ea"/>
            </a:endParaRPr>
          </a:p>
        </p:txBody>
      </p:sp>
      <p:sp>
        <p:nvSpPr>
          <p:cNvPr id="8" name="矩形 7"/>
          <p:cNvSpPr/>
          <p:nvPr/>
        </p:nvSpPr>
        <p:spPr>
          <a:xfrm>
            <a:off x="1090930" y="2004060"/>
            <a:ext cx="3878580" cy="389890"/>
          </a:xfrm>
          <a:prstGeom prst="rect">
            <a:avLst/>
          </a:prstGeom>
          <a:gradFill>
            <a:gsLst>
              <a:gs pos="0">
                <a:srgbClr val="2A69EA"/>
              </a:gs>
              <a:gs pos="100000">
                <a:srgbClr val="15BAB1">
                  <a:alpha val="7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Light" panose="020B0502040204020203" charset="-122"/>
              <a:ea typeface="微软雅黑 Light" panose="020B0502040204020203" charset="-122"/>
            </a:endParaRPr>
          </a:p>
        </p:txBody>
      </p:sp>
      <p:sp>
        <p:nvSpPr>
          <p:cNvPr id="4" name="文本框 3"/>
          <p:cNvSpPr txBox="1"/>
          <p:nvPr/>
        </p:nvSpPr>
        <p:spPr>
          <a:xfrm>
            <a:off x="1090930" y="1958340"/>
            <a:ext cx="3597910" cy="460375"/>
          </a:xfrm>
          <a:prstGeom prst="rect">
            <a:avLst/>
          </a:prstGeom>
          <a:noFill/>
        </p:spPr>
        <p:txBody>
          <a:bodyPr wrap="square" rtlCol="0" anchor="t">
            <a:spAutoFit/>
          </a:bodyPr>
          <a:p>
            <a:r>
              <a:rPr lang="zh-CN" altLang="en-US" sz="2400">
                <a:solidFill>
                  <a:schemeClr val="bg1"/>
                </a:solidFill>
                <a:latin typeface="微软雅黑 Light" panose="020B0502040204020203" charset="-122"/>
                <a:ea typeface="微软雅黑 Light" panose="020B0502040204020203" charset="-122"/>
                <a:sym typeface="+mn-ea"/>
              </a:rPr>
              <a:t>赋能共生，缔造无限可能</a:t>
            </a:r>
            <a:endParaRPr lang="zh-CN" altLang="en-US" sz="2400">
              <a:solidFill>
                <a:schemeClr val="bg1"/>
              </a:solidFill>
              <a:latin typeface="微软雅黑 Light" panose="020B0502040204020203" charset="-122"/>
              <a:ea typeface="微软雅黑 Light" panose="020B0502040204020203" charset="-122"/>
              <a:sym typeface="+mn-ea"/>
            </a:endParaRPr>
          </a:p>
        </p:txBody>
      </p:sp>
      <p:sp>
        <p:nvSpPr>
          <p:cNvPr id="9" name="文本框 8"/>
          <p:cNvSpPr txBox="1"/>
          <p:nvPr/>
        </p:nvSpPr>
        <p:spPr>
          <a:xfrm>
            <a:off x="1028700" y="4170680"/>
            <a:ext cx="8099425" cy="645160"/>
          </a:xfrm>
          <a:prstGeom prst="rect">
            <a:avLst/>
          </a:prstGeom>
          <a:noFill/>
        </p:spPr>
        <p:txBody>
          <a:bodyPr wrap="square" rtlCol="0" anchor="t">
            <a:spAutoFit/>
          </a:bodyPr>
          <a:p>
            <a:pPr lvl="0" algn="l">
              <a:buClrTx/>
              <a:buSzTx/>
              <a:buFontTx/>
            </a:pPr>
            <a:r>
              <a:rPr lang="zh-CN" altLang="en-US" sz="3600" b="1">
                <a:gradFill>
                  <a:gsLst>
                    <a:gs pos="0">
                      <a:schemeClr val="bg1"/>
                    </a:gs>
                    <a:gs pos="76000">
                      <a:srgbClr val="C4DCFF">
                        <a:alpha val="100000"/>
                      </a:srgbClr>
                    </a:gs>
                    <a:gs pos="100000">
                      <a:srgbClr val="8CBAFF"/>
                    </a:gs>
                  </a:gsLst>
                  <a:lin ang="5400000" scaled="0"/>
                </a:gradFill>
                <a:latin typeface="微软雅黑" panose="020B0503020204020204" charset="-122"/>
                <a:ea typeface="微软雅黑" panose="020B0503020204020204" charset="-122"/>
                <a:cs typeface="微软雅黑" panose="020B0503020204020204" charset="-122"/>
                <a:sym typeface="+mn-ea"/>
              </a:rPr>
              <a:t>端木软件期待与您共同智启未来</a:t>
            </a:r>
            <a:r>
              <a:rPr lang="zh-CN" altLang="en-US" sz="3600" b="1">
                <a:gradFill>
                  <a:gsLst>
                    <a:gs pos="0">
                      <a:schemeClr val="bg1"/>
                    </a:gs>
                    <a:gs pos="76000">
                      <a:srgbClr val="C4DCFF">
                        <a:alpha val="100000"/>
                      </a:srgbClr>
                    </a:gs>
                    <a:gs pos="100000">
                      <a:srgbClr val="8CBAFF"/>
                    </a:gs>
                  </a:gsLst>
                  <a:lin ang="5400000" scaled="0"/>
                </a:gradFill>
                <a:latin typeface="微软雅黑" panose="020B0503020204020204" charset="-122"/>
                <a:ea typeface="微软雅黑" panose="020B0503020204020204" charset="-122"/>
                <a:cs typeface="微软雅黑" panose="020B0503020204020204" charset="-122"/>
                <a:sym typeface="+mn-ea"/>
              </a:rPr>
              <a:t>！</a:t>
            </a:r>
            <a:endParaRPr lang="zh-CN" altLang="en-US" sz="3600" b="1">
              <a:gradFill>
                <a:gsLst>
                  <a:gs pos="0">
                    <a:schemeClr val="bg1"/>
                  </a:gs>
                  <a:gs pos="76000">
                    <a:srgbClr val="C4DCFF">
                      <a:alpha val="100000"/>
                    </a:srgbClr>
                  </a:gs>
                  <a:gs pos="100000">
                    <a:srgbClr val="8CBAFF"/>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文本框 12"/>
          <p:cNvSpPr txBox="1"/>
          <p:nvPr/>
        </p:nvSpPr>
        <p:spPr>
          <a:xfrm>
            <a:off x="1231265" y="1489710"/>
            <a:ext cx="7421880" cy="1861185"/>
          </a:xfrm>
          <a:prstGeom prst="rect">
            <a:avLst/>
          </a:prstGeom>
          <a:noFill/>
        </p:spPr>
        <p:txBody>
          <a:bodyPr wrap="square" rtlCol="0">
            <a:spAutoFit/>
          </a:bodyPr>
          <a:p>
            <a:r>
              <a:rPr lang="en-US" altLang="zh-CN" sz="11500" b="1">
                <a:gradFill>
                  <a:gsLst>
                    <a:gs pos="0">
                      <a:schemeClr val="bg1">
                        <a:alpha val="10000"/>
                      </a:schemeClr>
                    </a:gs>
                    <a:gs pos="91000">
                      <a:schemeClr val="bg1">
                        <a:alpha val="0"/>
                      </a:schemeClr>
                    </a:gs>
                  </a:gsLst>
                  <a:lin ang="5400000" scaled="0"/>
                </a:gradFill>
              </a:rPr>
              <a:t>THANKS</a:t>
            </a:r>
            <a:endParaRPr lang="en-US" altLang="zh-CN" sz="11500" b="1">
              <a:gradFill>
                <a:gsLst>
                  <a:gs pos="0">
                    <a:schemeClr val="bg1">
                      <a:alpha val="10000"/>
                    </a:schemeClr>
                  </a:gs>
                  <a:gs pos="91000">
                    <a:schemeClr val="bg1">
                      <a:alpha val="0"/>
                    </a:schemeClr>
                  </a:gs>
                </a:gsLst>
                <a:lin ang="5400000" scaled="0"/>
              </a:gradFill>
            </a:endParaRPr>
          </a:p>
        </p:txBody>
      </p:sp>
      <p:sp>
        <p:nvSpPr>
          <p:cNvPr id="2" name="文本框 1"/>
          <p:cNvSpPr txBox="1"/>
          <p:nvPr/>
        </p:nvSpPr>
        <p:spPr>
          <a:xfrm>
            <a:off x="1489710" y="2296160"/>
            <a:ext cx="4606290" cy="1322070"/>
          </a:xfrm>
          <a:prstGeom prst="rect">
            <a:avLst/>
          </a:prstGeom>
          <a:noFill/>
        </p:spPr>
        <p:txBody>
          <a:bodyPr wrap="square" rtlCol="0" anchor="t">
            <a:spAutoFit/>
          </a:bodyPr>
          <a:p>
            <a:r>
              <a:rPr lang="zh-CN" altLang="en-US" sz="8000" b="1" dirty="0">
                <a:solidFill>
                  <a:schemeClr val="bg1"/>
                </a:solidFill>
                <a:latin typeface="微软雅黑" panose="020B0503020204020204" charset="-122"/>
                <a:ea typeface="微软雅黑" panose="020B0503020204020204" charset="-122"/>
                <a:cs typeface="微软雅黑 Light" panose="020B0502040204020203" charset="-122"/>
                <a:sym typeface="+mn-ea"/>
              </a:rPr>
              <a:t>感谢观看</a:t>
            </a:r>
            <a:endParaRPr lang="zh-CN" altLang="en-US" sz="8000" b="1"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3" name="文本框 2"/>
          <p:cNvSpPr txBox="1"/>
          <p:nvPr/>
        </p:nvSpPr>
        <p:spPr>
          <a:xfrm>
            <a:off x="1489710" y="3550920"/>
            <a:ext cx="5304790" cy="583565"/>
          </a:xfrm>
          <a:prstGeom prst="rect">
            <a:avLst/>
          </a:prstGeom>
          <a:noFill/>
        </p:spPr>
        <p:txBody>
          <a:bodyPr wrap="square" rtlCol="0">
            <a:spAutoFit/>
          </a:bodyPr>
          <a:p>
            <a:r>
              <a:rPr lang="en-US" altLang="zh-CN" sz="3200" b="1">
                <a:gradFill>
                  <a:gsLst>
                    <a:gs pos="0">
                      <a:schemeClr val="bg1">
                        <a:alpha val="62000"/>
                      </a:schemeClr>
                    </a:gs>
                    <a:gs pos="100000">
                      <a:srgbClr val="15BAB1"/>
                    </a:gs>
                  </a:gsLst>
                  <a:lin ang="5400000" scaled="0"/>
                </a:gradFill>
                <a:latin typeface="微软雅黑" panose="020B0503020204020204" charset="-122"/>
                <a:ea typeface="微软雅黑" panose="020B0503020204020204" charset="-122"/>
                <a:cs typeface="微软雅黑" panose="020B0503020204020204" charset="-122"/>
              </a:rPr>
              <a:t>DUANMU SOFTWARE</a:t>
            </a:r>
            <a:endParaRPr lang="en-US" altLang="zh-CN" sz="3200" b="1">
              <a:gradFill>
                <a:gsLst>
                  <a:gs pos="0">
                    <a:schemeClr val="bg1">
                      <a:alpha val="62000"/>
                    </a:schemeClr>
                  </a:gs>
                  <a:gs pos="100000">
                    <a:srgbClr val="15BAB1"/>
                  </a:gs>
                </a:gsLst>
                <a:lin ang="5400000" scaled="0"/>
              </a:gra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7.xml><?xml version="1.0" encoding="utf-8"?>
<p:tagLst xmlns:p="http://schemas.openxmlformats.org/presentationml/2006/main">
  <p:tag name="KSO_WM_BEAUTIFY_FLAG" val="#wm#"/>
  <p:tag name="KSO_WM_TEMPLATE_CATEGORY" val="custom"/>
  <p:tag name="KSO_WM_TEMPLATE_INDEX" val="20205081"/>
</p:tagLst>
</file>

<file path=ppt/tags/tag28.xml><?xml version="1.0" encoding="utf-8"?>
<p:tagLst xmlns:p="http://schemas.openxmlformats.org/presentationml/2006/main">
  <p:tag name="KSO_WM_BEAUTIFY_FLAG" val="#wm#"/>
  <p:tag name="KSO_WM_TEMPLATE_CATEGORY" val="custom"/>
  <p:tag name="KSO_WM_TEMPLATE_INDEX" val="20205081"/>
</p:tagLst>
</file>

<file path=ppt/tags/tag29.xml><?xml version="1.0" encoding="utf-8"?>
<p:tagLst xmlns:p="http://schemas.openxmlformats.org/presentationml/2006/main">
  <p:tag name="KSO_WM_BEAUTIFY_FLAG" val="#wm#"/>
  <p:tag name="KSO_WM_TEMPLATE_CATEGORY" val="custom"/>
  <p:tag name="KSO_WM_TEMPLATE_INDEX" val="20205081"/>
  <p:tag name="resource_record_key" val="{&quot;10&quot;:[4519002,4519001,21581289,50026891,50020971,50022793,21558684],&quot;65&quot;:[20205081]}"/>
</p:tagLst>
</file>

<file path=ppt/tags/tag30.xml><?xml version="1.0" encoding="utf-8"?>
<p:tagLst xmlns:p="http://schemas.openxmlformats.org/presentationml/2006/main">
  <p:tag name="KSO_WM_BEAUTIFY_FLAG" val="#wm#"/>
  <p:tag name="KSO_WM_TEMPLATE_CATEGORY" val="custom"/>
  <p:tag name="KSO_WM_TEMPLATE_INDEX" val="20205081"/>
</p:tagLst>
</file>

<file path=ppt/tags/tag31.xml><?xml version="1.0" encoding="utf-8"?>
<p:tagLst xmlns:p="http://schemas.openxmlformats.org/presentationml/2006/main">
  <p:tag name="KSO_WM_DIAGRAM_VIRTUALLY_FRAME" val="{&quot;height&quot;:162.15,&quot;left&quot;:563.85,&quot;top&quot;:351.75,&quot;width&quot;:347.35}"/>
</p:tagLst>
</file>

<file path=ppt/tags/tag32.xml><?xml version="1.0" encoding="utf-8"?>
<p:tagLst xmlns:p="http://schemas.openxmlformats.org/presentationml/2006/main">
  <p:tag name="KSO_WM_DIAGRAM_VIRTUALLY_FRAME" val="{&quot;height&quot;:162.15,&quot;left&quot;:563.85,&quot;top&quot;:351.75,&quot;width&quot;:347.35}"/>
</p:tagLst>
</file>

<file path=ppt/tags/tag33.xml><?xml version="1.0" encoding="utf-8"?>
<p:tagLst xmlns:p="http://schemas.openxmlformats.org/presentationml/2006/main">
  <p:tag name="KSO_WM_DIAGRAM_VIRTUALLY_FRAME" val="{&quot;height&quot;:162.15,&quot;left&quot;:563.85,&quot;top&quot;:351.75,&quot;width&quot;:347.35}"/>
</p:tagLst>
</file>

<file path=ppt/tags/tag34.xml><?xml version="1.0" encoding="utf-8"?>
<p:tagLst xmlns:p="http://schemas.openxmlformats.org/presentationml/2006/main">
  <p:tag name="KSO_WM_DIAGRAM_VIRTUALLY_FRAME" val="{&quot;height&quot;:162.15,&quot;left&quot;:563.85,&quot;top&quot;:351.75,&quot;width&quot;:347.35}"/>
</p:tagLst>
</file>

<file path=ppt/tags/tag35.xml><?xml version="1.0" encoding="utf-8"?>
<p:tagLst xmlns:p="http://schemas.openxmlformats.org/presentationml/2006/main">
  <p:tag name="KSO_WM_DIAGRAM_VIRTUALLY_FRAME" val="{&quot;height&quot;:162.15,&quot;left&quot;:563.85,&quot;top&quot;:351.75,&quot;width&quot;:347.35}"/>
</p:tagLst>
</file>

<file path=ppt/tags/tag36.xml><?xml version="1.0" encoding="utf-8"?>
<p:tagLst xmlns:p="http://schemas.openxmlformats.org/presentationml/2006/main">
  <p:tag name="KSO_WM_DIAGRAM_VIRTUALLY_FRAME" val="{&quot;height&quot;:162.15,&quot;left&quot;:563.85,&quot;top&quot;:351.75,&quot;width&quot;:347.35}"/>
</p:tagLst>
</file>

<file path=ppt/tags/tag37.xml><?xml version="1.0" encoding="utf-8"?>
<p:tagLst xmlns:p="http://schemas.openxmlformats.org/presentationml/2006/main">
  <p:tag name="KSO_WM_BEAUTIFY_FLAG" val="#wm#"/>
  <p:tag name="KSO_WM_TEMPLATE_CATEGORY" val="custom"/>
  <p:tag name="KSO_WM_TEMPLATE_INDEX" val="20205081"/>
</p:tagLst>
</file>

<file path=ppt/tags/tag38.xml><?xml version="1.0" encoding="utf-8"?>
<p:tagLst xmlns:p="http://schemas.openxmlformats.org/presentationml/2006/main">
  <p:tag name="KSO_WM_BEAUTIFY_FLAG" val="#wm#"/>
  <p:tag name="KSO_WM_TEMPLATE_CATEGORY" val="custom"/>
  <p:tag name="KSO_WM_TEMPLATE_INDEX" val="20205081"/>
  <p:tag name="resource_record_key" val="{&quot;10&quot;:[21602018],&quot;65&quot;:[20205081]}"/>
</p:tagLst>
</file>

<file path=ppt/tags/tag39.xml><?xml version="1.0" encoding="utf-8"?>
<p:tagLst xmlns:p="http://schemas.openxmlformats.org/presentationml/2006/main">
  <p:tag name="KSO_WM_BEAUTIFY_FLAG" val="#wm#"/>
  <p:tag name="KSO_WM_TEMPLATE_CATEGORY" val="custom"/>
  <p:tag name="KSO_WM_TEMPLATE_INDEX" val="20205081"/>
</p:tagLst>
</file>

<file path=ppt/tags/tag40.xml><?xml version="1.0" encoding="utf-8"?>
<p:tagLst xmlns:p="http://schemas.openxmlformats.org/presentationml/2006/main">
  <p:tag name="KSO_WM_BEAUTIFY_FLAG" val="#wm#"/>
  <p:tag name="KSO_WM_TEMPLATE_CATEGORY" val="custom"/>
  <p:tag name="KSO_WM_TEMPLATE_INDEX" val="20205081"/>
</p:tagLst>
</file>

<file path=ppt/tags/tag41.xml><?xml version="1.0" encoding="utf-8"?>
<p:tagLst xmlns:p="http://schemas.openxmlformats.org/presentationml/2006/main">
  <p:tag name="KSO_WM_BEAUTIFY_FLAG" val="#wm#"/>
  <p:tag name="KSO_WM_TEMPLATE_CATEGORY" val="custom"/>
  <p:tag name="KSO_WM_TEMPLATE_INDEX" val="20205081"/>
  <p:tag name="resource_record_key" val="{&quot;10&quot;:[21546444,3504850,50008477,3505414],&quot;65&quot;:[20205081]}"/>
</p:tagLst>
</file>

<file path=ppt/tags/tag42.xml><?xml version="1.0" encoding="utf-8"?>
<p:tagLst xmlns:p="http://schemas.openxmlformats.org/presentationml/2006/main">
  <p:tag name="KSO_WM_BEAUTIFY_FLAG" val="#wm#"/>
  <p:tag name="KSO_WM_TEMPLATE_CATEGORY" val="custom"/>
  <p:tag name="KSO_WM_TEMPLATE_INDEX" val="20205081"/>
</p:tagLst>
</file>

<file path=ppt/tags/tag43.xml><?xml version="1.0" encoding="utf-8"?>
<p:tagLst xmlns:p="http://schemas.openxmlformats.org/presentationml/2006/main">
  <p:tag name="KSO_WM_BEAUTIFY_FLAG" val="#wm#"/>
  <p:tag name="KSO_WM_TEMPLATE_CATEGORY" val="custom"/>
  <p:tag name="KSO_WM_TEMPLATE_INDEX" val="20205081"/>
</p:tagLst>
</file>

<file path=ppt/tags/tag44.xml><?xml version="1.0" encoding="utf-8"?>
<p:tagLst xmlns:p="http://schemas.openxmlformats.org/presentationml/2006/main">
  <p:tag name="KSO_WM_BEAUTIFY_FLAG" val="#wm#"/>
  <p:tag name="KSO_WM_TEMPLATE_CATEGORY" val="custom"/>
  <p:tag name="KSO_WM_TEMPLATE_INDEX" val="20205081"/>
  <p:tag name="resource_record_key" val="{&quot;10&quot;:[50039340],&quot;65&quot;:[20205081]}"/>
</p:tagLst>
</file>

<file path=ppt/tags/tag45.xml><?xml version="1.0" encoding="utf-8"?>
<p:tagLst xmlns:p="http://schemas.openxmlformats.org/presentationml/2006/main">
  <p:tag name="KSO_WM_BEAUTIFY_FLAG" val="#wm#"/>
  <p:tag name="KSO_WM_TEMPLATE_CATEGORY" val="custom"/>
  <p:tag name="KSO_WM_TEMPLATE_INDEX" val="20205081"/>
  <p:tag name="resource_record_key" val="{&quot;10&quot;:[21569611,4523837,4519705],&quot;65&quot;:[20205081]}"/>
</p:tagLst>
</file>

<file path=ppt/tags/tag46.xml><?xml version="1.0" encoding="utf-8"?>
<p:tagLst xmlns:p="http://schemas.openxmlformats.org/presentationml/2006/main">
  <p:tag name="KSO_WM_BEAUTIFY_FLAG" val="#wm#"/>
  <p:tag name="KSO_WM_TEMPLATE_CATEGORY" val="custom"/>
  <p:tag name="KSO_WM_TEMPLATE_INDEX" val="20205081"/>
</p:tagLst>
</file>

<file path=ppt/tags/tag47.xml><?xml version="1.0" encoding="utf-8"?>
<p:tagLst xmlns:p="http://schemas.openxmlformats.org/presentationml/2006/main">
  <p:tag name="picid" val="{3b1afddb-ee21-46da-bb4f-d45bb4b8d84c}"/>
</p:tagLst>
</file>

<file path=ppt/tags/tag48.xml><?xml version="1.0" encoding="utf-8"?>
<p:tagLst xmlns:p="http://schemas.openxmlformats.org/presentationml/2006/main">
  <p:tag name="picid" val="{75fcf17f-e760-41df-a4eb-87ee3bb9e024}"/>
</p:tagLst>
</file>

<file path=ppt/tags/tag49.xml><?xml version="1.0" encoding="utf-8"?>
<p:tagLst xmlns:p="http://schemas.openxmlformats.org/presentationml/2006/main">
  <p:tag name="picid" val="{14904adb-0e38-4aab-a24c-7740098d0363}"/>
</p:tagLst>
</file>

<file path=ppt/tags/tag50.xml><?xml version="1.0" encoding="utf-8"?>
<p:tagLst xmlns:p="http://schemas.openxmlformats.org/presentationml/2006/main">
  <p:tag name="picid" val="{b13017d9-618f-4ac7-9eb4-7fef574f3693}"/>
</p:tagLst>
</file>

<file path=ppt/tags/tag51.xml><?xml version="1.0" encoding="utf-8"?>
<p:tagLst xmlns:p="http://schemas.openxmlformats.org/presentationml/2006/main">
  <p:tag name="picid" val="{0bb44576-cad4-4359-9d51-cb59e794ba02}"/>
</p:tagLst>
</file>

<file path=ppt/tags/tag52.xml><?xml version="1.0" encoding="utf-8"?>
<p:tagLst xmlns:p="http://schemas.openxmlformats.org/presentationml/2006/main">
  <p:tag name="picid" val="{57e30eee-33ab-4a46-ae72-d180e1e56691}"/>
</p:tagLst>
</file>

<file path=ppt/tags/tag53.xml><?xml version="1.0" encoding="utf-8"?>
<p:tagLst xmlns:p="http://schemas.openxmlformats.org/presentationml/2006/main">
  <p:tag name="KSO_WM_BEAUTIFY_FLAG" val="#wm#"/>
  <p:tag name="KSO_WM_TEMPLATE_CATEGORY" val="custom"/>
  <p:tag name="KSO_WM_TEMPLATE_INDEX" val="20205081"/>
</p:tagLst>
</file>

<file path=ppt/tags/tag54.xml><?xml version="1.0" encoding="utf-8"?>
<p:tagLst xmlns:p="http://schemas.openxmlformats.org/presentationml/2006/main">
  <p:tag name="KSO_WM_BEAUTIFY_FLAG" val="#wm#"/>
  <p:tag name="KSO_WM_TEMPLATE_CATEGORY" val="custom"/>
  <p:tag name="KSO_WM_TEMPLATE_INDEX" val="20205081"/>
</p:tagLst>
</file>

<file path=ppt/tags/tag55.xml><?xml version="1.0" encoding="utf-8"?>
<p:tagLst xmlns:p="http://schemas.openxmlformats.org/presentationml/2006/main">
  <p:tag name="KSO_WM_BEAUTIFY_FLAG" val="#wm#"/>
  <p:tag name="KSO_WM_TEMPLATE_CATEGORY" val="custom"/>
  <p:tag name="KSO_WM_TEMPLATE_INDEX" val="20205081"/>
</p:tagLst>
</file>

<file path=ppt/tags/tag56.xml><?xml version="1.0" encoding="utf-8"?>
<p:tagLst xmlns:p="http://schemas.openxmlformats.org/presentationml/2006/main">
  <p:tag name="KSO_WM_BEAUTIFY_FLAG" val="#wm#"/>
  <p:tag name="KSO_WM_TEMPLATE_CATEGORY" val="custom"/>
  <p:tag name="KSO_WM_TEMPLATE_INDEX" val="20205081"/>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wm#"/>
  <p:tag name="KSO_WM_TEMPLATE_CATEGORY" val="custom"/>
  <p:tag name="KSO_WM_TEMPLATE_INDEX" val="20205081"/>
</p:tagLst>
</file>

<file path=ppt/tags/tag61.xml><?xml version="1.0" encoding="utf-8"?>
<p:tagLst xmlns:p="http://schemas.openxmlformats.org/presentationml/2006/main">
  <p:tag name="KSO_WM_BEAUTIFY_FLAG" val="#wm#"/>
  <p:tag name="KSO_WM_TEMPLATE_CATEGORY" val="custom"/>
  <p:tag name="KSO_WM_TEMPLATE_INDEX" val="2020508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2_1"/>
  <p:tag name="KSO_WM_TEMPLATE_CATEGORY" val="diagram"/>
  <p:tag name="KSO_WM_TEMPLATE_INDEX" val="20231087"/>
  <p:tag name="KSO_WM_UNIT_LAYERLEVEL" val="1_1_1"/>
  <p:tag name="KSO_WM_TAG_VERSION" val="3.0"/>
  <p:tag name="KSO_WM_DIAGRAM_GROUP_CODE" val="n1-1"/>
  <p:tag name="KSO_WM_UNIT_TYPE" val="n_h_i"/>
  <p:tag name="KSO_WM_UNIT_INDEX" val="1_2_1"/>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SHADOW_SCHEMECOLOR_INDEX" val="5"/>
  <p:tag name="KSO_WM_UNIT_TEXT_FILL_FORE_SCHEMECOLOR_INDEX" val="2"/>
  <p:tag name="KSO_WM_UNIT_TEXT_FILL_TYPE" val="1"/>
  <p:tag name="KSO_WM_UNIT_USESOURCEFORMAT_APPLY" val="0"/>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087_2*n_h_h_i*1_2_1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5"/>
  <p:tag name="KSO_WM_UNIT_TEXT_FILL_FORE_SCHEMECOLOR_INDEX" val="2"/>
  <p:tag name="KSO_WM_UNIT_TEXT_FILL_TYPE" val="1"/>
  <p:tag name="KSO_WM_UNIT_USESOURCEFORMAT_APPLY" val="0"/>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1087_2*n_h_h_i*1_2_2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5"/>
  <p:tag name="KSO_WM_UNIT_TEXT_FILL_FORE_SCHEMECOLOR_INDEX" val="2"/>
  <p:tag name="KSO_WM_UNIT_TEXT_FILL_TYPE" val="1"/>
  <p:tag name="KSO_WM_UNIT_USESOURCEFORMAT_APPLY" val="0"/>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1087_2*n_h_h_i*1_2_3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5"/>
  <p:tag name="KSO_WM_UNIT_TEXT_FILL_FORE_SCHEMECOLOR_INDEX" val="2"/>
  <p:tag name="KSO_WM_UNIT_TEXT_FILL_TYPE" val="1"/>
  <p:tag name="KSO_WM_UNIT_USESOURCEFORMAT_APPLY" val="0"/>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2*n_h_h_x*1_2_1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UNIT_VALUE" val="74*63"/>
  <p:tag name="KSO_WM_UNIT_TYPE" val="n_h_h_x"/>
  <p:tag name="KSO_WM_UNIT_INDEX" val="1_2_1_1"/>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2"/>
  <p:tag name="KSO_WM_UNIT_FILL_FORE_SCHEMECOLOR_INDEX_BRIGHTNESS" val="0"/>
  <p:tag name="KSO_WM_UNIT_USESOURCEFORMAT_APPLY" val="0"/>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2*n_h_h_x*1_2_3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UNIT_VALUE" val="64*64"/>
  <p:tag name="KSO_WM_UNIT_TYPE" val="n_h_h_x"/>
  <p:tag name="KSO_WM_UNIT_INDEX" val="1_2_3_1"/>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2"/>
  <p:tag name="KSO_WM_UNIT_FILL_FORE_SCHEMECOLOR_INDEX_BRIGHTNESS" val="0"/>
  <p:tag name="KSO_WM_UNIT_USESOURCEFORMAT_APPLY" val="0"/>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2*n_h_h_x*1_2_2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UNIT_VALUE" val="65*58"/>
  <p:tag name="KSO_WM_UNIT_TYPE" val="n_h_h_x"/>
  <p:tag name="KSO_WM_UNIT_INDEX" val="1_2_2_1"/>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2"/>
  <p:tag name="KSO_WM_UNIT_FILL_FORE_SCHEMECOLOR_INDEX_BRIGHTNESS" val="0"/>
  <p:tag name="KSO_WM_UNIT_USESOURCEFORMAT_APPLY" val="0"/>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10"/>
  <p:tag name="KSO_WM_TEMPLATE_CATEGORY" val="diagram"/>
  <p:tag name="KSO_WM_TEMPLATE_INDEX" val="20231087"/>
  <p:tag name="KSO_WM_UNIT_LAYERLEVEL" val="1_1_1"/>
  <p:tag name="KSO_WM_TAG_VERSION" val="3.0"/>
  <p:tag name="KSO_WM_DIAGRAM_GROUP_CODE" val="n1-1"/>
  <p:tag name="KSO_WM_UNIT_TYPE" val="n_h_i"/>
  <p:tag name="KSO_WM_UNIT_INDEX" val="1_1_10"/>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4000000059604645,&quot;colorType&quot;:1,&quot;foreColorIndex&quot;:5,&quot;pos&quot;:0.03999999910593033,&quot;transparency&quot;:0},{&quot;brightness&quot;:-0.019999999552965164,&quot;colorType&quot;:1,&quot;foreColorIndex&quot;:14,&quot;pos&quot;:0.44999998807907104,&quot;transparency&quot;:0.75},{&quot;brightness&quot;:0.4000000059604645,&quot;colorType&quot;:1,&quot;foreColorIndex&quot;:5,&quot;pos&quot;:1,&quot;transparency&quot;:0}],&quot;type&quot;:3},&quot;glow&quot;:{&quot;colorType&quot;:0},&quot;line&quot;:{&quot;gradient&quot;:[{&quot;brightness&quot;:0,&quot;colorType&quot;:1,&quot;foreColorIndex&quot;:5,&quot;pos&quot;:0,&quot;transparency&quot;:1},{&quot;brightness&quot;:0,&quot;colorType&quot;:1,&quot;foreColorIndex&quot;:5,&quot;pos&quot;:0.7300000190734863,&quot;transparency&quot;:0.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0"/>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11"/>
  <p:tag name="KSO_WM_TEMPLATE_CATEGORY" val="diagram"/>
  <p:tag name="KSO_WM_TEMPLATE_INDEX" val="20231087"/>
  <p:tag name="KSO_WM_UNIT_LAYERLEVEL" val="1_1_1"/>
  <p:tag name="KSO_WM_TAG_VERSION" val="3.0"/>
  <p:tag name="KSO_WM_DIAGRAM_GROUP_CODE" val="n1-1"/>
  <p:tag name="KSO_WM_UNIT_TYPE" val="n_h_i"/>
  <p:tag name="KSO_WM_UNIT_INDEX" val="1_1_11"/>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20000000298023224,&quot;transparency&quot;:0.5899999737739563},{&quot;brightness&quot;:0,&quot;colorType&quot;:1,&quot;foreColorIndex&quot;:5,&quot;pos&quot;:0,&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13"/>
  <p:tag name="KSO_WM_UNIT_TEXT_FILL_TYPE" val="1"/>
  <p:tag name="KSO_WM_UNIT_USESOURCEFORMAT_APPLY" val="0"/>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8"/>
  <p:tag name="KSO_WM_TEMPLATE_CATEGORY" val="diagram"/>
  <p:tag name="KSO_WM_TEMPLATE_INDEX" val="20231087"/>
  <p:tag name="KSO_WM_UNIT_LAYERLEVEL" val="1_1_1"/>
  <p:tag name="KSO_WM_TAG_VERSION" val="3.0"/>
  <p:tag name="KSO_WM_DIAGRAM_GROUP_CODE" val="n1-1"/>
  <p:tag name="KSO_WM_UNIT_TYPE" val="n_h_i"/>
  <p:tag name="KSO_WM_UNIT_INDEX" val="1_1_8"/>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type&quot;:0},&quot;glow&quot;:{&quot;colorType&quot;:0},&quot;line&quot;:{&quot;gradient&quot;:[{&quot;brightness&quot;:0,&quot;colorType&quot;:1,&quot;foreColorIndex&quot;:5,&quot;pos&quot;:0,&quot;transparency&quot;:0.949999988079071},{&quot;brightness&quot;:0,&quot;colorType&quot;:1,&quot;foreColorIndex&quot;:5,&quot;pos&quot;:0.6399999856948853,&quot;transparency&quot;:0.75},{&quot;brightness&quot;:0,&quot;colorType&quot;:1,&quot;foreColorIndex&quot;:5,&quot;pos&quot;:1,&quot;transparency&quot;:1},{&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SHADOW_SCHEMECOLOR_INDEX" val="5"/>
  <p:tag name="KSO_WM_UNIT_TEXT_FILL_FORE_SCHEMECOLOR_INDEX" val="2"/>
  <p:tag name="KSO_WM_UNIT_TEXT_FILL_TYPE" val="1"/>
  <p:tag name="KSO_WM_UNIT_USESOURCEFORMAT_APPLY" val="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12"/>
  <p:tag name="KSO_WM_TEMPLATE_CATEGORY" val="diagram"/>
  <p:tag name="KSO_WM_TEMPLATE_INDEX" val="20231087"/>
  <p:tag name="KSO_WM_UNIT_LAYERLEVEL" val="1_1_1"/>
  <p:tag name="KSO_WM_TAG_VERSION" val="3.0"/>
  <p:tag name="KSO_WM_DIAGRAM_GROUP_CODE" val="n1-1"/>
  <p:tag name="KSO_WM_UNIT_TYPE" val="n_h_i"/>
  <p:tag name="KSO_WM_UNIT_INDEX" val="1_1_12"/>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type&quot;:0},&quot;glow&quot;:{&quot;colorType&quot;:0},&quot;line&quot;:{&quot;gradient&quot;:[{&quot;brightness&quot;:0,&quot;colorType&quot;:1,&quot;foreColorIndex&quot;:16,&quot;pos&quot;:1,&quot;transparency&quot;:0},{&quot;brightness&quot;:0,&quot;colorType&quot;:1,&quot;foreColorIndex&quot;:5,&quot;pos&quot;:0.38999998569488525,&quot;transparency&quot;:0.3799999952316284},{&quot;brightness&quot;:0,&quot;colorType&quot;:1,&quot;foreColorIndex&quot;:5,&quot;pos&quot;:0.20000000298023224,&quot;transparency&quot;:0.46000000834465027},{&quot;brightness&quot;:0.5,&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13"/>
  <p:tag name="KSO_WM_UNIT_TEXT_FILL_TYPE" val="1"/>
  <p:tag name="KSO_WM_UNIT_USESOURCEFORMAT_APPLY" val="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1"/>
  <p:tag name="KSO_WM_TEMPLATE_CATEGORY" val="diagram"/>
  <p:tag name="KSO_WM_TEMPLATE_INDEX" val="20231087"/>
  <p:tag name="KSO_WM_UNIT_LAYERLEVEL" val="1_1_1"/>
  <p:tag name="KSO_WM_TAG_VERSION" val="3.0"/>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4"/>
  <p:tag name="KSO_WM_TEMPLATE_CATEGORY" val="diagram"/>
  <p:tag name="KSO_WM_TEMPLATE_INDEX" val="20231087"/>
  <p:tag name="KSO_WM_UNIT_LAYERLEVEL" val="1_1_1"/>
  <p:tag name="KSO_WM_TAG_VERSION" val="3.0"/>
  <p:tag name="KSO_WM_DIAGRAM_GROUP_CODE" val="n1-1"/>
  <p:tag name="KSO_WM_UNIT_TYPE" val="n_h_i"/>
  <p:tag name="KSO_WM_UNIT_INDEX" val="1_1_4"/>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resource_record_key" val="{&quot;10&quot;:[21543097,21551124,21581391,4526941,4530443,20280983,20277378,20288668,3639277,20281619,21582009,20278180,3504136,3655861,50027660,50037756,4522304,20277582,20093111,3504178,50029494,21537274,21569594,4524166,21601058,21602268,50034409,4590462,21601830,21601669,21559244,3505097,4520033,4450795,21559253,21559601,3505106,3659036,4524151,21582607,50047996,50029645,50025759,4519714,21561292,21542535,21601081,20062930,50047009,50023236,3649412,3639273,4518795,3504309,4588837,3476677,21559309,20280649,50039340,21569611,4523837,4519705,21602018,3641576,50040391,50040392,50040213,50044147,50040586,50040399,50040386,50040231,50040217,50040209,50040206,50040266,50040355,50040381,50040144,21540333,3633624,4610341,4532506,21580072,20286838,3732417,3632281,3632276,3505173,21546444,3504850,50008477,3505414,4519002,4519001,21581289,50026891,50020971,50022793,21558684],&quot;12&quot;:[25073102,25004055],&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10906</Words>
  <Application>WPS 演示</Application>
  <PresentationFormat>宽屏</PresentationFormat>
  <Paragraphs>935</Paragraphs>
  <Slides>38</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38</vt:i4>
      </vt:variant>
    </vt:vector>
  </HeadingPairs>
  <TitlesOfParts>
    <vt:vector size="50" baseType="lpstr">
      <vt:lpstr>Arial</vt:lpstr>
      <vt:lpstr>宋体</vt:lpstr>
      <vt:lpstr>Wingdings</vt:lpstr>
      <vt:lpstr>微软雅黑</vt:lpstr>
      <vt:lpstr>汉仪旗黑</vt:lpstr>
      <vt:lpstr>Wingdings</vt:lpstr>
      <vt:lpstr>微软雅黑 Light</vt:lpstr>
      <vt:lpstr>汉仪中黑KW</vt:lpstr>
      <vt:lpstr>宋体</vt:lpstr>
      <vt:lpstr>Arial Unicode MS</vt:lpstr>
      <vt:lpstr>造字工房方黑（非商用）常规体</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TCL</cp:lastModifiedBy>
  <cp:revision>436</cp:revision>
  <dcterms:created xsi:type="dcterms:W3CDTF">2026-01-08T08:08:22Z</dcterms:created>
  <dcterms:modified xsi:type="dcterms:W3CDTF">2026-01-08T08:08:22Z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C48E87C96A924003903B43C9F59000BC_11</vt:lpwstr>
  </property>
</Properties>
</file>